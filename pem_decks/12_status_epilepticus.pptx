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paradigm shift: we no longer wait 30 minutes to call something status epilepticus. The NCS guidelines define the treatment threshold at 5 minutes for generalized convulsive seizures. The reason: seizures that last &gt;5 minutes are unlikely to stop on their own, and neuronal damage begins well before 30 minutes. Start benzodiazepines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slide. Have this algorithm memorized cold. The key change from older protocols: IM midazolam is FIRST-LINE when IV is not available. The RAMPART trial proved IM midazolam is as effective as IV lorazepam and faster because you skip the time needed for IV access. Second-line: levetiracetam and fosphenytoin are equivalent per the ESETT trial.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choice: IM/IN midazolam when no IV vs. IV lorazepam when IV is in place. The RAMPART trial showed IM midazolam terminated seizures in 73% of patients vs. 63% for IV lorazepam — because IM midazolam was given faster (no IV delay). Maximum of 2 doses of benzodiazepines before moving to second-line agents. Do not keep repeating benzos.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RAMPART trial is one of the most important PEM-relevant trials. 893 patients randomized to IM midazolam vs. IV lorazepam. IM midazolam was non-inferior and resulted in faster treatment because it avoided IV access delays. This trial is the evidence behind current AES and NCS guidelines recommending IM midazolam as first-line when IV is not in place.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ESETT trial (Kapur et al., NEJM 2019) compared all three second-line agents and found them EQUIVALENT. This means you can use whichever is available and appropriate for the patient. Levetiracetam has the best side effect profile. Fosphenytoin requires cardiac monitoring. Valproate is contraindicated in children &lt;2 with suspected metabolic disease. Most institutions now prefer levetiracetam.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critical for the approach to refractory seizures. If benzodiazepines are not working, the most important question is: is there a reversible cause I have not addressed? Hypoglycemia is the most common and most treatable. Pyridoxine should be given to any infant or neonate with refractory seizures — it is diagnostic and therapeutic. Always check electrolytes.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Febrile seizures are the most common cause of pediatric seizures presenting to the ED. The AAP guidelines are clear: simple febrile seizures require NO workup and NO treatment. The child needs evaluation of the fever source, not the seizure. Complex febrile seizures warrant more investigation, including LP if &lt;12 months or if meningitis cannot be excluded clinically.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Refractory SE is one of the most challenging emergencies in PEM. Your role is to execute the protocol rapidly, identify reversible causes, and get the patient to the ICU. The key insight: after you have given benzos + second-line and the seizure continues, you need to simultaneously escalate therapy AND investigate why the seizure is refractory.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timeline precisely. T=0 (8 min ago): seizure starts. T=5 min: EMS gives diazepam (counts as first benzo). T=8 min: arrives still seizing → give IM midazolam (second benzo). T=13 min: if still seizing → second-line agent (levetiracetam). The glucose check should happen at T=0 and is often the most forgotten step. This case also raises the question: is this a complex febrile seizure or something more?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biggest pitfall: delaying treatment while trying to establish IV access. IM midazolam works just as well and can be given immediately. The second biggest: underdosing. Weight-based dosing is essential. The third: repeating benzos beyond 2 doses instead of escalating. Each minute of continued seizure increases the risk of neuronal injury.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12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Status Epilepticus and Acute Seizure Management</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Time-Critical Protocols, Benzodiazepine Dosing, and Refractory Seizure Escalation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Define status epilepticus and understand the time-dependent neurotoxicity model</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Execute the benzodiazepine protocol: agent selection, dosing, route, and timing</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Escalate from first-line to second-line to refractory seizure management</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Identify and treat reversible causes of seizures in children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Manage the post-ictal child and make appropriate disposition decisions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Status Epilepticus: Definitions and Urgency</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Status epilepticus (SE): continuous seizure ≥5 minutes OR ≥2 seizures without return to baseline</a:t>
            </a:r>
          </a:p>
          <a:p>
            <a:pPr>
              <a:spcBef>
                <a:spcPts val="400"/>
              </a:spcBef>
              <a:spcAft>
                <a:spcPts val="600"/>
              </a:spcAft>
              <a:defRPr sz="1600">
                <a:solidFill>
                  <a:srgbClr val="3D4455"/>
                </a:solidFill>
                <a:latin typeface="Calibri"/>
              </a:defRPr>
            </a:pPr>
            <a:r>
              <a:t>Refractory SE: seizure continuing after 2 adequate doses of benzodiazepines</a:t>
            </a:r>
          </a:p>
          <a:p>
            <a:pPr>
              <a:spcBef>
                <a:spcPts val="400"/>
              </a:spcBef>
              <a:spcAft>
                <a:spcPts val="600"/>
              </a:spcAft>
              <a:defRPr sz="1600">
                <a:solidFill>
                  <a:srgbClr val="3D4455"/>
                </a:solidFill>
                <a:latin typeface="Calibri"/>
              </a:defRPr>
            </a:pPr>
            <a:r>
              <a:t>Super-refractory SE: seizure continuing &gt;24 hours despite anesthetic therapy</a:t>
            </a:r>
          </a:p>
          <a:p>
            <a:pPr>
              <a:spcBef>
                <a:spcPts val="400"/>
              </a:spcBef>
              <a:spcAft>
                <a:spcPts val="600"/>
              </a:spcAft>
              <a:defRPr sz="1600">
                <a:solidFill>
                  <a:srgbClr val="3D4455"/>
                </a:solidFill>
                <a:latin typeface="Calibri"/>
              </a:defRPr>
            </a:pPr>
            <a:r>
              <a:t>WHY IT MATTERS: prolonged seizures cause progressive neuronal injury</a:t>
            </a:r>
          </a:p>
          <a:p>
            <a:pPr>
              <a:spcBef>
                <a:spcPts val="400"/>
              </a:spcBef>
              <a:spcAft>
                <a:spcPts val="600"/>
              </a:spcAft>
              <a:defRPr sz="1600">
                <a:solidFill>
                  <a:srgbClr val="3D4455"/>
                </a:solidFill>
                <a:latin typeface="Calibri"/>
              </a:defRPr>
            </a:pPr>
            <a:r>
              <a:t>After 5 min: self-termination becomes unlikely — pharmacologic intervention needed</a:t>
            </a:r>
          </a:p>
          <a:p>
            <a:pPr>
              <a:spcBef>
                <a:spcPts val="400"/>
              </a:spcBef>
              <a:spcAft>
                <a:spcPts val="600"/>
              </a:spcAft>
              <a:defRPr sz="1600">
                <a:solidFill>
                  <a:srgbClr val="3D4455"/>
                </a:solidFill>
                <a:latin typeface="Calibri"/>
              </a:defRPr>
            </a:pPr>
            <a:r>
              <a:t>After 30 min: risk of irreversible neuronal damage increases significantly</a:t>
            </a:r>
          </a:p>
          <a:p>
            <a:pPr lvl="1">
              <a:spcBef>
                <a:spcPts val="400"/>
              </a:spcBef>
              <a:spcAft>
                <a:spcPts val="600"/>
              </a:spcAft>
              <a:defRPr sz="1400">
                <a:solidFill>
                  <a:srgbClr val="8A92A3"/>
                </a:solidFill>
                <a:latin typeface="Calibri"/>
              </a:defRPr>
            </a:pPr>
            <a:r>
              <a:t>Time is brain. Start treatment at the 5-minute mark, not at 30 minutes.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Status Epilepticus Protocol — Time-Based</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0-5 min: STABILIZE — ABCs, O2, glucose check, IV/IO access, position safely</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5 min (T0): FIRST-LINE — Midazolam IM 0.2 mg/kg (max 10) OR Lorazepam IV 0.1 mg/kg (max 4)</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10 min (T+5): If still seizing → REPEAT benzodiazepine (same dose)</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15-20 min (T+10-15): SECOND-LINE — Levetiracetam 60 mg/kg IV over 15 min OR Fosphenytoin 20 mg/kg IV</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20-30 min: If still seizing → additional second-line agent (whichever was not given first)</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30+ min: REFRACTORY — Midazolam infusion 0.1 mg/kg/hr OR Pentobarbital 5 mg/kg load → intubate</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Throughout: Check glucose, electrolytes, toxicology, consider pyridoxine if &lt;2 years</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Benzodiazepine Dosing for Seizures</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Drug</a:t>
                      </a:r>
                    </a:p>
                  </a:txBody>
                  <a:tcPr>
                    <a:solidFill>
                      <a:srgbClr val="007B83"/>
                    </a:solidFill>
                  </a:tcPr>
                </a:tc>
                <a:tc>
                  <a:txBody>
                    <a:bodyPr/>
                    <a:lstStyle/>
                    <a:p>
                      <a:pPr algn="ctr">
                        <a:defRPr sz="1300" b="1">
                          <a:solidFill>
                            <a:srgbClr val="FFFFFF"/>
                          </a:solidFill>
                          <a:latin typeface="Calibri"/>
                        </a:defRPr>
                      </a:pPr>
                      <a:r>
                        <a:t>Route</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Max Single</a:t>
                      </a:r>
                    </a:p>
                  </a:txBody>
                  <a:tcPr>
                    <a:solidFill>
                      <a:srgbClr val="007B83"/>
                    </a:solidFill>
                  </a:tcPr>
                </a:tc>
                <a:tc>
                  <a:txBody>
                    <a:bodyPr/>
                    <a:lstStyle/>
                    <a:p>
                      <a:pPr algn="ctr">
                        <a:defRPr sz="1300" b="1">
                          <a:solidFill>
                            <a:srgbClr val="FFFFFF"/>
                          </a:solidFill>
                          <a:latin typeface="Calibri"/>
                        </a:defRPr>
                      </a:pPr>
                      <a:r>
                        <a:t>Onset</a:t>
                      </a:r>
                    </a:p>
                  </a:txBody>
                  <a:tcPr>
                    <a:solidFill>
                      <a:srgbClr val="007B83"/>
                    </a:solidFill>
                  </a:tcPr>
                </a:tc>
                <a:tc>
                  <a:txBody>
                    <a:bodyPr/>
                    <a:lstStyle/>
                    <a:p>
                      <a:pPr algn="ctr">
                        <a:defRPr sz="1300" b="1">
                          <a:solidFill>
                            <a:srgbClr val="FFFFFF"/>
                          </a:solidFill>
                          <a:latin typeface="Calibri"/>
                        </a:defRPr>
                      </a:pPr>
                      <a:r>
                        <a:t>Repeat</a:t>
                      </a:r>
                    </a:p>
                  </a:txBody>
                  <a:tcPr>
                    <a:solidFill>
                      <a:srgbClr val="007B83"/>
                    </a:solidFill>
                  </a:tcPr>
                </a:tc>
              </a:tr>
              <a:tr h="457200">
                <a:tc>
                  <a:txBody>
                    <a:bodyPr/>
                    <a:lstStyle/>
                    <a:p>
                      <a:pPr algn="l">
                        <a:defRPr sz="1200">
                          <a:solidFill>
                            <a:srgbClr val="3D4455"/>
                          </a:solidFill>
                          <a:latin typeface="Calibri"/>
                        </a:defRPr>
                      </a:pPr>
                      <a:r>
                        <a:t>Midazolam</a:t>
                      </a:r>
                    </a:p>
                  </a:txBody>
                  <a:tcPr>
                    <a:solidFill>
                      <a:srgbClr val="F5F6FA"/>
                    </a:solidFill>
                  </a:tcPr>
                </a:tc>
                <a:tc>
                  <a:txBody>
                    <a:bodyPr/>
                    <a:lstStyle/>
                    <a:p>
                      <a:pPr algn="l">
                        <a:defRPr sz="1200">
                          <a:solidFill>
                            <a:srgbClr val="3D4455"/>
                          </a:solidFill>
                          <a:latin typeface="Calibri"/>
                        </a:defRPr>
                      </a:pPr>
                      <a:r>
                        <a:t>IM</a:t>
                      </a:r>
                    </a:p>
                  </a:txBody>
                  <a:tcPr>
                    <a:solidFill>
                      <a:srgbClr val="F5F6FA"/>
                    </a:solidFill>
                  </a:tcPr>
                </a:tc>
                <a:tc>
                  <a:txBody>
                    <a:bodyPr/>
                    <a:lstStyle/>
                    <a:p>
                      <a:pPr algn="l">
                        <a:defRPr sz="1200">
                          <a:solidFill>
                            <a:srgbClr val="3D4455"/>
                          </a:solidFill>
                          <a:latin typeface="Calibri"/>
                        </a:defRPr>
                      </a:pPr>
                      <a:r>
                        <a:t>0.2 mg/kg</a:t>
                      </a:r>
                    </a:p>
                  </a:txBody>
                  <a:tcPr>
                    <a:solidFill>
                      <a:srgbClr val="F5F6FA"/>
                    </a:solidFill>
                  </a:tcPr>
                </a:tc>
                <a:tc>
                  <a:txBody>
                    <a:bodyPr/>
                    <a:lstStyle/>
                    <a:p>
                      <a:pPr algn="l">
                        <a:defRPr sz="1200">
                          <a:solidFill>
                            <a:srgbClr val="3D4455"/>
                          </a:solidFill>
                          <a:latin typeface="Calibri"/>
                        </a:defRPr>
                      </a:pPr>
                      <a:r>
                        <a:t>10 mg</a:t>
                      </a:r>
                    </a:p>
                  </a:txBody>
                  <a:tcPr>
                    <a:solidFill>
                      <a:srgbClr val="F5F6FA"/>
                    </a:solidFill>
                  </a:tcPr>
                </a:tc>
                <a:tc>
                  <a:txBody>
                    <a:bodyPr/>
                    <a:lstStyle/>
                    <a:p>
                      <a:pPr algn="l">
                        <a:defRPr sz="1200">
                          <a:solidFill>
                            <a:srgbClr val="3D4455"/>
                          </a:solidFill>
                          <a:latin typeface="Calibri"/>
                        </a:defRPr>
                      </a:pPr>
                      <a:r>
                        <a:t>3-5 min</a:t>
                      </a:r>
                    </a:p>
                  </a:txBody>
                  <a:tcPr>
                    <a:solidFill>
                      <a:srgbClr val="F5F6FA"/>
                    </a:solidFill>
                  </a:tcPr>
                </a:tc>
                <a:tc>
                  <a:txBody>
                    <a:bodyPr/>
                    <a:lstStyle/>
                    <a:p>
                      <a:pPr algn="l">
                        <a:defRPr sz="1200">
                          <a:solidFill>
                            <a:srgbClr val="3D4455"/>
                          </a:solidFill>
                          <a:latin typeface="Calibri"/>
                        </a:defRPr>
                      </a:pPr>
                      <a:r>
                        <a:t>Once at 5 min</a:t>
                      </a:r>
                    </a:p>
                  </a:txBody>
                  <a:tcPr>
                    <a:solidFill>
                      <a:srgbClr val="F5F6FA"/>
                    </a:solidFill>
                  </a:tcPr>
                </a:tc>
              </a:tr>
              <a:tr h="457200">
                <a:tc>
                  <a:txBody>
                    <a:bodyPr/>
                    <a:lstStyle/>
                    <a:p>
                      <a:pPr algn="l">
                        <a:defRPr sz="1200">
                          <a:solidFill>
                            <a:srgbClr val="3D4455"/>
                          </a:solidFill>
                          <a:latin typeface="Calibri"/>
                        </a:defRPr>
                      </a:pPr>
                      <a:r>
                        <a:t>Midazolam</a:t>
                      </a:r>
                    </a:p>
                  </a:txBody>
                  <a:tcPr>
                    <a:solidFill>
                      <a:srgbClr val="FFFFFF"/>
                    </a:solidFill>
                  </a:tcPr>
                </a:tc>
                <a:tc>
                  <a:txBody>
                    <a:bodyPr/>
                    <a:lstStyle/>
                    <a:p>
                      <a:pPr algn="l">
                        <a:defRPr sz="1200">
                          <a:solidFill>
                            <a:srgbClr val="3D4455"/>
                          </a:solidFill>
                          <a:latin typeface="Calibri"/>
                        </a:defRPr>
                      </a:pPr>
                      <a:r>
                        <a:t>IN (intranasal)</a:t>
                      </a:r>
                    </a:p>
                  </a:txBody>
                  <a:tcPr>
                    <a:solidFill>
                      <a:srgbClr val="FFFFFF"/>
                    </a:solidFill>
                  </a:tcPr>
                </a:tc>
                <a:tc>
                  <a:txBody>
                    <a:bodyPr/>
                    <a:lstStyle/>
                    <a:p>
                      <a:pPr algn="l">
                        <a:defRPr sz="1200">
                          <a:solidFill>
                            <a:srgbClr val="3D4455"/>
                          </a:solidFill>
                          <a:latin typeface="Calibri"/>
                        </a:defRPr>
                      </a:pPr>
                      <a:r>
                        <a:t>0.2 mg/kg</a:t>
                      </a:r>
                    </a:p>
                  </a:txBody>
                  <a:tcPr>
                    <a:solidFill>
                      <a:srgbClr val="FFFFFF"/>
                    </a:solidFill>
                  </a:tcPr>
                </a:tc>
                <a:tc>
                  <a:txBody>
                    <a:bodyPr/>
                    <a:lstStyle/>
                    <a:p>
                      <a:pPr algn="l">
                        <a:defRPr sz="1200">
                          <a:solidFill>
                            <a:srgbClr val="3D4455"/>
                          </a:solidFill>
                          <a:latin typeface="Calibri"/>
                        </a:defRPr>
                      </a:pPr>
                      <a:r>
                        <a:t>10 mg</a:t>
                      </a:r>
                    </a:p>
                  </a:txBody>
                  <a:tcPr>
                    <a:solidFill>
                      <a:srgbClr val="FFFFFF"/>
                    </a:solidFill>
                  </a:tcPr>
                </a:tc>
                <a:tc>
                  <a:txBody>
                    <a:bodyPr/>
                    <a:lstStyle/>
                    <a:p>
                      <a:pPr algn="l">
                        <a:defRPr sz="1200">
                          <a:solidFill>
                            <a:srgbClr val="3D4455"/>
                          </a:solidFill>
                          <a:latin typeface="Calibri"/>
                        </a:defRPr>
                      </a:pPr>
                      <a:r>
                        <a:t>3-5 min</a:t>
                      </a:r>
                    </a:p>
                  </a:txBody>
                  <a:tcPr>
                    <a:solidFill>
                      <a:srgbClr val="FFFFFF"/>
                    </a:solidFill>
                  </a:tcPr>
                </a:tc>
                <a:tc>
                  <a:txBody>
                    <a:bodyPr/>
                    <a:lstStyle/>
                    <a:p>
                      <a:pPr algn="l">
                        <a:defRPr sz="1200">
                          <a:solidFill>
                            <a:srgbClr val="3D4455"/>
                          </a:solidFill>
                          <a:latin typeface="Calibri"/>
                        </a:defRPr>
                      </a:pPr>
                      <a:r>
                        <a:t>Once at 5 min</a:t>
                      </a:r>
                    </a:p>
                  </a:txBody>
                  <a:tcPr>
                    <a:solidFill>
                      <a:srgbClr val="FFFFFF"/>
                    </a:solidFill>
                  </a:tcPr>
                </a:tc>
              </a:tr>
              <a:tr h="457200">
                <a:tc>
                  <a:txBody>
                    <a:bodyPr/>
                    <a:lstStyle/>
                    <a:p>
                      <a:pPr algn="l">
                        <a:defRPr sz="1200">
                          <a:solidFill>
                            <a:srgbClr val="3D4455"/>
                          </a:solidFill>
                          <a:latin typeface="Calibri"/>
                        </a:defRPr>
                      </a:pPr>
                      <a:r>
                        <a:t>Midazolam</a:t>
                      </a:r>
                    </a:p>
                  </a:txBody>
                  <a:tcPr>
                    <a:solidFill>
                      <a:srgbClr val="F5F6FA"/>
                    </a:solidFill>
                  </a:tcPr>
                </a:tc>
                <a:tc>
                  <a:txBody>
                    <a:bodyPr/>
                    <a:lstStyle/>
                    <a:p>
                      <a:pPr algn="l">
                        <a:defRPr sz="1200">
                          <a:solidFill>
                            <a:srgbClr val="3D4455"/>
                          </a:solidFill>
                          <a:latin typeface="Calibri"/>
                        </a:defRPr>
                      </a:pPr>
                      <a:r>
                        <a:t>Buccal</a:t>
                      </a:r>
                    </a:p>
                  </a:txBody>
                  <a:tcPr>
                    <a:solidFill>
                      <a:srgbClr val="F5F6FA"/>
                    </a:solidFill>
                  </a:tcPr>
                </a:tc>
                <a:tc>
                  <a:txBody>
                    <a:bodyPr/>
                    <a:lstStyle/>
                    <a:p>
                      <a:pPr algn="l">
                        <a:defRPr sz="1200">
                          <a:solidFill>
                            <a:srgbClr val="3D4455"/>
                          </a:solidFill>
                          <a:latin typeface="Calibri"/>
                        </a:defRPr>
                      </a:pPr>
                      <a:r>
                        <a:t>0.2 mg/kg</a:t>
                      </a:r>
                    </a:p>
                  </a:txBody>
                  <a:tcPr>
                    <a:solidFill>
                      <a:srgbClr val="F5F6FA"/>
                    </a:solidFill>
                  </a:tcPr>
                </a:tc>
                <a:tc>
                  <a:txBody>
                    <a:bodyPr/>
                    <a:lstStyle/>
                    <a:p>
                      <a:pPr algn="l">
                        <a:defRPr sz="1200">
                          <a:solidFill>
                            <a:srgbClr val="3D4455"/>
                          </a:solidFill>
                          <a:latin typeface="Calibri"/>
                        </a:defRPr>
                      </a:pPr>
                      <a:r>
                        <a:t>10 mg</a:t>
                      </a:r>
                    </a:p>
                  </a:txBody>
                  <a:tcPr>
                    <a:solidFill>
                      <a:srgbClr val="F5F6FA"/>
                    </a:solidFill>
                  </a:tcPr>
                </a:tc>
                <a:tc>
                  <a:txBody>
                    <a:bodyPr/>
                    <a:lstStyle/>
                    <a:p>
                      <a:pPr algn="l">
                        <a:defRPr sz="1200">
                          <a:solidFill>
                            <a:srgbClr val="3D4455"/>
                          </a:solidFill>
                          <a:latin typeface="Calibri"/>
                        </a:defRPr>
                      </a:pPr>
                      <a:r>
                        <a:t>3-5 min</a:t>
                      </a:r>
                    </a:p>
                  </a:txBody>
                  <a:tcPr>
                    <a:solidFill>
                      <a:srgbClr val="F5F6FA"/>
                    </a:solidFill>
                  </a:tcPr>
                </a:tc>
                <a:tc>
                  <a:txBody>
                    <a:bodyPr/>
                    <a:lstStyle/>
                    <a:p>
                      <a:pPr algn="l">
                        <a:defRPr sz="1200">
                          <a:solidFill>
                            <a:srgbClr val="3D4455"/>
                          </a:solidFill>
                          <a:latin typeface="Calibri"/>
                        </a:defRPr>
                      </a:pPr>
                      <a:r>
                        <a:t>Once at 5 min</a:t>
                      </a:r>
                    </a:p>
                  </a:txBody>
                  <a:tcPr>
                    <a:solidFill>
                      <a:srgbClr val="F5F6FA"/>
                    </a:solidFill>
                  </a:tcPr>
                </a:tc>
              </a:tr>
              <a:tr h="457200">
                <a:tc>
                  <a:txBody>
                    <a:bodyPr/>
                    <a:lstStyle/>
                    <a:p>
                      <a:pPr algn="l">
                        <a:defRPr sz="1200">
                          <a:solidFill>
                            <a:srgbClr val="3D4455"/>
                          </a:solidFill>
                          <a:latin typeface="Calibri"/>
                        </a:defRPr>
                      </a:pPr>
                      <a:r>
                        <a:t>Lorazepam</a:t>
                      </a:r>
                    </a:p>
                  </a:txBody>
                  <a:tcPr>
                    <a:solidFill>
                      <a:srgbClr val="FFFFFF"/>
                    </a:solidFill>
                  </a:tcPr>
                </a:tc>
                <a:tc>
                  <a:txBody>
                    <a:bodyPr/>
                    <a:lstStyle/>
                    <a:p>
                      <a:pPr algn="l">
                        <a:defRPr sz="1200">
                          <a:solidFill>
                            <a:srgbClr val="3D4455"/>
                          </a:solidFill>
                          <a:latin typeface="Calibri"/>
                        </a:defRPr>
                      </a:pPr>
                      <a:r>
                        <a:t>IV</a:t>
                      </a:r>
                    </a:p>
                  </a:txBody>
                  <a:tcPr>
                    <a:solidFill>
                      <a:srgbClr val="FFFFFF"/>
                    </a:solidFill>
                  </a:tcPr>
                </a:tc>
                <a:tc>
                  <a:txBody>
                    <a:bodyPr/>
                    <a:lstStyle/>
                    <a:p>
                      <a:pPr algn="l">
                        <a:defRPr sz="1200">
                          <a:solidFill>
                            <a:srgbClr val="3D4455"/>
                          </a:solidFill>
                          <a:latin typeface="Calibri"/>
                        </a:defRPr>
                      </a:pPr>
                      <a:r>
                        <a:t>0.1 mg/kg</a:t>
                      </a:r>
                    </a:p>
                  </a:txBody>
                  <a:tcPr>
                    <a:solidFill>
                      <a:srgbClr val="FFFFFF"/>
                    </a:solidFill>
                  </a:tcPr>
                </a:tc>
                <a:tc>
                  <a:txBody>
                    <a:bodyPr/>
                    <a:lstStyle/>
                    <a:p>
                      <a:pPr algn="l">
                        <a:defRPr sz="1200">
                          <a:solidFill>
                            <a:srgbClr val="3D4455"/>
                          </a:solidFill>
                          <a:latin typeface="Calibri"/>
                        </a:defRPr>
                      </a:pPr>
                      <a:r>
                        <a:t>4 mg</a:t>
                      </a:r>
                    </a:p>
                  </a:txBody>
                  <a:tcPr>
                    <a:solidFill>
                      <a:srgbClr val="FFFFFF"/>
                    </a:solidFill>
                  </a:tcPr>
                </a:tc>
                <a:tc>
                  <a:txBody>
                    <a:bodyPr/>
                    <a:lstStyle/>
                    <a:p>
                      <a:pPr algn="l">
                        <a:defRPr sz="1200">
                          <a:solidFill>
                            <a:srgbClr val="3D4455"/>
                          </a:solidFill>
                          <a:latin typeface="Calibri"/>
                        </a:defRPr>
                      </a:pPr>
                      <a:r>
                        <a:t>1-3 min</a:t>
                      </a:r>
                    </a:p>
                  </a:txBody>
                  <a:tcPr>
                    <a:solidFill>
                      <a:srgbClr val="FFFFFF"/>
                    </a:solidFill>
                  </a:tcPr>
                </a:tc>
                <a:tc>
                  <a:txBody>
                    <a:bodyPr/>
                    <a:lstStyle/>
                    <a:p>
                      <a:pPr algn="l">
                        <a:defRPr sz="1200">
                          <a:solidFill>
                            <a:srgbClr val="3D4455"/>
                          </a:solidFill>
                          <a:latin typeface="Calibri"/>
                        </a:defRPr>
                      </a:pPr>
                      <a:r>
                        <a:t>Once at 5 min</a:t>
                      </a:r>
                    </a:p>
                  </a:txBody>
                  <a:tcPr>
                    <a:solidFill>
                      <a:srgbClr val="FFFFFF"/>
                    </a:solidFill>
                  </a:tcPr>
                </a:tc>
              </a:tr>
              <a:tr h="457200">
                <a:tc>
                  <a:txBody>
                    <a:bodyPr/>
                    <a:lstStyle/>
                    <a:p>
                      <a:pPr algn="l">
                        <a:defRPr sz="1200">
                          <a:solidFill>
                            <a:srgbClr val="3D4455"/>
                          </a:solidFill>
                          <a:latin typeface="Calibri"/>
                        </a:defRPr>
                      </a:pPr>
                      <a:r>
                        <a:t>Diazepam</a:t>
                      </a:r>
                    </a:p>
                  </a:txBody>
                  <a:tcPr>
                    <a:solidFill>
                      <a:srgbClr val="F5F6FA"/>
                    </a:solidFill>
                  </a:tcPr>
                </a:tc>
                <a:tc>
                  <a:txBody>
                    <a:bodyPr/>
                    <a:lstStyle/>
                    <a:p>
                      <a:pPr algn="l">
                        <a:defRPr sz="1200">
                          <a:solidFill>
                            <a:srgbClr val="3D4455"/>
                          </a:solidFill>
                          <a:latin typeface="Calibri"/>
                        </a:defRPr>
                      </a:pPr>
                      <a:r>
                        <a:t>IV</a:t>
                      </a:r>
                    </a:p>
                  </a:txBody>
                  <a:tcPr>
                    <a:solidFill>
                      <a:srgbClr val="F5F6FA"/>
                    </a:solidFill>
                  </a:tcPr>
                </a:tc>
                <a:tc>
                  <a:txBody>
                    <a:bodyPr/>
                    <a:lstStyle/>
                    <a:p>
                      <a:pPr algn="l">
                        <a:defRPr sz="1200">
                          <a:solidFill>
                            <a:srgbClr val="3D4455"/>
                          </a:solidFill>
                          <a:latin typeface="Calibri"/>
                        </a:defRPr>
                      </a:pPr>
                      <a:r>
                        <a:t>0.2 mg/kg</a:t>
                      </a:r>
                    </a:p>
                  </a:txBody>
                  <a:tcPr>
                    <a:solidFill>
                      <a:srgbClr val="F5F6FA"/>
                    </a:solidFill>
                  </a:tcPr>
                </a:tc>
                <a:tc>
                  <a:txBody>
                    <a:bodyPr/>
                    <a:lstStyle/>
                    <a:p>
                      <a:pPr algn="l">
                        <a:defRPr sz="1200">
                          <a:solidFill>
                            <a:srgbClr val="3D4455"/>
                          </a:solidFill>
                          <a:latin typeface="Calibri"/>
                        </a:defRPr>
                      </a:pPr>
                      <a:r>
                        <a:t>10 mg</a:t>
                      </a:r>
                    </a:p>
                  </a:txBody>
                  <a:tcPr>
                    <a:solidFill>
                      <a:srgbClr val="F5F6FA"/>
                    </a:solidFill>
                  </a:tcPr>
                </a:tc>
                <a:tc>
                  <a:txBody>
                    <a:bodyPr/>
                    <a:lstStyle/>
                    <a:p>
                      <a:pPr algn="l">
                        <a:defRPr sz="1200">
                          <a:solidFill>
                            <a:srgbClr val="3D4455"/>
                          </a:solidFill>
                          <a:latin typeface="Calibri"/>
                        </a:defRPr>
                      </a:pPr>
                      <a:r>
                        <a:t>1-3 min</a:t>
                      </a:r>
                    </a:p>
                  </a:txBody>
                  <a:tcPr>
                    <a:solidFill>
                      <a:srgbClr val="F5F6FA"/>
                    </a:solidFill>
                  </a:tcPr>
                </a:tc>
                <a:tc>
                  <a:txBody>
                    <a:bodyPr/>
                    <a:lstStyle/>
                    <a:p>
                      <a:pPr algn="l">
                        <a:defRPr sz="1200">
                          <a:solidFill>
                            <a:srgbClr val="3D4455"/>
                          </a:solidFill>
                          <a:latin typeface="Calibri"/>
                        </a:defRPr>
                      </a:pPr>
                      <a:r>
                        <a:t>Once at 5 min</a:t>
                      </a:r>
                    </a:p>
                  </a:txBody>
                  <a:tcPr>
                    <a:solidFill>
                      <a:srgbClr val="F5F6FA"/>
                    </a:solidFill>
                  </a:tcPr>
                </a:tc>
              </a:tr>
              <a:tr h="457200">
                <a:tc>
                  <a:txBody>
                    <a:bodyPr/>
                    <a:lstStyle/>
                    <a:p>
                      <a:pPr algn="l">
                        <a:defRPr sz="1200">
                          <a:solidFill>
                            <a:srgbClr val="3D4455"/>
                          </a:solidFill>
                          <a:latin typeface="Calibri"/>
                        </a:defRPr>
                      </a:pPr>
                      <a:r>
                        <a:t>Diazepam</a:t>
                      </a:r>
                    </a:p>
                  </a:txBody>
                  <a:tcPr>
                    <a:solidFill>
                      <a:srgbClr val="FFFFFF"/>
                    </a:solidFill>
                  </a:tcPr>
                </a:tc>
                <a:tc>
                  <a:txBody>
                    <a:bodyPr/>
                    <a:lstStyle/>
                    <a:p>
                      <a:pPr algn="l">
                        <a:defRPr sz="1200">
                          <a:solidFill>
                            <a:srgbClr val="3D4455"/>
                          </a:solidFill>
                          <a:latin typeface="Calibri"/>
                        </a:defRPr>
                      </a:pPr>
                      <a:r>
                        <a:t>PR</a:t>
                      </a:r>
                    </a:p>
                  </a:txBody>
                  <a:tcPr>
                    <a:solidFill>
                      <a:srgbClr val="FFFFFF"/>
                    </a:solidFill>
                  </a:tcPr>
                </a:tc>
                <a:tc>
                  <a:txBody>
                    <a:bodyPr/>
                    <a:lstStyle/>
                    <a:p>
                      <a:pPr algn="l">
                        <a:defRPr sz="1200">
                          <a:solidFill>
                            <a:srgbClr val="3D4455"/>
                          </a:solidFill>
                          <a:latin typeface="Calibri"/>
                        </a:defRPr>
                      </a:pPr>
                      <a:r>
                        <a:t>0.5 mg/kg</a:t>
                      </a:r>
                    </a:p>
                  </a:txBody>
                  <a:tcPr>
                    <a:solidFill>
                      <a:srgbClr val="FFFFFF"/>
                    </a:solidFill>
                  </a:tcPr>
                </a:tc>
                <a:tc>
                  <a:txBody>
                    <a:bodyPr/>
                    <a:lstStyle/>
                    <a:p>
                      <a:pPr algn="l">
                        <a:defRPr sz="1200">
                          <a:solidFill>
                            <a:srgbClr val="3D4455"/>
                          </a:solidFill>
                          <a:latin typeface="Calibri"/>
                        </a:defRPr>
                      </a:pPr>
                      <a:r>
                        <a:t>20 mg</a:t>
                      </a:r>
                    </a:p>
                  </a:txBody>
                  <a:tcPr>
                    <a:solidFill>
                      <a:srgbClr val="FFFFFF"/>
                    </a:solidFill>
                  </a:tcPr>
                </a:tc>
                <a:tc>
                  <a:txBody>
                    <a:bodyPr/>
                    <a:lstStyle/>
                    <a:p>
                      <a:pPr algn="l">
                        <a:defRPr sz="1200">
                          <a:solidFill>
                            <a:srgbClr val="3D4455"/>
                          </a:solidFill>
                          <a:latin typeface="Calibri"/>
                        </a:defRPr>
                      </a:pPr>
                      <a:r>
                        <a:t>5-10 min</a:t>
                      </a:r>
                    </a:p>
                  </a:txBody>
                  <a:tcPr>
                    <a:solidFill>
                      <a:srgbClr val="FFFFFF"/>
                    </a:solidFill>
                  </a:tcPr>
                </a:tc>
                <a:tc>
                  <a:txBody>
                    <a:bodyPr/>
                    <a:lstStyle/>
                    <a:p>
                      <a:pPr algn="l">
                        <a:defRPr sz="1200">
                          <a:solidFill>
                            <a:srgbClr val="3D4455"/>
                          </a:solidFill>
                          <a:latin typeface="Calibri"/>
                        </a:defRPr>
                      </a:pPr>
                      <a:r>
                        <a:t>Once at 10 min</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RAMPART TRIAL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IM midazolam is at least as effective as IV lorazepam for prehospital status epilepticus — and faster.</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Silbergleit et al., NEJM 2012. This landmark trial changed practice: IM midazolam should be your FIRST choice when IV access is not immediately available. Do not delay seizure treatment to establish IV access.</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Second-Line Agents: ESETT Trial Results</a:t>
            </a:r>
          </a:p>
        </p:txBody>
      </p:sp>
      <p:graphicFrame>
        <p:nvGraphicFramePr>
          <p:cNvPr id="5" name="Table 4"/>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Agent</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Infusion Rate</a:t>
                      </a:r>
                    </a:p>
                  </a:txBody>
                  <a:tcPr>
                    <a:solidFill>
                      <a:srgbClr val="007B83"/>
                    </a:solidFill>
                  </a:tcPr>
                </a:tc>
                <a:tc>
                  <a:txBody>
                    <a:bodyPr/>
                    <a:lstStyle/>
                    <a:p>
                      <a:pPr algn="ctr">
                        <a:defRPr sz="1300" b="1">
                          <a:solidFill>
                            <a:srgbClr val="FFFFFF"/>
                          </a:solidFill>
                          <a:latin typeface="Calibri"/>
                        </a:defRPr>
                      </a:pPr>
                      <a:r>
                        <a:t>Efficacy (ESETT)</a:t>
                      </a:r>
                    </a:p>
                  </a:txBody>
                  <a:tcPr>
                    <a:solidFill>
                      <a:srgbClr val="007B83"/>
                    </a:solidFill>
                  </a:tcPr>
                </a:tc>
                <a:tc>
                  <a:txBody>
                    <a:bodyPr/>
                    <a:lstStyle/>
                    <a:p>
                      <a:pPr algn="ctr">
                        <a:defRPr sz="1300" b="1">
                          <a:solidFill>
                            <a:srgbClr val="FFFFFF"/>
                          </a:solidFill>
                          <a:latin typeface="Calibri"/>
                        </a:defRPr>
                      </a:pPr>
                      <a:r>
                        <a:t>Key Side Effects</a:t>
                      </a:r>
                    </a:p>
                  </a:txBody>
                  <a:tcPr>
                    <a:solidFill>
                      <a:srgbClr val="007B83"/>
                    </a:solidFill>
                  </a:tcPr>
                </a:tc>
              </a:tr>
              <a:tr h="457200">
                <a:tc>
                  <a:txBody>
                    <a:bodyPr/>
                    <a:lstStyle/>
                    <a:p>
                      <a:pPr algn="l">
                        <a:defRPr sz="1200">
                          <a:solidFill>
                            <a:srgbClr val="3D4455"/>
                          </a:solidFill>
                          <a:latin typeface="Calibri"/>
                        </a:defRPr>
                      </a:pPr>
                      <a:r>
                        <a:t>Levetiracetam</a:t>
                      </a:r>
                    </a:p>
                  </a:txBody>
                  <a:tcPr>
                    <a:solidFill>
                      <a:srgbClr val="F5F6FA"/>
                    </a:solidFill>
                  </a:tcPr>
                </a:tc>
                <a:tc>
                  <a:txBody>
                    <a:bodyPr/>
                    <a:lstStyle/>
                    <a:p>
                      <a:pPr algn="l">
                        <a:defRPr sz="1200">
                          <a:solidFill>
                            <a:srgbClr val="3D4455"/>
                          </a:solidFill>
                          <a:latin typeface="Calibri"/>
                        </a:defRPr>
                      </a:pPr>
                      <a:r>
                        <a:t>60 mg/kg (max 4500 mg)</a:t>
                      </a:r>
                    </a:p>
                  </a:txBody>
                  <a:tcPr>
                    <a:solidFill>
                      <a:srgbClr val="F5F6FA"/>
                    </a:solidFill>
                  </a:tcPr>
                </a:tc>
                <a:tc>
                  <a:txBody>
                    <a:bodyPr/>
                    <a:lstStyle/>
                    <a:p>
                      <a:pPr algn="l">
                        <a:defRPr sz="1200">
                          <a:solidFill>
                            <a:srgbClr val="3D4455"/>
                          </a:solidFill>
                          <a:latin typeface="Calibri"/>
                        </a:defRPr>
                      </a:pPr>
                      <a:r>
                        <a:t>Over 15 min</a:t>
                      </a:r>
                    </a:p>
                  </a:txBody>
                  <a:tcPr>
                    <a:solidFill>
                      <a:srgbClr val="F5F6FA"/>
                    </a:solidFill>
                  </a:tcPr>
                </a:tc>
                <a:tc>
                  <a:txBody>
                    <a:bodyPr/>
                    <a:lstStyle/>
                    <a:p>
                      <a:pPr algn="l">
                        <a:defRPr sz="1200">
                          <a:solidFill>
                            <a:srgbClr val="3D4455"/>
                          </a:solidFill>
                          <a:latin typeface="Calibri"/>
                        </a:defRPr>
                      </a:pPr>
                      <a:r>
                        <a:t>47% seizure cessation</a:t>
                      </a:r>
                    </a:p>
                  </a:txBody>
                  <a:tcPr>
                    <a:solidFill>
                      <a:srgbClr val="F5F6FA"/>
                    </a:solidFill>
                  </a:tcPr>
                </a:tc>
                <a:tc>
                  <a:txBody>
                    <a:bodyPr/>
                    <a:lstStyle/>
                    <a:p>
                      <a:pPr algn="l">
                        <a:defRPr sz="1200">
                          <a:solidFill>
                            <a:srgbClr val="3D4455"/>
                          </a:solidFill>
                          <a:latin typeface="Calibri"/>
                        </a:defRPr>
                      </a:pPr>
                      <a:r>
                        <a:t>Irritability; minimal cardiovascular effects</a:t>
                      </a:r>
                    </a:p>
                  </a:txBody>
                  <a:tcPr>
                    <a:solidFill>
                      <a:srgbClr val="F5F6FA"/>
                    </a:solidFill>
                  </a:tcPr>
                </a:tc>
              </a:tr>
              <a:tr h="457200">
                <a:tc>
                  <a:txBody>
                    <a:bodyPr/>
                    <a:lstStyle/>
                    <a:p>
                      <a:pPr algn="l">
                        <a:defRPr sz="1200">
                          <a:solidFill>
                            <a:srgbClr val="3D4455"/>
                          </a:solidFill>
                          <a:latin typeface="Calibri"/>
                        </a:defRPr>
                      </a:pPr>
                      <a:r>
                        <a:t>Fosphenytoin</a:t>
                      </a:r>
                    </a:p>
                  </a:txBody>
                  <a:tcPr>
                    <a:solidFill>
                      <a:srgbClr val="FFFFFF"/>
                    </a:solidFill>
                  </a:tcPr>
                </a:tc>
                <a:tc>
                  <a:txBody>
                    <a:bodyPr/>
                    <a:lstStyle/>
                    <a:p>
                      <a:pPr algn="l">
                        <a:defRPr sz="1200">
                          <a:solidFill>
                            <a:srgbClr val="3D4455"/>
                          </a:solidFill>
                          <a:latin typeface="Calibri"/>
                        </a:defRPr>
                      </a:pPr>
                      <a:r>
                        <a:t>20 PE/kg (max 1500 PE)</a:t>
                      </a:r>
                    </a:p>
                  </a:txBody>
                  <a:tcPr>
                    <a:solidFill>
                      <a:srgbClr val="FFFFFF"/>
                    </a:solidFill>
                  </a:tcPr>
                </a:tc>
                <a:tc>
                  <a:txBody>
                    <a:bodyPr/>
                    <a:lstStyle/>
                    <a:p>
                      <a:pPr algn="l">
                        <a:defRPr sz="1200">
                          <a:solidFill>
                            <a:srgbClr val="3D4455"/>
                          </a:solidFill>
                          <a:latin typeface="Calibri"/>
                        </a:defRPr>
                      </a:pPr>
                      <a:r>
                        <a:t>Over 15 min (3 PE/kg/min)</a:t>
                      </a:r>
                    </a:p>
                  </a:txBody>
                  <a:tcPr>
                    <a:solidFill>
                      <a:srgbClr val="FFFFFF"/>
                    </a:solidFill>
                  </a:tcPr>
                </a:tc>
                <a:tc>
                  <a:txBody>
                    <a:bodyPr/>
                    <a:lstStyle/>
                    <a:p>
                      <a:pPr algn="l">
                        <a:defRPr sz="1200">
                          <a:solidFill>
                            <a:srgbClr val="3D4455"/>
                          </a:solidFill>
                          <a:latin typeface="Calibri"/>
                        </a:defRPr>
                      </a:pPr>
                      <a:r>
                        <a:t>45% seizure cessation</a:t>
                      </a:r>
                    </a:p>
                  </a:txBody>
                  <a:tcPr>
                    <a:solidFill>
                      <a:srgbClr val="FFFFFF"/>
                    </a:solidFill>
                  </a:tcPr>
                </a:tc>
                <a:tc>
                  <a:txBody>
                    <a:bodyPr/>
                    <a:lstStyle/>
                    <a:p>
                      <a:pPr algn="l">
                        <a:defRPr sz="1200">
                          <a:solidFill>
                            <a:srgbClr val="3D4455"/>
                          </a:solidFill>
                          <a:latin typeface="Calibri"/>
                        </a:defRPr>
                      </a:pPr>
                      <a:r>
                        <a:t>Hypotension, arrhythmia, Purple Glove Syndrome</a:t>
                      </a:r>
                    </a:p>
                  </a:txBody>
                  <a:tcPr>
                    <a:solidFill>
                      <a:srgbClr val="FFFFFF"/>
                    </a:solidFill>
                  </a:tcPr>
                </a:tc>
              </a:tr>
              <a:tr h="457200">
                <a:tc>
                  <a:txBody>
                    <a:bodyPr/>
                    <a:lstStyle/>
                    <a:p>
                      <a:pPr algn="l">
                        <a:defRPr sz="1200">
                          <a:solidFill>
                            <a:srgbClr val="3D4455"/>
                          </a:solidFill>
                          <a:latin typeface="Calibri"/>
                        </a:defRPr>
                      </a:pPr>
                      <a:r>
                        <a:t>Valproate</a:t>
                      </a:r>
                    </a:p>
                  </a:txBody>
                  <a:tcPr>
                    <a:solidFill>
                      <a:srgbClr val="F5F6FA"/>
                    </a:solidFill>
                  </a:tcPr>
                </a:tc>
                <a:tc>
                  <a:txBody>
                    <a:bodyPr/>
                    <a:lstStyle/>
                    <a:p>
                      <a:pPr algn="l">
                        <a:defRPr sz="1200">
                          <a:solidFill>
                            <a:srgbClr val="3D4455"/>
                          </a:solidFill>
                          <a:latin typeface="Calibri"/>
                        </a:defRPr>
                      </a:pPr>
                      <a:r>
                        <a:t>40 mg/kg (max 3000 mg)</a:t>
                      </a:r>
                    </a:p>
                  </a:txBody>
                  <a:tcPr>
                    <a:solidFill>
                      <a:srgbClr val="F5F6FA"/>
                    </a:solidFill>
                  </a:tcPr>
                </a:tc>
                <a:tc>
                  <a:txBody>
                    <a:bodyPr/>
                    <a:lstStyle/>
                    <a:p>
                      <a:pPr algn="l">
                        <a:defRPr sz="1200">
                          <a:solidFill>
                            <a:srgbClr val="3D4455"/>
                          </a:solidFill>
                          <a:latin typeface="Calibri"/>
                        </a:defRPr>
                      </a:pPr>
                      <a:r>
                        <a:t>Over 15 min</a:t>
                      </a:r>
                    </a:p>
                  </a:txBody>
                  <a:tcPr>
                    <a:solidFill>
                      <a:srgbClr val="F5F6FA"/>
                    </a:solidFill>
                  </a:tcPr>
                </a:tc>
                <a:tc>
                  <a:txBody>
                    <a:bodyPr/>
                    <a:lstStyle/>
                    <a:p>
                      <a:pPr algn="l">
                        <a:defRPr sz="1200">
                          <a:solidFill>
                            <a:srgbClr val="3D4455"/>
                          </a:solidFill>
                          <a:latin typeface="Calibri"/>
                        </a:defRPr>
                      </a:pPr>
                      <a:r>
                        <a:t>46% seizure cessation</a:t>
                      </a:r>
                    </a:p>
                  </a:txBody>
                  <a:tcPr>
                    <a:solidFill>
                      <a:srgbClr val="F5F6FA"/>
                    </a:solidFill>
                  </a:tcPr>
                </a:tc>
                <a:tc>
                  <a:txBody>
                    <a:bodyPr/>
                    <a:lstStyle/>
                    <a:p>
                      <a:pPr algn="l">
                        <a:defRPr sz="1200">
                          <a:solidFill>
                            <a:srgbClr val="3D4455"/>
                          </a:solidFill>
                          <a:latin typeface="Calibri"/>
                        </a:defRPr>
                      </a:pPr>
                      <a:r>
                        <a:t>Hepatotoxicity (avoid &lt;2y, metabolic dz)</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Reversible Causes: Always Check These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Hypoglycemia — check point-of-care glucose IMMEDIATELY (treat with D10W 5 mL/kg)</a:t>
            </a:r>
          </a:p>
          <a:p>
            <a:pPr>
              <a:spcBef>
                <a:spcPts val="400"/>
              </a:spcBef>
              <a:spcAft>
                <a:spcPts val="600"/>
              </a:spcAft>
              <a:defRPr sz="1600">
                <a:solidFill>
                  <a:srgbClr val="3D4455"/>
                </a:solidFill>
                <a:latin typeface="Calibri"/>
              </a:defRPr>
            </a:pPr>
            <a:r>
              <a:t>Hyponatremia — especially in infants; correct with hypertonic saline (3% NaCl 3-5 mL/kg)</a:t>
            </a:r>
          </a:p>
          <a:p>
            <a:pPr>
              <a:spcBef>
                <a:spcPts val="400"/>
              </a:spcBef>
              <a:spcAft>
                <a:spcPts val="600"/>
              </a:spcAft>
              <a:defRPr sz="1600">
                <a:solidFill>
                  <a:srgbClr val="3D4455"/>
                </a:solidFill>
                <a:latin typeface="Calibri"/>
              </a:defRPr>
            </a:pPr>
            <a:r>
              <a:t>Hypocalcemia — neonates, DiGeorge, post-parathyroidectomy</a:t>
            </a:r>
          </a:p>
          <a:p>
            <a:pPr>
              <a:spcBef>
                <a:spcPts val="400"/>
              </a:spcBef>
              <a:spcAft>
                <a:spcPts val="600"/>
              </a:spcAft>
              <a:defRPr sz="1600">
                <a:solidFill>
                  <a:srgbClr val="3D4455"/>
                </a:solidFill>
                <a:latin typeface="Calibri"/>
              </a:defRPr>
            </a:pPr>
            <a:r>
              <a:t>Toxicologic: isoniazid (give pyridoxine), organophosphate, sympathomimetics, anticholinergics</a:t>
            </a:r>
          </a:p>
          <a:p>
            <a:pPr>
              <a:spcBef>
                <a:spcPts val="400"/>
              </a:spcBef>
              <a:spcAft>
                <a:spcPts val="600"/>
              </a:spcAft>
              <a:defRPr sz="1600">
                <a:solidFill>
                  <a:srgbClr val="3D4455"/>
                </a:solidFill>
                <a:latin typeface="Calibri"/>
              </a:defRPr>
            </a:pPr>
            <a:r>
              <a:t>Infection: meningitis, encephalitis — if febrile seizure is atypical, consider LP</a:t>
            </a:r>
          </a:p>
          <a:p>
            <a:pPr>
              <a:spcBef>
                <a:spcPts val="400"/>
              </a:spcBef>
              <a:spcAft>
                <a:spcPts val="600"/>
              </a:spcAft>
              <a:defRPr sz="1600">
                <a:solidFill>
                  <a:srgbClr val="3D4455"/>
                </a:solidFill>
                <a:latin typeface="Calibri"/>
              </a:defRPr>
            </a:pPr>
            <a:r>
              <a:t>Pyridoxine-dependent seizures: neonates/infants with refractory seizures — give pyridoxine 100 mg IV</a:t>
            </a:r>
          </a:p>
          <a:p>
            <a:pPr>
              <a:spcBef>
                <a:spcPts val="400"/>
              </a:spcBef>
              <a:spcAft>
                <a:spcPts val="600"/>
              </a:spcAft>
              <a:defRPr sz="1600">
                <a:solidFill>
                  <a:srgbClr val="3D4455"/>
                </a:solidFill>
                <a:latin typeface="Calibri"/>
              </a:defRPr>
            </a:pPr>
            <a:r>
              <a:t>Trauma: intracranial hemorrhage, NAT (non-accidental trauma)</a:t>
            </a:r>
          </a:p>
          <a:p>
            <a:pPr lvl="1">
              <a:spcBef>
                <a:spcPts val="400"/>
              </a:spcBef>
              <a:spcAft>
                <a:spcPts val="600"/>
              </a:spcAft>
              <a:defRPr sz="1400">
                <a:solidFill>
                  <a:srgbClr val="8A92A3"/>
                </a:solidFill>
                <a:latin typeface="Calibri"/>
              </a:defRPr>
            </a:pPr>
            <a:r>
              <a:t>If the seizure is not stopping, ask yourself: am I missing a treatable cause?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Simple Febrile Seizure vs. Complex Febrile Seizure</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SIMPLE FEBRILE SEIZURE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Age 6 months to 5 years</a:t>
            </a:r>
          </a:p>
          <a:p>
            <a:pPr>
              <a:spcAft>
                <a:spcPts val="500"/>
              </a:spcAft>
              <a:defRPr sz="1400">
                <a:solidFill>
                  <a:srgbClr val="3D4455"/>
                </a:solidFill>
                <a:latin typeface="Calibri"/>
              </a:defRPr>
            </a:pPr>
            <a:r>
              <a:t>Generalized (not focal)</a:t>
            </a:r>
          </a:p>
          <a:p>
            <a:pPr>
              <a:spcAft>
                <a:spcPts val="500"/>
              </a:spcAft>
              <a:defRPr sz="1400">
                <a:solidFill>
                  <a:srgbClr val="3D4455"/>
                </a:solidFill>
                <a:latin typeface="Calibri"/>
              </a:defRPr>
            </a:pPr>
            <a:r>
              <a:t>Duration &lt;15 minutes</a:t>
            </a:r>
          </a:p>
          <a:p>
            <a:pPr>
              <a:spcAft>
                <a:spcPts val="500"/>
              </a:spcAft>
              <a:defRPr sz="1400">
                <a:solidFill>
                  <a:srgbClr val="3D4455"/>
                </a:solidFill>
                <a:latin typeface="Calibri"/>
              </a:defRPr>
            </a:pPr>
            <a:r>
              <a:t>Does not recur within 24 hours</a:t>
            </a:r>
          </a:p>
          <a:p>
            <a:pPr>
              <a:spcAft>
                <a:spcPts val="500"/>
              </a:spcAft>
              <a:defRPr sz="1400">
                <a:solidFill>
                  <a:srgbClr val="3D4455"/>
                </a:solidFill>
                <a:latin typeface="Calibri"/>
              </a:defRPr>
            </a:pPr>
            <a:r>
              <a:t>Normal neurologic exam after</a:t>
            </a:r>
          </a:p>
          <a:p>
            <a:pPr>
              <a:spcAft>
                <a:spcPts val="500"/>
              </a:spcAft>
              <a:defRPr sz="1400">
                <a:solidFill>
                  <a:srgbClr val="3D4455"/>
                </a:solidFill>
                <a:latin typeface="Calibri"/>
              </a:defRPr>
            </a:pPr>
            <a:r>
              <a:t>No prior neurologic condition</a:t>
            </a:r>
          </a:p>
          <a:p>
            <a:pPr>
              <a:spcAft>
                <a:spcPts val="500"/>
              </a:spcAft>
              <a:defRPr sz="1400">
                <a:solidFill>
                  <a:srgbClr val="3D4455"/>
                </a:solidFill>
                <a:latin typeface="Calibri"/>
              </a:defRPr>
            </a:pPr>
            <a:r>
              <a:t>Workup: NONE if meets all criteria</a:t>
            </a:r>
          </a:p>
          <a:p>
            <a:pPr>
              <a:spcAft>
                <a:spcPts val="500"/>
              </a:spcAft>
              <a:defRPr sz="1400">
                <a:solidFill>
                  <a:srgbClr val="3D4455"/>
                </a:solidFill>
                <a:latin typeface="Calibri"/>
              </a:defRPr>
            </a:pPr>
            <a:r>
              <a:t>Disposition: home with reassurance</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COMPLEX FEBRILE SEIZURE</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Focal onset or focal features</a:t>
            </a:r>
          </a:p>
          <a:p>
            <a:pPr>
              <a:spcAft>
                <a:spcPts val="500"/>
              </a:spcAft>
              <a:defRPr sz="1400">
                <a:solidFill>
                  <a:srgbClr val="3D4455"/>
                </a:solidFill>
                <a:latin typeface="Calibri"/>
              </a:defRPr>
            </a:pPr>
            <a:r>
              <a:t>Duration ≥15 minutes</a:t>
            </a:r>
          </a:p>
          <a:p>
            <a:pPr>
              <a:spcAft>
                <a:spcPts val="500"/>
              </a:spcAft>
              <a:defRPr sz="1400">
                <a:solidFill>
                  <a:srgbClr val="3D4455"/>
                </a:solidFill>
                <a:latin typeface="Calibri"/>
              </a:defRPr>
            </a:pPr>
            <a:r>
              <a:t>Recurs within 24 hours</a:t>
            </a:r>
          </a:p>
          <a:p>
            <a:pPr>
              <a:spcAft>
                <a:spcPts val="500"/>
              </a:spcAft>
              <a:defRPr sz="1400">
                <a:solidFill>
                  <a:srgbClr val="3D4455"/>
                </a:solidFill>
                <a:latin typeface="Calibri"/>
              </a:defRPr>
            </a:pPr>
            <a:r>
              <a:t>Prolonged postictal period</a:t>
            </a:r>
          </a:p>
          <a:p>
            <a:pPr>
              <a:spcAft>
                <a:spcPts val="500"/>
              </a:spcAft>
              <a:defRPr sz="1400">
                <a:solidFill>
                  <a:srgbClr val="3D4455"/>
                </a:solidFill>
                <a:latin typeface="Calibri"/>
              </a:defRPr>
            </a:pPr>
            <a:r>
              <a:t>Abnormal neurologic exam</a:t>
            </a:r>
          </a:p>
          <a:p>
            <a:pPr>
              <a:spcAft>
                <a:spcPts val="500"/>
              </a:spcAft>
              <a:defRPr sz="1400">
                <a:solidFill>
                  <a:srgbClr val="3D4455"/>
                </a:solidFill>
                <a:latin typeface="Calibri"/>
              </a:defRPr>
            </a:pPr>
            <a:r>
              <a:t>Age &lt;6 months or &gt;5 years</a:t>
            </a:r>
          </a:p>
          <a:p>
            <a:pPr>
              <a:spcAft>
                <a:spcPts val="500"/>
              </a:spcAft>
              <a:defRPr sz="1400">
                <a:solidFill>
                  <a:srgbClr val="3D4455"/>
                </a:solidFill>
                <a:latin typeface="Calibri"/>
              </a:defRPr>
            </a:pPr>
            <a:r>
              <a:t>Workup: labs, consider LP, consider imaging</a:t>
            </a:r>
          </a:p>
          <a:p>
            <a:pPr>
              <a:spcAft>
                <a:spcPts val="500"/>
              </a:spcAft>
              <a:defRPr sz="1400">
                <a:solidFill>
                  <a:srgbClr val="3D4455"/>
                </a:solidFill>
                <a:latin typeface="Calibri"/>
              </a:defRPr>
            </a:pPr>
            <a:r>
              <a:t>Disposition: observe, consider admission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Refractory Status Epilepticus: ICU-Level Management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Definition: seizure continuing despite 2 benzodiazepine doses + 1 second-line agent</a:t>
            </a:r>
          </a:p>
          <a:p>
            <a:pPr>
              <a:spcBef>
                <a:spcPts val="400"/>
              </a:spcBef>
              <a:spcAft>
                <a:spcPts val="600"/>
              </a:spcAft>
              <a:defRPr sz="1600">
                <a:solidFill>
                  <a:srgbClr val="3D4455"/>
                </a:solidFill>
                <a:latin typeface="Calibri"/>
              </a:defRPr>
            </a:pPr>
            <a:r>
              <a:t>This is an ICU emergency — call PICU and neurology immediately</a:t>
            </a:r>
          </a:p>
          <a:p>
            <a:pPr>
              <a:spcBef>
                <a:spcPts val="400"/>
              </a:spcBef>
              <a:spcAft>
                <a:spcPts val="600"/>
              </a:spcAft>
              <a:defRPr sz="1600">
                <a:solidFill>
                  <a:srgbClr val="3D4455"/>
                </a:solidFill>
                <a:latin typeface="Calibri"/>
              </a:defRPr>
            </a:pPr>
            <a:r>
              <a:t>Continuous midazolam infusion: 0.1 mg/kg/hr, titrate up by 0.1 mg/kg/hr q5min (max 2 mg/kg/hr)</a:t>
            </a:r>
          </a:p>
          <a:p>
            <a:pPr>
              <a:spcBef>
                <a:spcPts val="400"/>
              </a:spcBef>
              <a:spcAft>
                <a:spcPts val="600"/>
              </a:spcAft>
              <a:defRPr sz="1600">
                <a:solidFill>
                  <a:srgbClr val="3D4455"/>
                </a:solidFill>
                <a:latin typeface="Calibri"/>
              </a:defRPr>
            </a:pPr>
            <a:r>
              <a:t>May require intubation for airway protection — RSI with no paralysis preferred (need to see seizure)</a:t>
            </a:r>
          </a:p>
          <a:p>
            <a:pPr>
              <a:spcBef>
                <a:spcPts val="400"/>
              </a:spcBef>
              <a:spcAft>
                <a:spcPts val="600"/>
              </a:spcAft>
              <a:defRPr sz="1600">
                <a:solidFill>
                  <a:srgbClr val="3D4455"/>
                </a:solidFill>
                <a:latin typeface="Calibri"/>
              </a:defRPr>
            </a:pPr>
            <a:r>
              <a:t>Continuous EEG monitoring essential to detect non-convulsive status</a:t>
            </a:r>
          </a:p>
          <a:p>
            <a:pPr>
              <a:spcBef>
                <a:spcPts val="400"/>
              </a:spcBef>
              <a:spcAft>
                <a:spcPts val="600"/>
              </a:spcAft>
              <a:defRPr sz="1600">
                <a:solidFill>
                  <a:srgbClr val="3D4455"/>
                </a:solidFill>
                <a:latin typeface="Calibri"/>
              </a:defRPr>
            </a:pPr>
            <a:r>
              <a:t>Consider: pentobarbital coma, ketamine infusion, inhaled anesthetics (all require ICU)</a:t>
            </a:r>
          </a:p>
          <a:p>
            <a:pPr>
              <a:spcBef>
                <a:spcPts val="400"/>
              </a:spcBef>
              <a:spcAft>
                <a:spcPts val="600"/>
              </a:spcAft>
              <a:defRPr sz="1600">
                <a:solidFill>
                  <a:srgbClr val="3D4455"/>
                </a:solidFill>
                <a:latin typeface="Calibri"/>
              </a:defRPr>
            </a:pPr>
            <a:r>
              <a:t>Investigate: metabolic disorder, autoimmune encephalitis, structural lesion</a:t>
            </a:r>
          </a:p>
          <a:p>
            <a:pPr lvl="1">
              <a:spcBef>
                <a:spcPts val="400"/>
              </a:spcBef>
              <a:spcAft>
                <a:spcPts val="600"/>
              </a:spcAft>
              <a:defRPr sz="1400">
                <a:solidFill>
                  <a:srgbClr val="8A92A3"/>
                </a:solidFill>
                <a:latin typeface="Calibri"/>
              </a:defRPr>
            </a:pPr>
            <a:r>
              <a:t>When the seizure won't stop: think about WHY, not just what drug to give next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18-Month-Old Seizing on Arrival</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An 18-month-old (12 kg) arrives by EMS actively seizing — generalized tonic-clonic, started 8 minutes ago per parents. He had a fever (39.5°C) and rhinorrhea for 2 days. EMS gave rectal diazepam 5 mg en route 3 minutes ago. On arrival: still seizing, SpO2 94% on blow-by O2, HR 160. No IV access.</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status epilepticus? (Yes — seizing &gt;5 min, continuing after 1 benzo dose)</a:t>
            </a:r>
          </a:p>
          <a:p>
            <a:pPr>
              <a:spcAft>
                <a:spcPts val="600"/>
              </a:spcAft>
              <a:defRPr sz="1400" b="1">
                <a:solidFill>
                  <a:srgbClr val="007B83"/>
                </a:solidFill>
                <a:latin typeface="Calibri"/>
              </a:defRPr>
            </a:pPr>
            <a:r>
              <a:t>▸  Next immediate step? (IM midazolam 0.2 mg/kg = 2.4 mg IM while establishing IV)</a:t>
            </a:r>
          </a:p>
          <a:p>
            <a:pPr>
              <a:spcAft>
                <a:spcPts val="600"/>
              </a:spcAft>
              <a:defRPr sz="1400" b="1">
                <a:solidFill>
                  <a:srgbClr val="007B83"/>
                </a:solidFill>
                <a:latin typeface="Calibri"/>
              </a:defRPr>
            </a:pPr>
            <a:r>
              <a:t>▸  IV placed — still seizing 5 min later — next? (Levetiracetam 60 mg/kg = 720 mg IV over 15 min)</a:t>
            </a:r>
          </a:p>
          <a:p>
            <a:pPr>
              <a:spcAft>
                <a:spcPts val="600"/>
              </a:spcAft>
              <a:defRPr sz="1400" b="1">
                <a:solidFill>
                  <a:srgbClr val="007B83"/>
                </a:solidFill>
                <a:latin typeface="Calibri"/>
              </a:defRPr>
            </a:pPr>
            <a:r>
              <a:t>▸  Also: check glucose now, obtain electrolytes, temperature management</a:t>
            </a:r>
          </a:p>
          <a:p>
            <a:pPr>
              <a:spcAft>
                <a:spcPts val="600"/>
              </a:spcAft>
              <a:defRPr sz="1400" b="1">
                <a:solidFill>
                  <a:srgbClr val="007B83"/>
                </a:solidFill>
                <a:latin typeface="Calibri"/>
              </a:defRPr>
            </a:pPr>
            <a:r>
              <a:t>▸  Seizure stops after levetiracetam — what workup? (Complex febrile vs. other? LP if concern for meningitis)</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Seizure Management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Delaying benzodiazepine while trying to get IV access — use IM or IN midazolam immediately</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Underdosing benzodiazepines — use full weight-based doses (midazolam 0.2 mg/kg IM)</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Giving &gt;2 doses of benzos before moving to second-line — do not keep repeating, escalate</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Forgetting to check glucose — the most common and most treatable reversible cause</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Not timing the seizure — start a timer when you recognize it, document durations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Excessive workup for simple febrile seizures — AAP guidelines say no labs, no imaging, no LP needed</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Assuming all movement in a post-ictal child is seizure — post-ictal tremor ≠ seizure</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Status epilepticus = seizure ≥5 min — start benzodiazepines at the 5-minute mark, not 30</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IM midazolam (0.2 mg/kg) is first-line when no IV — do NOT delay treatment for IV access (RAMPART)</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Maximum 2 benzodiazepine doses → then escalate to second-line (levetiracetam or fosphenytoin)</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Always check glucose and electrolytes — hypoglycemia is the most treatable cause of seizures</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Simple febrile seizures need NO workup — evaluate the fever source, not the seizure</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Silbergleit R, et al. Intramuscular versus intravenous therapy for prehospital status epilepticus. N Engl J Med. 2012;366(7):591-600. (RAMPART)</a:t>
            </a:r>
          </a:p>
          <a:p>
            <a:pPr>
              <a:spcAft>
                <a:spcPts val="400"/>
              </a:spcAft>
              <a:defRPr sz="1100">
                <a:solidFill>
                  <a:srgbClr val="3D4455"/>
                </a:solidFill>
                <a:latin typeface="Calibri"/>
              </a:defRPr>
            </a:pPr>
            <a:r>
              <a:t>2. Kapur J, et al. Randomized trial of three anticonvulsant medications for status epilepticus. N Engl J Med. 2019;381(22):2103-2113. (ESETT)</a:t>
            </a:r>
          </a:p>
          <a:p>
            <a:pPr>
              <a:spcAft>
                <a:spcPts val="400"/>
              </a:spcAft>
              <a:defRPr sz="1100">
                <a:solidFill>
                  <a:srgbClr val="3D4455"/>
                </a:solidFill>
                <a:latin typeface="Calibri"/>
              </a:defRPr>
            </a:pPr>
            <a:r>
              <a:t>3. Glauser T, et al. Evidence-based guideline: treatment of convulsive status epilepticus in children and adults. Epilepsy Curr. 2016;16(1):48-61.</a:t>
            </a:r>
          </a:p>
          <a:p>
            <a:pPr>
              <a:spcAft>
                <a:spcPts val="400"/>
              </a:spcAft>
              <a:defRPr sz="1100">
                <a:solidFill>
                  <a:srgbClr val="3D4455"/>
                </a:solidFill>
                <a:latin typeface="Calibri"/>
              </a:defRPr>
            </a:pPr>
            <a:r>
              <a:t>4. Subcommittee on Febrile Seizures. Febrile seizures: guideline for the neurodiagnostic evaluation of the child with a simple febrile seizure. Pediatrics. 2011;127(2):389-394.</a:t>
            </a:r>
          </a:p>
          <a:p>
            <a:pPr>
              <a:spcAft>
                <a:spcPts val="400"/>
              </a:spcAft>
              <a:defRPr sz="1100">
                <a:solidFill>
                  <a:srgbClr val="3D4455"/>
                </a:solidFill>
                <a:latin typeface="Calibri"/>
              </a:defRPr>
            </a:pPr>
            <a:r>
              <a:t>5. Eriksson K, et al. Status epilepticus in children: etiology, treatment, and outcome. Dev Med Child Neurol. 2020;62(12):1389-1397.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Status Epilepticus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