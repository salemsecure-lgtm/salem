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talk around the core PEM dilemma: overcalling pneumonia leads to unnecessary antibiotics and imaging, but undercalling it can miss serious bacterial disease. The majority of lower respiratory infections in young children are viral. The goal is to identify the subset who truly have bacterial pneumonia and need treatment.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is the clinical backbone of the talk. High-dose amoxicillin (90 mg/kg/day) is the standard outpatient treatment for uncomplicated CAP in children — this is the IDSA/PIDS recommendation. For the neonate, the approach is entirely different and follows neonatal sepsis protocols. For school-age children, atypical coverage with a macrolide is important.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PIDS/IDSA guidelines are clear: routine CXR is NOT necessary for well-appearing children with uncomplicated CAP who will be treated as outpatients. This is evidence-based and reduces unnecessary radiation and ED time. However, if the child is ill-appearing, hypoxic, or you suspect complicated pneumonia, imaging is essential.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clinical decision point: when a child with pneumonia is not improving after 48-72 hours of appropriate antibiotics, you must consider complicated pneumonia. Get a chest ultrasound (preferred) or CT to evaluate for effusion, empyema, or necrotizing pneumonia. Ultrasound is increasingly first-line for pleural effusion assessment.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algorithm covers a common PEM/surgical decision. The trend has been toward earlier intervention with fibrinolytics via chest tube, which has reduced the need for VATS in many centers. The choice between chest tube + fibrinolytics vs. VATS is institution-dependent. Know your local practice. The PEM role: recognize complicated effusion early and involve surgery.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Round pneumonia is a board favorite — it occurs because of incomplete development of pores of Kohn and channels of Lambert, so infection cannot spread between segments and forms a round consolidation. It mimics a mass. In a child &lt;8 with fever and a round opacity, treat as pneumonia first. If it does not improve, then consider further workup.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as a quick reference. The IDSA/PIDS guidelines emphasize high-dose amoxicillin as first-line. IV ampicillin is preferred over ceftriaxone for uncomplicated inpatient CAP because it has better S. pneumoniae coverage and narrower spectrum. Ceftriaxone is used when broader coverage is needed or for IM dosing in the 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SpO2 threshold of 92% is the standard admission cutoff per guidelines. Some institutions use 90%. The key teaching point: the decision is not just about the oxygen level — it is about the overall clinical picture. A well-appearing child with SpO2 of 91% who is drinking and playful may be safe to observe; a toxic child with SpO2 of 93% may need admission.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case illustrates the classic complicated pneumonia scenario. The key: fever persisting &gt;48-72h on appropriate antibiotics = you must reassess. Dullness to percussion + decreased breath sounds = effusion until proven otherwise. Bedside US is your best friend here — it is more sensitive than CXR for detecting and characterizing effusions.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Antibiotic stewardship is a major theme. The biggest pitfall in PEM is overtreating viral illness with antibiotics. When antibiotics ARE indicated, use the right one at the right dose. And the most dangerous pitfall is missing complicated pneumonia by not reassessing the child who is not improving.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834640"/>
            <a:ext cx="2560320" cy="54864"/>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280160"/>
            <a:ext cx="146304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560"/>
              </a:lnSpc>
              <a:spcBef>
                <a:spcPts val="0"/>
              </a:spcBef>
              <a:spcAft>
                <a:spcPts val="0"/>
              </a:spcAft>
              <a:defRPr sz="1300" b="1" i="0">
                <a:solidFill>
                  <a:srgbClr val="FFFFFF"/>
                </a:solidFill>
                <a:latin typeface="Calibri"/>
              </a:defRPr>
            </a:pPr>
            <a:r>
              <a:t>DECK 09 / 30</a:t>
            </a:r>
          </a:p>
        </p:txBody>
      </p:sp>
      <p:sp>
        <p:nvSpPr>
          <p:cNvPr id="5" name="TextBox 4"/>
          <p:cNvSpPr txBox="1"/>
          <p:nvPr/>
        </p:nvSpPr>
        <p:spPr>
          <a:xfrm>
            <a:off x="731520" y="1965960"/>
            <a:ext cx="9144000" cy="457200"/>
          </a:xfrm>
          <a:prstGeom prst="rect">
            <a:avLst/>
          </a:prstGeom>
          <a:noFill/>
        </p:spPr>
        <p:txBody>
          <a:bodyPr wrap="none">
            <a:spAutoFit/>
          </a:bodyPr>
          <a:lstStyle/>
          <a:p>
            <a:pPr algn="l">
              <a:defRPr sz="1100" b="1">
                <a:solidFill>
                  <a:srgbClr val="00A3AD"/>
                </a:solidFill>
                <a:latin typeface="Calibri"/>
              </a:defRPr>
            </a:pPr>
            <a:r>
              <a:t>PEDIATRIC EMERGENCY MEDICINE  ·  FELLOW TEACHING LIBRARY</a:t>
            </a:r>
          </a:p>
        </p:txBody>
      </p:sp>
      <p:sp>
        <p:nvSpPr>
          <p:cNvPr id="6" name="TextBox 5"/>
          <p:cNvSpPr txBox="1"/>
          <p:nvPr/>
        </p:nvSpPr>
        <p:spPr>
          <a:xfrm>
            <a:off x="731520" y="3200400"/>
            <a:ext cx="10058400" cy="1828800"/>
          </a:xfrm>
          <a:prstGeom prst="rect">
            <a:avLst/>
          </a:prstGeom>
          <a:noFill/>
        </p:spPr>
        <p:txBody>
          <a:bodyPr wrap="square">
            <a:spAutoFit/>
          </a:bodyPr>
          <a:lstStyle/>
          <a:p>
            <a:pPr algn="l">
              <a:defRPr sz="3800" b="1">
                <a:solidFill>
                  <a:srgbClr val="FFFFFF"/>
                </a:solidFill>
                <a:latin typeface="Calibri"/>
              </a:defRPr>
            </a:pPr>
            <a:r>
              <a:t>Pneumonia and Complicated Pneumonia in the ED</a:t>
            </a:r>
          </a:p>
        </p:txBody>
      </p:sp>
      <p:sp>
        <p:nvSpPr>
          <p:cNvPr id="7" name="TextBox 6"/>
          <p:cNvSpPr txBox="1"/>
          <p:nvPr/>
        </p:nvSpPr>
        <p:spPr>
          <a:xfrm>
            <a:off x="731520" y="4937760"/>
            <a:ext cx="9144000" cy="731520"/>
          </a:xfrm>
          <a:prstGeom prst="rect">
            <a:avLst/>
          </a:prstGeom>
          <a:noFill/>
        </p:spPr>
        <p:txBody>
          <a:bodyPr wrap="square">
            <a:spAutoFit/>
          </a:bodyPr>
          <a:lstStyle/>
          <a:p>
            <a:pPr algn="l">
              <a:defRPr sz="1600">
                <a:solidFill>
                  <a:srgbClr val="8A92A3"/>
                </a:solidFill>
                <a:latin typeface="Calibri"/>
              </a:defRPr>
            </a:pPr>
            <a:r>
              <a:t>Evidence-Based Diagnosis, Antibiotic Selection, and Red Flag Recognition</a:t>
            </a:r>
          </a:p>
        </p:txBody>
      </p:sp>
      <p:sp>
        <p:nvSpPr>
          <p:cNvPr id="8" name="Rectangle 7"/>
          <p:cNvSpPr/>
          <p:nvPr/>
        </p:nvSpPr>
        <p:spPr>
          <a:xfrm>
            <a:off x="731520" y="6126480"/>
            <a:ext cx="10515600" cy="18288"/>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263640"/>
            <a:ext cx="10058400" cy="365760"/>
          </a:xfrm>
          <a:prstGeom prst="rect">
            <a:avLst/>
          </a:prstGeom>
          <a:noFill/>
        </p:spPr>
        <p:txBody>
          <a:bodyPr wrap="none">
            <a:spAutoFit/>
          </a:bodyPr>
          <a:lstStyle/>
          <a:p>
            <a:pPr>
              <a:defRPr sz="1000">
                <a:solidFill>
                  <a:srgbClr val="8A92A3"/>
                </a:solidFill>
                <a:latin typeface="Calibri"/>
              </a:defRPr>
            </a:pPr>
            <a:r>
              <a:t>PEM Fellow Teaching Library  ·  Fellowship-Grade Education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9144000" cy="640080"/>
          </a:xfrm>
          <a:prstGeom prst="rect">
            <a:avLst/>
          </a:prstGeom>
          <a:noFill/>
        </p:spPr>
        <p:txBody>
          <a:bodyPr wrap="square">
            <a:spAutoFit/>
          </a:bodyPr>
          <a:lstStyle/>
          <a:p>
            <a:pPr algn="l">
              <a:lnSpc>
                <a:spcPts val="3360"/>
              </a:lnSpc>
              <a:spcBef>
                <a:spcPts val="0"/>
              </a:spcBef>
              <a:spcAft>
                <a:spcPts val="0"/>
              </a:spcAft>
              <a:defRPr sz="2800" b="1" i="0">
                <a:solidFill>
                  <a:srgbClr val="FFFFFF"/>
                </a:solidFill>
                <a:latin typeface="Calibri"/>
              </a:defRPr>
            </a:pPr>
            <a:r>
              <a:t>Learning Objectives</a:t>
            </a:r>
          </a:p>
        </p:txBody>
      </p:sp>
      <p:sp>
        <p:nvSpPr>
          <p:cNvPr id="5" name="Oval 4"/>
          <p:cNvSpPr/>
          <p:nvPr/>
        </p:nvSpPr>
        <p:spPr>
          <a:xfrm>
            <a:off x="731520" y="137160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1</a:t>
            </a:r>
          </a:p>
        </p:txBody>
      </p:sp>
      <p:sp>
        <p:nvSpPr>
          <p:cNvPr id="6" name="TextBox 5"/>
          <p:cNvSpPr txBox="1"/>
          <p:nvPr/>
        </p:nvSpPr>
        <p:spPr>
          <a:xfrm>
            <a:off x="1371600" y="1353312"/>
            <a:ext cx="9601200" cy="548640"/>
          </a:xfrm>
          <a:prstGeom prst="rect">
            <a:avLst/>
          </a:prstGeom>
          <a:noFill/>
        </p:spPr>
        <p:txBody>
          <a:bodyPr wrap="square">
            <a:spAutoFit/>
          </a:bodyPr>
          <a:lstStyle/>
          <a:p>
            <a:pPr>
              <a:defRPr sz="1600">
                <a:solidFill>
                  <a:srgbClr val="3D4455"/>
                </a:solidFill>
                <a:latin typeface="Calibri"/>
              </a:defRPr>
            </a:pPr>
            <a:r>
              <a:t>Identify when imaging is and is NOT indicated for suspected pneumonia</a:t>
            </a:r>
          </a:p>
        </p:txBody>
      </p:sp>
      <p:sp>
        <p:nvSpPr>
          <p:cNvPr id="7" name="Oval 6"/>
          <p:cNvSpPr/>
          <p:nvPr/>
        </p:nvSpPr>
        <p:spPr>
          <a:xfrm>
            <a:off x="731520" y="214884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2</a:t>
            </a:r>
          </a:p>
        </p:txBody>
      </p:sp>
      <p:sp>
        <p:nvSpPr>
          <p:cNvPr id="8" name="TextBox 7"/>
          <p:cNvSpPr txBox="1"/>
          <p:nvPr/>
        </p:nvSpPr>
        <p:spPr>
          <a:xfrm>
            <a:off x="1371600" y="2130552"/>
            <a:ext cx="9601200" cy="548640"/>
          </a:xfrm>
          <a:prstGeom prst="rect">
            <a:avLst/>
          </a:prstGeom>
          <a:noFill/>
        </p:spPr>
        <p:txBody>
          <a:bodyPr wrap="square">
            <a:spAutoFit/>
          </a:bodyPr>
          <a:lstStyle/>
          <a:p>
            <a:pPr>
              <a:defRPr sz="1600">
                <a:solidFill>
                  <a:srgbClr val="3D4455"/>
                </a:solidFill>
                <a:latin typeface="Calibri"/>
              </a:defRPr>
            </a:pPr>
            <a:r>
              <a:t>Select appropriate empiric antibiotics by age group and severity</a:t>
            </a:r>
          </a:p>
        </p:txBody>
      </p:sp>
      <p:sp>
        <p:nvSpPr>
          <p:cNvPr id="9" name="Oval 8"/>
          <p:cNvSpPr/>
          <p:nvPr/>
        </p:nvSpPr>
        <p:spPr>
          <a:xfrm>
            <a:off x="731520" y="292608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3</a:t>
            </a:r>
          </a:p>
        </p:txBody>
      </p:sp>
      <p:sp>
        <p:nvSpPr>
          <p:cNvPr id="10" name="TextBox 9"/>
          <p:cNvSpPr txBox="1"/>
          <p:nvPr/>
        </p:nvSpPr>
        <p:spPr>
          <a:xfrm>
            <a:off x="1371600" y="2907792"/>
            <a:ext cx="9601200" cy="548640"/>
          </a:xfrm>
          <a:prstGeom prst="rect">
            <a:avLst/>
          </a:prstGeom>
          <a:noFill/>
        </p:spPr>
        <p:txBody>
          <a:bodyPr wrap="square">
            <a:spAutoFit/>
          </a:bodyPr>
          <a:lstStyle/>
          <a:p>
            <a:pPr>
              <a:defRPr sz="1600">
                <a:solidFill>
                  <a:srgbClr val="3D4455"/>
                </a:solidFill>
                <a:latin typeface="Calibri"/>
              </a:defRPr>
            </a:pPr>
            <a:r>
              <a:t>Recognize complicated pneumonia: empyema, necrotizing pneumonia, lung abscess</a:t>
            </a:r>
          </a:p>
        </p:txBody>
      </p:sp>
      <p:sp>
        <p:nvSpPr>
          <p:cNvPr id="11" name="Oval 10"/>
          <p:cNvSpPr/>
          <p:nvPr/>
        </p:nvSpPr>
        <p:spPr>
          <a:xfrm>
            <a:off x="731520" y="370332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4</a:t>
            </a:r>
          </a:p>
        </p:txBody>
      </p:sp>
      <p:sp>
        <p:nvSpPr>
          <p:cNvPr id="12" name="TextBox 11"/>
          <p:cNvSpPr txBox="1"/>
          <p:nvPr/>
        </p:nvSpPr>
        <p:spPr>
          <a:xfrm>
            <a:off x="1371600" y="3685032"/>
            <a:ext cx="9601200" cy="548640"/>
          </a:xfrm>
          <a:prstGeom prst="rect">
            <a:avLst/>
          </a:prstGeom>
          <a:noFill/>
        </p:spPr>
        <p:txBody>
          <a:bodyPr wrap="square">
            <a:spAutoFit/>
          </a:bodyPr>
          <a:lstStyle/>
          <a:p>
            <a:pPr>
              <a:defRPr sz="1600">
                <a:solidFill>
                  <a:srgbClr val="3D4455"/>
                </a:solidFill>
                <a:latin typeface="Calibri"/>
              </a:defRPr>
            </a:pPr>
            <a:r>
              <a:t>Apply evidence-based disposition criteria for pediatric CAP</a:t>
            </a:r>
          </a:p>
        </p:txBody>
      </p:sp>
      <p:sp>
        <p:nvSpPr>
          <p:cNvPr id="13" name="Oval 12"/>
          <p:cNvSpPr/>
          <p:nvPr/>
        </p:nvSpPr>
        <p:spPr>
          <a:xfrm>
            <a:off x="731520" y="448056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5</a:t>
            </a:r>
          </a:p>
        </p:txBody>
      </p:sp>
      <p:sp>
        <p:nvSpPr>
          <p:cNvPr id="14" name="TextBox 13"/>
          <p:cNvSpPr txBox="1"/>
          <p:nvPr/>
        </p:nvSpPr>
        <p:spPr>
          <a:xfrm>
            <a:off x="1371600" y="4462272"/>
            <a:ext cx="9601200" cy="548640"/>
          </a:xfrm>
          <a:prstGeom prst="rect">
            <a:avLst/>
          </a:prstGeom>
          <a:noFill/>
        </p:spPr>
        <p:txBody>
          <a:bodyPr wrap="square">
            <a:spAutoFit/>
          </a:bodyPr>
          <a:lstStyle/>
          <a:p>
            <a:pPr>
              <a:defRPr sz="1600">
                <a:solidFill>
                  <a:srgbClr val="3D4455"/>
                </a:solidFill>
                <a:latin typeface="Calibri"/>
              </a:defRPr>
            </a:pPr>
            <a:r>
              <a:t>Identify the child with pneumonia who needs escalation vs. outpatient management</a:t>
            </a:r>
          </a:p>
        </p:txBody>
      </p:sp>
      <p:sp>
        <p:nvSpPr>
          <p:cNvPr id="15" name="Rectangle 14"/>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Pneumonia in the ED</a:t>
            </a:r>
          </a:p>
        </p:txBody>
      </p:sp>
      <p:sp>
        <p:nvSpPr>
          <p:cNvPr id="17" name="TextBox 16"/>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Community-Acquired Pneumonia in Children: PEM Framework</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Leading infectious cause of death in children worldwide</a:t>
            </a:r>
          </a:p>
          <a:p>
            <a:pPr>
              <a:spcBef>
                <a:spcPts val="400"/>
              </a:spcBef>
              <a:spcAft>
                <a:spcPts val="600"/>
              </a:spcAft>
              <a:defRPr sz="1600">
                <a:solidFill>
                  <a:srgbClr val="3D4455"/>
                </a:solidFill>
                <a:latin typeface="Calibri"/>
              </a:defRPr>
            </a:pPr>
            <a:r>
              <a:t>CAP responsible for ~1-4% of pediatric ED visits in developed countries</a:t>
            </a:r>
          </a:p>
          <a:p>
            <a:pPr>
              <a:spcBef>
                <a:spcPts val="400"/>
              </a:spcBef>
              <a:spcAft>
                <a:spcPts val="600"/>
              </a:spcAft>
              <a:defRPr sz="1600">
                <a:solidFill>
                  <a:srgbClr val="3D4455"/>
                </a:solidFill>
                <a:latin typeface="Calibri"/>
              </a:defRPr>
            </a:pPr>
            <a:r>
              <a:t>Most pneumonia in children &lt;5 years is VIRAL — antibiotics often unnecessary</a:t>
            </a:r>
          </a:p>
          <a:p>
            <a:pPr>
              <a:spcBef>
                <a:spcPts val="400"/>
              </a:spcBef>
              <a:spcAft>
                <a:spcPts val="600"/>
              </a:spcAft>
              <a:defRPr sz="1600">
                <a:solidFill>
                  <a:srgbClr val="3D4455"/>
                </a:solidFill>
                <a:latin typeface="Calibri"/>
              </a:defRPr>
            </a:pPr>
            <a:r>
              <a:t>Bacterial CAP increases with age; S. pneumoniae remains the most common bacterial cause at all ages</a:t>
            </a:r>
          </a:p>
          <a:p>
            <a:pPr>
              <a:spcBef>
                <a:spcPts val="400"/>
              </a:spcBef>
              <a:spcAft>
                <a:spcPts val="600"/>
              </a:spcAft>
              <a:defRPr sz="1600">
                <a:solidFill>
                  <a:srgbClr val="3D4455"/>
                </a:solidFill>
                <a:latin typeface="Calibri"/>
              </a:defRPr>
            </a:pPr>
            <a:r>
              <a:t>Atypical pathogens (Mycoplasma) become important after age 5</a:t>
            </a:r>
          </a:p>
          <a:p>
            <a:pPr>
              <a:spcBef>
                <a:spcPts val="400"/>
              </a:spcBef>
              <a:spcAft>
                <a:spcPts val="600"/>
              </a:spcAft>
              <a:defRPr sz="1600">
                <a:solidFill>
                  <a:srgbClr val="3D4455"/>
                </a:solidFill>
                <a:latin typeface="Calibri"/>
              </a:defRPr>
            </a:pPr>
            <a:r>
              <a:t>The PEM challenge: identify who needs antibiotics, imaging, and admission vs. who goes home</a:t>
            </a:r>
          </a:p>
          <a:p>
            <a:pPr lvl="1">
              <a:spcBef>
                <a:spcPts val="400"/>
              </a:spcBef>
              <a:spcAft>
                <a:spcPts val="600"/>
              </a:spcAft>
              <a:defRPr sz="1400">
                <a:solidFill>
                  <a:srgbClr val="8A92A3"/>
                </a:solidFill>
                <a:latin typeface="Calibri"/>
              </a:defRPr>
            </a:pPr>
            <a:r>
              <a:t>Not every child with fever and cough has pneumonia. Not every pneumonia needs antibiotics.</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Pneumonia in the ED</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Pathogens by Age Group</a:t>
            </a:r>
          </a:p>
        </p:txBody>
      </p:sp>
      <p:graphicFrame>
        <p:nvGraphicFramePr>
          <p:cNvPr id="5" name="Table 4"/>
          <p:cNvGraphicFramePr>
            <a:graphicFrameLocks noGrp="1"/>
          </p:cNvGraphicFramePr>
          <p:nvPr/>
        </p:nvGraphicFramePr>
        <p:xfrm>
          <a:off x="822960" y="1280160"/>
          <a:ext cx="10515600" cy="2743200"/>
        </p:xfrm>
        <a:graphic>
          <a:graphicData uri="http://schemas.openxmlformats.org/drawingml/2006/table">
            <a:tbl>
              <a:tblPr firstRow="1" bandRow="1">
                <a:tableStyleId>{5C22544A-7EE6-4342-B048-85BDC9FD1C3A}</a:tableStyleId>
              </a:tblPr>
              <a:tblGrid>
                <a:gridCol w="3505200"/>
                <a:gridCol w="3505200"/>
                <a:gridCol w="3505200"/>
              </a:tblGrid>
              <a:tr h="457200">
                <a:tc>
                  <a:txBody>
                    <a:bodyPr/>
                    <a:lstStyle/>
                    <a:p>
                      <a:pPr algn="ctr">
                        <a:defRPr sz="1300" b="1">
                          <a:solidFill>
                            <a:srgbClr val="FFFFFF"/>
                          </a:solidFill>
                          <a:latin typeface="Calibri"/>
                        </a:defRPr>
                      </a:pPr>
                      <a:r>
                        <a:t>Age Group</a:t>
                      </a:r>
                    </a:p>
                  </a:txBody>
                  <a:tcPr>
                    <a:solidFill>
                      <a:srgbClr val="007B83"/>
                    </a:solidFill>
                  </a:tcPr>
                </a:tc>
                <a:tc>
                  <a:txBody>
                    <a:bodyPr/>
                    <a:lstStyle/>
                    <a:p>
                      <a:pPr algn="ctr">
                        <a:defRPr sz="1300" b="1">
                          <a:solidFill>
                            <a:srgbClr val="FFFFFF"/>
                          </a:solidFill>
                          <a:latin typeface="Calibri"/>
                        </a:defRPr>
                      </a:pPr>
                      <a:r>
                        <a:t>Most Common Pathogens</a:t>
                      </a:r>
                    </a:p>
                  </a:txBody>
                  <a:tcPr>
                    <a:solidFill>
                      <a:srgbClr val="007B83"/>
                    </a:solidFill>
                  </a:tcPr>
                </a:tc>
                <a:tc>
                  <a:txBody>
                    <a:bodyPr/>
                    <a:lstStyle/>
                    <a:p>
                      <a:pPr algn="ctr">
                        <a:defRPr sz="1300" b="1">
                          <a:solidFill>
                            <a:srgbClr val="FFFFFF"/>
                          </a:solidFill>
                          <a:latin typeface="Calibri"/>
                        </a:defRPr>
                      </a:pPr>
                      <a:r>
                        <a:t>Empiric Antibiotic</a:t>
                      </a:r>
                    </a:p>
                  </a:txBody>
                  <a:tcPr>
                    <a:solidFill>
                      <a:srgbClr val="007B83"/>
                    </a:solidFill>
                  </a:tcPr>
                </a:tc>
              </a:tr>
              <a:tr h="457200">
                <a:tc>
                  <a:txBody>
                    <a:bodyPr/>
                    <a:lstStyle/>
                    <a:p>
                      <a:pPr algn="l">
                        <a:defRPr sz="1200">
                          <a:solidFill>
                            <a:srgbClr val="3D4455"/>
                          </a:solidFill>
                          <a:latin typeface="Calibri"/>
                        </a:defRPr>
                      </a:pPr>
                      <a:r>
                        <a:t>Neonate (&lt;30d)</a:t>
                      </a:r>
                    </a:p>
                  </a:txBody>
                  <a:tcPr>
                    <a:solidFill>
                      <a:srgbClr val="F5F6FA"/>
                    </a:solidFill>
                  </a:tcPr>
                </a:tc>
                <a:tc>
                  <a:txBody>
                    <a:bodyPr/>
                    <a:lstStyle/>
                    <a:p>
                      <a:pPr algn="l">
                        <a:defRPr sz="1200">
                          <a:solidFill>
                            <a:srgbClr val="3D4455"/>
                          </a:solidFill>
                          <a:latin typeface="Calibri"/>
                        </a:defRPr>
                      </a:pPr>
                      <a:r>
                        <a:t>GBS, E. coli, Listeria, HSV</a:t>
                      </a:r>
                    </a:p>
                  </a:txBody>
                  <a:tcPr>
                    <a:solidFill>
                      <a:srgbClr val="F5F6FA"/>
                    </a:solidFill>
                  </a:tcPr>
                </a:tc>
                <a:tc>
                  <a:txBody>
                    <a:bodyPr/>
                    <a:lstStyle/>
                    <a:p>
                      <a:pPr algn="l">
                        <a:defRPr sz="1200">
                          <a:solidFill>
                            <a:srgbClr val="3D4455"/>
                          </a:solidFill>
                          <a:latin typeface="Calibri"/>
                        </a:defRPr>
                      </a:pPr>
                      <a:r>
                        <a:t>Ampicillin + gentamicin (+ acyclovir if HSV concern)</a:t>
                      </a:r>
                    </a:p>
                  </a:txBody>
                  <a:tcPr>
                    <a:solidFill>
                      <a:srgbClr val="F5F6FA"/>
                    </a:solidFill>
                  </a:tcPr>
                </a:tc>
              </a:tr>
              <a:tr h="457200">
                <a:tc>
                  <a:txBody>
                    <a:bodyPr/>
                    <a:lstStyle/>
                    <a:p>
                      <a:pPr algn="l">
                        <a:defRPr sz="1200">
                          <a:solidFill>
                            <a:srgbClr val="3D4455"/>
                          </a:solidFill>
                          <a:latin typeface="Calibri"/>
                        </a:defRPr>
                      </a:pPr>
                      <a:r>
                        <a:t>1-3 months</a:t>
                      </a:r>
                    </a:p>
                  </a:txBody>
                  <a:tcPr>
                    <a:solidFill>
                      <a:srgbClr val="FFFFFF"/>
                    </a:solidFill>
                  </a:tcPr>
                </a:tc>
                <a:tc>
                  <a:txBody>
                    <a:bodyPr/>
                    <a:lstStyle/>
                    <a:p>
                      <a:pPr algn="l">
                        <a:defRPr sz="1200">
                          <a:solidFill>
                            <a:srgbClr val="3D4455"/>
                          </a:solidFill>
                          <a:latin typeface="Calibri"/>
                        </a:defRPr>
                      </a:pPr>
                      <a:r>
                        <a:t>Chlamydia trachomatis, RSV, Pertussis, S. pneumo</a:t>
                      </a:r>
                    </a:p>
                  </a:txBody>
                  <a:tcPr>
                    <a:solidFill>
                      <a:srgbClr val="FFFFFF"/>
                    </a:solidFill>
                  </a:tcPr>
                </a:tc>
                <a:tc>
                  <a:txBody>
                    <a:bodyPr/>
                    <a:lstStyle/>
                    <a:p>
                      <a:pPr algn="l">
                        <a:defRPr sz="1200">
                          <a:solidFill>
                            <a:srgbClr val="3D4455"/>
                          </a:solidFill>
                          <a:latin typeface="Calibri"/>
                        </a:defRPr>
                      </a:pPr>
                      <a:r>
                        <a:t>Macrolide (afebrile) or ampicillin (febrile)</a:t>
                      </a:r>
                    </a:p>
                  </a:txBody>
                  <a:tcPr>
                    <a:solidFill>
                      <a:srgbClr val="FFFFFF"/>
                    </a:solidFill>
                  </a:tcPr>
                </a:tc>
              </a:tr>
              <a:tr h="457200">
                <a:tc>
                  <a:txBody>
                    <a:bodyPr/>
                    <a:lstStyle/>
                    <a:p>
                      <a:pPr algn="l">
                        <a:defRPr sz="1200">
                          <a:solidFill>
                            <a:srgbClr val="3D4455"/>
                          </a:solidFill>
                          <a:latin typeface="Calibri"/>
                        </a:defRPr>
                      </a:pPr>
                      <a:r>
                        <a:t>3 months - 5 years</a:t>
                      </a:r>
                    </a:p>
                  </a:txBody>
                  <a:tcPr>
                    <a:solidFill>
                      <a:srgbClr val="F5F6FA"/>
                    </a:solidFill>
                  </a:tcPr>
                </a:tc>
                <a:tc>
                  <a:txBody>
                    <a:bodyPr/>
                    <a:lstStyle/>
                    <a:p>
                      <a:pPr algn="l">
                        <a:defRPr sz="1200">
                          <a:solidFill>
                            <a:srgbClr val="3D4455"/>
                          </a:solidFill>
                          <a:latin typeface="Calibri"/>
                        </a:defRPr>
                      </a:pPr>
                      <a:r>
                        <a:t>Viral (RSV, rhinovirus, influenza), S. pneumoniae</a:t>
                      </a:r>
                    </a:p>
                  </a:txBody>
                  <a:tcPr>
                    <a:solidFill>
                      <a:srgbClr val="F5F6FA"/>
                    </a:solidFill>
                  </a:tcPr>
                </a:tc>
                <a:tc>
                  <a:txBody>
                    <a:bodyPr/>
                    <a:lstStyle/>
                    <a:p>
                      <a:pPr algn="l">
                        <a:defRPr sz="1200">
                          <a:solidFill>
                            <a:srgbClr val="3D4455"/>
                          </a:solidFill>
                          <a:latin typeface="Calibri"/>
                        </a:defRPr>
                      </a:pPr>
                      <a:r>
                        <a:t>High-dose amoxicillin 90 mg/kg/day (outpatient)</a:t>
                      </a:r>
                    </a:p>
                  </a:txBody>
                  <a:tcPr>
                    <a:solidFill>
                      <a:srgbClr val="F5F6FA"/>
                    </a:solidFill>
                  </a:tcPr>
                </a:tc>
              </a:tr>
              <a:tr h="457200">
                <a:tc>
                  <a:txBody>
                    <a:bodyPr/>
                    <a:lstStyle/>
                    <a:p>
                      <a:pPr algn="l">
                        <a:defRPr sz="1200">
                          <a:solidFill>
                            <a:srgbClr val="3D4455"/>
                          </a:solidFill>
                          <a:latin typeface="Calibri"/>
                        </a:defRPr>
                      </a:pPr>
                      <a:r>
                        <a:t>5-18 years</a:t>
                      </a:r>
                    </a:p>
                  </a:txBody>
                  <a:tcPr>
                    <a:solidFill>
                      <a:srgbClr val="FFFFFF"/>
                    </a:solidFill>
                  </a:tcPr>
                </a:tc>
                <a:tc>
                  <a:txBody>
                    <a:bodyPr/>
                    <a:lstStyle/>
                    <a:p>
                      <a:pPr algn="l">
                        <a:defRPr sz="1200">
                          <a:solidFill>
                            <a:srgbClr val="3D4455"/>
                          </a:solidFill>
                          <a:latin typeface="Calibri"/>
                        </a:defRPr>
                      </a:pPr>
                      <a:r>
                        <a:t>Mycoplasma, S. pneumoniae, Chlamydophila pneumo</a:t>
                      </a:r>
                    </a:p>
                  </a:txBody>
                  <a:tcPr>
                    <a:solidFill>
                      <a:srgbClr val="FFFFFF"/>
                    </a:solidFill>
                  </a:tcPr>
                </a:tc>
                <a:tc>
                  <a:txBody>
                    <a:bodyPr/>
                    <a:lstStyle/>
                    <a:p>
                      <a:pPr algn="l">
                        <a:defRPr sz="1200">
                          <a:solidFill>
                            <a:srgbClr val="3D4455"/>
                          </a:solidFill>
                          <a:latin typeface="Calibri"/>
                        </a:defRPr>
                      </a:pPr>
                      <a:r>
                        <a:t>Amoxicillin + macrolide OR macrolide alone</a:t>
                      </a:r>
                    </a:p>
                  </a:txBody>
                  <a:tcPr>
                    <a:solidFill>
                      <a:srgbClr val="FFFFFF"/>
                    </a:solidFill>
                  </a:tcPr>
                </a:tc>
              </a:tr>
              <a:tr h="457200">
                <a:tc>
                  <a:txBody>
                    <a:bodyPr/>
                    <a:lstStyle/>
                    <a:p>
                      <a:pPr algn="l">
                        <a:defRPr sz="1200">
                          <a:solidFill>
                            <a:srgbClr val="3D4455"/>
                          </a:solidFill>
                          <a:latin typeface="Calibri"/>
                        </a:defRPr>
                      </a:pPr>
                      <a:r>
                        <a:t>Any age, severe</a:t>
                      </a:r>
                    </a:p>
                  </a:txBody>
                  <a:tcPr>
                    <a:solidFill>
                      <a:srgbClr val="F5F6FA"/>
                    </a:solidFill>
                  </a:tcPr>
                </a:tc>
                <a:tc>
                  <a:txBody>
                    <a:bodyPr/>
                    <a:lstStyle/>
                    <a:p>
                      <a:pPr algn="l">
                        <a:defRPr sz="1200">
                          <a:solidFill>
                            <a:srgbClr val="3D4455"/>
                          </a:solidFill>
                          <a:latin typeface="Calibri"/>
                        </a:defRPr>
                      </a:pPr>
                      <a:r>
                        <a:t>S. pneumoniae, S. aureus, S. pyogenes</a:t>
                      </a:r>
                    </a:p>
                  </a:txBody>
                  <a:tcPr>
                    <a:solidFill>
                      <a:srgbClr val="F5F6FA"/>
                    </a:solidFill>
                  </a:tcPr>
                </a:tc>
                <a:tc>
                  <a:txBody>
                    <a:bodyPr/>
                    <a:lstStyle/>
                    <a:p>
                      <a:pPr algn="l">
                        <a:defRPr sz="1200">
                          <a:solidFill>
                            <a:srgbClr val="3D4455"/>
                          </a:solidFill>
                          <a:latin typeface="Calibri"/>
                        </a:defRPr>
                      </a:pPr>
                      <a:r>
                        <a:t>IV ampicillin or ceftriaxone ± vancomycin</a:t>
                      </a:r>
                    </a:p>
                  </a:txBody>
                  <a:tcPr>
                    <a:solidFill>
                      <a:srgbClr val="F5F6FA"/>
                    </a:solidFill>
                  </a:tcPr>
                </a:tc>
              </a:tr>
            </a:tbl>
          </a:graphicData>
        </a:graphic>
      </p:graphicFrame>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Pneumonia in the ED</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When to Image — and When NOT to Image</a:t>
            </a:r>
          </a:p>
        </p:txBody>
      </p:sp>
      <p:sp>
        <p:nvSpPr>
          <p:cNvPr id="5" name="Rounded Rectangle 4"/>
          <p:cNvSpPr/>
          <p:nvPr/>
        </p:nvSpPr>
        <p:spPr>
          <a:xfrm>
            <a:off x="457200" y="1280160"/>
            <a:ext cx="5303520" cy="54864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DO GET CHEST X-RAY</a:t>
            </a:r>
          </a:p>
        </p:txBody>
      </p:sp>
      <p:sp>
        <p:nvSpPr>
          <p:cNvPr id="6" name="TextBox 5"/>
          <p:cNvSpPr txBox="1"/>
          <p:nvPr/>
        </p:nvSpPr>
        <p:spPr>
          <a:xfrm>
            <a:off x="640080" y="2011680"/>
            <a:ext cx="4937760" cy="4114800"/>
          </a:xfrm>
          <a:prstGeom prst="rect">
            <a:avLst/>
          </a:prstGeom>
          <a:noFill/>
        </p:spPr>
        <p:txBody>
          <a:bodyPr wrap="square">
            <a:spAutoFit/>
          </a:bodyPr>
          <a:lstStyle/>
          <a:p>
            <a:pPr>
              <a:spcAft>
                <a:spcPts val="500"/>
              </a:spcAft>
              <a:defRPr sz="1400">
                <a:solidFill>
                  <a:srgbClr val="3D4455"/>
                </a:solidFill>
                <a:latin typeface="Calibri"/>
              </a:defRPr>
            </a:pPr>
            <a:r>
              <a:t>Hypoxia (SpO2 &lt;92%)</a:t>
            </a:r>
          </a:p>
          <a:p>
            <a:pPr>
              <a:spcAft>
                <a:spcPts val="500"/>
              </a:spcAft>
              <a:defRPr sz="1400">
                <a:solidFill>
                  <a:srgbClr val="3D4455"/>
                </a:solidFill>
                <a:latin typeface="Calibri"/>
              </a:defRPr>
            </a:pPr>
            <a:r>
              <a:t>Significant respiratory distress</a:t>
            </a:r>
          </a:p>
          <a:p>
            <a:pPr>
              <a:spcAft>
                <a:spcPts val="500"/>
              </a:spcAft>
              <a:defRPr sz="1400">
                <a:solidFill>
                  <a:srgbClr val="3D4455"/>
                </a:solidFill>
                <a:latin typeface="Calibri"/>
              </a:defRPr>
            </a:pPr>
            <a:r>
              <a:t>Failed outpatient antibiotics</a:t>
            </a:r>
          </a:p>
          <a:p>
            <a:pPr>
              <a:spcAft>
                <a:spcPts val="500"/>
              </a:spcAft>
              <a:defRPr sz="1400">
                <a:solidFill>
                  <a:srgbClr val="3D4455"/>
                </a:solidFill>
                <a:latin typeface="Calibri"/>
              </a:defRPr>
            </a:pPr>
            <a:r>
              <a:t>Concern for complicated pneumonia (effusion, empyema)</a:t>
            </a:r>
          </a:p>
          <a:p>
            <a:pPr>
              <a:spcAft>
                <a:spcPts val="500"/>
              </a:spcAft>
              <a:defRPr sz="1400">
                <a:solidFill>
                  <a:srgbClr val="3D4455"/>
                </a:solidFill>
                <a:latin typeface="Calibri"/>
              </a:defRPr>
            </a:pPr>
            <a:r>
              <a:t>Ill-appearing or toxic child</a:t>
            </a:r>
          </a:p>
          <a:p>
            <a:pPr>
              <a:spcAft>
                <a:spcPts val="500"/>
              </a:spcAft>
              <a:defRPr sz="1400">
                <a:solidFill>
                  <a:srgbClr val="3D4455"/>
                </a:solidFill>
                <a:latin typeface="Calibri"/>
              </a:defRPr>
            </a:pPr>
            <a:r>
              <a:t>ICU-level care anticipated</a:t>
            </a:r>
          </a:p>
          <a:p>
            <a:pPr>
              <a:spcAft>
                <a:spcPts val="500"/>
              </a:spcAft>
              <a:defRPr sz="1400">
                <a:solidFill>
                  <a:srgbClr val="3D4455"/>
                </a:solidFill>
                <a:latin typeface="Calibri"/>
              </a:defRPr>
            </a:pPr>
            <a:r>
              <a:t>Recurrent pneumonia (evaluate for anatomic cause)</a:t>
            </a:r>
          </a:p>
        </p:txBody>
      </p:sp>
      <p:sp>
        <p:nvSpPr>
          <p:cNvPr id="7" name="Rectangle 6"/>
          <p:cNvSpPr/>
          <p:nvPr/>
        </p:nvSpPr>
        <p:spPr>
          <a:xfrm>
            <a:off x="5989320" y="1280160"/>
            <a:ext cx="27432" cy="4754880"/>
          </a:xfrm>
          <a:prstGeom prst="rect">
            <a:avLst/>
          </a:prstGeom>
          <a:solidFill>
            <a:srgbClr val="E0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309360" y="1280160"/>
            <a:ext cx="5303520" cy="548640"/>
          </a:xfrm>
          <a:prstGeom prst="round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DO NOT NEED CXR</a:t>
            </a:r>
          </a:p>
        </p:txBody>
      </p:sp>
      <p:sp>
        <p:nvSpPr>
          <p:cNvPr id="9" name="TextBox 8"/>
          <p:cNvSpPr txBox="1"/>
          <p:nvPr/>
        </p:nvSpPr>
        <p:spPr>
          <a:xfrm>
            <a:off x="6492240" y="2011680"/>
            <a:ext cx="4937760" cy="4114800"/>
          </a:xfrm>
          <a:prstGeom prst="rect">
            <a:avLst/>
          </a:prstGeom>
          <a:noFill/>
        </p:spPr>
        <p:txBody>
          <a:bodyPr wrap="square">
            <a:spAutoFit/>
          </a:bodyPr>
          <a:lstStyle/>
          <a:p>
            <a:pPr>
              <a:spcAft>
                <a:spcPts val="500"/>
              </a:spcAft>
              <a:defRPr sz="1400">
                <a:solidFill>
                  <a:srgbClr val="3D4455"/>
                </a:solidFill>
                <a:latin typeface="Calibri"/>
              </a:defRPr>
            </a:pPr>
            <a:r>
              <a:t>Well-appearing child with clinical pneumonia (focal findings)</a:t>
            </a:r>
          </a:p>
          <a:p>
            <a:pPr>
              <a:spcAft>
                <a:spcPts val="500"/>
              </a:spcAft>
              <a:defRPr sz="1400">
                <a:solidFill>
                  <a:srgbClr val="3D4455"/>
                </a:solidFill>
                <a:latin typeface="Calibri"/>
              </a:defRPr>
            </a:pPr>
            <a:r>
              <a:t>Uncomplicated presentation planned for outpatient antibiotics</a:t>
            </a:r>
          </a:p>
          <a:p>
            <a:pPr>
              <a:spcAft>
                <a:spcPts val="500"/>
              </a:spcAft>
              <a:defRPr sz="1400">
                <a:solidFill>
                  <a:srgbClr val="3D4455"/>
                </a:solidFill>
                <a:latin typeface="Calibri"/>
              </a:defRPr>
            </a:pPr>
            <a:r>
              <a:t>Wheezing-predominant illness (more likely viral/reactive)</a:t>
            </a:r>
          </a:p>
          <a:p>
            <a:pPr>
              <a:spcAft>
                <a:spcPts val="500"/>
              </a:spcAft>
              <a:defRPr sz="1400">
                <a:solidFill>
                  <a:srgbClr val="3D4455"/>
                </a:solidFill>
                <a:latin typeface="Calibri"/>
              </a:defRPr>
            </a:pPr>
            <a:r>
              <a:t>Simple URI with fever and no focal findings</a:t>
            </a:r>
          </a:p>
          <a:p>
            <a:pPr>
              <a:spcAft>
                <a:spcPts val="500"/>
              </a:spcAft>
              <a:defRPr sz="1400">
                <a:solidFill>
                  <a:srgbClr val="3D4455"/>
                </a:solidFill>
                <a:latin typeface="Calibri"/>
              </a:defRPr>
            </a:pPr>
            <a:r>
              <a:t>Routine follow-up CXR for uncomplicated CAP (not recommended)</a:t>
            </a:r>
          </a:p>
          <a:p>
            <a:pPr>
              <a:spcAft>
                <a:spcPts val="500"/>
              </a:spcAft>
              <a:defRPr sz="1400">
                <a:solidFill>
                  <a:srgbClr val="3D4455"/>
                </a:solidFill>
                <a:latin typeface="Calibri"/>
              </a:defRPr>
            </a:pPr>
            <a:r>
              <a:t>Bronchiolitis presentation in age-appropriate infant</a:t>
            </a:r>
          </a:p>
        </p:txBody>
      </p:sp>
      <p:sp>
        <p:nvSpPr>
          <p:cNvPr id="10" name="Rectangle 9"/>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Pneumonia in the ED</a:t>
            </a:r>
          </a:p>
        </p:txBody>
      </p:sp>
      <p:sp>
        <p:nvSpPr>
          <p:cNvPr id="12" name="TextBox 11"/>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Red Flags: When Pneumonia Is Complicated</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Parapneumonic effusion: found in 40% of hospitalized CAP; most are small and self-resolving</a:t>
            </a:r>
          </a:p>
          <a:p>
            <a:pPr>
              <a:spcBef>
                <a:spcPts val="400"/>
              </a:spcBef>
              <a:spcAft>
                <a:spcPts val="600"/>
              </a:spcAft>
              <a:defRPr sz="1600">
                <a:solidFill>
                  <a:srgbClr val="3D4455"/>
                </a:solidFill>
                <a:latin typeface="Calibri"/>
              </a:defRPr>
            </a:pPr>
            <a:r>
              <a:t>Empyema: infected pleural fluid — fever persisting &gt;48-72h despite appropriate antibiotics</a:t>
            </a:r>
          </a:p>
          <a:p>
            <a:pPr>
              <a:spcBef>
                <a:spcPts val="400"/>
              </a:spcBef>
              <a:spcAft>
                <a:spcPts val="600"/>
              </a:spcAft>
              <a:defRPr sz="1600">
                <a:solidFill>
                  <a:srgbClr val="3D4455"/>
                </a:solidFill>
                <a:latin typeface="Calibri"/>
              </a:defRPr>
            </a:pPr>
            <a:r>
              <a:t>Necrotizing pneumonia: tissue destruction, often S. aureus or S. pneumoniae — CT finding</a:t>
            </a:r>
          </a:p>
          <a:p>
            <a:pPr>
              <a:spcBef>
                <a:spcPts val="400"/>
              </a:spcBef>
              <a:spcAft>
                <a:spcPts val="600"/>
              </a:spcAft>
              <a:defRPr sz="1600">
                <a:solidFill>
                  <a:srgbClr val="3D4455"/>
                </a:solidFill>
                <a:latin typeface="Calibri"/>
              </a:defRPr>
            </a:pPr>
            <a:r>
              <a:t>Lung abscess: cavitary lesion — often polymicrobial, associated with aspiration</a:t>
            </a:r>
          </a:p>
          <a:p>
            <a:pPr>
              <a:spcBef>
                <a:spcPts val="400"/>
              </a:spcBef>
              <a:spcAft>
                <a:spcPts val="600"/>
              </a:spcAft>
              <a:defRPr sz="1600">
                <a:solidFill>
                  <a:srgbClr val="3D4455"/>
                </a:solidFill>
                <a:latin typeface="Calibri"/>
              </a:defRPr>
            </a:pPr>
            <a:r>
              <a:t>Clinical clues to complicated disease:</a:t>
            </a:r>
          </a:p>
          <a:p>
            <a:pPr lvl="1">
              <a:spcBef>
                <a:spcPts val="400"/>
              </a:spcBef>
              <a:spcAft>
                <a:spcPts val="600"/>
              </a:spcAft>
              <a:defRPr sz="1400">
                <a:solidFill>
                  <a:srgbClr val="8A92A3"/>
                </a:solidFill>
                <a:latin typeface="Calibri"/>
              </a:defRPr>
            </a:pPr>
            <a:r>
              <a:t>Persistent/recurrent fever despite 48-72h of appropriate antibiotics</a:t>
            </a:r>
          </a:p>
          <a:p>
            <a:pPr lvl="1">
              <a:spcBef>
                <a:spcPts val="400"/>
              </a:spcBef>
              <a:spcAft>
                <a:spcPts val="600"/>
              </a:spcAft>
              <a:defRPr sz="1400">
                <a:solidFill>
                  <a:srgbClr val="8A92A3"/>
                </a:solidFill>
                <a:latin typeface="Calibri"/>
              </a:defRPr>
            </a:pPr>
            <a:r>
              <a:t>Large pleural effusion on CXR (meniscus sign, opacification of hemithorax)</a:t>
            </a:r>
          </a:p>
          <a:p>
            <a:pPr lvl="1">
              <a:spcBef>
                <a:spcPts val="400"/>
              </a:spcBef>
              <a:spcAft>
                <a:spcPts val="600"/>
              </a:spcAft>
              <a:defRPr sz="1400">
                <a:solidFill>
                  <a:srgbClr val="8A92A3"/>
                </a:solidFill>
                <a:latin typeface="Calibri"/>
              </a:defRPr>
            </a:pPr>
            <a:r>
              <a:t>Chest pain, splinting, decreased breath sounds with dullness to percussion</a:t>
            </a:r>
          </a:p>
          <a:p>
            <a:pPr lvl="1">
              <a:spcBef>
                <a:spcPts val="400"/>
              </a:spcBef>
              <a:spcAft>
                <a:spcPts val="600"/>
              </a:spcAft>
              <a:defRPr sz="1400">
                <a:solidFill>
                  <a:srgbClr val="8A92A3"/>
                </a:solidFill>
                <a:latin typeface="Calibri"/>
              </a:defRPr>
            </a:pPr>
            <a:r>
              <a:t>Toxic appearance out of proportion to what you expect</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Pneumonia in the ED</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Parapneumonic Effusion Management Algorithm</a:t>
            </a:r>
          </a:p>
        </p:txBody>
      </p:sp>
      <p:sp>
        <p:nvSpPr>
          <p:cNvPr id="5" name="Rounded Rectangle 4"/>
          <p:cNvSpPr/>
          <p:nvPr/>
        </p:nvSpPr>
        <p:spPr>
          <a:xfrm>
            <a:off x="457200" y="1371600"/>
            <a:ext cx="530352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1. Small effusion (&lt;10mm on lateral decubitus or US): Continue antibiotics, observe</a:t>
            </a:r>
          </a:p>
        </p:txBody>
      </p:sp>
      <p:sp>
        <p:nvSpPr>
          <p:cNvPr id="6" name="Rounded Rectangle 5"/>
          <p:cNvSpPr/>
          <p:nvPr/>
        </p:nvSpPr>
        <p:spPr>
          <a:xfrm>
            <a:off x="457200" y="2039112"/>
            <a:ext cx="5303520" cy="502920"/>
          </a:xfrm>
          <a:prstGeom prst="round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2. Moderate effusion (&gt;10mm, no loculations): Consider thoracentesis — send fluid for culture, cell count, pH, glucose, LDH, gram stain</a:t>
            </a:r>
          </a:p>
        </p:txBody>
      </p:sp>
      <p:sp>
        <p:nvSpPr>
          <p:cNvPr id="7" name="Rounded Rectangle 6"/>
          <p:cNvSpPr/>
          <p:nvPr/>
        </p:nvSpPr>
        <p:spPr>
          <a:xfrm>
            <a:off x="457200" y="2706624"/>
            <a:ext cx="5303520" cy="502920"/>
          </a:xfrm>
          <a:prstGeom prst="round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3. Large/loculated effusion (empyema): Chest tube + fibrinolytics (tPA + DNase) OR VATS</a:t>
            </a:r>
          </a:p>
        </p:txBody>
      </p:sp>
      <p:sp>
        <p:nvSpPr>
          <p:cNvPr id="8" name="Rounded Rectangle 7"/>
          <p:cNvSpPr/>
          <p:nvPr/>
        </p:nvSpPr>
        <p:spPr>
          <a:xfrm>
            <a:off x="6309360" y="1371600"/>
            <a:ext cx="530352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4. Empyema criteria: pH &lt;7.2, glucose &lt;40, LDH &gt;1000, pus on aspiration, positive culture</a:t>
            </a:r>
          </a:p>
        </p:txBody>
      </p:sp>
      <p:sp>
        <p:nvSpPr>
          <p:cNvPr id="9" name="Rounded Rectangle 8"/>
          <p:cNvSpPr/>
          <p:nvPr/>
        </p:nvSpPr>
        <p:spPr>
          <a:xfrm>
            <a:off x="6309360" y="2039112"/>
            <a:ext cx="5303520" cy="502920"/>
          </a:xfrm>
          <a:prstGeom prst="round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5. Fibrinolytics protocol: tPA 4 mg + DNase 5 mg in 30-40 mL NS via chest tube, clamp 1 hr, drain</a:t>
            </a:r>
          </a:p>
        </p:txBody>
      </p:sp>
      <p:sp>
        <p:nvSpPr>
          <p:cNvPr id="10" name="Rounded Rectangle 9"/>
          <p:cNvSpPr/>
          <p:nvPr/>
        </p:nvSpPr>
        <p:spPr>
          <a:xfrm>
            <a:off x="6309360" y="2706624"/>
            <a:ext cx="5303520" cy="502920"/>
          </a:xfrm>
          <a:prstGeom prst="round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6. VATS if: failed fibrinolytics, organized empyema, multiloculated on CT</a:t>
            </a:r>
          </a:p>
        </p:txBody>
      </p:sp>
      <p:sp>
        <p:nvSpPr>
          <p:cNvPr id="11" name="Rectangle 10"/>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Pneumonia in the ED</a:t>
            </a:r>
          </a:p>
        </p:txBody>
      </p:sp>
      <p:sp>
        <p:nvSpPr>
          <p:cNvPr id="13" name="TextBox 12"/>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Pneumonia in Special Populations</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Immunocompromised children: broader differential (PJP, fungal, CMV, TB) — early infectious disease consult</a:t>
            </a:r>
          </a:p>
          <a:p>
            <a:pPr>
              <a:spcBef>
                <a:spcPts val="400"/>
              </a:spcBef>
              <a:spcAft>
                <a:spcPts val="600"/>
              </a:spcAft>
              <a:defRPr sz="1600">
                <a:solidFill>
                  <a:srgbClr val="3D4455"/>
                </a:solidFill>
                <a:latin typeface="Calibri"/>
              </a:defRPr>
            </a:pPr>
            <a:r>
              <a:t>Sickle cell disease: acute chest syndrome mimics pneumonia — treat with antibiotics + transfusion if needed</a:t>
            </a:r>
          </a:p>
          <a:p>
            <a:pPr>
              <a:spcBef>
                <a:spcPts val="400"/>
              </a:spcBef>
              <a:spcAft>
                <a:spcPts val="600"/>
              </a:spcAft>
              <a:defRPr sz="1600">
                <a:solidFill>
                  <a:srgbClr val="3D4455"/>
                </a:solidFill>
                <a:latin typeface="Calibri"/>
              </a:defRPr>
            </a:pPr>
            <a:r>
              <a:t>Aspiration pneumonia: recurrent RLL/RML pneumonia — consider swallow study, H-type TEF, neuromuscular disorder</a:t>
            </a:r>
          </a:p>
          <a:p>
            <a:pPr>
              <a:spcBef>
                <a:spcPts val="400"/>
              </a:spcBef>
              <a:spcAft>
                <a:spcPts val="600"/>
              </a:spcAft>
              <a:defRPr sz="1600">
                <a:solidFill>
                  <a:srgbClr val="3D4455"/>
                </a:solidFill>
                <a:latin typeface="Calibri"/>
              </a:defRPr>
            </a:pPr>
            <a:r>
              <a:t>Round pneumonia: well-defined round opacity in a child &lt;8 years — mimics mass on CXR, treat as pneumonia</a:t>
            </a:r>
          </a:p>
          <a:p>
            <a:pPr>
              <a:spcBef>
                <a:spcPts val="400"/>
              </a:spcBef>
              <a:spcAft>
                <a:spcPts val="600"/>
              </a:spcAft>
              <a:defRPr sz="1600">
                <a:solidFill>
                  <a:srgbClr val="3D4455"/>
                </a:solidFill>
                <a:latin typeface="Calibri"/>
              </a:defRPr>
            </a:pPr>
            <a:r>
              <a:t>Neonatal pneumonia: part of neonatal sepsis workup — GBS prophylaxis history is critical</a:t>
            </a:r>
          </a:p>
          <a:p>
            <a:pPr lvl="1">
              <a:spcBef>
                <a:spcPts val="400"/>
              </a:spcBef>
              <a:spcAft>
                <a:spcPts val="600"/>
              </a:spcAft>
              <a:defRPr sz="1400">
                <a:solidFill>
                  <a:srgbClr val="8A92A3"/>
                </a:solidFill>
                <a:latin typeface="Calibri"/>
              </a:defRPr>
            </a:pPr>
            <a:r>
              <a:t>When in doubt about the diagnosis, ask: could this be something else entirely?</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Pneumonia in the ED</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Antibiotic Dosing Quick Reference</a:t>
            </a:r>
          </a:p>
        </p:txBody>
      </p:sp>
      <p:graphicFrame>
        <p:nvGraphicFramePr>
          <p:cNvPr id="5" name="Table 4"/>
          <p:cNvGraphicFramePr>
            <a:graphicFrameLocks noGrp="1"/>
          </p:cNvGraphicFramePr>
          <p:nvPr/>
        </p:nvGraphicFramePr>
        <p:xfrm>
          <a:off x="822960" y="1280160"/>
          <a:ext cx="10515600" cy="3657600"/>
        </p:xfrm>
        <a:graphic>
          <a:graphicData uri="http://schemas.openxmlformats.org/drawingml/2006/table">
            <a:tbl>
              <a:tblPr firstRow="1" bandRow="1">
                <a:tableStyleId>{5C22544A-7EE6-4342-B048-85BDC9FD1C3A}</a:tableStyleId>
              </a:tblPr>
              <a:tblGrid>
                <a:gridCol w="2103120"/>
                <a:gridCol w="2103120"/>
                <a:gridCol w="2103120"/>
                <a:gridCol w="2103120"/>
                <a:gridCol w="2103120"/>
              </a:tblGrid>
              <a:tr h="457200">
                <a:tc>
                  <a:txBody>
                    <a:bodyPr/>
                    <a:lstStyle/>
                    <a:p>
                      <a:pPr algn="ctr">
                        <a:defRPr sz="1300" b="1">
                          <a:solidFill>
                            <a:srgbClr val="FFFFFF"/>
                          </a:solidFill>
                          <a:latin typeface="Calibri"/>
                        </a:defRPr>
                      </a:pPr>
                      <a:r>
                        <a:t>Drug</a:t>
                      </a:r>
                    </a:p>
                  </a:txBody>
                  <a:tcPr>
                    <a:solidFill>
                      <a:srgbClr val="007B83"/>
                    </a:solidFill>
                  </a:tcPr>
                </a:tc>
                <a:tc>
                  <a:txBody>
                    <a:bodyPr/>
                    <a:lstStyle/>
                    <a:p>
                      <a:pPr algn="ctr">
                        <a:defRPr sz="1300" b="1">
                          <a:solidFill>
                            <a:srgbClr val="FFFFFF"/>
                          </a:solidFill>
                          <a:latin typeface="Calibri"/>
                        </a:defRPr>
                      </a:pPr>
                      <a:r>
                        <a:t>Route</a:t>
                      </a:r>
                    </a:p>
                  </a:txBody>
                  <a:tcPr>
                    <a:solidFill>
                      <a:srgbClr val="007B83"/>
                    </a:solidFill>
                  </a:tcPr>
                </a:tc>
                <a:tc>
                  <a:txBody>
                    <a:bodyPr/>
                    <a:lstStyle/>
                    <a:p>
                      <a:pPr algn="ctr">
                        <a:defRPr sz="1300" b="1">
                          <a:solidFill>
                            <a:srgbClr val="FFFFFF"/>
                          </a:solidFill>
                          <a:latin typeface="Calibri"/>
                        </a:defRPr>
                      </a:pPr>
                      <a:r>
                        <a:t>Dose</a:t>
                      </a:r>
                    </a:p>
                  </a:txBody>
                  <a:tcPr>
                    <a:solidFill>
                      <a:srgbClr val="007B83"/>
                    </a:solidFill>
                  </a:tcPr>
                </a:tc>
                <a:tc>
                  <a:txBody>
                    <a:bodyPr/>
                    <a:lstStyle/>
                    <a:p>
                      <a:pPr algn="ctr">
                        <a:defRPr sz="1300" b="1">
                          <a:solidFill>
                            <a:srgbClr val="FFFFFF"/>
                          </a:solidFill>
                          <a:latin typeface="Calibri"/>
                        </a:defRPr>
                      </a:pPr>
                      <a:r>
                        <a:t>Frequency</a:t>
                      </a:r>
                    </a:p>
                  </a:txBody>
                  <a:tcPr>
                    <a:solidFill>
                      <a:srgbClr val="007B83"/>
                    </a:solidFill>
                  </a:tcPr>
                </a:tc>
                <a:tc>
                  <a:txBody>
                    <a:bodyPr/>
                    <a:lstStyle/>
                    <a:p>
                      <a:pPr algn="ctr">
                        <a:defRPr sz="1300" b="1">
                          <a:solidFill>
                            <a:srgbClr val="FFFFFF"/>
                          </a:solidFill>
                          <a:latin typeface="Calibri"/>
                        </a:defRPr>
                      </a:pPr>
                      <a:r>
                        <a:t>Key Notes</a:t>
                      </a:r>
                    </a:p>
                  </a:txBody>
                  <a:tcPr>
                    <a:solidFill>
                      <a:srgbClr val="007B83"/>
                    </a:solidFill>
                  </a:tcPr>
                </a:tc>
              </a:tr>
              <a:tr h="457200">
                <a:tc>
                  <a:txBody>
                    <a:bodyPr/>
                    <a:lstStyle/>
                    <a:p>
                      <a:pPr algn="l">
                        <a:defRPr sz="1200">
                          <a:solidFill>
                            <a:srgbClr val="3D4455"/>
                          </a:solidFill>
                          <a:latin typeface="Calibri"/>
                        </a:defRPr>
                      </a:pPr>
                      <a:r>
                        <a:t>Amoxicillin</a:t>
                      </a:r>
                    </a:p>
                  </a:txBody>
                  <a:tcPr>
                    <a:solidFill>
                      <a:srgbClr val="F5F6FA"/>
                    </a:solidFill>
                  </a:tcPr>
                </a:tc>
                <a:tc>
                  <a:txBody>
                    <a:bodyPr/>
                    <a:lstStyle/>
                    <a:p>
                      <a:pPr algn="l">
                        <a:defRPr sz="1200">
                          <a:solidFill>
                            <a:srgbClr val="3D4455"/>
                          </a:solidFill>
                          <a:latin typeface="Calibri"/>
                        </a:defRPr>
                      </a:pPr>
                      <a:r>
                        <a:t>PO</a:t>
                      </a:r>
                    </a:p>
                  </a:txBody>
                  <a:tcPr>
                    <a:solidFill>
                      <a:srgbClr val="F5F6FA"/>
                    </a:solidFill>
                  </a:tcPr>
                </a:tc>
                <a:tc>
                  <a:txBody>
                    <a:bodyPr/>
                    <a:lstStyle/>
                    <a:p>
                      <a:pPr algn="l">
                        <a:defRPr sz="1200">
                          <a:solidFill>
                            <a:srgbClr val="3D4455"/>
                          </a:solidFill>
                          <a:latin typeface="Calibri"/>
                        </a:defRPr>
                      </a:pPr>
                      <a:r>
                        <a:t>90 mg/kg/day</a:t>
                      </a:r>
                    </a:p>
                  </a:txBody>
                  <a:tcPr>
                    <a:solidFill>
                      <a:srgbClr val="F5F6FA"/>
                    </a:solidFill>
                  </a:tcPr>
                </a:tc>
                <a:tc>
                  <a:txBody>
                    <a:bodyPr/>
                    <a:lstStyle/>
                    <a:p>
                      <a:pPr algn="l">
                        <a:defRPr sz="1200">
                          <a:solidFill>
                            <a:srgbClr val="3D4455"/>
                          </a:solidFill>
                          <a:latin typeface="Calibri"/>
                        </a:defRPr>
                      </a:pPr>
                      <a:r>
                        <a:t>Divided BID or TID</a:t>
                      </a:r>
                    </a:p>
                  </a:txBody>
                  <a:tcPr>
                    <a:solidFill>
                      <a:srgbClr val="F5F6FA"/>
                    </a:solidFill>
                  </a:tcPr>
                </a:tc>
                <a:tc>
                  <a:txBody>
                    <a:bodyPr/>
                    <a:lstStyle/>
                    <a:p>
                      <a:pPr algn="l">
                        <a:defRPr sz="1200">
                          <a:solidFill>
                            <a:srgbClr val="3D4455"/>
                          </a:solidFill>
                          <a:latin typeface="Calibri"/>
                        </a:defRPr>
                      </a:pPr>
                      <a:r>
                        <a:t>First-line outpatient CAP</a:t>
                      </a:r>
                    </a:p>
                  </a:txBody>
                  <a:tcPr>
                    <a:solidFill>
                      <a:srgbClr val="F5F6FA"/>
                    </a:solidFill>
                  </a:tcPr>
                </a:tc>
              </a:tr>
              <a:tr h="457200">
                <a:tc>
                  <a:txBody>
                    <a:bodyPr/>
                    <a:lstStyle/>
                    <a:p>
                      <a:pPr algn="l">
                        <a:defRPr sz="1200">
                          <a:solidFill>
                            <a:srgbClr val="3D4455"/>
                          </a:solidFill>
                          <a:latin typeface="Calibri"/>
                        </a:defRPr>
                      </a:pPr>
                      <a:r>
                        <a:t>Amox-clav</a:t>
                      </a:r>
                    </a:p>
                  </a:txBody>
                  <a:tcPr>
                    <a:solidFill>
                      <a:srgbClr val="FFFFFF"/>
                    </a:solidFill>
                  </a:tcPr>
                </a:tc>
                <a:tc>
                  <a:txBody>
                    <a:bodyPr/>
                    <a:lstStyle/>
                    <a:p>
                      <a:pPr algn="l">
                        <a:defRPr sz="1200">
                          <a:solidFill>
                            <a:srgbClr val="3D4455"/>
                          </a:solidFill>
                          <a:latin typeface="Calibri"/>
                        </a:defRPr>
                      </a:pPr>
                      <a:r>
                        <a:t>PO</a:t>
                      </a:r>
                    </a:p>
                  </a:txBody>
                  <a:tcPr>
                    <a:solidFill>
                      <a:srgbClr val="FFFFFF"/>
                    </a:solidFill>
                  </a:tcPr>
                </a:tc>
                <a:tc>
                  <a:txBody>
                    <a:bodyPr/>
                    <a:lstStyle/>
                    <a:p>
                      <a:pPr algn="l">
                        <a:defRPr sz="1200">
                          <a:solidFill>
                            <a:srgbClr val="3D4455"/>
                          </a:solidFill>
                          <a:latin typeface="Calibri"/>
                        </a:defRPr>
                      </a:pPr>
                      <a:r>
                        <a:t>90 mg/kg/day (amox)</a:t>
                      </a:r>
                    </a:p>
                  </a:txBody>
                  <a:tcPr>
                    <a:solidFill>
                      <a:srgbClr val="FFFFFF"/>
                    </a:solidFill>
                  </a:tcPr>
                </a:tc>
                <a:tc>
                  <a:txBody>
                    <a:bodyPr/>
                    <a:lstStyle/>
                    <a:p>
                      <a:pPr algn="l">
                        <a:defRPr sz="1200">
                          <a:solidFill>
                            <a:srgbClr val="3D4455"/>
                          </a:solidFill>
                          <a:latin typeface="Calibri"/>
                        </a:defRPr>
                      </a:pPr>
                      <a:r>
                        <a:t>BID (14:1 formulation)</a:t>
                      </a:r>
                    </a:p>
                  </a:txBody>
                  <a:tcPr>
                    <a:solidFill>
                      <a:srgbClr val="FFFFFF"/>
                    </a:solidFill>
                  </a:tcPr>
                </a:tc>
                <a:tc>
                  <a:txBody>
                    <a:bodyPr/>
                    <a:lstStyle/>
                    <a:p>
                      <a:pPr algn="l">
                        <a:defRPr sz="1200">
                          <a:solidFill>
                            <a:srgbClr val="3D4455"/>
                          </a:solidFill>
                          <a:latin typeface="Calibri"/>
                        </a:defRPr>
                      </a:pPr>
                      <a:r>
                        <a:t>If concern for resistant organism</a:t>
                      </a:r>
                    </a:p>
                  </a:txBody>
                  <a:tcPr>
                    <a:solidFill>
                      <a:srgbClr val="FFFFFF"/>
                    </a:solidFill>
                  </a:tcPr>
                </a:tc>
              </a:tr>
              <a:tr h="457200">
                <a:tc>
                  <a:txBody>
                    <a:bodyPr/>
                    <a:lstStyle/>
                    <a:p>
                      <a:pPr algn="l">
                        <a:defRPr sz="1200">
                          <a:solidFill>
                            <a:srgbClr val="3D4455"/>
                          </a:solidFill>
                          <a:latin typeface="Calibri"/>
                        </a:defRPr>
                      </a:pPr>
                      <a:r>
                        <a:t>Azithromycin</a:t>
                      </a:r>
                    </a:p>
                  </a:txBody>
                  <a:tcPr>
                    <a:solidFill>
                      <a:srgbClr val="F5F6FA"/>
                    </a:solidFill>
                  </a:tcPr>
                </a:tc>
                <a:tc>
                  <a:txBody>
                    <a:bodyPr/>
                    <a:lstStyle/>
                    <a:p>
                      <a:pPr algn="l">
                        <a:defRPr sz="1200">
                          <a:solidFill>
                            <a:srgbClr val="3D4455"/>
                          </a:solidFill>
                          <a:latin typeface="Calibri"/>
                        </a:defRPr>
                      </a:pPr>
                      <a:r>
                        <a:t>PO</a:t>
                      </a:r>
                    </a:p>
                  </a:txBody>
                  <a:tcPr>
                    <a:solidFill>
                      <a:srgbClr val="F5F6FA"/>
                    </a:solidFill>
                  </a:tcPr>
                </a:tc>
                <a:tc>
                  <a:txBody>
                    <a:bodyPr/>
                    <a:lstStyle/>
                    <a:p>
                      <a:pPr algn="l">
                        <a:defRPr sz="1200">
                          <a:solidFill>
                            <a:srgbClr val="3D4455"/>
                          </a:solidFill>
                          <a:latin typeface="Calibri"/>
                        </a:defRPr>
                      </a:pPr>
                      <a:r>
                        <a:t>10 mg/kg day 1, then 5 mg/kg</a:t>
                      </a:r>
                    </a:p>
                  </a:txBody>
                  <a:tcPr>
                    <a:solidFill>
                      <a:srgbClr val="F5F6FA"/>
                    </a:solidFill>
                  </a:tcPr>
                </a:tc>
                <a:tc>
                  <a:txBody>
                    <a:bodyPr/>
                    <a:lstStyle/>
                    <a:p>
                      <a:pPr algn="l">
                        <a:defRPr sz="1200">
                          <a:solidFill>
                            <a:srgbClr val="3D4455"/>
                          </a:solidFill>
                          <a:latin typeface="Calibri"/>
                        </a:defRPr>
                      </a:pPr>
                      <a:r>
                        <a:t>Daily x 5 days</a:t>
                      </a:r>
                    </a:p>
                  </a:txBody>
                  <a:tcPr>
                    <a:solidFill>
                      <a:srgbClr val="F5F6FA"/>
                    </a:solidFill>
                  </a:tcPr>
                </a:tc>
                <a:tc>
                  <a:txBody>
                    <a:bodyPr/>
                    <a:lstStyle/>
                    <a:p>
                      <a:pPr algn="l">
                        <a:defRPr sz="1200">
                          <a:solidFill>
                            <a:srgbClr val="3D4455"/>
                          </a:solidFill>
                          <a:latin typeface="Calibri"/>
                        </a:defRPr>
                      </a:pPr>
                      <a:r>
                        <a:t>Atypical coverage; age &gt;5</a:t>
                      </a:r>
                    </a:p>
                  </a:txBody>
                  <a:tcPr>
                    <a:solidFill>
                      <a:srgbClr val="F5F6FA"/>
                    </a:solidFill>
                  </a:tcPr>
                </a:tc>
              </a:tr>
              <a:tr h="457200">
                <a:tc>
                  <a:txBody>
                    <a:bodyPr/>
                    <a:lstStyle/>
                    <a:p>
                      <a:pPr algn="l">
                        <a:defRPr sz="1200">
                          <a:solidFill>
                            <a:srgbClr val="3D4455"/>
                          </a:solidFill>
                          <a:latin typeface="Calibri"/>
                        </a:defRPr>
                      </a:pPr>
                      <a:r>
                        <a:t>Ampicillin</a:t>
                      </a:r>
                    </a:p>
                  </a:txBody>
                  <a:tcPr>
                    <a:solidFill>
                      <a:srgbClr val="FFFFFF"/>
                    </a:solidFill>
                  </a:tcPr>
                </a:tc>
                <a:tc>
                  <a:txBody>
                    <a:bodyPr/>
                    <a:lstStyle/>
                    <a:p>
                      <a:pPr algn="l">
                        <a:defRPr sz="1200">
                          <a:solidFill>
                            <a:srgbClr val="3D4455"/>
                          </a:solidFill>
                          <a:latin typeface="Calibri"/>
                        </a:defRPr>
                      </a:pPr>
                      <a:r>
                        <a:t>IV</a:t>
                      </a:r>
                    </a:p>
                  </a:txBody>
                  <a:tcPr>
                    <a:solidFill>
                      <a:srgbClr val="FFFFFF"/>
                    </a:solidFill>
                  </a:tcPr>
                </a:tc>
                <a:tc>
                  <a:txBody>
                    <a:bodyPr/>
                    <a:lstStyle/>
                    <a:p>
                      <a:pPr algn="l">
                        <a:defRPr sz="1200">
                          <a:solidFill>
                            <a:srgbClr val="3D4455"/>
                          </a:solidFill>
                          <a:latin typeface="Calibri"/>
                        </a:defRPr>
                      </a:pPr>
                      <a:r>
                        <a:t>200 mg/kg/day</a:t>
                      </a:r>
                    </a:p>
                  </a:txBody>
                  <a:tcPr>
                    <a:solidFill>
                      <a:srgbClr val="FFFFFF"/>
                    </a:solidFill>
                  </a:tcPr>
                </a:tc>
                <a:tc>
                  <a:txBody>
                    <a:bodyPr/>
                    <a:lstStyle/>
                    <a:p>
                      <a:pPr algn="l">
                        <a:defRPr sz="1200">
                          <a:solidFill>
                            <a:srgbClr val="3D4455"/>
                          </a:solidFill>
                          <a:latin typeface="Calibri"/>
                        </a:defRPr>
                      </a:pPr>
                      <a:r>
                        <a:t>Divided q6h</a:t>
                      </a:r>
                    </a:p>
                  </a:txBody>
                  <a:tcPr>
                    <a:solidFill>
                      <a:srgbClr val="FFFFFF"/>
                    </a:solidFill>
                  </a:tcPr>
                </a:tc>
                <a:tc>
                  <a:txBody>
                    <a:bodyPr/>
                    <a:lstStyle/>
                    <a:p>
                      <a:pPr algn="l">
                        <a:defRPr sz="1200">
                          <a:solidFill>
                            <a:srgbClr val="3D4455"/>
                          </a:solidFill>
                          <a:latin typeface="Calibri"/>
                        </a:defRPr>
                      </a:pPr>
                      <a:r>
                        <a:t>First-line inpatient uncomplicated</a:t>
                      </a:r>
                    </a:p>
                  </a:txBody>
                  <a:tcPr>
                    <a:solidFill>
                      <a:srgbClr val="FFFFFF"/>
                    </a:solidFill>
                  </a:tcPr>
                </a:tc>
              </a:tr>
              <a:tr h="457200">
                <a:tc>
                  <a:txBody>
                    <a:bodyPr/>
                    <a:lstStyle/>
                    <a:p>
                      <a:pPr algn="l">
                        <a:defRPr sz="1200">
                          <a:solidFill>
                            <a:srgbClr val="3D4455"/>
                          </a:solidFill>
                          <a:latin typeface="Calibri"/>
                        </a:defRPr>
                      </a:pPr>
                      <a:r>
                        <a:t>Ceftriaxone</a:t>
                      </a:r>
                    </a:p>
                  </a:txBody>
                  <a:tcPr>
                    <a:solidFill>
                      <a:srgbClr val="F5F6FA"/>
                    </a:solidFill>
                  </a:tcPr>
                </a:tc>
                <a:tc>
                  <a:txBody>
                    <a:bodyPr/>
                    <a:lstStyle/>
                    <a:p>
                      <a:pPr algn="l">
                        <a:defRPr sz="1200">
                          <a:solidFill>
                            <a:srgbClr val="3D4455"/>
                          </a:solidFill>
                          <a:latin typeface="Calibri"/>
                        </a:defRPr>
                      </a:pPr>
                      <a:r>
                        <a:t>IV/IM</a:t>
                      </a:r>
                    </a:p>
                  </a:txBody>
                  <a:tcPr>
                    <a:solidFill>
                      <a:srgbClr val="F5F6FA"/>
                    </a:solidFill>
                  </a:tcPr>
                </a:tc>
                <a:tc>
                  <a:txBody>
                    <a:bodyPr/>
                    <a:lstStyle/>
                    <a:p>
                      <a:pPr algn="l">
                        <a:defRPr sz="1200">
                          <a:solidFill>
                            <a:srgbClr val="3D4455"/>
                          </a:solidFill>
                          <a:latin typeface="Calibri"/>
                        </a:defRPr>
                      </a:pPr>
                      <a:r>
                        <a:t>50-100 mg/kg/day</a:t>
                      </a:r>
                    </a:p>
                  </a:txBody>
                  <a:tcPr>
                    <a:solidFill>
                      <a:srgbClr val="F5F6FA"/>
                    </a:solidFill>
                  </a:tcPr>
                </a:tc>
                <a:tc>
                  <a:txBody>
                    <a:bodyPr/>
                    <a:lstStyle/>
                    <a:p>
                      <a:pPr algn="l">
                        <a:defRPr sz="1200">
                          <a:solidFill>
                            <a:srgbClr val="3D4455"/>
                          </a:solidFill>
                          <a:latin typeface="Calibri"/>
                        </a:defRPr>
                      </a:pPr>
                      <a:r>
                        <a:t>Daily or BID</a:t>
                      </a:r>
                    </a:p>
                  </a:txBody>
                  <a:tcPr>
                    <a:solidFill>
                      <a:srgbClr val="F5F6FA"/>
                    </a:solidFill>
                  </a:tcPr>
                </a:tc>
                <a:tc>
                  <a:txBody>
                    <a:bodyPr/>
                    <a:lstStyle/>
                    <a:p>
                      <a:pPr algn="l">
                        <a:defRPr sz="1200">
                          <a:solidFill>
                            <a:srgbClr val="3D4455"/>
                          </a:solidFill>
                          <a:latin typeface="Calibri"/>
                        </a:defRPr>
                      </a:pPr>
                      <a:r>
                        <a:t>Inpatient, or single IM dose for ED discharge</a:t>
                      </a:r>
                    </a:p>
                  </a:txBody>
                  <a:tcPr>
                    <a:solidFill>
                      <a:srgbClr val="F5F6FA"/>
                    </a:solidFill>
                  </a:tcPr>
                </a:tc>
              </a:tr>
              <a:tr h="457200">
                <a:tc>
                  <a:txBody>
                    <a:bodyPr/>
                    <a:lstStyle/>
                    <a:p>
                      <a:pPr algn="l">
                        <a:defRPr sz="1200">
                          <a:solidFill>
                            <a:srgbClr val="3D4455"/>
                          </a:solidFill>
                          <a:latin typeface="Calibri"/>
                        </a:defRPr>
                      </a:pPr>
                      <a:r>
                        <a:t>Clindamycin</a:t>
                      </a:r>
                    </a:p>
                  </a:txBody>
                  <a:tcPr>
                    <a:solidFill>
                      <a:srgbClr val="FFFFFF"/>
                    </a:solidFill>
                  </a:tcPr>
                </a:tc>
                <a:tc>
                  <a:txBody>
                    <a:bodyPr/>
                    <a:lstStyle/>
                    <a:p>
                      <a:pPr algn="l">
                        <a:defRPr sz="1200">
                          <a:solidFill>
                            <a:srgbClr val="3D4455"/>
                          </a:solidFill>
                          <a:latin typeface="Calibri"/>
                        </a:defRPr>
                      </a:pPr>
                      <a:r>
                        <a:t>IV/PO</a:t>
                      </a:r>
                    </a:p>
                  </a:txBody>
                  <a:tcPr>
                    <a:solidFill>
                      <a:srgbClr val="FFFFFF"/>
                    </a:solidFill>
                  </a:tcPr>
                </a:tc>
                <a:tc>
                  <a:txBody>
                    <a:bodyPr/>
                    <a:lstStyle/>
                    <a:p>
                      <a:pPr algn="l">
                        <a:defRPr sz="1200">
                          <a:solidFill>
                            <a:srgbClr val="3D4455"/>
                          </a:solidFill>
                          <a:latin typeface="Calibri"/>
                        </a:defRPr>
                      </a:pPr>
                      <a:r>
                        <a:t>40 mg/kg/day</a:t>
                      </a:r>
                    </a:p>
                  </a:txBody>
                  <a:tcPr>
                    <a:solidFill>
                      <a:srgbClr val="FFFFFF"/>
                    </a:solidFill>
                  </a:tcPr>
                </a:tc>
                <a:tc>
                  <a:txBody>
                    <a:bodyPr/>
                    <a:lstStyle/>
                    <a:p>
                      <a:pPr algn="l">
                        <a:defRPr sz="1200">
                          <a:solidFill>
                            <a:srgbClr val="3D4455"/>
                          </a:solidFill>
                          <a:latin typeface="Calibri"/>
                        </a:defRPr>
                      </a:pPr>
                      <a:r>
                        <a:t>Divided q6-8h</a:t>
                      </a:r>
                    </a:p>
                  </a:txBody>
                  <a:tcPr>
                    <a:solidFill>
                      <a:srgbClr val="FFFFFF"/>
                    </a:solidFill>
                  </a:tcPr>
                </a:tc>
                <a:tc>
                  <a:txBody>
                    <a:bodyPr/>
                    <a:lstStyle/>
                    <a:p>
                      <a:pPr algn="l">
                        <a:defRPr sz="1200">
                          <a:solidFill>
                            <a:srgbClr val="3D4455"/>
                          </a:solidFill>
                          <a:latin typeface="Calibri"/>
                        </a:defRPr>
                      </a:pPr>
                      <a:r>
                        <a:t>S. aureus coverage; empyema</a:t>
                      </a:r>
                    </a:p>
                  </a:txBody>
                  <a:tcPr>
                    <a:solidFill>
                      <a:srgbClr val="FFFFFF"/>
                    </a:solidFill>
                  </a:tcPr>
                </a:tc>
              </a:tr>
              <a:tr h="457200">
                <a:tc>
                  <a:txBody>
                    <a:bodyPr/>
                    <a:lstStyle/>
                    <a:p>
                      <a:pPr algn="l">
                        <a:defRPr sz="1200">
                          <a:solidFill>
                            <a:srgbClr val="3D4455"/>
                          </a:solidFill>
                          <a:latin typeface="Calibri"/>
                        </a:defRPr>
                      </a:pPr>
                      <a:r>
                        <a:t>Vancomycin</a:t>
                      </a:r>
                    </a:p>
                  </a:txBody>
                  <a:tcPr>
                    <a:solidFill>
                      <a:srgbClr val="F5F6FA"/>
                    </a:solidFill>
                  </a:tcPr>
                </a:tc>
                <a:tc>
                  <a:txBody>
                    <a:bodyPr/>
                    <a:lstStyle/>
                    <a:p>
                      <a:pPr algn="l">
                        <a:defRPr sz="1200">
                          <a:solidFill>
                            <a:srgbClr val="3D4455"/>
                          </a:solidFill>
                          <a:latin typeface="Calibri"/>
                        </a:defRPr>
                      </a:pPr>
                      <a:r>
                        <a:t>IV</a:t>
                      </a:r>
                    </a:p>
                  </a:txBody>
                  <a:tcPr>
                    <a:solidFill>
                      <a:srgbClr val="F5F6FA"/>
                    </a:solidFill>
                  </a:tcPr>
                </a:tc>
                <a:tc>
                  <a:txBody>
                    <a:bodyPr/>
                    <a:lstStyle/>
                    <a:p>
                      <a:pPr algn="l">
                        <a:defRPr sz="1200">
                          <a:solidFill>
                            <a:srgbClr val="3D4455"/>
                          </a:solidFill>
                          <a:latin typeface="Calibri"/>
                        </a:defRPr>
                      </a:pPr>
                      <a:r>
                        <a:t>60 mg/kg/day</a:t>
                      </a:r>
                    </a:p>
                  </a:txBody>
                  <a:tcPr>
                    <a:solidFill>
                      <a:srgbClr val="F5F6FA"/>
                    </a:solidFill>
                  </a:tcPr>
                </a:tc>
                <a:tc>
                  <a:txBody>
                    <a:bodyPr/>
                    <a:lstStyle/>
                    <a:p>
                      <a:pPr algn="l">
                        <a:defRPr sz="1200">
                          <a:solidFill>
                            <a:srgbClr val="3D4455"/>
                          </a:solidFill>
                          <a:latin typeface="Calibri"/>
                        </a:defRPr>
                      </a:pPr>
                      <a:r>
                        <a:t>Divided q6h</a:t>
                      </a:r>
                    </a:p>
                  </a:txBody>
                  <a:tcPr>
                    <a:solidFill>
                      <a:srgbClr val="F5F6FA"/>
                    </a:solidFill>
                  </a:tcPr>
                </a:tc>
                <a:tc>
                  <a:txBody>
                    <a:bodyPr/>
                    <a:lstStyle/>
                    <a:p>
                      <a:pPr algn="l">
                        <a:defRPr sz="1200">
                          <a:solidFill>
                            <a:srgbClr val="3D4455"/>
                          </a:solidFill>
                          <a:latin typeface="Calibri"/>
                        </a:defRPr>
                      </a:pPr>
                      <a:r>
                        <a:t>MRSA concern; severe/ICU-level</a:t>
                      </a:r>
                    </a:p>
                  </a:txBody>
                  <a:tcPr>
                    <a:solidFill>
                      <a:srgbClr val="F5F6FA"/>
                    </a:solidFill>
                  </a:tcPr>
                </a:tc>
              </a:tr>
            </a:tbl>
          </a:graphicData>
        </a:graphic>
      </p:graphicFrame>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Pneumonia in the ED</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Admit vs. Discharge</a:t>
            </a:r>
          </a:p>
        </p:txBody>
      </p:sp>
      <p:sp>
        <p:nvSpPr>
          <p:cNvPr id="5" name="Rounded Rectangle 4"/>
          <p:cNvSpPr/>
          <p:nvPr/>
        </p:nvSpPr>
        <p:spPr>
          <a:xfrm>
            <a:off x="457200" y="1280160"/>
            <a:ext cx="5303520" cy="54864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ADMIT CRITERIA</a:t>
            </a:r>
          </a:p>
        </p:txBody>
      </p:sp>
      <p:sp>
        <p:nvSpPr>
          <p:cNvPr id="6" name="TextBox 5"/>
          <p:cNvSpPr txBox="1"/>
          <p:nvPr/>
        </p:nvSpPr>
        <p:spPr>
          <a:xfrm>
            <a:off x="640080" y="2011680"/>
            <a:ext cx="4937760" cy="4114800"/>
          </a:xfrm>
          <a:prstGeom prst="rect">
            <a:avLst/>
          </a:prstGeom>
          <a:noFill/>
        </p:spPr>
        <p:txBody>
          <a:bodyPr wrap="square">
            <a:spAutoFit/>
          </a:bodyPr>
          <a:lstStyle/>
          <a:p>
            <a:pPr>
              <a:spcAft>
                <a:spcPts val="500"/>
              </a:spcAft>
              <a:defRPr sz="1400">
                <a:solidFill>
                  <a:srgbClr val="3D4455"/>
                </a:solidFill>
                <a:latin typeface="Calibri"/>
              </a:defRPr>
            </a:pPr>
            <a:r>
              <a:t>Hypoxia (SpO2 &lt;92% on room air)</a:t>
            </a:r>
          </a:p>
          <a:p>
            <a:pPr>
              <a:spcAft>
                <a:spcPts val="500"/>
              </a:spcAft>
              <a:defRPr sz="1400">
                <a:solidFill>
                  <a:srgbClr val="3D4455"/>
                </a:solidFill>
                <a:latin typeface="Calibri"/>
              </a:defRPr>
            </a:pPr>
            <a:r>
              <a:t>Significant respiratory distress / work of breathing</a:t>
            </a:r>
          </a:p>
          <a:p>
            <a:pPr>
              <a:spcAft>
                <a:spcPts val="500"/>
              </a:spcAft>
              <a:defRPr sz="1400">
                <a:solidFill>
                  <a:srgbClr val="3D4455"/>
                </a:solidFill>
                <a:latin typeface="Calibri"/>
              </a:defRPr>
            </a:pPr>
            <a:r>
              <a:t>Inability to tolerate oral fluids or medications</a:t>
            </a:r>
          </a:p>
          <a:p>
            <a:pPr>
              <a:spcAft>
                <a:spcPts val="500"/>
              </a:spcAft>
              <a:defRPr sz="1400">
                <a:solidFill>
                  <a:srgbClr val="3D4455"/>
                </a:solidFill>
                <a:latin typeface="Calibri"/>
              </a:defRPr>
            </a:pPr>
            <a:r>
              <a:t>Failed outpatient treatment</a:t>
            </a:r>
          </a:p>
          <a:p>
            <a:pPr>
              <a:spcAft>
                <a:spcPts val="500"/>
              </a:spcAft>
              <a:defRPr sz="1400">
                <a:solidFill>
                  <a:srgbClr val="3D4455"/>
                </a:solidFill>
                <a:latin typeface="Calibri"/>
              </a:defRPr>
            </a:pPr>
            <a:r>
              <a:t>Toxic appearance or sepsis concern</a:t>
            </a:r>
          </a:p>
          <a:p>
            <a:pPr>
              <a:spcAft>
                <a:spcPts val="500"/>
              </a:spcAft>
              <a:defRPr sz="1400">
                <a:solidFill>
                  <a:srgbClr val="3D4455"/>
                </a:solidFill>
                <a:latin typeface="Calibri"/>
              </a:defRPr>
            </a:pPr>
            <a:r>
              <a:t>Complicated pneumonia (effusion/empyema)</a:t>
            </a:r>
          </a:p>
          <a:p>
            <a:pPr>
              <a:spcAft>
                <a:spcPts val="500"/>
              </a:spcAft>
              <a:defRPr sz="1400">
                <a:solidFill>
                  <a:srgbClr val="3D4455"/>
                </a:solidFill>
                <a:latin typeface="Calibri"/>
              </a:defRPr>
            </a:pPr>
            <a:r>
              <a:t>Age &lt;3-6 months with bacterial pneumonia</a:t>
            </a:r>
          </a:p>
          <a:p>
            <a:pPr>
              <a:spcAft>
                <a:spcPts val="500"/>
              </a:spcAft>
              <a:defRPr sz="1400">
                <a:solidFill>
                  <a:srgbClr val="3D4455"/>
                </a:solidFill>
                <a:latin typeface="Calibri"/>
              </a:defRPr>
            </a:pPr>
            <a:r>
              <a:t>Underlying comorbidities (immunocompromised, cardiac, etc.)</a:t>
            </a:r>
          </a:p>
          <a:p>
            <a:pPr>
              <a:spcAft>
                <a:spcPts val="500"/>
              </a:spcAft>
              <a:defRPr sz="1400">
                <a:solidFill>
                  <a:srgbClr val="3D4455"/>
                </a:solidFill>
                <a:latin typeface="Calibri"/>
              </a:defRPr>
            </a:pPr>
            <a:r>
              <a:t>Social concerns (unreliable follow-up, transport issues)</a:t>
            </a:r>
          </a:p>
        </p:txBody>
      </p:sp>
      <p:sp>
        <p:nvSpPr>
          <p:cNvPr id="7" name="Rectangle 6"/>
          <p:cNvSpPr/>
          <p:nvPr/>
        </p:nvSpPr>
        <p:spPr>
          <a:xfrm>
            <a:off x="5989320" y="1280160"/>
            <a:ext cx="27432" cy="4754880"/>
          </a:xfrm>
          <a:prstGeom prst="rect">
            <a:avLst/>
          </a:prstGeom>
          <a:solidFill>
            <a:srgbClr val="E0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309360" y="1280160"/>
            <a:ext cx="5303520" cy="548640"/>
          </a:xfrm>
          <a:prstGeom prst="round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SAFE FOR DISCHARGE</a:t>
            </a:r>
          </a:p>
        </p:txBody>
      </p:sp>
      <p:sp>
        <p:nvSpPr>
          <p:cNvPr id="9" name="TextBox 8"/>
          <p:cNvSpPr txBox="1"/>
          <p:nvPr/>
        </p:nvSpPr>
        <p:spPr>
          <a:xfrm>
            <a:off x="6492240" y="2011680"/>
            <a:ext cx="4937760" cy="4114800"/>
          </a:xfrm>
          <a:prstGeom prst="rect">
            <a:avLst/>
          </a:prstGeom>
          <a:noFill/>
        </p:spPr>
        <p:txBody>
          <a:bodyPr wrap="square">
            <a:spAutoFit/>
          </a:bodyPr>
          <a:lstStyle/>
          <a:p>
            <a:pPr>
              <a:spcAft>
                <a:spcPts val="500"/>
              </a:spcAft>
              <a:defRPr sz="1400">
                <a:solidFill>
                  <a:srgbClr val="3D4455"/>
                </a:solidFill>
                <a:latin typeface="Calibri"/>
              </a:defRPr>
            </a:pPr>
            <a:r>
              <a:t>SpO2 ≥92% on room air</a:t>
            </a:r>
          </a:p>
          <a:p>
            <a:pPr>
              <a:spcAft>
                <a:spcPts val="500"/>
              </a:spcAft>
              <a:defRPr sz="1400">
                <a:solidFill>
                  <a:srgbClr val="3D4455"/>
                </a:solidFill>
                <a:latin typeface="Calibri"/>
              </a:defRPr>
            </a:pPr>
            <a:r>
              <a:t>Mild-moderate symptoms, comfortable</a:t>
            </a:r>
          </a:p>
          <a:p>
            <a:pPr>
              <a:spcAft>
                <a:spcPts val="500"/>
              </a:spcAft>
              <a:defRPr sz="1400">
                <a:solidFill>
                  <a:srgbClr val="3D4455"/>
                </a:solidFill>
                <a:latin typeface="Calibri"/>
              </a:defRPr>
            </a:pPr>
            <a:r>
              <a:t>Tolerating PO fluids and oral antibiotics</a:t>
            </a:r>
          </a:p>
          <a:p>
            <a:pPr>
              <a:spcAft>
                <a:spcPts val="500"/>
              </a:spcAft>
              <a:defRPr sz="1400">
                <a:solidFill>
                  <a:srgbClr val="3D4455"/>
                </a:solidFill>
                <a:latin typeface="Calibri"/>
              </a:defRPr>
            </a:pPr>
            <a:r>
              <a:t>No significant respiratory distress</a:t>
            </a:r>
          </a:p>
          <a:p>
            <a:pPr>
              <a:spcAft>
                <a:spcPts val="500"/>
              </a:spcAft>
              <a:defRPr sz="1400">
                <a:solidFill>
                  <a:srgbClr val="3D4455"/>
                </a:solidFill>
                <a:latin typeface="Calibri"/>
              </a:defRPr>
            </a:pPr>
            <a:r>
              <a:t>Adequate hydration</a:t>
            </a:r>
          </a:p>
          <a:p>
            <a:pPr>
              <a:spcAft>
                <a:spcPts val="500"/>
              </a:spcAft>
              <a:defRPr sz="1400">
                <a:solidFill>
                  <a:srgbClr val="3D4455"/>
                </a:solidFill>
                <a:latin typeface="Calibri"/>
              </a:defRPr>
            </a:pPr>
            <a:r>
              <a:t>Reliable caregiver and follow-up</a:t>
            </a:r>
          </a:p>
          <a:p>
            <a:pPr>
              <a:spcAft>
                <a:spcPts val="500"/>
              </a:spcAft>
              <a:defRPr sz="1400">
                <a:solidFill>
                  <a:srgbClr val="3D4455"/>
                </a:solidFill>
                <a:latin typeface="Calibri"/>
              </a:defRPr>
            </a:pPr>
            <a:r>
              <a:t>No complicated pneumonia findings</a:t>
            </a:r>
          </a:p>
          <a:p>
            <a:pPr>
              <a:spcAft>
                <a:spcPts val="500"/>
              </a:spcAft>
              <a:defRPr sz="1400">
                <a:solidFill>
                  <a:srgbClr val="3D4455"/>
                </a:solidFill>
                <a:latin typeface="Calibri"/>
              </a:defRPr>
            </a:pPr>
            <a:r>
              <a:t>Appropriate age and no comorbidities</a:t>
            </a:r>
          </a:p>
        </p:txBody>
      </p:sp>
      <p:sp>
        <p:nvSpPr>
          <p:cNvPr id="10" name="Rectangle 9"/>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Pneumonia in the ED</a:t>
            </a:r>
          </a:p>
        </p:txBody>
      </p:sp>
      <p:sp>
        <p:nvSpPr>
          <p:cNvPr id="12" name="TextBox 11"/>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712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28600"/>
            <a:ext cx="1645920" cy="457200"/>
          </a:xfrm>
          <a:prstGeom prst="round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CLINICAL CASE</a:t>
            </a:r>
          </a:p>
        </p:txBody>
      </p:sp>
      <p:sp>
        <p:nvSpPr>
          <p:cNvPr id="5" name="TextBox 4"/>
          <p:cNvSpPr txBox="1"/>
          <p:nvPr/>
        </p:nvSpPr>
        <p:spPr>
          <a:xfrm>
            <a:off x="2651760" y="182880"/>
            <a:ext cx="8686800" cy="640080"/>
          </a:xfrm>
          <a:prstGeom prst="rect">
            <a:avLst/>
          </a:prstGeom>
          <a:noFill/>
        </p:spPr>
        <p:txBody>
          <a:bodyPr wrap="square">
            <a:spAutoFit/>
          </a:bodyPr>
          <a:lstStyle/>
          <a:p>
            <a:pPr algn="l">
              <a:lnSpc>
                <a:spcPts val="2879"/>
              </a:lnSpc>
              <a:spcBef>
                <a:spcPts val="0"/>
              </a:spcBef>
              <a:spcAft>
                <a:spcPts val="0"/>
              </a:spcAft>
              <a:defRPr sz="2400" b="1" i="0">
                <a:solidFill>
                  <a:srgbClr val="FFFFFF"/>
                </a:solidFill>
                <a:latin typeface="Calibri"/>
              </a:defRPr>
            </a:pPr>
            <a:r>
              <a:t>3-Year-Old with Persistent Fever Despite Antibiotics</a:t>
            </a:r>
          </a:p>
        </p:txBody>
      </p:sp>
      <p:sp>
        <p:nvSpPr>
          <p:cNvPr id="6" name="Rounded Rectangle 5"/>
          <p:cNvSpPr/>
          <p:nvPr/>
        </p:nvSpPr>
        <p:spPr>
          <a:xfrm>
            <a:off x="548640" y="1280160"/>
            <a:ext cx="10972800" cy="2560320"/>
          </a:xfrm>
          <a:prstGeom prst="roundRect">
            <a:avLst/>
          </a:prstGeom>
          <a:solidFill>
            <a:srgbClr val="FFFFFF"/>
          </a:solidFill>
          <a:ln w="1905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defRPr sz="1500">
                <a:solidFill>
                  <a:srgbClr val="3D4455"/>
                </a:solidFill>
                <a:latin typeface="Calibri"/>
              </a:defRPr>
            </a:pPr>
            <a:r>
              <a:t>A 3-year-old boy presents on day 4 of amoxicillin for pneumonia diagnosed at an urgent care. Parents report persistent high fevers (39.5°C daily), decreased oral intake, and worsening cough. He appears ill, is breathing fast (RR 42), and has decreased breath sounds on the right with dullness to percussion. SpO2 is 93% on room air.</a:t>
            </a:r>
          </a:p>
        </p:txBody>
      </p:sp>
      <p:sp>
        <p:nvSpPr>
          <p:cNvPr id="7" name="TextBox 6"/>
          <p:cNvSpPr txBox="1"/>
          <p:nvPr/>
        </p:nvSpPr>
        <p:spPr>
          <a:xfrm>
            <a:off x="731520" y="4114800"/>
            <a:ext cx="10515600" cy="2011680"/>
          </a:xfrm>
          <a:prstGeom prst="rect">
            <a:avLst/>
          </a:prstGeom>
          <a:noFill/>
        </p:spPr>
        <p:txBody>
          <a:bodyPr wrap="square">
            <a:spAutoFit/>
          </a:bodyPr>
          <a:lstStyle/>
          <a:p>
            <a:pPr>
              <a:spcAft>
                <a:spcPts val="600"/>
              </a:spcAft>
              <a:defRPr sz="1400" b="1">
                <a:solidFill>
                  <a:srgbClr val="007B83"/>
                </a:solidFill>
                <a:latin typeface="Calibri"/>
              </a:defRPr>
            </a:pPr>
            <a:r>
              <a:t>▸  What is your concern? (Complicated pneumonia — parapneumonic effusion vs. empyema)</a:t>
            </a:r>
          </a:p>
          <a:p>
            <a:pPr>
              <a:spcAft>
                <a:spcPts val="600"/>
              </a:spcAft>
              <a:defRPr sz="1400" b="1">
                <a:solidFill>
                  <a:srgbClr val="007B83"/>
                </a:solidFill>
                <a:latin typeface="Calibri"/>
              </a:defRPr>
            </a:pPr>
            <a:r>
              <a:t>▸  Best initial imaging? (Bedside chest ultrasound — can identify and characterize effusion)</a:t>
            </a:r>
          </a:p>
          <a:p>
            <a:pPr>
              <a:spcAft>
                <a:spcPts val="600"/>
              </a:spcAft>
              <a:defRPr sz="1400" b="1">
                <a:solidFill>
                  <a:srgbClr val="007B83"/>
                </a:solidFill>
                <a:latin typeface="Calibri"/>
              </a:defRPr>
            </a:pPr>
            <a:r>
              <a:t>▸  US shows large, complex effusion with septations — next step?</a:t>
            </a:r>
          </a:p>
          <a:p>
            <a:pPr>
              <a:spcAft>
                <a:spcPts val="600"/>
              </a:spcAft>
              <a:defRPr sz="1400" b="1">
                <a:solidFill>
                  <a:srgbClr val="007B83"/>
                </a:solidFill>
                <a:latin typeface="Calibri"/>
              </a:defRPr>
            </a:pPr>
            <a:r>
              <a:t>▸  Involve surgery: chest tube with fibrinolytics vs. VATS; IV antibiotics (ceftriaxone + clindamycin)</a:t>
            </a:r>
          </a:p>
        </p:txBody>
      </p:sp>
      <p:sp>
        <p:nvSpPr>
          <p:cNvPr id="8" name="Rectangle 7"/>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Pneumonia in the ED</a:t>
            </a:r>
          </a:p>
        </p:txBody>
      </p:sp>
      <p:sp>
        <p:nvSpPr>
          <p:cNvPr id="10" name="TextBox 9"/>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Pneumonia Pitfalls in PEM</a:t>
            </a:r>
          </a:p>
        </p:txBody>
      </p:sp>
      <p:sp>
        <p:nvSpPr>
          <p:cNvPr id="5" name="Rounded Rectangle 4"/>
          <p:cNvSpPr/>
          <p:nvPr/>
        </p:nvSpPr>
        <p:spPr>
          <a:xfrm>
            <a:off x="457200" y="1280160"/>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6" name="TextBox 5"/>
          <p:cNvSpPr txBox="1"/>
          <p:nvPr/>
        </p:nvSpPr>
        <p:spPr>
          <a:xfrm>
            <a:off x="1097280" y="1280160"/>
            <a:ext cx="10515600" cy="548640"/>
          </a:xfrm>
          <a:prstGeom prst="rect">
            <a:avLst/>
          </a:prstGeom>
          <a:noFill/>
        </p:spPr>
        <p:txBody>
          <a:bodyPr wrap="square">
            <a:spAutoFit/>
          </a:bodyPr>
          <a:lstStyle/>
          <a:p>
            <a:pPr>
              <a:defRPr sz="1500">
                <a:solidFill>
                  <a:srgbClr val="3D4455"/>
                </a:solidFill>
                <a:latin typeface="Calibri"/>
              </a:defRPr>
            </a:pPr>
            <a:r>
              <a:t>Routine CXR for every child with cough and fever — most do not need imaging</a:t>
            </a:r>
          </a:p>
        </p:txBody>
      </p:sp>
      <p:sp>
        <p:nvSpPr>
          <p:cNvPr id="7" name="Rounded Rectangle 6"/>
          <p:cNvSpPr/>
          <p:nvPr/>
        </p:nvSpPr>
        <p:spPr>
          <a:xfrm>
            <a:off x="457200" y="1993391"/>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8" name="TextBox 7"/>
          <p:cNvSpPr txBox="1"/>
          <p:nvPr/>
        </p:nvSpPr>
        <p:spPr>
          <a:xfrm>
            <a:off x="1097280" y="1993391"/>
            <a:ext cx="10515600" cy="548640"/>
          </a:xfrm>
          <a:prstGeom prst="rect">
            <a:avLst/>
          </a:prstGeom>
          <a:noFill/>
        </p:spPr>
        <p:txBody>
          <a:bodyPr wrap="square">
            <a:spAutoFit/>
          </a:bodyPr>
          <a:lstStyle/>
          <a:p>
            <a:pPr>
              <a:defRPr sz="1500">
                <a:solidFill>
                  <a:srgbClr val="3D4455"/>
                </a:solidFill>
                <a:latin typeface="Calibri"/>
              </a:defRPr>
            </a:pPr>
            <a:r>
              <a:t>Treating viral lower respiratory infections with antibiotics</a:t>
            </a:r>
          </a:p>
        </p:txBody>
      </p:sp>
      <p:sp>
        <p:nvSpPr>
          <p:cNvPr id="9" name="Rounded Rectangle 8"/>
          <p:cNvSpPr/>
          <p:nvPr/>
        </p:nvSpPr>
        <p:spPr>
          <a:xfrm>
            <a:off x="457200" y="2706624"/>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0" name="TextBox 9"/>
          <p:cNvSpPr txBox="1"/>
          <p:nvPr/>
        </p:nvSpPr>
        <p:spPr>
          <a:xfrm>
            <a:off x="1097280" y="2706624"/>
            <a:ext cx="10515600" cy="548640"/>
          </a:xfrm>
          <a:prstGeom prst="rect">
            <a:avLst/>
          </a:prstGeom>
          <a:noFill/>
        </p:spPr>
        <p:txBody>
          <a:bodyPr wrap="square">
            <a:spAutoFit/>
          </a:bodyPr>
          <a:lstStyle/>
          <a:p>
            <a:pPr>
              <a:defRPr sz="1500">
                <a:solidFill>
                  <a:srgbClr val="3D4455"/>
                </a:solidFill>
                <a:latin typeface="Calibri"/>
              </a:defRPr>
            </a:pPr>
            <a:r>
              <a:t>Using ceftriaxone when ampicillin or amoxicillin would suffice (antibiotic stewardship)</a:t>
            </a:r>
          </a:p>
        </p:txBody>
      </p:sp>
      <p:sp>
        <p:nvSpPr>
          <p:cNvPr id="11" name="Rounded Rectangle 10"/>
          <p:cNvSpPr/>
          <p:nvPr/>
        </p:nvSpPr>
        <p:spPr>
          <a:xfrm>
            <a:off x="457200" y="3419856"/>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2" name="TextBox 11"/>
          <p:cNvSpPr txBox="1"/>
          <p:nvPr/>
        </p:nvSpPr>
        <p:spPr>
          <a:xfrm>
            <a:off x="1097280" y="3419856"/>
            <a:ext cx="10515600" cy="548640"/>
          </a:xfrm>
          <a:prstGeom prst="rect">
            <a:avLst/>
          </a:prstGeom>
          <a:noFill/>
        </p:spPr>
        <p:txBody>
          <a:bodyPr wrap="square">
            <a:spAutoFit/>
          </a:bodyPr>
          <a:lstStyle/>
          <a:p>
            <a:pPr>
              <a:defRPr sz="1500">
                <a:solidFill>
                  <a:srgbClr val="3D4455"/>
                </a:solidFill>
                <a:latin typeface="Calibri"/>
              </a:defRPr>
            </a:pPr>
            <a:r>
              <a:t>Not giving adequate amoxicillin dose (must be 90 mg/kg/day for pneumococcal coverage)</a:t>
            </a:r>
          </a:p>
        </p:txBody>
      </p:sp>
      <p:sp>
        <p:nvSpPr>
          <p:cNvPr id="13" name="Rounded Rectangle 12"/>
          <p:cNvSpPr/>
          <p:nvPr/>
        </p:nvSpPr>
        <p:spPr>
          <a:xfrm>
            <a:off x="457200" y="4133087"/>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4" name="TextBox 13"/>
          <p:cNvSpPr txBox="1"/>
          <p:nvPr/>
        </p:nvSpPr>
        <p:spPr>
          <a:xfrm>
            <a:off x="1097280" y="4133087"/>
            <a:ext cx="10515600" cy="548640"/>
          </a:xfrm>
          <a:prstGeom prst="rect">
            <a:avLst/>
          </a:prstGeom>
          <a:noFill/>
        </p:spPr>
        <p:txBody>
          <a:bodyPr wrap="square">
            <a:spAutoFit/>
          </a:bodyPr>
          <a:lstStyle/>
          <a:p>
            <a:pPr>
              <a:defRPr sz="1500">
                <a:solidFill>
                  <a:srgbClr val="3D4455"/>
                </a:solidFill>
                <a:latin typeface="Calibri"/>
              </a:defRPr>
            </a:pPr>
            <a:r>
              <a:t>Missing complicated pneumonia — fever &gt;72h on antibiotics demands reassessment</a:t>
            </a:r>
          </a:p>
        </p:txBody>
      </p:sp>
      <p:sp>
        <p:nvSpPr>
          <p:cNvPr id="15" name="Rounded Rectangle 14"/>
          <p:cNvSpPr/>
          <p:nvPr/>
        </p:nvSpPr>
        <p:spPr>
          <a:xfrm>
            <a:off x="457200" y="4846320"/>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6" name="TextBox 15"/>
          <p:cNvSpPr txBox="1"/>
          <p:nvPr/>
        </p:nvSpPr>
        <p:spPr>
          <a:xfrm>
            <a:off x="1097280" y="4846320"/>
            <a:ext cx="10515600" cy="548640"/>
          </a:xfrm>
          <a:prstGeom prst="rect">
            <a:avLst/>
          </a:prstGeom>
          <a:noFill/>
        </p:spPr>
        <p:txBody>
          <a:bodyPr wrap="square">
            <a:spAutoFit/>
          </a:bodyPr>
          <a:lstStyle/>
          <a:p>
            <a:pPr>
              <a:defRPr sz="1500">
                <a:solidFill>
                  <a:srgbClr val="3D4455"/>
                </a:solidFill>
                <a:latin typeface="Calibri"/>
              </a:defRPr>
            </a:pPr>
            <a:r>
              <a:t>Forgetting atypical coverage in school-age children (Mycoplasma)</a:t>
            </a:r>
          </a:p>
        </p:txBody>
      </p:sp>
      <p:sp>
        <p:nvSpPr>
          <p:cNvPr id="17" name="Rounded Rectangle 16"/>
          <p:cNvSpPr/>
          <p:nvPr/>
        </p:nvSpPr>
        <p:spPr>
          <a:xfrm>
            <a:off x="457200" y="5559552"/>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8" name="TextBox 17"/>
          <p:cNvSpPr txBox="1"/>
          <p:nvPr/>
        </p:nvSpPr>
        <p:spPr>
          <a:xfrm>
            <a:off x="1097280" y="5559552"/>
            <a:ext cx="10515600" cy="548640"/>
          </a:xfrm>
          <a:prstGeom prst="rect">
            <a:avLst/>
          </a:prstGeom>
          <a:noFill/>
        </p:spPr>
        <p:txBody>
          <a:bodyPr wrap="square">
            <a:spAutoFit/>
          </a:bodyPr>
          <a:lstStyle/>
          <a:p>
            <a:pPr>
              <a:defRPr sz="1500">
                <a:solidFill>
                  <a:srgbClr val="3D4455"/>
                </a:solidFill>
                <a:latin typeface="Calibri"/>
              </a:defRPr>
            </a:pPr>
            <a:r>
              <a:t>Ordering routine follow-up CXR for uncomplicated CAP (not recommended by guidelines)</a:t>
            </a:r>
          </a:p>
        </p:txBody>
      </p:sp>
      <p:sp>
        <p:nvSpPr>
          <p:cNvPr id="19" name="Rectangle 18"/>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Pneumonia in the ED</a:t>
            </a:r>
          </a:p>
        </p:txBody>
      </p:sp>
      <p:sp>
        <p:nvSpPr>
          <p:cNvPr id="21" name="TextBox 20"/>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10058400" cy="457200"/>
          </a:xfrm>
          <a:prstGeom prst="rect">
            <a:avLst/>
          </a:prstGeom>
          <a:noFill/>
        </p:spPr>
        <p:txBody>
          <a:bodyPr wrap="none">
            <a:spAutoFit/>
          </a:bodyPr>
          <a:lstStyle/>
          <a:p>
            <a:pPr>
              <a:defRPr sz="1400" b="1">
                <a:solidFill>
                  <a:srgbClr val="007B83"/>
                </a:solidFill>
                <a:latin typeface="Calibri"/>
              </a:defRPr>
            </a:pPr>
            <a:r>
              <a:t>TAKE-HOME MESSAGES</a:t>
            </a:r>
          </a:p>
        </p:txBody>
      </p:sp>
      <p:sp>
        <p:nvSpPr>
          <p:cNvPr id="4" name="Rectangle 3"/>
          <p:cNvSpPr/>
          <p:nvPr/>
        </p:nvSpPr>
        <p:spPr>
          <a:xfrm>
            <a:off x="731520" y="1371600"/>
            <a:ext cx="2743200" cy="36576"/>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737360"/>
            <a:ext cx="457200" cy="457200"/>
          </a:xfrm>
          <a:prstGeom prst="rect">
            <a:avLst/>
          </a:prstGeom>
          <a:noFill/>
        </p:spPr>
        <p:txBody>
          <a:bodyPr wrap="none">
            <a:spAutoFit/>
          </a:bodyPr>
          <a:lstStyle/>
          <a:p>
            <a:pPr>
              <a:defRPr sz="2200" b="1">
                <a:solidFill>
                  <a:srgbClr val="007B83"/>
                </a:solidFill>
                <a:latin typeface="Calibri"/>
              </a:defRPr>
            </a:pPr>
            <a:r>
              <a:t>1</a:t>
            </a:r>
          </a:p>
        </p:txBody>
      </p:sp>
      <p:sp>
        <p:nvSpPr>
          <p:cNvPr id="6" name="TextBox 5"/>
          <p:cNvSpPr txBox="1"/>
          <p:nvPr/>
        </p:nvSpPr>
        <p:spPr>
          <a:xfrm>
            <a:off x="1371600" y="1737360"/>
            <a:ext cx="10058400" cy="640080"/>
          </a:xfrm>
          <a:prstGeom prst="rect">
            <a:avLst/>
          </a:prstGeom>
          <a:noFill/>
        </p:spPr>
        <p:txBody>
          <a:bodyPr wrap="square">
            <a:spAutoFit/>
          </a:bodyPr>
          <a:lstStyle/>
          <a:p>
            <a:pPr>
              <a:defRPr sz="1700">
                <a:solidFill>
                  <a:srgbClr val="FFFFFF"/>
                </a:solidFill>
                <a:latin typeface="Calibri"/>
              </a:defRPr>
            </a:pPr>
            <a:r>
              <a:t>Most pneumonia in children &lt;5 years is viral — do not reflexively prescribe antibiotics</a:t>
            </a:r>
          </a:p>
        </p:txBody>
      </p:sp>
      <p:sp>
        <p:nvSpPr>
          <p:cNvPr id="7" name="TextBox 6"/>
          <p:cNvSpPr txBox="1"/>
          <p:nvPr/>
        </p:nvSpPr>
        <p:spPr>
          <a:xfrm>
            <a:off x="731520" y="2514600"/>
            <a:ext cx="457200" cy="457200"/>
          </a:xfrm>
          <a:prstGeom prst="rect">
            <a:avLst/>
          </a:prstGeom>
          <a:noFill/>
        </p:spPr>
        <p:txBody>
          <a:bodyPr wrap="none">
            <a:spAutoFit/>
          </a:bodyPr>
          <a:lstStyle/>
          <a:p>
            <a:pPr>
              <a:defRPr sz="2200" b="1">
                <a:solidFill>
                  <a:srgbClr val="007B83"/>
                </a:solidFill>
                <a:latin typeface="Calibri"/>
              </a:defRPr>
            </a:pPr>
            <a:r>
              <a:t>2</a:t>
            </a:r>
          </a:p>
        </p:txBody>
      </p:sp>
      <p:sp>
        <p:nvSpPr>
          <p:cNvPr id="8" name="TextBox 7"/>
          <p:cNvSpPr txBox="1"/>
          <p:nvPr/>
        </p:nvSpPr>
        <p:spPr>
          <a:xfrm>
            <a:off x="1371600" y="2514600"/>
            <a:ext cx="10058400" cy="640080"/>
          </a:xfrm>
          <a:prstGeom prst="rect">
            <a:avLst/>
          </a:prstGeom>
          <a:noFill/>
        </p:spPr>
        <p:txBody>
          <a:bodyPr wrap="square">
            <a:spAutoFit/>
          </a:bodyPr>
          <a:lstStyle/>
          <a:p>
            <a:pPr>
              <a:defRPr sz="1700">
                <a:solidFill>
                  <a:srgbClr val="FFFFFF"/>
                </a:solidFill>
                <a:latin typeface="Calibri"/>
              </a:defRPr>
            </a:pPr>
            <a:r>
              <a:t>High-dose amoxicillin (90 mg/kg/day) is first-line for outpatient bacterial CAP</a:t>
            </a:r>
          </a:p>
        </p:txBody>
      </p:sp>
      <p:sp>
        <p:nvSpPr>
          <p:cNvPr id="9" name="TextBox 8"/>
          <p:cNvSpPr txBox="1"/>
          <p:nvPr/>
        </p:nvSpPr>
        <p:spPr>
          <a:xfrm>
            <a:off x="731520" y="3291839"/>
            <a:ext cx="457200" cy="457200"/>
          </a:xfrm>
          <a:prstGeom prst="rect">
            <a:avLst/>
          </a:prstGeom>
          <a:noFill/>
        </p:spPr>
        <p:txBody>
          <a:bodyPr wrap="none">
            <a:spAutoFit/>
          </a:bodyPr>
          <a:lstStyle/>
          <a:p>
            <a:pPr>
              <a:defRPr sz="2200" b="1">
                <a:solidFill>
                  <a:srgbClr val="007B83"/>
                </a:solidFill>
                <a:latin typeface="Calibri"/>
              </a:defRPr>
            </a:pPr>
            <a:r>
              <a:t>3</a:t>
            </a:r>
          </a:p>
        </p:txBody>
      </p:sp>
      <p:sp>
        <p:nvSpPr>
          <p:cNvPr id="10" name="TextBox 9"/>
          <p:cNvSpPr txBox="1"/>
          <p:nvPr/>
        </p:nvSpPr>
        <p:spPr>
          <a:xfrm>
            <a:off x="1371600" y="3291839"/>
            <a:ext cx="10058400" cy="640080"/>
          </a:xfrm>
          <a:prstGeom prst="rect">
            <a:avLst/>
          </a:prstGeom>
          <a:noFill/>
        </p:spPr>
        <p:txBody>
          <a:bodyPr wrap="square">
            <a:spAutoFit/>
          </a:bodyPr>
          <a:lstStyle/>
          <a:p>
            <a:pPr>
              <a:defRPr sz="1700">
                <a:solidFill>
                  <a:srgbClr val="FFFFFF"/>
                </a:solidFill>
                <a:latin typeface="Calibri"/>
              </a:defRPr>
            </a:pPr>
            <a:r>
              <a:t>CXR is NOT routinely needed for well-appearing children with uncomplicated pneumonia</a:t>
            </a:r>
          </a:p>
        </p:txBody>
      </p:sp>
      <p:sp>
        <p:nvSpPr>
          <p:cNvPr id="11" name="TextBox 10"/>
          <p:cNvSpPr txBox="1"/>
          <p:nvPr/>
        </p:nvSpPr>
        <p:spPr>
          <a:xfrm>
            <a:off x="731520" y="4069079"/>
            <a:ext cx="457200" cy="457200"/>
          </a:xfrm>
          <a:prstGeom prst="rect">
            <a:avLst/>
          </a:prstGeom>
          <a:noFill/>
        </p:spPr>
        <p:txBody>
          <a:bodyPr wrap="none">
            <a:spAutoFit/>
          </a:bodyPr>
          <a:lstStyle/>
          <a:p>
            <a:pPr>
              <a:defRPr sz="2200" b="1">
                <a:solidFill>
                  <a:srgbClr val="007B83"/>
                </a:solidFill>
                <a:latin typeface="Calibri"/>
              </a:defRPr>
            </a:pPr>
            <a:r>
              <a:t>4</a:t>
            </a:r>
          </a:p>
        </p:txBody>
      </p:sp>
      <p:sp>
        <p:nvSpPr>
          <p:cNvPr id="12" name="TextBox 11"/>
          <p:cNvSpPr txBox="1"/>
          <p:nvPr/>
        </p:nvSpPr>
        <p:spPr>
          <a:xfrm>
            <a:off x="1371600" y="4069079"/>
            <a:ext cx="10058400" cy="640080"/>
          </a:xfrm>
          <a:prstGeom prst="rect">
            <a:avLst/>
          </a:prstGeom>
          <a:noFill/>
        </p:spPr>
        <p:txBody>
          <a:bodyPr wrap="square">
            <a:spAutoFit/>
          </a:bodyPr>
          <a:lstStyle/>
          <a:p>
            <a:pPr>
              <a:defRPr sz="1700">
                <a:solidFill>
                  <a:srgbClr val="FFFFFF"/>
                </a:solidFill>
                <a:latin typeface="Calibri"/>
              </a:defRPr>
            </a:pPr>
            <a:r>
              <a:t>Fever persisting &gt;48-72h on appropriate antibiotics = complicated pneumonia until proven otherwise</a:t>
            </a:r>
          </a:p>
        </p:txBody>
      </p:sp>
      <p:sp>
        <p:nvSpPr>
          <p:cNvPr id="13" name="TextBox 12"/>
          <p:cNvSpPr txBox="1"/>
          <p:nvPr/>
        </p:nvSpPr>
        <p:spPr>
          <a:xfrm>
            <a:off x="731520" y="4846320"/>
            <a:ext cx="457200" cy="457200"/>
          </a:xfrm>
          <a:prstGeom prst="rect">
            <a:avLst/>
          </a:prstGeom>
          <a:noFill/>
        </p:spPr>
        <p:txBody>
          <a:bodyPr wrap="none">
            <a:spAutoFit/>
          </a:bodyPr>
          <a:lstStyle/>
          <a:p>
            <a:pPr>
              <a:defRPr sz="2200" b="1">
                <a:solidFill>
                  <a:srgbClr val="007B83"/>
                </a:solidFill>
                <a:latin typeface="Calibri"/>
              </a:defRPr>
            </a:pPr>
            <a:r>
              <a:t>5</a:t>
            </a:r>
          </a:p>
        </p:txBody>
      </p:sp>
      <p:sp>
        <p:nvSpPr>
          <p:cNvPr id="14" name="TextBox 13"/>
          <p:cNvSpPr txBox="1"/>
          <p:nvPr/>
        </p:nvSpPr>
        <p:spPr>
          <a:xfrm>
            <a:off x="1371600" y="4846320"/>
            <a:ext cx="10058400" cy="640080"/>
          </a:xfrm>
          <a:prstGeom prst="rect">
            <a:avLst/>
          </a:prstGeom>
          <a:noFill/>
        </p:spPr>
        <p:txBody>
          <a:bodyPr wrap="square">
            <a:spAutoFit/>
          </a:bodyPr>
          <a:lstStyle/>
          <a:p>
            <a:pPr>
              <a:defRPr sz="1700">
                <a:solidFill>
                  <a:srgbClr val="FFFFFF"/>
                </a:solidFill>
                <a:latin typeface="Calibri"/>
              </a:defRPr>
            </a:pPr>
            <a:r>
              <a:t>Bedside ultrasound is the best initial test for suspected parapneumonic effusion</a:t>
            </a:r>
          </a:p>
        </p:txBody>
      </p:sp>
      <p:sp>
        <p:nvSpPr>
          <p:cNvPr id="15" name="Rectangle 14"/>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Pneumonia in the ED</a:t>
            </a:r>
          </a:p>
        </p:txBody>
      </p:sp>
      <p:sp>
        <p:nvSpPr>
          <p:cNvPr id="17" name="TextBox 16"/>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References</a:t>
            </a:r>
          </a:p>
        </p:txBody>
      </p:sp>
      <p:sp>
        <p:nvSpPr>
          <p:cNvPr id="5" name="TextBox 4"/>
          <p:cNvSpPr txBox="1"/>
          <p:nvPr/>
        </p:nvSpPr>
        <p:spPr>
          <a:xfrm>
            <a:off x="731520" y="1280160"/>
            <a:ext cx="10515600" cy="4846320"/>
          </a:xfrm>
          <a:prstGeom prst="rect">
            <a:avLst/>
          </a:prstGeom>
          <a:noFill/>
        </p:spPr>
        <p:txBody>
          <a:bodyPr wrap="square">
            <a:spAutoFit/>
          </a:bodyPr>
          <a:lstStyle/>
          <a:p>
            <a:pPr>
              <a:spcAft>
                <a:spcPts val="400"/>
              </a:spcAft>
              <a:defRPr sz="1100">
                <a:solidFill>
                  <a:srgbClr val="3D4455"/>
                </a:solidFill>
                <a:latin typeface="Calibri"/>
              </a:defRPr>
            </a:pPr>
            <a:r>
              <a:t>1. Bradley JS, et al. The management of community-acquired pneumonia in infants and children older than 3 months of age: clinical practice guidelines by the PIDS and IDSA. Clin Infect Dis. 2011;53(7):e25-76.</a:t>
            </a:r>
          </a:p>
          <a:p>
            <a:pPr>
              <a:spcAft>
                <a:spcPts val="400"/>
              </a:spcAft>
              <a:defRPr sz="1100">
                <a:solidFill>
                  <a:srgbClr val="3D4455"/>
                </a:solidFill>
                <a:latin typeface="Calibri"/>
              </a:defRPr>
            </a:pPr>
            <a:r>
              <a:t>2. Jain S, et al. Community-acquired pneumonia requiring hospitalization among U.S. children. N Engl J Med. 2015;372(9):835-845.</a:t>
            </a:r>
          </a:p>
          <a:p>
            <a:pPr>
              <a:spcAft>
                <a:spcPts val="400"/>
              </a:spcAft>
              <a:defRPr sz="1100">
                <a:solidFill>
                  <a:srgbClr val="3D4455"/>
                </a:solidFill>
                <a:latin typeface="Calibri"/>
              </a:defRPr>
            </a:pPr>
            <a:r>
              <a:t>3. Williams DJ, et al. Short- vs standard-course outpatient antibiotic therapy for community-acquired pneumonia in children: the SCOUT-CAP randomized clinical trial. JAMA Pediatr. 2022;176(3):253-261.</a:t>
            </a:r>
          </a:p>
          <a:p>
            <a:pPr>
              <a:spcAft>
                <a:spcPts val="400"/>
              </a:spcAft>
              <a:defRPr sz="1100">
                <a:solidFill>
                  <a:srgbClr val="3D4455"/>
                </a:solidFill>
                <a:latin typeface="Calibri"/>
              </a:defRPr>
            </a:pPr>
            <a:r>
              <a:t>4. Balfour-Lynn IM, et al. BTS guidelines for the management of pleural infection in children. Thorax. 2005;60(Suppl 1):i1-21.</a:t>
            </a:r>
          </a:p>
          <a:p>
            <a:pPr>
              <a:spcAft>
                <a:spcPts val="400"/>
              </a:spcAft>
              <a:defRPr sz="1100">
                <a:solidFill>
                  <a:srgbClr val="3D4455"/>
                </a:solidFill>
                <a:latin typeface="Calibri"/>
              </a:defRPr>
            </a:pPr>
            <a:r>
              <a:t>5. Shah SS, et al. Intrapleural fibrinolysis is effective in the treatment of complicated parapneumonic effusion. J Pediatr Surg. 2007;42(12):2062-2067.</a:t>
            </a:r>
          </a:p>
        </p:txBody>
      </p:sp>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Pneumonia in the ED</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0" y="2286000"/>
            <a:ext cx="8229600" cy="1371600"/>
          </a:xfrm>
          <a:prstGeom prst="rect">
            <a:avLst/>
          </a:prstGeom>
          <a:noFill/>
        </p:spPr>
        <p:txBody>
          <a:bodyPr wrap="none">
            <a:spAutoFit/>
          </a:bodyPr>
          <a:lstStyle/>
          <a:p>
            <a:pPr algn="ctr">
              <a:defRPr sz="3600" b="1">
                <a:solidFill>
                  <a:srgbClr val="FFFFFF"/>
                </a:solidFill>
                <a:latin typeface="Calibri"/>
              </a:defRPr>
            </a:pPr>
            <a:r>
              <a:t>Questions &amp; Discussion</a:t>
            </a:r>
          </a:p>
        </p:txBody>
      </p:sp>
      <p:sp>
        <p:nvSpPr>
          <p:cNvPr id="4" name="TextBox 3"/>
          <p:cNvSpPr txBox="1"/>
          <p:nvPr/>
        </p:nvSpPr>
        <p:spPr>
          <a:xfrm>
            <a:off x="1828800" y="3840480"/>
            <a:ext cx="8229600" cy="914400"/>
          </a:xfrm>
          <a:prstGeom prst="rect">
            <a:avLst/>
          </a:prstGeom>
          <a:noFill/>
        </p:spPr>
        <p:txBody>
          <a:bodyPr wrap="none">
            <a:spAutoFit/>
          </a:bodyPr>
          <a:lstStyle/>
          <a:p>
            <a:pPr algn="ctr">
              <a:defRPr sz="1600">
                <a:solidFill>
                  <a:srgbClr val="00A3AD"/>
                </a:solidFill>
                <a:latin typeface="Calibri"/>
              </a:defRPr>
            </a:pPr>
            <a:r>
              <a:t>PEM Fellow Teaching Library</a:t>
            </a:r>
          </a:p>
        </p:txBody>
      </p:sp>
      <p:sp>
        <p:nvSpPr>
          <p:cNvPr id="5" name="Rectangle 4"/>
          <p:cNvSpPr/>
          <p:nvPr/>
        </p:nvSpPr>
        <p:spPr>
          <a:xfrm>
            <a:off x="4572000" y="3657600"/>
            <a:ext cx="3017520" cy="36576"/>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