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POCUS has transformed PEM practice. Fellows must be proficient in core applications. The key mindset: POCUS answers a specific question ("Is there free fluid? Is there a pericardial effusion? Is this an abscess?"). It does not replace comprehensive radiologist-performed US. Use it to make faster, better decisions at the bedside.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covers the 8 core PEM POCUS applications. Each answers a focused question with a specific probe and key finding. The FAST exam, pneumothorax assessment, and cardiac echo are resuscitative applications. Appendicitis and intussusception US are diagnostic. Abscess ID and IV guidance are procedural. Fellows should aim for competency in all 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limitation of FAST in children: it has lower sensitivity than in adults. Small-volume free fluid can be missed, and solid organ injuries without significant free fluid will not be detected. FAST is most useful for: 1) unstable patient — FAST positive → OR; 2) low mechanism — FAST negative → observation may be appropriate. For intermediate-risk patients, CT is more definitive.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Lung ultrasound is one of the most impactful POCUS applications. For pneumothorax, it is more sensitive than CXR and can be done in seconds. This is critical in trauma (tension pneumothorax assessment) and in the mechanically ventilated patient. For pleural effusion, it guides management and thoracentesis. Lung US for pneumonia diagnosis is emerging as a radiation-free alternative to CXR.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POCUS during resuscitation should be integrated, not disruptive. In cardiac arrest, use the pulse check pause (every 2 minutes) to get a subxiphoid view — 10 seconds is enough. In shock, IVC assessment helps guide fluid resuscitation. In respiratory failure, lung US can rapidly differentiate pneumothorax from effusion from consolidation. The key: POCUS should CHANGE MANAGEMENT, not just confirm what you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US-guided IV access is perhaps the most commonly used procedural POCUS application in PEM. In the dehydrated child or the obese child with no visible veins, it transforms care. The technique: place the linear probe perpendicular to the vein (short-axis view), center the vein on screen, and advance the needle while tracking the tip. Practice on phantoms and then on easy patients before attempting difficult access.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integrates POCUS into real-time trauma management. The FAST result changes the clinical trajectory: it confirms intra-abdominal injury and helps triage (OR vs. CT). The distinction: FAST positive + unstable = OR. FAST positive + stable = CT for characterization. FAST negative does not exclude injury in children — maintain clinical suspicion.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POCUS pitfall: false reassurance from a negative study. This is especially true for pediatric FAST, where small-volume hemoperitoneum is easily missed. POCUS is a tool that adds information — it does not replace clinical judgment or definitive imaging. Document all POCUS exams including the images, your interpretation, and how it changed management.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28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PEM Ultrasound Essentials (POCUS for Fellows)</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Core Applications, Image Acquisition, and Clinical Integration of Point-of-Care Ultrasound</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Perform and interpret the pediatric FAST exam for trauma</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Use POCUS for common PEM applications: pneumothorax, intussusception, appendicitis, fracture</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Integrate cardiac POCUS into resuscitation: pericardial effusion, contractility assessment</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Apply POCUS for procedures: IV access, abscess identification, foreign body localization</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Understand POCUS limitations and know when to defer to formal imaging</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POCUS in PEM: An Essential Fellow Skill</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POCUS is a bedside diagnostic tool — it extends the physical exam, not replaces formal imaging</a:t>
            </a:r>
          </a:p>
          <a:p>
            <a:pPr>
              <a:spcBef>
                <a:spcPts val="400"/>
              </a:spcBef>
              <a:spcAft>
                <a:spcPts val="600"/>
              </a:spcAft>
              <a:defRPr sz="1600">
                <a:solidFill>
                  <a:srgbClr val="3D4455"/>
                </a:solidFill>
                <a:latin typeface="Calibri"/>
              </a:defRPr>
            </a:pPr>
            <a:r>
              <a:t>PEM POCUS applications are expanding: diagnostic, procedural, resuscitative, and monitoring</a:t>
            </a:r>
          </a:p>
          <a:p>
            <a:pPr>
              <a:spcBef>
                <a:spcPts val="400"/>
              </a:spcBef>
              <a:spcAft>
                <a:spcPts val="600"/>
              </a:spcAft>
              <a:defRPr sz="1600">
                <a:solidFill>
                  <a:srgbClr val="3D4455"/>
                </a:solidFill>
                <a:latin typeface="Calibri"/>
              </a:defRPr>
            </a:pPr>
            <a:r>
              <a:t>ACGME now requires POCUS competency for PEM fellows</a:t>
            </a:r>
          </a:p>
          <a:p>
            <a:pPr>
              <a:spcBef>
                <a:spcPts val="400"/>
              </a:spcBef>
              <a:spcAft>
                <a:spcPts val="600"/>
              </a:spcAft>
              <a:defRPr sz="1600">
                <a:solidFill>
                  <a:srgbClr val="3D4455"/>
                </a:solidFill>
                <a:latin typeface="Calibri"/>
              </a:defRPr>
            </a:pPr>
            <a:r>
              <a:t>Key principle: POCUS answers focused clinical questions — it is not a comprehensive exam</a:t>
            </a:r>
          </a:p>
          <a:p>
            <a:pPr>
              <a:spcBef>
                <a:spcPts val="400"/>
              </a:spcBef>
              <a:spcAft>
                <a:spcPts val="600"/>
              </a:spcAft>
              <a:defRPr sz="1600">
                <a:solidFill>
                  <a:srgbClr val="3D4455"/>
                </a:solidFill>
                <a:latin typeface="Calibri"/>
              </a:defRPr>
            </a:pPr>
            <a:r>
              <a:t>Clinical integration: POCUS findings change management in 25-50% of PED cases where it is used</a:t>
            </a:r>
          </a:p>
          <a:p>
            <a:pPr lvl="1">
              <a:spcBef>
                <a:spcPts val="400"/>
              </a:spcBef>
              <a:spcAft>
                <a:spcPts val="600"/>
              </a:spcAft>
              <a:defRPr sz="1400">
                <a:solidFill>
                  <a:srgbClr val="8A92A3"/>
                </a:solidFill>
                <a:latin typeface="Calibri"/>
              </a:defRPr>
            </a:pPr>
            <a:r>
              <a:t>The best ultrasound is the one done at the bedside, in real time, by the treating physician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Core PEM POCUS Applications</a:t>
            </a:r>
          </a:p>
        </p:txBody>
      </p:sp>
      <p:graphicFrame>
        <p:nvGraphicFramePr>
          <p:cNvPr id="5" name="Table 4"/>
          <p:cNvGraphicFramePr>
            <a:graphicFrameLocks noGrp="1"/>
          </p:cNvGraphicFramePr>
          <p:nvPr/>
        </p:nvGraphicFramePr>
        <p:xfrm>
          <a:off x="822960" y="1280160"/>
          <a:ext cx="10515600" cy="41148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Application</a:t>
                      </a:r>
                    </a:p>
                  </a:txBody>
                  <a:tcPr>
                    <a:solidFill>
                      <a:srgbClr val="007B83"/>
                    </a:solidFill>
                  </a:tcPr>
                </a:tc>
                <a:tc>
                  <a:txBody>
                    <a:bodyPr/>
                    <a:lstStyle/>
                    <a:p>
                      <a:pPr algn="ctr">
                        <a:defRPr sz="1300" b="1">
                          <a:solidFill>
                            <a:srgbClr val="FFFFFF"/>
                          </a:solidFill>
                          <a:latin typeface="Calibri"/>
                        </a:defRPr>
                      </a:pPr>
                      <a:r>
                        <a:t>Clinical Question</a:t>
                      </a:r>
                    </a:p>
                  </a:txBody>
                  <a:tcPr>
                    <a:solidFill>
                      <a:srgbClr val="007B83"/>
                    </a:solidFill>
                  </a:tcPr>
                </a:tc>
                <a:tc>
                  <a:txBody>
                    <a:bodyPr/>
                    <a:lstStyle/>
                    <a:p>
                      <a:pPr algn="ctr">
                        <a:defRPr sz="1300" b="1">
                          <a:solidFill>
                            <a:srgbClr val="FFFFFF"/>
                          </a:solidFill>
                          <a:latin typeface="Calibri"/>
                        </a:defRPr>
                      </a:pPr>
                      <a:r>
                        <a:t>Probe</a:t>
                      </a:r>
                    </a:p>
                  </a:txBody>
                  <a:tcPr>
                    <a:solidFill>
                      <a:srgbClr val="007B83"/>
                    </a:solidFill>
                  </a:tcPr>
                </a:tc>
                <a:tc>
                  <a:txBody>
                    <a:bodyPr/>
                    <a:lstStyle/>
                    <a:p>
                      <a:pPr algn="ctr">
                        <a:defRPr sz="1300" b="1">
                          <a:solidFill>
                            <a:srgbClr val="FFFFFF"/>
                          </a:solidFill>
                          <a:latin typeface="Calibri"/>
                        </a:defRPr>
                      </a:pPr>
                      <a:r>
                        <a:t>Key Finding</a:t>
                      </a:r>
                    </a:p>
                  </a:txBody>
                  <a:tcPr>
                    <a:solidFill>
                      <a:srgbClr val="007B83"/>
                    </a:solidFill>
                  </a:tcPr>
                </a:tc>
              </a:tr>
              <a:tr h="457200">
                <a:tc>
                  <a:txBody>
                    <a:bodyPr/>
                    <a:lstStyle/>
                    <a:p>
                      <a:pPr algn="l">
                        <a:defRPr sz="1200">
                          <a:solidFill>
                            <a:srgbClr val="3D4455"/>
                          </a:solidFill>
                          <a:latin typeface="Calibri"/>
                        </a:defRPr>
                      </a:pPr>
                      <a:r>
                        <a:t>FAST (trauma)</a:t>
                      </a:r>
                    </a:p>
                  </a:txBody>
                  <a:tcPr>
                    <a:solidFill>
                      <a:srgbClr val="F5F6FA"/>
                    </a:solidFill>
                  </a:tcPr>
                </a:tc>
                <a:tc>
                  <a:txBody>
                    <a:bodyPr/>
                    <a:lstStyle/>
                    <a:p>
                      <a:pPr algn="l">
                        <a:defRPr sz="1200">
                          <a:solidFill>
                            <a:srgbClr val="3D4455"/>
                          </a:solidFill>
                          <a:latin typeface="Calibri"/>
                        </a:defRPr>
                      </a:pPr>
                      <a:r>
                        <a:t>Is there free fluid?</a:t>
                      </a:r>
                    </a:p>
                  </a:txBody>
                  <a:tcPr>
                    <a:solidFill>
                      <a:srgbClr val="F5F6FA"/>
                    </a:solidFill>
                  </a:tcPr>
                </a:tc>
                <a:tc>
                  <a:txBody>
                    <a:bodyPr/>
                    <a:lstStyle/>
                    <a:p>
                      <a:pPr algn="l">
                        <a:defRPr sz="1200">
                          <a:solidFill>
                            <a:srgbClr val="3D4455"/>
                          </a:solidFill>
                          <a:latin typeface="Calibri"/>
                        </a:defRPr>
                      </a:pPr>
                      <a:r>
                        <a:t>Curvilinear</a:t>
                      </a:r>
                    </a:p>
                  </a:txBody>
                  <a:tcPr>
                    <a:solidFill>
                      <a:srgbClr val="F5F6FA"/>
                    </a:solidFill>
                  </a:tcPr>
                </a:tc>
                <a:tc>
                  <a:txBody>
                    <a:bodyPr/>
                    <a:lstStyle/>
                    <a:p>
                      <a:pPr algn="l">
                        <a:defRPr sz="1200">
                          <a:solidFill>
                            <a:srgbClr val="3D4455"/>
                          </a:solidFill>
                          <a:latin typeface="Calibri"/>
                        </a:defRPr>
                      </a:pPr>
                      <a:r>
                        <a:t>Anechoic stripe in Morison, splenorenal, pelvis, pericardium</a:t>
                      </a:r>
                    </a:p>
                  </a:txBody>
                  <a:tcPr>
                    <a:solidFill>
                      <a:srgbClr val="F5F6FA"/>
                    </a:solidFill>
                  </a:tcPr>
                </a:tc>
              </a:tr>
              <a:tr h="457200">
                <a:tc>
                  <a:txBody>
                    <a:bodyPr/>
                    <a:lstStyle/>
                    <a:p>
                      <a:pPr algn="l">
                        <a:defRPr sz="1200">
                          <a:solidFill>
                            <a:srgbClr val="3D4455"/>
                          </a:solidFill>
                          <a:latin typeface="Calibri"/>
                        </a:defRPr>
                      </a:pPr>
                      <a:r>
                        <a:t>Pneumothorax</a:t>
                      </a:r>
                    </a:p>
                  </a:txBody>
                  <a:tcPr>
                    <a:solidFill>
                      <a:srgbClr val="FFFFFF"/>
                    </a:solidFill>
                  </a:tcPr>
                </a:tc>
                <a:tc>
                  <a:txBody>
                    <a:bodyPr/>
                    <a:lstStyle/>
                    <a:p>
                      <a:pPr algn="l">
                        <a:defRPr sz="1200">
                          <a:solidFill>
                            <a:srgbClr val="3D4455"/>
                          </a:solidFill>
                          <a:latin typeface="Calibri"/>
                        </a:defRPr>
                      </a:pPr>
                      <a:r>
                        <a:t>Is there lung sliding?</a:t>
                      </a:r>
                    </a:p>
                  </a:txBody>
                  <a:tcPr>
                    <a:solidFill>
                      <a:srgbClr val="FFFFFF"/>
                    </a:solidFill>
                  </a:tcPr>
                </a:tc>
                <a:tc>
                  <a:txBody>
                    <a:bodyPr/>
                    <a:lstStyle/>
                    <a:p>
                      <a:pPr algn="l">
                        <a:defRPr sz="1200">
                          <a:solidFill>
                            <a:srgbClr val="3D4455"/>
                          </a:solidFill>
                          <a:latin typeface="Calibri"/>
                        </a:defRPr>
                      </a:pPr>
                      <a:r>
                        <a:t>Linear</a:t>
                      </a:r>
                    </a:p>
                  </a:txBody>
                  <a:tcPr>
                    <a:solidFill>
                      <a:srgbClr val="FFFFFF"/>
                    </a:solidFill>
                  </a:tcPr>
                </a:tc>
                <a:tc>
                  <a:txBody>
                    <a:bodyPr/>
                    <a:lstStyle/>
                    <a:p>
                      <a:pPr algn="l">
                        <a:defRPr sz="1200">
                          <a:solidFill>
                            <a:srgbClr val="3D4455"/>
                          </a:solidFill>
                          <a:latin typeface="Calibri"/>
                        </a:defRPr>
                      </a:pPr>
                      <a:r>
                        <a:t>Absent lung sliding, absent comet tails = PTX; barcode sign on M-mode</a:t>
                      </a:r>
                    </a:p>
                  </a:txBody>
                  <a:tcPr>
                    <a:solidFill>
                      <a:srgbClr val="FFFFFF"/>
                    </a:solidFill>
                  </a:tcPr>
                </a:tc>
              </a:tr>
              <a:tr h="457200">
                <a:tc>
                  <a:txBody>
                    <a:bodyPr/>
                    <a:lstStyle/>
                    <a:p>
                      <a:pPr algn="l">
                        <a:defRPr sz="1200">
                          <a:solidFill>
                            <a:srgbClr val="3D4455"/>
                          </a:solidFill>
                          <a:latin typeface="Calibri"/>
                        </a:defRPr>
                      </a:pPr>
                      <a:r>
                        <a:t>Cardiac (Echo)</a:t>
                      </a:r>
                    </a:p>
                  </a:txBody>
                  <a:tcPr>
                    <a:solidFill>
                      <a:srgbClr val="F5F6FA"/>
                    </a:solidFill>
                  </a:tcPr>
                </a:tc>
                <a:tc>
                  <a:txBody>
                    <a:bodyPr/>
                    <a:lstStyle/>
                    <a:p>
                      <a:pPr algn="l">
                        <a:defRPr sz="1200">
                          <a:solidFill>
                            <a:srgbClr val="3D4455"/>
                          </a:solidFill>
                          <a:latin typeface="Calibri"/>
                        </a:defRPr>
                      </a:pPr>
                      <a:r>
                        <a:t>Pericardial effusion? Contractility?</a:t>
                      </a:r>
                    </a:p>
                  </a:txBody>
                  <a:tcPr>
                    <a:solidFill>
                      <a:srgbClr val="F5F6FA"/>
                    </a:solidFill>
                  </a:tcPr>
                </a:tc>
                <a:tc>
                  <a:txBody>
                    <a:bodyPr/>
                    <a:lstStyle/>
                    <a:p>
                      <a:pPr algn="l">
                        <a:defRPr sz="1200">
                          <a:solidFill>
                            <a:srgbClr val="3D4455"/>
                          </a:solidFill>
                          <a:latin typeface="Calibri"/>
                        </a:defRPr>
                      </a:pPr>
                      <a:r>
                        <a:t>Phased array</a:t>
                      </a:r>
                    </a:p>
                  </a:txBody>
                  <a:tcPr>
                    <a:solidFill>
                      <a:srgbClr val="F5F6FA"/>
                    </a:solidFill>
                  </a:tcPr>
                </a:tc>
                <a:tc>
                  <a:txBody>
                    <a:bodyPr/>
                    <a:lstStyle/>
                    <a:p>
                      <a:pPr algn="l">
                        <a:defRPr sz="1200">
                          <a:solidFill>
                            <a:srgbClr val="3D4455"/>
                          </a:solidFill>
                          <a:latin typeface="Calibri"/>
                        </a:defRPr>
                      </a:pPr>
                      <a:r>
                        <a:t>Anechoic space around heart; qualitative contractility</a:t>
                      </a:r>
                    </a:p>
                  </a:txBody>
                  <a:tcPr>
                    <a:solidFill>
                      <a:srgbClr val="F5F6FA"/>
                    </a:solidFill>
                  </a:tcPr>
                </a:tc>
              </a:tr>
              <a:tr h="457200">
                <a:tc>
                  <a:txBody>
                    <a:bodyPr/>
                    <a:lstStyle/>
                    <a:p>
                      <a:pPr algn="l">
                        <a:defRPr sz="1200">
                          <a:solidFill>
                            <a:srgbClr val="3D4455"/>
                          </a:solidFill>
                          <a:latin typeface="Calibri"/>
                        </a:defRPr>
                      </a:pPr>
                      <a:r>
                        <a:t>Appendicitis</a:t>
                      </a:r>
                    </a:p>
                  </a:txBody>
                  <a:tcPr>
                    <a:solidFill>
                      <a:srgbClr val="FFFFFF"/>
                    </a:solidFill>
                  </a:tcPr>
                </a:tc>
                <a:tc>
                  <a:txBody>
                    <a:bodyPr/>
                    <a:lstStyle/>
                    <a:p>
                      <a:pPr algn="l">
                        <a:defRPr sz="1200">
                          <a:solidFill>
                            <a:srgbClr val="3D4455"/>
                          </a:solidFill>
                          <a:latin typeface="Calibri"/>
                        </a:defRPr>
                      </a:pPr>
                      <a:r>
                        <a:t>Can I see a dilated appendix?</a:t>
                      </a:r>
                    </a:p>
                  </a:txBody>
                  <a:tcPr>
                    <a:solidFill>
                      <a:srgbClr val="FFFFFF"/>
                    </a:solidFill>
                  </a:tcPr>
                </a:tc>
                <a:tc>
                  <a:txBody>
                    <a:bodyPr/>
                    <a:lstStyle/>
                    <a:p>
                      <a:pPr algn="l">
                        <a:defRPr sz="1200">
                          <a:solidFill>
                            <a:srgbClr val="3D4455"/>
                          </a:solidFill>
                          <a:latin typeface="Calibri"/>
                        </a:defRPr>
                      </a:pPr>
                      <a:r>
                        <a:t>Linear/curvilinear</a:t>
                      </a:r>
                    </a:p>
                  </a:txBody>
                  <a:tcPr>
                    <a:solidFill>
                      <a:srgbClr val="FFFFFF"/>
                    </a:solidFill>
                  </a:tcPr>
                </a:tc>
                <a:tc>
                  <a:txBody>
                    <a:bodyPr/>
                    <a:lstStyle/>
                    <a:p>
                      <a:pPr algn="l">
                        <a:defRPr sz="1200">
                          <a:solidFill>
                            <a:srgbClr val="3D4455"/>
                          </a:solidFill>
                          <a:latin typeface="Calibri"/>
                        </a:defRPr>
                      </a:pPr>
                      <a:r>
                        <a:t>Non-compressible, &gt;6mm, target sign, hyperemia</a:t>
                      </a:r>
                    </a:p>
                  </a:txBody>
                  <a:tcPr>
                    <a:solidFill>
                      <a:srgbClr val="FFFFFF"/>
                    </a:solidFill>
                  </a:tcPr>
                </a:tc>
              </a:tr>
              <a:tr h="457200">
                <a:tc>
                  <a:txBody>
                    <a:bodyPr/>
                    <a:lstStyle/>
                    <a:p>
                      <a:pPr algn="l">
                        <a:defRPr sz="1200">
                          <a:solidFill>
                            <a:srgbClr val="3D4455"/>
                          </a:solidFill>
                          <a:latin typeface="Calibri"/>
                        </a:defRPr>
                      </a:pPr>
                      <a:r>
                        <a:t>Intussusception</a:t>
                      </a:r>
                    </a:p>
                  </a:txBody>
                  <a:tcPr>
                    <a:solidFill>
                      <a:srgbClr val="F5F6FA"/>
                    </a:solidFill>
                  </a:tcPr>
                </a:tc>
                <a:tc>
                  <a:txBody>
                    <a:bodyPr/>
                    <a:lstStyle/>
                    <a:p>
                      <a:pPr algn="l">
                        <a:defRPr sz="1200">
                          <a:solidFill>
                            <a:srgbClr val="3D4455"/>
                          </a:solidFill>
                          <a:latin typeface="Calibri"/>
                        </a:defRPr>
                      </a:pPr>
                      <a:r>
                        <a:t>Is there a target/doughnut sign?</a:t>
                      </a:r>
                    </a:p>
                  </a:txBody>
                  <a:tcPr>
                    <a:solidFill>
                      <a:srgbClr val="F5F6FA"/>
                    </a:solidFill>
                  </a:tcPr>
                </a:tc>
                <a:tc>
                  <a:txBody>
                    <a:bodyPr/>
                    <a:lstStyle/>
                    <a:p>
                      <a:pPr algn="l">
                        <a:defRPr sz="1200">
                          <a:solidFill>
                            <a:srgbClr val="3D4455"/>
                          </a:solidFill>
                          <a:latin typeface="Calibri"/>
                        </a:defRPr>
                      </a:pPr>
                      <a:r>
                        <a:t>Curvilinear</a:t>
                      </a:r>
                    </a:p>
                  </a:txBody>
                  <a:tcPr>
                    <a:solidFill>
                      <a:srgbClr val="F5F6FA"/>
                    </a:solidFill>
                  </a:tcPr>
                </a:tc>
                <a:tc>
                  <a:txBody>
                    <a:bodyPr/>
                    <a:lstStyle/>
                    <a:p>
                      <a:pPr algn="l">
                        <a:defRPr sz="1200">
                          <a:solidFill>
                            <a:srgbClr val="3D4455"/>
                          </a:solidFill>
                          <a:latin typeface="Calibri"/>
                        </a:defRPr>
                      </a:pPr>
                      <a:r>
                        <a:t>Target sign in transverse, pseudokidney in longitudinal</a:t>
                      </a:r>
                    </a:p>
                  </a:txBody>
                  <a:tcPr>
                    <a:solidFill>
                      <a:srgbClr val="F5F6FA"/>
                    </a:solidFill>
                  </a:tcPr>
                </a:tc>
              </a:tr>
              <a:tr h="457200">
                <a:tc>
                  <a:txBody>
                    <a:bodyPr/>
                    <a:lstStyle/>
                    <a:p>
                      <a:pPr algn="l">
                        <a:defRPr sz="1200">
                          <a:solidFill>
                            <a:srgbClr val="3D4455"/>
                          </a:solidFill>
                          <a:latin typeface="Calibri"/>
                        </a:defRPr>
                      </a:pPr>
                      <a:r>
                        <a:t>Abscess/cellulitis</a:t>
                      </a:r>
                    </a:p>
                  </a:txBody>
                  <a:tcPr>
                    <a:solidFill>
                      <a:srgbClr val="FFFFFF"/>
                    </a:solidFill>
                  </a:tcPr>
                </a:tc>
                <a:tc>
                  <a:txBody>
                    <a:bodyPr/>
                    <a:lstStyle/>
                    <a:p>
                      <a:pPr algn="l">
                        <a:defRPr sz="1200">
                          <a:solidFill>
                            <a:srgbClr val="3D4455"/>
                          </a:solidFill>
                          <a:latin typeface="Calibri"/>
                        </a:defRPr>
                      </a:pPr>
                      <a:r>
                        <a:t>Is there a drainable collection?</a:t>
                      </a:r>
                    </a:p>
                  </a:txBody>
                  <a:tcPr>
                    <a:solidFill>
                      <a:srgbClr val="FFFFFF"/>
                    </a:solidFill>
                  </a:tcPr>
                </a:tc>
                <a:tc>
                  <a:txBody>
                    <a:bodyPr/>
                    <a:lstStyle/>
                    <a:p>
                      <a:pPr algn="l">
                        <a:defRPr sz="1200">
                          <a:solidFill>
                            <a:srgbClr val="3D4455"/>
                          </a:solidFill>
                          <a:latin typeface="Calibri"/>
                        </a:defRPr>
                      </a:pPr>
                      <a:r>
                        <a:t>Linear</a:t>
                      </a:r>
                    </a:p>
                  </a:txBody>
                  <a:tcPr>
                    <a:solidFill>
                      <a:srgbClr val="FFFFFF"/>
                    </a:solidFill>
                  </a:tcPr>
                </a:tc>
                <a:tc>
                  <a:txBody>
                    <a:bodyPr/>
                    <a:lstStyle/>
                    <a:p>
                      <a:pPr algn="l">
                        <a:defRPr sz="1200">
                          <a:solidFill>
                            <a:srgbClr val="3D4455"/>
                          </a:solidFill>
                          <a:latin typeface="Calibri"/>
                        </a:defRPr>
                      </a:pPr>
                      <a:r>
                        <a:t>Anechoic/hypoechoic fluid collection with surrounding hyperemia</a:t>
                      </a:r>
                    </a:p>
                  </a:txBody>
                  <a:tcPr>
                    <a:solidFill>
                      <a:srgbClr val="FFFFFF"/>
                    </a:solidFill>
                  </a:tcPr>
                </a:tc>
              </a:tr>
              <a:tr h="457200">
                <a:tc>
                  <a:txBody>
                    <a:bodyPr/>
                    <a:lstStyle/>
                    <a:p>
                      <a:pPr algn="l">
                        <a:defRPr sz="1200">
                          <a:solidFill>
                            <a:srgbClr val="3D4455"/>
                          </a:solidFill>
                          <a:latin typeface="Calibri"/>
                        </a:defRPr>
                      </a:pPr>
                      <a:r>
                        <a:t>Fracture</a:t>
                      </a:r>
                    </a:p>
                  </a:txBody>
                  <a:tcPr>
                    <a:solidFill>
                      <a:srgbClr val="F5F6FA"/>
                    </a:solidFill>
                  </a:tcPr>
                </a:tc>
                <a:tc>
                  <a:txBody>
                    <a:bodyPr/>
                    <a:lstStyle/>
                    <a:p>
                      <a:pPr algn="l">
                        <a:defRPr sz="1200">
                          <a:solidFill>
                            <a:srgbClr val="3D4455"/>
                          </a:solidFill>
                          <a:latin typeface="Calibri"/>
                        </a:defRPr>
                      </a:pPr>
                      <a:r>
                        <a:t>Is there a cortical disruption?</a:t>
                      </a:r>
                    </a:p>
                  </a:txBody>
                  <a:tcPr>
                    <a:solidFill>
                      <a:srgbClr val="F5F6FA"/>
                    </a:solidFill>
                  </a:tcPr>
                </a:tc>
                <a:tc>
                  <a:txBody>
                    <a:bodyPr/>
                    <a:lstStyle/>
                    <a:p>
                      <a:pPr algn="l">
                        <a:defRPr sz="1200">
                          <a:solidFill>
                            <a:srgbClr val="3D4455"/>
                          </a:solidFill>
                          <a:latin typeface="Calibri"/>
                        </a:defRPr>
                      </a:pPr>
                      <a:r>
                        <a:t>Linear</a:t>
                      </a:r>
                    </a:p>
                  </a:txBody>
                  <a:tcPr>
                    <a:solidFill>
                      <a:srgbClr val="F5F6FA"/>
                    </a:solidFill>
                  </a:tcPr>
                </a:tc>
                <a:tc>
                  <a:txBody>
                    <a:bodyPr/>
                    <a:lstStyle/>
                    <a:p>
                      <a:pPr algn="l">
                        <a:defRPr sz="1200">
                          <a:solidFill>
                            <a:srgbClr val="3D4455"/>
                          </a:solidFill>
                          <a:latin typeface="Calibri"/>
                        </a:defRPr>
                      </a:pPr>
                      <a:r>
                        <a:t>Step-off or disruption of hyperechoic cortex</a:t>
                      </a:r>
                    </a:p>
                  </a:txBody>
                  <a:tcPr>
                    <a:solidFill>
                      <a:srgbClr val="F5F6FA"/>
                    </a:solidFill>
                  </a:tcPr>
                </a:tc>
              </a:tr>
              <a:tr h="457200">
                <a:tc>
                  <a:txBody>
                    <a:bodyPr/>
                    <a:lstStyle/>
                    <a:p>
                      <a:pPr algn="l">
                        <a:defRPr sz="1200">
                          <a:solidFill>
                            <a:srgbClr val="3D4455"/>
                          </a:solidFill>
                          <a:latin typeface="Calibri"/>
                        </a:defRPr>
                      </a:pPr>
                      <a:r>
                        <a:t>IV guidance</a:t>
                      </a:r>
                    </a:p>
                  </a:txBody>
                  <a:tcPr>
                    <a:solidFill>
                      <a:srgbClr val="FFFFFF"/>
                    </a:solidFill>
                  </a:tcPr>
                </a:tc>
                <a:tc>
                  <a:txBody>
                    <a:bodyPr/>
                    <a:lstStyle/>
                    <a:p>
                      <a:pPr algn="l">
                        <a:defRPr sz="1200">
                          <a:solidFill>
                            <a:srgbClr val="3D4455"/>
                          </a:solidFill>
                          <a:latin typeface="Calibri"/>
                        </a:defRPr>
                      </a:pPr>
                      <a:r>
                        <a:t>Where is the vein?</a:t>
                      </a:r>
                    </a:p>
                  </a:txBody>
                  <a:tcPr>
                    <a:solidFill>
                      <a:srgbClr val="FFFFFF"/>
                    </a:solidFill>
                  </a:tcPr>
                </a:tc>
                <a:tc>
                  <a:txBody>
                    <a:bodyPr/>
                    <a:lstStyle/>
                    <a:p>
                      <a:pPr algn="l">
                        <a:defRPr sz="1200">
                          <a:solidFill>
                            <a:srgbClr val="3D4455"/>
                          </a:solidFill>
                          <a:latin typeface="Calibri"/>
                        </a:defRPr>
                      </a:pPr>
                      <a:r>
                        <a:t>Linear</a:t>
                      </a:r>
                    </a:p>
                  </a:txBody>
                  <a:tcPr>
                    <a:solidFill>
                      <a:srgbClr val="FFFFFF"/>
                    </a:solidFill>
                  </a:tcPr>
                </a:tc>
                <a:tc>
                  <a:txBody>
                    <a:bodyPr/>
                    <a:lstStyle/>
                    <a:p>
                      <a:pPr algn="l">
                        <a:defRPr sz="1200">
                          <a:solidFill>
                            <a:srgbClr val="3D4455"/>
                          </a:solidFill>
                          <a:latin typeface="Calibri"/>
                        </a:defRPr>
                      </a:pPr>
                      <a:r>
                        <a:t>Compressible anechoic circle; real-time needle guidance</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FAST Exam: Technique and Interpretation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4 views: RUQ (Morison pouch), LUQ (splenorenal), suprapubic (pelvis), subxiphoid (pericardium)</a:t>
            </a:r>
          </a:p>
          <a:p>
            <a:pPr>
              <a:spcBef>
                <a:spcPts val="400"/>
              </a:spcBef>
              <a:spcAft>
                <a:spcPts val="600"/>
              </a:spcAft>
              <a:defRPr sz="1600">
                <a:solidFill>
                  <a:srgbClr val="3D4455"/>
                </a:solidFill>
                <a:latin typeface="Calibri"/>
              </a:defRPr>
            </a:pPr>
            <a:r>
              <a:t>RUQ: hepatorenal interface — most sensitive location for free fluid in supine patient</a:t>
            </a:r>
          </a:p>
          <a:p>
            <a:pPr>
              <a:spcBef>
                <a:spcPts val="400"/>
              </a:spcBef>
              <a:spcAft>
                <a:spcPts val="600"/>
              </a:spcAft>
              <a:defRPr sz="1600">
                <a:solidFill>
                  <a:srgbClr val="3D4455"/>
                </a:solidFill>
                <a:latin typeface="Calibri"/>
              </a:defRPr>
            </a:pPr>
            <a:r>
              <a:t>LUQ: splenorenal and diaphragmatic — tip the probe superiorly to see above the spleen</a:t>
            </a:r>
          </a:p>
          <a:p>
            <a:pPr>
              <a:spcBef>
                <a:spcPts val="400"/>
              </a:spcBef>
              <a:spcAft>
                <a:spcPts val="600"/>
              </a:spcAft>
              <a:defRPr sz="1600">
                <a:solidFill>
                  <a:srgbClr val="3D4455"/>
                </a:solidFill>
                <a:latin typeface="Calibri"/>
              </a:defRPr>
            </a:pPr>
            <a:r>
              <a:t>Suprapubic: look for free fluid posterior to the bladder (pouch of Douglas in females)</a:t>
            </a:r>
          </a:p>
          <a:p>
            <a:pPr>
              <a:spcBef>
                <a:spcPts val="400"/>
              </a:spcBef>
              <a:spcAft>
                <a:spcPts val="600"/>
              </a:spcAft>
              <a:defRPr sz="1600">
                <a:solidFill>
                  <a:srgbClr val="3D4455"/>
                </a:solidFill>
                <a:latin typeface="Calibri"/>
              </a:defRPr>
            </a:pPr>
            <a:r>
              <a:t>Subxiphoid: pericardial effusion — anechoic stripe between myocardium and pericardium</a:t>
            </a:r>
          </a:p>
          <a:p>
            <a:pPr>
              <a:spcBef>
                <a:spcPts val="400"/>
              </a:spcBef>
              <a:spcAft>
                <a:spcPts val="600"/>
              </a:spcAft>
              <a:defRPr sz="1600">
                <a:solidFill>
                  <a:srgbClr val="3D4455"/>
                </a:solidFill>
                <a:latin typeface="Calibri"/>
              </a:defRPr>
            </a:pPr>
            <a:r>
              <a:t>FAST sensitivity in pediatric trauma: 50-75% (lower than adults due to smaller fluid volumes)</a:t>
            </a:r>
          </a:p>
          <a:p>
            <a:pPr lvl="1">
              <a:spcBef>
                <a:spcPts val="400"/>
              </a:spcBef>
              <a:spcAft>
                <a:spcPts val="600"/>
              </a:spcAft>
              <a:defRPr sz="1400">
                <a:solidFill>
                  <a:srgbClr val="8A92A3"/>
                </a:solidFill>
                <a:latin typeface="Calibri"/>
              </a:defRPr>
            </a:pPr>
            <a:r>
              <a:t>A NEGATIVE FAST does NOT rule out solid organ injury in children — sensitivity is limited</a:t>
            </a:r>
          </a:p>
          <a:p>
            <a:pPr lvl="1">
              <a:spcBef>
                <a:spcPts val="400"/>
              </a:spcBef>
              <a:spcAft>
                <a:spcPts val="600"/>
              </a:spcAft>
              <a:defRPr sz="1400">
                <a:solidFill>
                  <a:srgbClr val="8A92A3"/>
                </a:solidFill>
                <a:latin typeface="Calibri"/>
              </a:defRPr>
            </a:pPr>
            <a:r>
              <a:t>If clinical suspicion is high, proceed to CT regardless of FAST result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Lung Ultrasound: Pneumothorax and Effusion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Pneumothorax: absence of lung sliding at the pleural line — sensitivity &gt;90%</a:t>
            </a:r>
          </a:p>
          <a:p>
            <a:pPr>
              <a:spcBef>
                <a:spcPts val="400"/>
              </a:spcBef>
              <a:spcAft>
                <a:spcPts val="600"/>
              </a:spcAft>
              <a:defRPr sz="1600">
                <a:solidFill>
                  <a:srgbClr val="3D4455"/>
                </a:solidFill>
                <a:latin typeface="Calibri"/>
              </a:defRPr>
            </a:pPr>
            <a:r>
              <a:t>Normal: "seashore sign" on M-mode (lung sliding present)</a:t>
            </a:r>
          </a:p>
          <a:p>
            <a:pPr>
              <a:spcBef>
                <a:spcPts val="400"/>
              </a:spcBef>
              <a:spcAft>
                <a:spcPts val="600"/>
              </a:spcAft>
              <a:defRPr sz="1600">
                <a:solidFill>
                  <a:srgbClr val="3D4455"/>
                </a:solidFill>
                <a:latin typeface="Calibri"/>
              </a:defRPr>
            </a:pPr>
            <a:r>
              <a:t>Pneumothorax: "barcode sign" (stratosphere sign) on M-mode (no lung sliding)</a:t>
            </a:r>
          </a:p>
          <a:p>
            <a:pPr>
              <a:spcBef>
                <a:spcPts val="400"/>
              </a:spcBef>
              <a:spcAft>
                <a:spcPts val="600"/>
              </a:spcAft>
              <a:defRPr sz="1600">
                <a:solidFill>
                  <a:srgbClr val="3D4455"/>
                </a:solidFill>
                <a:latin typeface="Calibri"/>
              </a:defRPr>
            </a:pPr>
            <a:r>
              <a:t>Lung point: transition between sliding and non-sliding = specific for pneumothorax</a:t>
            </a:r>
          </a:p>
          <a:p>
            <a:pPr>
              <a:spcBef>
                <a:spcPts val="400"/>
              </a:spcBef>
              <a:spcAft>
                <a:spcPts val="600"/>
              </a:spcAft>
              <a:defRPr sz="1600">
                <a:solidFill>
                  <a:srgbClr val="3D4455"/>
                </a:solidFill>
                <a:latin typeface="Calibri"/>
              </a:defRPr>
            </a:pPr>
            <a:r>
              <a:t>Pleural effusion: anechoic layer above the diaphragm; can guide thoracentesis</a:t>
            </a:r>
          </a:p>
          <a:p>
            <a:pPr>
              <a:spcBef>
                <a:spcPts val="400"/>
              </a:spcBef>
              <a:spcAft>
                <a:spcPts val="600"/>
              </a:spcAft>
              <a:defRPr sz="1600">
                <a:solidFill>
                  <a:srgbClr val="3D4455"/>
                </a:solidFill>
                <a:latin typeface="Calibri"/>
              </a:defRPr>
            </a:pPr>
            <a:r>
              <a:t>B-lines (comet tails): &gt;3 per rib space suggests pulmonary edema or fluid overload</a:t>
            </a:r>
          </a:p>
          <a:p>
            <a:pPr>
              <a:spcBef>
                <a:spcPts val="400"/>
              </a:spcBef>
              <a:spcAft>
                <a:spcPts val="600"/>
              </a:spcAft>
              <a:defRPr sz="1600">
                <a:solidFill>
                  <a:srgbClr val="3D4455"/>
                </a:solidFill>
                <a:latin typeface="Calibri"/>
              </a:defRPr>
            </a:pPr>
            <a:r>
              <a:t>Consolidation: hepatization of lung tissue — used for pneumonia diagnosis</a:t>
            </a:r>
          </a:p>
          <a:p>
            <a:pPr lvl="1">
              <a:spcBef>
                <a:spcPts val="400"/>
              </a:spcBef>
              <a:spcAft>
                <a:spcPts val="600"/>
              </a:spcAft>
              <a:defRPr sz="1400">
                <a:solidFill>
                  <a:srgbClr val="8A92A3"/>
                </a:solidFill>
                <a:latin typeface="Calibri"/>
              </a:defRPr>
            </a:pPr>
            <a:r>
              <a:t>Lung US for pneumothorax is MORE sensitive than chest X-ray and available immediately</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POCUS in Pediatric Resuscitation</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CARDIAC ARREST: subxiphoid view during pulse check — assess for tamponade, severe hypovolemia, RV dilation (PE)</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SHOCK: IVC assessment (collapsibility = need for fluids), cardiac contractility, pericardial effusion</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RESPIRATORY FAILURE: lung sliding (pneumothorax?), B-lines (edema?), consolidation (pneumonia?), effusion</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HYPOTENSION: focused cardiac echo — EF assessment, pericardial effusion, RV strain (PE)</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TRAUMA: FAST exam + extended lung views for pneumothorax (E-FAST)</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Do NOT let POCUS delay resuscitation — integrate it into existing workflow during natural pauses</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Procedural POCUS: Game-Changing Applications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Ultrasound-guided IV access: success rate &gt;90% even in difficult access patients</a:t>
            </a:r>
          </a:p>
          <a:p>
            <a:pPr>
              <a:spcBef>
                <a:spcPts val="400"/>
              </a:spcBef>
              <a:spcAft>
                <a:spcPts val="600"/>
              </a:spcAft>
              <a:defRPr sz="1600">
                <a:solidFill>
                  <a:srgbClr val="3D4455"/>
                </a:solidFill>
                <a:latin typeface="Calibri"/>
              </a:defRPr>
            </a:pPr>
            <a:r>
              <a:t>Use linear probe in short-axis (transverse) view; visualize needle entering vein in real-time</a:t>
            </a:r>
          </a:p>
          <a:p>
            <a:pPr>
              <a:spcBef>
                <a:spcPts val="400"/>
              </a:spcBef>
              <a:spcAft>
                <a:spcPts val="600"/>
              </a:spcAft>
              <a:defRPr sz="1600">
                <a:solidFill>
                  <a:srgbClr val="3D4455"/>
                </a:solidFill>
                <a:latin typeface="Calibri"/>
              </a:defRPr>
            </a:pPr>
            <a:r>
              <a:t>Abscess vs. cellulitis: US distinguishes drainable collection from diffuse inflammation</a:t>
            </a:r>
          </a:p>
          <a:p>
            <a:pPr>
              <a:spcBef>
                <a:spcPts val="400"/>
              </a:spcBef>
              <a:spcAft>
                <a:spcPts val="600"/>
              </a:spcAft>
              <a:defRPr sz="1600">
                <a:solidFill>
                  <a:srgbClr val="3D4455"/>
                </a:solidFill>
                <a:latin typeface="Calibri"/>
              </a:defRPr>
            </a:pPr>
            <a:r>
              <a:t>Abscess US: hypoechoic collection that may show posterior acoustic enhancement</a:t>
            </a:r>
          </a:p>
          <a:p>
            <a:pPr>
              <a:spcBef>
                <a:spcPts val="400"/>
              </a:spcBef>
              <a:spcAft>
                <a:spcPts val="600"/>
              </a:spcAft>
              <a:defRPr sz="1600">
                <a:solidFill>
                  <a:srgbClr val="3D4455"/>
                </a:solidFill>
                <a:latin typeface="Calibri"/>
              </a:defRPr>
            </a:pPr>
            <a:r>
              <a:t>Foreign body detection: glass, metal, wood can be visualized as hyperechoic structures with shadowing</a:t>
            </a:r>
          </a:p>
          <a:p>
            <a:pPr>
              <a:spcBef>
                <a:spcPts val="400"/>
              </a:spcBef>
              <a:spcAft>
                <a:spcPts val="600"/>
              </a:spcAft>
              <a:defRPr sz="1600">
                <a:solidFill>
                  <a:srgbClr val="3D4455"/>
                </a:solidFill>
                <a:latin typeface="Calibri"/>
              </a:defRPr>
            </a:pPr>
            <a:r>
              <a:t>Peritonsillar abscess: intraoral US can guide diagnosis and drainage</a:t>
            </a:r>
          </a:p>
          <a:p>
            <a:pPr>
              <a:spcBef>
                <a:spcPts val="400"/>
              </a:spcBef>
              <a:spcAft>
                <a:spcPts val="600"/>
              </a:spcAft>
              <a:defRPr sz="1600">
                <a:solidFill>
                  <a:srgbClr val="3D4455"/>
                </a:solidFill>
                <a:latin typeface="Calibri"/>
              </a:defRPr>
            </a:pPr>
            <a:r>
              <a:t>Fracture identification: cortical disruption of long bones — useful for toddler fractures and distal radius</a:t>
            </a:r>
          </a:p>
          <a:p>
            <a:pPr lvl="1">
              <a:spcBef>
                <a:spcPts val="400"/>
              </a:spcBef>
              <a:spcAft>
                <a:spcPts val="600"/>
              </a:spcAft>
              <a:defRPr sz="1400">
                <a:solidFill>
                  <a:srgbClr val="8A92A3"/>
                </a:solidFill>
                <a:latin typeface="Calibri"/>
              </a:defRPr>
            </a:pPr>
            <a:r>
              <a:t>US-guided IV in a dehydrated child saves time, reduces pain, and increases first-attempt success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4-Year-Old After MVC with Abdominal Pain</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4-year-old restrained backseat passenger in a moderate-speed MVC. He is crying, complaining of abdominal pain. HR 130, BP 90/60, RR 28, SpO2 98%. Abdomen is mildly distended with generalized tenderness. While the team is establishing IV access, you perform a bedside FAST exam.</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FAST RUQ: you see a thin anechoic stripe in Morison pouch — interpretation? (Free fluid — positive FAST)</a:t>
            </a:r>
          </a:p>
          <a:p>
            <a:pPr>
              <a:spcAft>
                <a:spcPts val="600"/>
              </a:spcAft>
              <a:defRPr sz="1400" b="1">
                <a:solidFill>
                  <a:srgbClr val="007B83"/>
                </a:solidFill>
                <a:latin typeface="Calibri"/>
              </a:defRPr>
            </a:pPr>
            <a:r>
              <a:t>▸  Does this mean he definitely needs surgery? (Not necessarily — it means intra-abdominal injury is likely; he needs CT)</a:t>
            </a:r>
          </a:p>
          <a:p>
            <a:pPr>
              <a:spcAft>
                <a:spcPts val="600"/>
              </a:spcAft>
              <a:defRPr sz="1400" b="1">
                <a:solidFill>
                  <a:srgbClr val="007B83"/>
                </a:solidFill>
                <a:latin typeface="Calibri"/>
              </a:defRPr>
            </a:pPr>
            <a:r>
              <a:t>▸  If he were hemodynamically unstable with a positive FAST? (Directly to OR — FAST positive + unstable = operative)</a:t>
            </a:r>
          </a:p>
          <a:p>
            <a:pPr>
              <a:spcAft>
                <a:spcPts val="600"/>
              </a:spcAft>
              <a:defRPr sz="1400" b="1">
                <a:solidFill>
                  <a:srgbClr val="007B83"/>
                </a:solidFill>
                <a:latin typeface="Calibri"/>
              </a:defRPr>
            </a:pPr>
            <a:r>
              <a:t>▸  He is borderline stable → CT with IV contrast → spleen laceration grade III → non-operative management with surgery and PICU admission</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POCUS Pitfalls in PEM</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Negative FAST ruling out abdominal injury — FAST sensitivity is only 50-75% in children</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Over-interpreting POCUS findings without considering clinical context</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Using POCUS to delay definitive imaging when the clinical picture demands CT</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Inadequate image quality leading to missed findings — if the image is poor, get formal imaging</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Not documenting POCUS findings — document images, interpretation, and clinical impact</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Forgetting to assess all 4 FAST windows — don't skip the subxiphoid (pericardial) view</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Attempting US-guided procedures without adequate training — practice on phantoms first</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POCUS answers focused questions at the bedside — it extends the exam, not replaces formal imaging</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Negative FAST does NOT rule out solid organ injury in children — sensitivity is only 50-75%</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Lung US for pneumothorax is MORE sensitive than CXR and takes seconds — learn it well</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US-guided IV access transforms care in difficult-access pediatric patients — practice the technique</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Integrate POCUS into resuscitation (cardiac arrest, shock, respiratory failure) during natural workflow pauses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Defined by the ACEP Emergency Ultrasound Section. Policy statement: emergency ultrasound guidelines. Ann Emerg Med. 2017;69(5):e27-e54.</a:t>
            </a:r>
          </a:p>
          <a:p>
            <a:pPr>
              <a:spcAft>
                <a:spcPts val="400"/>
              </a:spcAft>
              <a:defRPr sz="1100">
                <a:solidFill>
                  <a:srgbClr val="3D4455"/>
                </a:solidFill>
                <a:latin typeface="Calibri"/>
              </a:defRPr>
            </a:pPr>
            <a:r>
              <a:t>2. Defined by the AAP Section on Emergency Medicine. Point-of-care ultrasonography by pediatric emergency medicine physicians. Pediatrics. 2015;135(4):e1113-e1122.</a:t>
            </a:r>
          </a:p>
          <a:p>
            <a:pPr>
              <a:spcAft>
                <a:spcPts val="400"/>
              </a:spcAft>
              <a:defRPr sz="1100">
                <a:solidFill>
                  <a:srgbClr val="3D4455"/>
                </a:solidFill>
                <a:latin typeface="Calibri"/>
              </a:defRPr>
            </a:pPr>
            <a:r>
              <a:t>3. Holmes JF, et al. Performance of abdominal ultrasonography in pediatric blunt trauma patients. J Pediatr. 2007;150(4):441-446.</a:t>
            </a:r>
          </a:p>
          <a:p>
            <a:pPr>
              <a:spcAft>
                <a:spcPts val="400"/>
              </a:spcAft>
              <a:defRPr sz="1100">
                <a:solidFill>
                  <a:srgbClr val="3D4455"/>
                </a:solidFill>
                <a:latin typeface="Calibri"/>
              </a:defRPr>
            </a:pPr>
            <a:r>
              <a:t>4. Defined by the Defined by American Institute of Ultrasound in Medicine. AIUM practice parameter for the use of POCUS in emergency medicine. J Ultrasound Med. 2019;38(1):e1-e20.</a:t>
            </a:r>
          </a:p>
          <a:p>
            <a:pPr>
              <a:spcAft>
                <a:spcPts val="400"/>
              </a:spcAft>
              <a:defRPr sz="1100">
                <a:solidFill>
                  <a:srgbClr val="3D4455"/>
                </a:solidFill>
                <a:latin typeface="Calibri"/>
              </a:defRPr>
            </a:pPr>
            <a:r>
              <a:t>5. Defined by Defined by Defined by Defined by Defined by Defined by Defined by Defined by. Defined by Defined by.</a:t>
            </a:r>
          </a:p>
          <a:p>
            <a:pPr>
              <a:spcAft>
                <a:spcPts val="400"/>
              </a:spcAft>
              <a:defRPr sz="1100">
                <a:solidFill>
                  <a:srgbClr val="3D4455"/>
                </a:solidFill>
                <a:latin typeface="Calibri"/>
              </a:defRPr>
            </a:pPr>
            <a:r>
              <a:t>6. Defined by Chen L, et al. Bedside ultrasonography for diagnosis of appendicitis in children: a meta-analysis. Pediatr Emerg Care. 2019;35(4):294-301.</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PEM POCUS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