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talk around the PEM dilemma: these are incredibly common complaints, and sending every child home with "it is benign" will be correct 95% of the time. But the 5% matters. The goal is to teach a systematic approach that identifies the dangerous cases without ordering unnecessary workups on every patient.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right column is your RED FLAG column. Any of these features should trigger a cardiac workup. The most important question: Did this happen during exercise? Exercise-associated syncope is cardiac until proven otherwise. The prodrome question is also critical: vasovagal has a clear prodrome; cardiac syncope is typically sudden and without warning.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"must-not-miss" EKG patterns. Long QT is the most common channelopathy and the most testable. QTc calculation: QT/√RR interval. Know the cutoffs and know the common QT-prolonging medications (macrolides, ondansetron, antipsychotics). WPW is identified by the delta wave — a slurred upstroke of the QRS. HCM is the #1 cause of sudden cardiac death in young athletes.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to pediatric chest pain is reassurance for the majority and focused evaluation for the minority. The key question: does this child have any red flags? If the pain is reproducible on palpation, is not exertional, has no associated syncope or palpitations, and the EKG is normal — this is benign. If any red flags are present, proceed to EKG, troponin, and echo.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child with syncope should get an EKG in the ED — this is the minimum screening test. If the EKG is normal and the history is classic vasovagal, no further workup is needed. If there are any red flags, the evaluation expands. Exercise-associated syncope is the most important red flag — these children should not return to sports until cleared by cardiology.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PEM physician is often the first and only physician to evaluate a child with syncope or chest pain. This is your opportunity to prevent sudden cardiac death by identifying at-risk children. The family history question is critical: first-degree relative with unexplained sudden death &lt;50, or known cardiomyopathy/channelopathy, significantly increases the child's risk.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is the prototype cardiac syncope case. Every feature screams cardiac: exertional, no prodrome, sudden collapse, seizure-like activity (which in this context is likely from transient cardiac arrest, not primary seizure). The QTc of 510ms confirms the diagnosis. These children are at high risk for sudden cardiac death and need immediate cardiology evaluation and exercise restriction.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dangerous pitfall: calling exercise-associated syncope "vasovagal" and sending the child back to sports. These children can die at their next practice. The second most common: not getting an EKG. The computer QTc can be wrong — always manually verify by measuring the QT interval and correcting with the Bazett formula (QT/√RR).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24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Syncope, Chest Pain, and Sudden Cardiac Red Flags</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Differentiating Benign from Life-Threatening Presentations in Pediatric Patients</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Differentiate vasovagal syncope from cardiac syncope using history and exam</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Identify red flags that mandate cardiac workup in children with syncope or chest pain</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Interpret key EKG findings: long QT, WPW, Brugada, HCM</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Understand the approach to the child with exercise-associated syncope or chest pain</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Risk-stratify chest pain in adolescents — when it is musculoskeletal and when it could be dangerous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Syncope &amp; Chest Pain</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Syncope and Chest Pain: The PEM Dilemma</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Syncope: very common in children (15-25% experience at least one episode by age 18)</a:t>
            </a:r>
          </a:p>
          <a:p>
            <a:pPr>
              <a:spcBef>
                <a:spcPts val="400"/>
              </a:spcBef>
              <a:spcAft>
                <a:spcPts val="600"/>
              </a:spcAft>
              <a:defRPr sz="1600">
                <a:solidFill>
                  <a:srgbClr val="3D4455"/>
                </a:solidFill>
                <a:latin typeface="Calibri"/>
              </a:defRPr>
            </a:pPr>
            <a:r>
              <a:t>Vast majority (&gt;95%) is vasovagal — benign, self-limited, no workup needed</a:t>
            </a:r>
          </a:p>
          <a:p>
            <a:pPr>
              <a:spcBef>
                <a:spcPts val="400"/>
              </a:spcBef>
              <a:spcAft>
                <a:spcPts val="600"/>
              </a:spcAft>
              <a:defRPr sz="1600">
                <a:solidFill>
                  <a:srgbClr val="3D4455"/>
                </a:solidFill>
                <a:latin typeface="Calibri"/>
              </a:defRPr>
            </a:pPr>
            <a:r>
              <a:t>BUT: cardiac syncope (1-2%) carries risk of sudden cardiac death</a:t>
            </a:r>
          </a:p>
          <a:p>
            <a:pPr>
              <a:spcBef>
                <a:spcPts val="400"/>
              </a:spcBef>
              <a:spcAft>
                <a:spcPts val="600"/>
              </a:spcAft>
              <a:defRPr sz="1600">
                <a:solidFill>
                  <a:srgbClr val="3D4455"/>
                </a:solidFill>
                <a:latin typeface="Calibri"/>
              </a:defRPr>
            </a:pPr>
            <a:r>
              <a:t>Chest pain: extremely common in children — almost always musculoskeletal or benign</a:t>
            </a:r>
          </a:p>
          <a:p>
            <a:pPr>
              <a:spcBef>
                <a:spcPts val="400"/>
              </a:spcBef>
              <a:spcAft>
                <a:spcPts val="600"/>
              </a:spcAft>
              <a:defRPr sz="1600">
                <a:solidFill>
                  <a:srgbClr val="3D4455"/>
                </a:solidFill>
                <a:latin typeface="Calibri"/>
              </a:defRPr>
            </a:pPr>
            <a:r>
              <a:t>BUT: cardiac chest pain (rare) can be life-threatening (myocarditis, PE, aortic dissection)</a:t>
            </a:r>
          </a:p>
          <a:p>
            <a:pPr lvl="1">
              <a:spcBef>
                <a:spcPts val="400"/>
              </a:spcBef>
              <a:spcAft>
                <a:spcPts val="600"/>
              </a:spcAft>
              <a:defRPr sz="1400">
                <a:solidFill>
                  <a:srgbClr val="8A92A3"/>
                </a:solidFill>
                <a:latin typeface="Calibri"/>
              </a:defRPr>
            </a:pPr>
            <a:r>
              <a:t>The challenge: identify the rare dangerous case among hundreds of benign presentations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Syncope &amp; Chest Pain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Syncope: Vasovagal vs. Cardiac</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VASOVAGAL (Benign)</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Prodrome: lightheadedness, warmth, vision changes, nausea</a:t>
            </a:r>
          </a:p>
          <a:p>
            <a:pPr>
              <a:spcAft>
                <a:spcPts val="500"/>
              </a:spcAft>
              <a:defRPr sz="1400">
                <a:solidFill>
                  <a:srgbClr val="3D4455"/>
                </a:solidFill>
                <a:latin typeface="Calibri"/>
              </a:defRPr>
            </a:pPr>
            <a:r>
              <a:t>Trigger: prolonged standing, heat, emotional stress, pain, blood draw</a:t>
            </a:r>
          </a:p>
          <a:p>
            <a:pPr>
              <a:spcAft>
                <a:spcPts val="500"/>
              </a:spcAft>
              <a:defRPr sz="1400">
                <a:solidFill>
                  <a:srgbClr val="3D4455"/>
                </a:solidFill>
                <a:latin typeface="Calibri"/>
              </a:defRPr>
            </a:pPr>
            <a:r>
              <a:t>Brief loss of consciousness (&lt;1 minute)</a:t>
            </a:r>
          </a:p>
          <a:p>
            <a:pPr>
              <a:spcAft>
                <a:spcPts val="500"/>
              </a:spcAft>
              <a:defRPr sz="1400">
                <a:solidFill>
                  <a:srgbClr val="3D4455"/>
                </a:solidFill>
                <a:latin typeface="Calibri"/>
              </a:defRPr>
            </a:pPr>
            <a:r>
              <a:t>Rapid, complete recovery (seconds to minutes)</a:t>
            </a:r>
          </a:p>
          <a:p>
            <a:pPr>
              <a:spcAft>
                <a:spcPts val="500"/>
              </a:spcAft>
              <a:defRPr sz="1400">
                <a:solidFill>
                  <a:srgbClr val="3D4455"/>
                </a:solidFill>
                <a:latin typeface="Calibri"/>
              </a:defRPr>
            </a:pPr>
            <a:r>
              <a:t>Normal cardiac exam and EKG</a:t>
            </a:r>
          </a:p>
          <a:p>
            <a:pPr>
              <a:spcAft>
                <a:spcPts val="500"/>
              </a:spcAft>
              <a:defRPr sz="1400">
                <a:solidFill>
                  <a:srgbClr val="3D4455"/>
                </a:solidFill>
                <a:latin typeface="Calibri"/>
              </a:defRPr>
            </a:pPr>
            <a:r>
              <a:t>Family history of fainting</a:t>
            </a:r>
          </a:p>
          <a:p>
            <a:pPr>
              <a:spcAft>
                <a:spcPts val="500"/>
              </a:spcAft>
              <a:defRPr sz="1400">
                <a:solidFill>
                  <a:srgbClr val="3D4455"/>
                </a:solidFill>
                <a:latin typeface="Calibri"/>
              </a:defRPr>
            </a:pPr>
            <a:r>
              <a:t>No exertional component</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CARDIAC (Dangerous)</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NO prodrome — sudden collapse without warning</a:t>
            </a:r>
          </a:p>
          <a:p>
            <a:pPr>
              <a:spcAft>
                <a:spcPts val="500"/>
              </a:spcAft>
              <a:defRPr sz="1400">
                <a:solidFill>
                  <a:srgbClr val="3D4455"/>
                </a:solidFill>
                <a:latin typeface="Calibri"/>
              </a:defRPr>
            </a:pPr>
            <a:r>
              <a:t>Occurs during exercise or exertion</a:t>
            </a:r>
          </a:p>
          <a:p>
            <a:pPr>
              <a:spcAft>
                <a:spcPts val="500"/>
              </a:spcAft>
              <a:defRPr sz="1400">
                <a:solidFill>
                  <a:srgbClr val="3D4455"/>
                </a:solidFill>
                <a:latin typeface="Calibri"/>
              </a:defRPr>
            </a:pPr>
            <a:r>
              <a:t>Associated with palpitations or chest pain</a:t>
            </a:r>
          </a:p>
          <a:p>
            <a:pPr>
              <a:spcAft>
                <a:spcPts val="500"/>
              </a:spcAft>
              <a:defRPr sz="1400">
                <a:solidFill>
                  <a:srgbClr val="3D4455"/>
                </a:solidFill>
                <a:latin typeface="Calibri"/>
              </a:defRPr>
            </a:pPr>
            <a:r>
              <a:t>Family history of sudden cardiac death &lt;50, or known cardiomyopathy/channelopathy</a:t>
            </a:r>
          </a:p>
          <a:p>
            <a:pPr>
              <a:spcAft>
                <a:spcPts val="500"/>
              </a:spcAft>
              <a:defRPr sz="1400">
                <a:solidFill>
                  <a:srgbClr val="3D4455"/>
                </a:solidFill>
                <a:latin typeface="Calibri"/>
              </a:defRPr>
            </a:pPr>
            <a:r>
              <a:t>Seizure-like activity (from cardiac arrest)</a:t>
            </a:r>
          </a:p>
          <a:p>
            <a:pPr>
              <a:spcAft>
                <a:spcPts val="500"/>
              </a:spcAft>
              <a:defRPr sz="1400">
                <a:solidFill>
                  <a:srgbClr val="3D4455"/>
                </a:solidFill>
                <a:latin typeface="Calibri"/>
              </a:defRPr>
            </a:pPr>
            <a:r>
              <a:t>Abnormal cardiac exam (murmur, gallop)</a:t>
            </a:r>
          </a:p>
          <a:p>
            <a:pPr>
              <a:spcAft>
                <a:spcPts val="500"/>
              </a:spcAft>
              <a:defRPr sz="1400">
                <a:solidFill>
                  <a:srgbClr val="3D4455"/>
                </a:solidFill>
                <a:latin typeface="Calibri"/>
              </a:defRPr>
            </a:pPr>
            <a:r>
              <a:t>Abnormal EKG (long QT, WPW, Brugada)</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Syncope &amp; Chest Pain</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EKG Patterns That Must Not Be Missed</a:t>
            </a:r>
          </a:p>
        </p:txBody>
      </p:sp>
      <p:graphicFrame>
        <p:nvGraphicFramePr>
          <p:cNvPr id="5" name="Table 4"/>
          <p:cNvGraphicFramePr>
            <a:graphicFrameLocks noGrp="1"/>
          </p:cNvGraphicFramePr>
          <p:nvPr/>
        </p:nvGraphicFramePr>
        <p:xfrm>
          <a:off x="822960" y="1280160"/>
          <a:ext cx="10515600" cy="27432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Diagnosis</a:t>
                      </a:r>
                    </a:p>
                  </a:txBody>
                  <a:tcPr>
                    <a:solidFill>
                      <a:srgbClr val="007B83"/>
                    </a:solidFill>
                  </a:tcPr>
                </a:tc>
                <a:tc>
                  <a:txBody>
                    <a:bodyPr/>
                    <a:lstStyle/>
                    <a:p>
                      <a:pPr algn="ctr">
                        <a:defRPr sz="1300" b="1">
                          <a:solidFill>
                            <a:srgbClr val="FFFFFF"/>
                          </a:solidFill>
                          <a:latin typeface="Calibri"/>
                        </a:defRPr>
                      </a:pPr>
                      <a:r>
                        <a:t>EKG Finding</a:t>
                      </a:r>
                    </a:p>
                  </a:txBody>
                  <a:tcPr>
                    <a:solidFill>
                      <a:srgbClr val="007B83"/>
                    </a:solidFill>
                  </a:tcPr>
                </a:tc>
                <a:tc>
                  <a:txBody>
                    <a:bodyPr/>
                    <a:lstStyle/>
                    <a:p>
                      <a:pPr algn="ctr">
                        <a:defRPr sz="1300" b="1">
                          <a:solidFill>
                            <a:srgbClr val="FFFFFF"/>
                          </a:solidFill>
                          <a:latin typeface="Calibri"/>
                        </a:defRPr>
                      </a:pPr>
                      <a:r>
                        <a:t>Clinical Significance</a:t>
                      </a:r>
                    </a:p>
                  </a:txBody>
                  <a:tcPr>
                    <a:solidFill>
                      <a:srgbClr val="007B83"/>
                    </a:solidFill>
                  </a:tcPr>
                </a:tc>
                <a:tc>
                  <a:txBody>
                    <a:bodyPr/>
                    <a:lstStyle/>
                    <a:p>
                      <a:pPr algn="ctr">
                        <a:defRPr sz="1300" b="1">
                          <a:solidFill>
                            <a:srgbClr val="FFFFFF"/>
                          </a:solidFill>
                          <a:latin typeface="Calibri"/>
                        </a:defRPr>
                      </a:pPr>
                      <a:r>
                        <a:t>Action</a:t>
                      </a:r>
                    </a:p>
                  </a:txBody>
                  <a:tcPr>
                    <a:solidFill>
                      <a:srgbClr val="007B83"/>
                    </a:solidFill>
                  </a:tcPr>
                </a:tc>
              </a:tr>
              <a:tr h="457200">
                <a:tc>
                  <a:txBody>
                    <a:bodyPr/>
                    <a:lstStyle/>
                    <a:p>
                      <a:pPr algn="l">
                        <a:defRPr sz="1200">
                          <a:solidFill>
                            <a:srgbClr val="3D4455"/>
                          </a:solidFill>
                          <a:latin typeface="Calibri"/>
                        </a:defRPr>
                      </a:pPr>
                      <a:r>
                        <a:t>Long QT Syndrome</a:t>
                      </a:r>
                    </a:p>
                  </a:txBody>
                  <a:tcPr>
                    <a:solidFill>
                      <a:srgbClr val="F5F6FA"/>
                    </a:solidFill>
                  </a:tcPr>
                </a:tc>
                <a:tc>
                  <a:txBody>
                    <a:bodyPr/>
                    <a:lstStyle/>
                    <a:p>
                      <a:pPr algn="l">
                        <a:defRPr sz="1200">
                          <a:solidFill>
                            <a:srgbClr val="3D4455"/>
                          </a:solidFill>
                          <a:latin typeface="Calibri"/>
                        </a:defRPr>
                      </a:pPr>
                      <a:r>
                        <a:t>QTc &gt;460ms (prepubertal) or &gt;470-480ms (adolescent)</a:t>
                      </a:r>
                    </a:p>
                  </a:txBody>
                  <a:tcPr>
                    <a:solidFill>
                      <a:srgbClr val="F5F6FA"/>
                    </a:solidFill>
                  </a:tcPr>
                </a:tc>
                <a:tc>
                  <a:txBody>
                    <a:bodyPr/>
                    <a:lstStyle/>
                    <a:p>
                      <a:pPr algn="l">
                        <a:defRPr sz="1200">
                          <a:solidFill>
                            <a:srgbClr val="3D4455"/>
                          </a:solidFill>
                          <a:latin typeface="Calibri"/>
                        </a:defRPr>
                      </a:pPr>
                      <a:r>
                        <a:t>Risk of Torsades de Pointes and SCD</a:t>
                      </a:r>
                    </a:p>
                  </a:txBody>
                  <a:tcPr>
                    <a:solidFill>
                      <a:srgbClr val="F5F6FA"/>
                    </a:solidFill>
                  </a:tcPr>
                </a:tc>
                <a:tc>
                  <a:txBody>
                    <a:bodyPr/>
                    <a:lstStyle/>
                    <a:p>
                      <a:pPr algn="l">
                        <a:defRPr sz="1200">
                          <a:solidFill>
                            <a:srgbClr val="3D4455"/>
                          </a:solidFill>
                          <a:latin typeface="Calibri"/>
                        </a:defRPr>
                      </a:pPr>
                      <a:r>
                        <a:t>Cardiology referral, beta-blocker, avoid QT-prolonging drugs</a:t>
                      </a:r>
                    </a:p>
                  </a:txBody>
                  <a:tcPr>
                    <a:solidFill>
                      <a:srgbClr val="F5F6FA"/>
                    </a:solidFill>
                  </a:tcPr>
                </a:tc>
              </a:tr>
              <a:tr h="457200">
                <a:tc>
                  <a:txBody>
                    <a:bodyPr/>
                    <a:lstStyle/>
                    <a:p>
                      <a:pPr algn="l">
                        <a:defRPr sz="1200">
                          <a:solidFill>
                            <a:srgbClr val="3D4455"/>
                          </a:solidFill>
                          <a:latin typeface="Calibri"/>
                        </a:defRPr>
                      </a:pPr>
                      <a:r>
                        <a:t>WPW (Wolff-Parkinson-White)</a:t>
                      </a:r>
                    </a:p>
                  </a:txBody>
                  <a:tcPr>
                    <a:solidFill>
                      <a:srgbClr val="FFFFFF"/>
                    </a:solidFill>
                  </a:tcPr>
                </a:tc>
                <a:tc>
                  <a:txBody>
                    <a:bodyPr/>
                    <a:lstStyle/>
                    <a:p>
                      <a:pPr algn="l">
                        <a:defRPr sz="1200">
                          <a:solidFill>
                            <a:srgbClr val="3D4455"/>
                          </a:solidFill>
                          <a:latin typeface="Calibri"/>
                        </a:defRPr>
                      </a:pPr>
                      <a:r>
                        <a:t>Short PR + delta wave + wide QRS</a:t>
                      </a:r>
                    </a:p>
                  </a:txBody>
                  <a:tcPr>
                    <a:solidFill>
                      <a:srgbClr val="FFFFFF"/>
                    </a:solidFill>
                  </a:tcPr>
                </a:tc>
                <a:tc>
                  <a:txBody>
                    <a:bodyPr/>
                    <a:lstStyle/>
                    <a:p>
                      <a:pPr algn="l">
                        <a:defRPr sz="1200">
                          <a:solidFill>
                            <a:srgbClr val="3D4455"/>
                          </a:solidFill>
                          <a:latin typeface="Calibri"/>
                        </a:defRPr>
                      </a:pPr>
                      <a:r>
                        <a:t>Risk of SVT, atrial fibrillation with rapid ventricular response</a:t>
                      </a:r>
                    </a:p>
                  </a:txBody>
                  <a:tcPr>
                    <a:solidFill>
                      <a:srgbClr val="FFFFFF"/>
                    </a:solidFill>
                  </a:tcPr>
                </a:tc>
                <a:tc>
                  <a:txBody>
                    <a:bodyPr/>
                    <a:lstStyle/>
                    <a:p>
                      <a:pPr algn="l">
                        <a:defRPr sz="1200">
                          <a:solidFill>
                            <a:srgbClr val="3D4455"/>
                          </a:solidFill>
                          <a:latin typeface="Calibri"/>
                        </a:defRPr>
                      </a:pPr>
                      <a:r>
                        <a:t>Cardiology referral, avoid AV nodal blockers in AF</a:t>
                      </a:r>
                    </a:p>
                  </a:txBody>
                  <a:tcPr>
                    <a:solidFill>
                      <a:srgbClr val="FFFFFF"/>
                    </a:solidFill>
                  </a:tcPr>
                </a:tc>
              </a:tr>
              <a:tr h="457200">
                <a:tc>
                  <a:txBody>
                    <a:bodyPr/>
                    <a:lstStyle/>
                    <a:p>
                      <a:pPr algn="l">
                        <a:defRPr sz="1200">
                          <a:solidFill>
                            <a:srgbClr val="3D4455"/>
                          </a:solidFill>
                          <a:latin typeface="Calibri"/>
                        </a:defRPr>
                      </a:pPr>
                      <a:r>
                        <a:t>Brugada Syndrome</a:t>
                      </a:r>
                    </a:p>
                  </a:txBody>
                  <a:tcPr>
                    <a:solidFill>
                      <a:srgbClr val="F5F6FA"/>
                    </a:solidFill>
                  </a:tcPr>
                </a:tc>
                <a:tc>
                  <a:txBody>
                    <a:bodyPr/>
                    <a:lstStyle/>
                    <a:p>
                      <a:pPr algn="l">
                        <a:defRPr sz="1200">
                          <a:solidFill>
                            <a:srgbClr val="3D4455"/>
                          </a:solidFill>
                          <a:latin typeface="Calibri"/>
                        </a:defRPr>
                      </a:pPr>
                      <a:r>
                        <a:t>ST elevation in V1-V3 (coved type)</a:t>
                      </a:r>
                    </a:p>
                  </a:txBody>
                  <a:tcPr>
                    <a:solidFill>
                      <a:srgbClr val="F5F6FA"/>
                    </a:solidFill>
                  </a:tcPr>
                </a:tc>
                <a:tc>
                  <a:txBody>
                    <a:bodyPr/>
                    <a:lstStyle/>
                    <a:p>
                      <a:pPr algn="l">
                        <a:defRPr sz="1200">
                          <a:solidFill>
                            <a:srgbClr val="3D4455"/>
                          </a:solidFill>
                          <a:latin typeface="Calibri"/>
                        </a:defRPr>
                      </a:pPr>
                      <a:r>
                        <a:t>Risk of VF and SCD, especially during fever</a:t>
                      </a:r>
                    </a:p>
                  </a:txBody>
                  <a:tcPr>
                    <a:solidFill>
                      <a:srgbClr val="F5F6FA"/>
                    </a:solidFill>
                  </a:tcPr>
                </a:tc>
                <a:tc>
                  <a:txBody>
                    <a:bodyPr/>
                    <a:lstStyle/>
                    <a:p>
                      <a:pPr algn="l">
                        <a:defRPr sz="1200">
                          <a:solidFill>
                            <a:srgbClr val="3D4455"/>
                          </a:solidFill>
                          <a:latin typeface="Calibri"/>
                        </a:defRPr>
                      </a:pPr>
                      <a:r>
                        <a:t>Cardiology, avoid certain drugs, ICD consideration</a:t>
                      </a:r>
                    </a:p>
                  </a:txBody>
                  <a:tcPr>
                    <a:solidFill>
                      <a:srgbClr val="F5F6FA"/>
                    </a:solidFill>
                  </a:tcPr>
                </a:tc>
              </a:tr>
              <a:tr h="457200">
                <a:tc>
                  <a:txBody>
                    <a:bodyPr/>
                    <a:lstStyle/>
                    <a:p>
                      <a:pPr algn="l">
                        <a:defRPr sz="1200">
                          <a:solidFill>
                            <a:srgbClr val="3D4455"/>
                          </a:solidFill>
                          <a:latin typeface="Calibri"/>
                        </a:defRPr>
                      </a:pPr>
                      <a:r>
                        <a:t>HCM (Hypertrophic Cardiomyopathy)</a:t>
                      </a:r>
                    </a:p>
                  </a:txBody>
                  <a:tcPr>
                    <a:solidFill>
                      <a:srgbClr val="FFFFFF"/>
                    </a:solidFill>
                  </a:tcPr>
                </a:tc>
                <a:tc>
                  <a:txBody>
                    <a:bodyPr/>
                    <a:lstStyle/>
                    <a:p>
                      <a:pPr algn="l">
                        <a:defRPr sz="1200">
                          <a:solidFill>
                            <a:srgbClr val="3D4455"/>
                          </a:solidFill>
                          <a:latin typeface="Calibri"/>
                        </a:defRPr>
                      </a:pPr>
                      <a:r>
                        <a:t>LVH with repolarization changes, deep Q waves in lateral leads</a:t>
                      </a:r>
                    </a:p>
                  </a:txBody>
                  <a:tcPr>
                    <a:solidFill>
                      <a:srgbClr val="FFFFFF"/>
                    </a:solidFill>
                  </a:tcPr>
                </a:tc>
                <a:tc>
                  <a:txBody>
                    <a:bodyPr/>
                    <a:lstStyle/>
                    <a:p>
                      <a:pPr algn="l">
                        <a:defRPr sz="1200">
                          <a:solidFill>
                            <a:srgbClr val="3D4455"/>
                          </a:solidFill>
                          <a:latin typeface="Calibri"/>
                        </a:defRPr>
                      </a:pPr>
                      <a:r>
                        <a:t>#1 cause of SCD in young athletes</a:t>
                      </a:r>
                    </a:p>
                  </a:txBody>
                  <a:tcPr>
                    <a:solidFill>
                      <a:srgbClr val="FFFFFF"/>
                    </a:solidFill>
                  </a:tcPr>
                </a:tc>
                <a:tc>
                  <a:txBody>
                    <a:bodyPr/>
                    <a:lstStyle/>
                    <a:p>
                      <a:pPr algn="l">
                        <a:defRPr sz="1200">
                          <a:solidFill>
                            <a:srgbClr val="3D4455"/>
                          </a:solidFill>
                          <a:latin typeface="Calibri"/>
                        </a:defRPr>
                      </a:pPr>
                      <a:r>
                        <a:t>Echo, cardiology, exercise restriction pending evaluation</a:t>
                      </a:r>
                    </a:p>
                  </a:txBody>
                  <a:tcPr>
                    <a:solidFill>
                      <a:srgbClr val="FFFFFF"/>
                    </a:solidFill>
                  </a:tcPr>
                </a:tc>
              </a:tr>
              <a:tr h="457200">
                <a:tc>
                  <a:txBody>
                    <a:bodyPr/>
                    <a:lstStyle/>
                    <a:p>
                      <a:pPr algn="l">
                        <a:defRPr sz="1200">
                          <a:solidFill>
                            <a:srgbClr val="3D4455"/>
                          </a:solidFill>
                          <a:latin typeface="Calibri"/>
                        </a:defRPr>
                      </a:pPr>
                      <a:r>
                        <a:t>ARVC</a:t>
                      </a:r>
                    </a:p>
                  </a:txBody>
                  <a:tcPr>
                    <a:solidFill>
                      <a:srgbClr val="F5F6FA"/>
                    </a:solidFill>
                  </a:tcPr>
                </a:tc>
                <a:tc>
                  <a:txBody>
                    <a:bodyPr/>
                    <a:lstStyle/>
                    <a:p>
                      <a:pPr algn="l">
                        <a:defRPr sz="1200">
                          <a:solidFill>
                            <a:srgbClr val="3D4455"/>
                          </a:solidFill>
                          <a:latin typeface="Calibri"/>
                        </a:defRPr>
                      </a:pPr>
                      <a:r>
                        <a:t>T-wave inversions V1-V3, epsilon waves</a:t>
                      </a:r>
                    </a:p>
                  </a:txBody>
                  <a:tcPr>
                    <a:solidFill>
                      <a:srgbClr val="F5F6FA"/>
                    </a:solidFill>
                  </a:tcPr>
                </a:tc>
                <a:tc>
                  <a:txBody>
                    <a:bodyPr/>
                    <a:lstStyle/>
                    <a:p>
                      <a:pPr algn="l">
                        <a:defRPr sz="1200">
                          <a:solidFill>
                            <a:srgbClr val="3D4455"/>
                          </a:solidFill>
                          <a:latin typeface="Calibri"/>
                        </a:defRPr>
                      </a:pPr>
                      <a:r>
                        <a:t>Risk of VT and SCD during exercise</a:t>
                      </a:r>
                    </a:p>
                  </a:txBody>
                  <a:tcPr>
                    <a:solidFill>
                      <a:srgbClr val="F5F6FA"/>
                    </a:solidFill>
                  </a:tcPr>
                </a:tc>
                <a:tc>
                  <a:txBody>
                    <a:bodyPr/>
                    <a:lstStyle/>
                    <a:p>
                      <a:pPr algn="l">
                        <a:defRPr sz="1200">
                          <a:solidFill>
                            <a:srgbClr val="3D4455"/>
                          </a:solidFill>
                          <a:latin typeface="Calibri"/>
                        </a:defRPr>
                      </a:pPr>
                      <a:r>
                        <a:t>Cardiology, echo/MRI, exercise restriction</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Syncope &amp; Chest Pain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Chest Pain in Children: Causes and Approach</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Most common causes (&gt;95%): musculoskeletal (costochondritis), anxiety, GI (GERD)</a:t>
            </a:r>
          </a:p>
          <a:p>
            <a:pPr>
              <a:spcBef>
                <a:spcPts val="400"/>
              </a:spcBef>
              <a:spcAft>
                <a:spcPts val="600"/>
              </a:spcAft>
              <a:defRPr sz="1600">
                <a:solidFill>
                  <a:srgbClr val="3D4455"/>
                </a:solidFill>
                <a:latin typeface="Calibri"/>
              </a:defRPr>
            </a:pPr>
            <a:r>
              <a:t>Costochondritis: reproducible tenderness at costochondral junctions; diagnosed clinically</a:t>
            </a:r>
          </a:p>
          <a:p>
            <a:pPr>
              <a:spcBef>
                <a:spcPts val="400"/>
              </a:spcBef>
              <a:spcAft>
                <a:spcPts val="600"/>
              </a:spcAft>
              <a:defRPr sz="1600">
                <a:solidFill>
                  <a:srgbClr val="3D4455"/>
                </a:solidFill>
                <a:latin typeface="Calibri"/>
              </a:defRPr>
            </a:pPr>
            <a:r>
              <a:t>Precordial catch syndrome: sharp, brief pain with deep breath; benign, self-limited</a:t>
            </a:r>
          </a:p>
          <a:p>
            <a:pPr>
              <a:spcBef>
                <a:spcPts val="400"/>
              </a:spcBef>
              <a:spcAft>
                <a:spcPts val="600"/>
              </a:spcAft>
              <a:defRPr sz="1600">
                <a:solidFill>
                  <a:srgbClr val="3D4455"/>
                </a:solidFill>
                <a:latin typeface="Calibri"/>
              </a:defRPr>
            </a:pPr>
            <a:r>
              <a:t>Cardiac causes (rare but important): myocarditis, pericarditis, PE, aortic dissection, anomalous coronary</a:t>
            </a:r>
          </a:p>
          <a:p>
            <a:pPr>
              <a:spcBef>
                <a:spcPts val="400"/>
              </a:spcBef>
              <a:spcAft>
                <a:spcPts val="600"/>
              </a:spcAft>
              <a:defRPr sz="1600">
                <a:solidFill>
                  <a:srgbClr val="3D4455"/>
                </a:solidFill>
                <a:latin typeface="Calibri"/>
              </a:defRPr>
            </a:pPr>
            <a:r>
              <a:t>Pulmonary causes: pneumothorax, PE (especially in adolescents with risk factors)</a:t>
            </a:r>
          </a:p>
          <a:p>
            <a:pPr>
              <a:spcBef>
                <a:spcPts val="400"/>
              </a:spcBef>
              <a:spcAft>
                <a:spcPts val="600"/>
              </a:spcAft>
              <a:defRPr sz="1600">
                <a:solidFill>
                  <a:srgbClr val="3D4455"/>
                </a:solidFill>
                <a:latin typeface="Calibri"/>
              </a:defRPr>
            </a:pPr>
            <a:r>
              <a:t>Red flags requiring further workup: exertional, associated with syncope/palpitations, history of Kawasaki, connective tissue disorder, family history of SCD</a:t>
            </a:r>
          </a:p>
          <a:p>
            <a:pPr lvl="1">
              <a:spcBef>
                <a:spcPts val="400"/>
              </a:spcBef>
              <a:spcAft>
                <a:spcPts val="600"/>
              </a:spcAft>
              <a:defRPr sz="1400">
                <a:solidFill>
                  <a:srgbClr val="8A92A3"/>
                </a:solidFill>
                <a:latin typeface="Calibri"/>
              </a:defRPr>
            </a:pPr>
            <a:r>
              <a:t>If the chest pain is reproducible on palpation, it is almost certainly musculoskeletal</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Syncope &amp; Chest Pain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Syncope Workup Decision Algorithm</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History and exam: determine if vasovagal features or cardiac red flags present</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VASOVAGAL features ONLY: EKG (screening) → if normal → reassurance, hydration, education → discharge</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ANY cardiac red flag: 12-lead EKG + orthostatic vitals + echocardiogram + cardiology referral</a:t>
            </a:r>
          </a:p>
        </p:txBody>
      </p:sp>
      <p:sp>
        <p:nvSpPr>
          <p:cNvPr id="8" name="Rounded Rectangle 7"/>
          <p:cNvSpPr/>
          <p:nvPr/>
        </p:nvSpPr>
        <p:spPr>
          <a:xfrm>
            <a:off x="630936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Exercise-associated syncope: URGENT cardiology evaluation — restrict activity until cleared</a:t>
            </a:r>
          </a:p>
        </p:txBody>
      </p:sp>
      <p:sp>
        <p:nvSpPr>
          <p:cNvPr id="9" name="Rounded Rectangle 8"/>
          <p:cNvSpPr/>
          <p:nvPr/>
        </p:nvSpPr>
        <p:spPr>
          <a:xfrm>
            <a:off x="630936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EKG abnormality found: cardiology consultation before discharge</a:t>
            </a:r>
          </a:p>
        </p:txBody>
      </p:sp>
      <p:sp>
        <p:nvSpPr>
          <p:cNvPr id="10" name="Rounded Rectangle 9"/>
          <p:cNvSpPr/>
          <p:nvPr/>
        </p:nvSpPr>
        <p:spPr>
          <a:xfrm>
            <a:off x="630936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Recurrent syncope despite vasovagal features: consider Holter monitor, tilt table test, cardiology referral</a:t>
            </a:r>
          </a:p>
        </p:txBody>
      </p:sp>
      <p:sp>
        <p:nvSpPr>
          <p:cNvPr id="11" name="Rectangle 10"/>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Syncope &amp; Chest Pain</a:t>
            </a:r>
          </a:p>
        </p:txBody>
      </p:sp>
      <p:sp>
        <p:nvSpPr>
          <p:cNvPr id="13" name="TextBox 12"/>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Sudden Cardiac Death Prevention: What PEM Fellows Must Know</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SCD in children/young adults: 1-3 per 100,000 per year — rare but devastating</a:t>
            </a:r>
          </a:p>
          <a:p>
            <a:pPr>
              <a:spcBef>
                <a:spcPts val="400"/>
              </a:spcBef>
              <a:spcAft>
                <a:spcPts val="600"/>
              </a:spcAft>
              <a:defRPr sz="1600">
                <a:solidFill>
                  <a:srgbClr val="3D4455"/>
                </a:solidFill>
                <a:latin typeface="Calibri"/>
              </a:defRPr>
            </a:pPr>
            <a:r>
              <a:t>Most common causes: HCM (#1 in athletes), long QT, anomalous coronary arteries, myocarditis, commotio cordis</a:t>
            </a:r>
          </a:p>
          <a:p>
            <a:pPr>
              <a:spcBef>
                <a:spcPts val="400"/>
              </a:spcBef>
              <a:spcAft>
                <a:spcPts val="600"/>
              </a:spcAft>
              <a:defRPr sz="1600">
                <a:solidFill>
                  <a:srgbClr val="3D4455"/>
                </a:solidFill>
                <a:latin typeface="Calibri"/>
              </a:defRPr>
            </a:pPr>
            <a:r>
              <a:t>Commotio cordis: blunt chest impact during vulnerable repolarization period → VF</a:t>
            </a:r>
          </a:p>
          <a:p>
            <a:pPr lvl="1">
              <a:spcBef>
                <a:spcPts val="400"/>
              </a:spcBef>
              <a:spcAft>
                <a:spcPts val="600"/>
              </a:spcAft>
              <a:defRPr sz="1400">
                <a:solidFill>
                  <a:srgbClr val="8A92A3"/>
                </a:solidFill>
                <a:latin typeface="Calibri"/>
              </a:defRPr>
            </a:pPr>
            <a:r>
              <a:t>Typically: baseball, hockey, lacrosse → ball/puck strikes chest → sudden collapse → need immediate CPR + AED</a:t>
            </a:r>
          </a:p>
          <a:p>
            <a:pPr>
              <a:spcBef>
                <a:spcPts val="400"/>
              </a:spcBef>
              <a:spcAft>
                <a:spcPts val="600"/>
              </a:spcAft>
              <a:defRPr sz="1600">
                <a:solidFill>
                  <a:srgbClr val="3D4455"/>
                </a:solidFill>
                <a:latin typeface="Calibri"/>
              </a:defRPr>
            </a:pPr>
            <a:r>
              <a:t>PEM role: recognize the at-risk child BEFORE the event:</a:t>
            </a:r>
          </a:p>
          <a:p>
            <a:pPr lvl="1">
              <a:spcBef>
                <a:spcPts val="400"/>
              </a:spcBef>
              <a:spcAft>
                <a:spcPts val="600"/>
              </a:spcAft>
              <a:defRPr sz="1400">
                <a:solidFill>
                  <a:srgbClr val="8A92A3"/>
                </a:solidFill>
                <a:latin typeface="Calibri"/>
              </a:defRPr>
            </a:pPr>
            <a:r>
              <a:t>Screen syncope and chest pain for red flags</a:t>
            </a:r>
          </a:p>
          <a:p>
            <a:pPr lvl="1">
              <a:spcBef>
                <a:spcPts val="400"/>
              </a:spcBef>
              <a:spcAft>
                <a:spcPts val="600"/>
              </a:spcAft>
              <a:defRPr sz="1400">
                <a:solidFill>
                  <a:srgbClr val="8A92A3"/>
                </a:solidFill>
                <a:latin typeface="Calibri"/>
              </a:defRPr>
            </a:pPr>
            <a:r>
              <a:t>Check EKG when indicated</a:t>
            </a:r>
          </a:p>
          <a:p>
            <a:pPr lvl="1">
              <a:spcBef>
                <a:spcPts val="400"/>
              </a:spcBef>
              <a:spcAft>
                <a:spcPts val="600"/>
              </a:spcAft>
              <a:defRPr sz="1400">
                <a:solidFill>
                  <a:srgbClr val="8A92A3"/>
                </a:solidFill>
                <a:latin typeface="Calibri"/>
              </a:defRPr>
            </a:pPr>
            <a:r>
              <a:t>Ask about family history of SCD in every syncope and chest pain workup</a:t>
            </a:r>
          </a:p>
          <a:p>
            <a:pPr lvl="1">
              <a:spcBef>
                <a:spcPts val="400"/>
              </a:spcBef>
              <a:spcAft>
                <a:spcPts val="600"/>
              </a:spcAft>
              <a:defRPr sz="1400">
                <a:solidFill>
                  <a:srgbClr val="8A92A3"/>
                </a:solidFill>
                <a:latin typeface="Calibri"/>
              </a:defRPr>
            </a:pPr>
            <a:r>
              <a:t>Refer to cardiology when appropriate</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Syncope &amp; Chest Pain</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14-Year-Old Who Collapsed During Basketball Practice</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14-year-old boy collapsed during basketball practice. He was running a drill and suddenly fell to the ground. Teammates report no prodrome — he was running and then he was on the ground. He was unresponsive for ~30 seconds. Coach reports possible "shaking" during the episode. He is now alert, oriented, and feels normal. Vital signs are normal. Cardiac exam is normal.</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Is this vasovagal? (NO — exercise-associated, no prodrome, sudden collapse = cardiac until proven otherwise)</a:t>
            </a:r>
          </a:p>
          <a:p>
            <a:pPr>
              <a:spcAft>
                <a:spcPts val="600"/>
              </a:spcAft>
              <a:defRPr sz="1400" b="1">
                <a:solidFill>
                  <a:srgbClr val="007B83"/>
                </a:solidFill>
                <a:latin typeface="Calibri"/>
              </a:defRPr>
            </a:pPr>
            <a:r>
              <a:t>▸  Immediate workup? (12-lead EKG, troponin, BMP, consider bedside echo)</a:t>
            </a:r>
          </a:p>
          <a:p>
            <a:pPr>
              <a:spcAft>
                <a:spcPts val="600"/>
              </a:spcAft>
              <a:defRPr sz="1400" b="1">
                <a:solidFill>
                  <a:srgbClr val="007B83"/>
                </a:solidFill>
                <a:latin typeface="Calibri"/>
              </a:defRPr>
            </a:pPr>
            <a:r>
              <a:t>▸  If EKG shows QTc of 510ms — diagnosis? (Long QT syndrome — risk of Torsades de Pointes)</a:t>
            </a:r>
          </a:p>
          <a:p>
            <a:pPr>
              <a:spcAft>
                <a:spcPts val="600"/>
              </a:spcAft>
              <a:defRPr sz="1400" b="1">
                <a:solidFill>
                  <a:srgbClr val="007B83"/>
                </a:solidFill>
                <a:latin typeface="Calibri"/>
              </a:defRPr>
            </a:pPr>
            <a:r>
              <a:t>▸  Next steps? (Cardiology consult urgently, restrict from ALL exercise, admit for monitoring)</a:t>
            </a:r>
          </a:p>
          <a:p>
            <a:pPr>
              <a:spcAft>
                <a:spcPts val="600"/>
              </a:spcAft>
              <a:defRPr sz="1400" b="1">
                <a:solidFill>
                  <a:srgbClr val="007B83"/>
                </a:solidFill>
                <a:latin typeface="Calibri"/>
              </a:defRPr>
            </a:pPr>
            <a:r>
              <a:t>▸  The "shaking" was likely hypoxic convulsive activity from transient VT/VF, not a true seizure</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Syncope &amp; Chest Pain</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Syncope and Chest Pain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Diagnosing exercise-associated syncope as vasovagal — exercise syncope is CARDIAC until proven otherwise</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Not getting an EKG in any child with syncope — EKG is a low-cost, high-value screening test</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Missing long QT on EKG — manually measure the QTc; do not rely on computer interpretation alone</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Attributing seizure-like activity during syncope to epilepsy — brief convulsive movements from cardiac syncope are common</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Reassuring chest pain without asking about exertional triggers, family history, and palpitations</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Not asking about family history of sudden cardiac death — this is the most commonly forgotten question</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Discharging a child with exercise-associated syncope without restricting activity and ensuring cardiology follow-up</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Syncope &amp; Chest Pain</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Exercise-associated syncope is CARDIAC until proven otherwise — restrict activity and get cardiology evaluation</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Every child with syncope should get an EKG — it is the minimum screening test</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Long QT, WPW, Brugada, and HCM are the "must-not-miss" EKG diagnoses in the PED</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Chest pain that is reproducible on palpation is almost certainly musculoskeletal — reassure</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Always ask about family history of sudden cardiac death &lt;50 in any syncope or chest pain workup</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Syncope &amp; Chest Pain</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Hurst D, et al. Syncope in the pediatric emergency department — can we predict cardiac disease based on history alone? J Emerg Med. 2015;49(1):1-7.</a:t>
            </a:r>
          </a:p>
          <a:p>
            <a:pPr>
              <a:spcAft>
                <a:spcPts val="400"/>
              </a:spcAft>
              <a:defRPr sz="1100">
                <a:solidFill>
                  <a:srgbClr val="3D4455"/>
                </a:solidFill>
                <a:latin typeface="Calibri"/>
              </a:defRPr>
            </a:pPr>
            <a:r>
              <a:t>2. Saarel EV, et al. Electrocardiogram screening of children presenting with syncope. J Pediatr. 2021;228:178-183.</a:t>
            </a:r>
          </a:p>
          <a:p>
            <a:pPr>
              <a:spcAft>
                <a:spcPts val="400"/>
              </a:spcAft>
              <a:defRPr sz="1100">
                <a:solidFill>
                  <a:srgbClr val="3D4455"/>
                </a:solidFill>
                <a:latin typeface="Calibri"/>
              </a:defRPr>
            </a:pPr>
            <a:r>
              <a:t>3. Ackerman MJ, et al. HRS/EHRA expert consensus statement on the state of genetic testing for the channelopathies and cardiomyopathies. Heart Rhythm. 2011;8(8):1308-1339.</a:t>
            </a:r>
          </a:p>
          <a:p>
            <a:pPr>
              <a:spcAft>
                <a:spcPts val="400"/>
              </a:spcAft>
              <a:defRPr sz="1100">
                <a:solidFill>
                  <a:srgbClr val="3D4455"/>
                </a:solidFill>
                <a:latin typeface="Calibri"/>
              </a:defRPr>
            </a:pPr>
            <a:r>
              <a:t>4. Maron BJ, et al. Sudden deaths in young competitive athletes: analysis of 1866 deaths in the United States. Circulation. 2009;119(8):1085-1092.</a:t>
            </a:r>
          </a:p>
          <a:p>
            <a:pPr>
              <a:spcAft>
                <a:spcPts val="400"/>
              </a:spcAft>
              <a:defRPr sz="1100">
                <a:solidFill>
                  <a:srgbClr val="3D4455"/>
                </a:solidFill>
                <a:latin typeface="Calibri"/>
              </a:defRPr>
            </a:pPr>
            <a:r>
              <a:t>5. Friedman KG, et al. Evaluation of the child and adolescent with chest pain. Pediatrics in Review. 2020;41(6):284-297.</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Syncope &amp; Chest Pain</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