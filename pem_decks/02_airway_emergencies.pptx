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anatomic differences drive everything about pediatric airway management. The large occiput means neutral/"sniffing" position requires a shoulder roll in infants. The anterior, high larynx is why straight blades work better in young children — you lift the epiglottis directly. The small FRC means you have seconds, not minutes, of apnea tolerance.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Cuffed ETT formula: (age/4) + 3.5 for cuffed tubes. Depth at lip: (age/2) + 12 for children &gt;1 year, or ETT size × 3. Always have one size up and one size down ready. Cuffed tubes are now preferred even in young children per current evidence — just keep cuff pressure &lt;20-25 cmH2O.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Impending airway failure is a clinical diagnosis, not a lab value. The key red flag is a child whose work of breathing is increasing while their air movement is decreasing — they are tiring out. A sudden change from agitated to quiet in a child with respiratory distress is ominous. Do not wait for the SpO2 to drop to intervene.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7 Ps provide a systematic checklist. Preoxygenation is critical — 3 minutes of tidal breathing on NRB gives you an oxygen reservoir for apnea. Apneic oxygenation via nasal cannula during laryngoscopy is now standard practice. Atropine is recommended for infants to prevent vagal bradycardia during intubation.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Ketamine is the go-to induction agent in PEM — it maintains BP, provides bronchodilation, and has a wide safety margin. The old concern about ICP elevation has been debunked. Rocuronium at 1.2 mg/kg provides intubating conditions equivalent to succinylcholine with the benefit of sugammadex reversibility.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message: limit to 3 laryngoscopy attempts before moving to plan B. Each attempt causes edema and bleeding, making subsequent attempts harder. The LMA is your best rescue device. Needle cricothyrotomy in young children uses a 14-gauge angiocatheter through the cricothyroid membrane, attached to a 3.0 ETT adapter for BVM ventilation. Surgical cricothyrotomy is only for children over 10-12 years.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laryngoscopy has transformed pediatric airway management. First-pass success rates are higher with VL in most studies. However, fellows must still master direct laryngoscopy because VL may not always be available. The hyperangulated blade gives a spectacular view but requires a pre-shaped stylet to deliver the tube around the angle.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FBAO is a true airway emergency where seconds matter. The key distinction is mild vs severe obstruction. If the child is coughing effectively, do not intervene — you may convert partial to complete obstruction. For complete obstruction, follow age-based BLS guidelines. In the ED, if basic maneuvers fail, use direct laryngoscopy to visualize and remove the foreign body with Magill forceps.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Post-intubation care is where many complications occur. Continuous EtCO2 is mandatory — it is the earliest indicator of tube dislodgement. The most common complication is right mainstem intubation, especially in small children where the margin of error is millimeters. Always secure the tube well and document the depth at the lip.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teaches that croup can progress to respiratory failure. The stridor at rest with desaturation indicates severe airway obstruction. If standard croup management fails, consider bacterial tracheitis, foreign body, or congenital airway lesion. If intubation is needed, use a tube 0.5-1.0 sizes smaller than expected due to subglottic edema.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errors that harm patients. The paralytic dosing error is extremely common — fellows often use adult dosing (0.6 mg/kg rocuronium) which is insufficient for RSI conditions. The ETT depth error is preventable with the formula and a CXR. EtCO2 is mandatory — it is the earliest warning of tube dislodgement.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02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Pediatric Airway Emergencies</a:t>
            </a:r>
            <a:br/>
            <a:r>
              <a:t>and the Difficult Airway</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Anatomy, Assessment, RSI, Rescue Strategies, and Post-Intubation Management</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Describe the key anatomic differences of the pediatric airway</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Select appropriate equipment by age using standardized sizing</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Recognize impending airway failure and indications for intervention</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Execute a pediatric RSI sequence with correct drug dosing</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Implement a structured difficult airway algorithm for children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Airway Anatomy — Why Children Are Different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Proportionally large occiput → sniffing position with shoulder roll in infants</a:t>
            </a:r>
          </a:p>
          <a:p>
            <a:pPr>
              <a:spcBef>
                <a:spcPts val="400"/>
              </a:spcBef>
              <a:spcAft>
                <a:spcPts val="600"/>
              </a:spcAft>
              <a:defRPr sz="1600">
                <a:solidFill>
                  <a:srgbClr val="3D4455"/>
                </a:solidFill>
                <a:latin typeface="Calibri"/>
              </a:defRPr>
            </a:pPr>
            <a:r>
              <a:t>Large tongue relative to oral cavity → easy obstruction, difficult visualization</a:t>
            </a:r>
          </a:p>
          <a:p>
            <a:pPr>
              <a:spcBef>
                <a:spcPts val="400"/>
              </a:spcBef>
              <a:spcAft>
                <a:spcPts val="600"/>
              </a:spcAft>
              <a:defRPr sz="1600">
                <a:solidFill>
                  <a:srgbClr val="3D4455"/>
                </a:solidFill>
                <a:latin typeface="Calibri"/>
              </a:defRPr>
            </a:pPr>
            <a:r>
              <a:t>Omega-shaped, floppy epiglottis → use Miller (straight) blade in infants</a:t>
            </a:r>
          </a:p>
          <a:p>
            <a:pPr>
              <a:spcBef>
                <a:spcPts val="400"/>
              </a:spcBef>
              <a:spcAft>
                <a:spcPts val="600"/>
              </a:spcAft>
              <a:defRPr sz="1600">
                <a:solidFill>
                  <a:srgbClr val="3D4455"/>
                </a:solidFill>
                <a:latin typeface="Calibri"/>
              </a:defRPr>
            </a:pPr>
            <a:r>
              <a:t>Larynx is higher (C3-C4 in infant vs C5-C6 in adult) and more anterior</a:t>
            </a:r>
          </a:p>
          <a:p>
            <a:pPr>
              <a:spcBef>
                <a:spcPts val="400"/>
              </a:spcBef>
              <a:spcAft>
                <a:spcPts val="600"/>
              </a:spcAft>
              <a:defRPr sz="1600">
                <a:solidFill>
                  <a:srgbClr val="3D4455"/>
                </a:solidFill>
                <a:latin typeface="Calibri"/>
              </a:defRPr>
            </a:pPr>
            <a:r>
              <a:t>Cricoid ring is the narrowest point (&lt; 8 years) — subglottic stenosis risk</a:t>
            </a:r>
          </a:p>
          <a:p>
            <a:pPr>
              <a:spcBef>
                <a:spcPts val="400"/>
              </a:spcBef>
              <a:spcAft>
                <a:spcPts val="600"/>
              </a:spcAft>
              <a:defRPr sz="1600">
                <a:solidFill>
                  <a:srgbClr val="3D4455"/>
                </a:solidFill>
                <a:latin typeface="Calibri"/>
              </a:defRPr>
            </a:pPr>
            <a:r>
              <a:t>Shorter trachea (4-5 cm in neonate) → high risk of right mainstem intubation</a:t>
            </a:r>
          </a:p>
          <a:p>
            <a:pPr lvl="1">
              <a:spcBef>
                <a:spcPts val="400"/>
              </a:spcBef>
              <a:spcAft>
                <a:spcPts val="600"/>
              </a:spcAft>
              <a:defRPr sz="1400">
                <a:solidFill>
                  <a:srgbClr val="8A92A3"/>
                </a:solidFill>
                <a:latin typeface="Calibri"/>
              </a:defRPr>
            </a:pPr>
            <a:r>
              <a:t>Functional residual capacity is LOW → desaturation occurs rapidly during apnea</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Age-Based Equipment Sizing</a:t>
            </a:r>
          </a:p>
        </p:txBody>
      </p:sp>
      <p:graphicFrame>
        <p:nvGraphicFramePr>
          <p:cNvPr id="5" name="Table 4"/>
          <p:cNvGraphicFramePr>
            <a:graphicFrameLocks noGrp="1"/>
          </p:cNvGraphicFramePr>
          <p:nvPr/>
        </p:nvGraphicFramePr>
        <p:xfrm>
          <a:off x="822960" y="1280160"/>
          <a:ext cx="10515600" cy="502920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457200">
                <a:tc>
                  <a:txBody>
                    <a:bodyPr/>
                    <a:lstStyle/>
                    <a:p>
                      <a:pPr algn="ctr">
                        <a:defRPr sz="1300" b="1">
                          <a:solidFill>
                            <a:srgbClr val="FFFFFF"/>
                          </a:solidFill>
                          <a:latin typeface="Calibri"/>
                        </a:defRPr>
                      </a:pPr>
                      <a:r>
                        <a:t>Age/Weight</a:t>
                      </a:r>
                    </a:p>
                  </a:txBody>
                  <a:tcPr>
                    <a:solidFill>
                      <a:srgbClr val="007B83"/>
                    </a:solidFill>
                  </a:tcPr>
                </a:tc>
                <a:tc>
                  <a:txBody>
                    <a:bodyPr/>
                    <a:lstStyle/>
                    <a:p>
                      <a:pPr algn="ctr">
                        <a:defRPr sz="1300" b="1">
                          <a:solidFill>
                            <a:srgbClr val="FFFFFF"/>
                          </a:solidFill>
                          <a:latin typeface="Calibri"/>
                        </a:defRPr>
                      </a:pPr>
                      <a:r>
                        <a:t>ETT Size (cuffed)</a:t>
                      </a:r>
                    </a:p>
                  </a:txBody>
                  <a:tcPr>
                    <a:solidFill>
                      <a:srgbClr val="007B83"/>
                    </a:solidFill>
                  </a:tcPr>
                </a:tc>
                <a:tc>
                  <a:txBody>
                    <a:bodyPr/>
                    <a:lstStyle/>
                    <a:p>
                      <a:pPr algn="ctr">
                        <a:defRPr sz="1300" b="1">
                          <a:solidFill>
                            <a:srgbClr val="FFFFFF"/>
                          </a:solidFill>
                          <a:latin typeface="Calibri"/>
                        </a:defRPr>
                      </a:pPr>
                      <a:r>
                        <a:t>ETT Depth (lip)</a:t>
                      </a:r>
                    </a:p>
                  </a:txBody>
                  <a:tcPr>
                    <a:solidFill>
                      <a:srgbClr val="007B83"/>
                    </a:solidFill>
                  </a:tcPr>
                </a:tc>
                <a:tc>
                  <a:txBody>
                    <a:bodyPr/>
                    <a:lstStyle/>
                    <a:p>
                      <a:pPr algn="ctr">
                        <a:defRPr sz="1300" b="1">
                          <a:solidFill>
                            <a:srgbClr val="FFFFFF"/>
                          </a:solidFill>
                          <a:latin typeface="Calibri"/>
                        </a:defRPr>
                      </a:pPr>
                      <a:r>
                        <a:t>Blade</a:t>
                      </a:r>
                    </a:p>
                  </a:txBody>
                  <a:tcPr>
                    <a:solidFill>
                      <a:srgbClr val="007B83"/>
                    </a:solidFill>
                  </a:tcPr>
                </a:tc>
                <a:tc>
                  <a:txBody>
                    <a:bodyPr/>
                    <a:lstStyle/>
                    <a:p>
                      <a:pPr algn="ctr">
                        <a:defRPr sz="1300" b="1">
                          <a:solidFill>
                            <a:srgbClr val="FFFFFF"/>
                          </a:solidFill>
                          <a:latin typeface="Calibri"/>
                        </a:defRPr>
                      </a:pPr>
                      <a:r>
                        <a:t>LMA Size</a:t>
                      </a:r>
                    </a:p>
                  </a:txBody>
                  <a:tcPr>
                    <a:solidFill>
                      <a:srgbClr val="007B83"/>
                    </a:solidFill>
                  </a:tcPr>
                </a:tc>
                <a:tc>
                  <a:txBody>
                    <a:bodyPr/>
                    <a:lstStyle/>
                    <a:p>
                      <a:pPr algn="ctr">
                        <a:defRPr sz="1300" b="1">
                          <a:solidFill>
                            <a:srgbClr val="FFFFFF"/>
                          </a:solidFill>
                          <a:latin typeface="Calibri"/>
                        </a:defRPr>
                      </a:pPr>
                      <a:r>
                        <a:t>Suction</a:t>
                      </a:r>
                    </a:p>
                  </a:txBody>
                  <a:tcPr>
                    <a:solidFill>
                      <a:srgbClr val="007B83"/>
                    </a:solidFill>
                  </a:tcPr>
                </a:tc>
              </a:tr>
              <a:tr h="457200">
                <a:tc>
                  <a:txBody>
                    <a:bodyPr/>
                    <a:lstStyle/>
                    <a:p>
                      <a:pPr algn="l">
                        <a:defRPr sz="1200">
                          <a:solidFill>
                            <a:srgbClr val="3D4455"/>
                          </a:solidFill>
                          <a:latin typeface="Calibri"/>
                        </a:defRPr>
                      </a:pPr>
                      <a:r>
                        <a:t>Preterm</a:t>
                      </a:r>
                    </a:p>
                  </a:txBody>
                  <a:tcPr>
                    <a:solidFill>
                      <a:srgbClr val="F5F6FA"/>
                    </a:solidFill>
                  </a:tcPr>
                </a:tc>
                <a:tc>
                  <a:txBody>
                    <a:bodyPr/>
                    <a:lstStyle/>
                    <a:p>
                      <a:pPr algn="l">
                        <a:defRPr sz="1200">
                          <a:solidFill>
                            <a:srgbClr val="3D4455"/>
                          </a:solidFill>
                          <a:latin typeface="Calibri"/>
                        </a:defRPr>
                      </a:pPr>
                      <a:r>
                        <a:t>3.0 uncuffed</a:t>
                      </a:r>
                    </a:p>
                  </a:txBody>
                  <a:tcPr>
                    <a:solidFill>
                      <a:srgbClr val="F5F6FA"/>
                    </a:solidFill>
                  </a:tcPr>
                </a:tc>
                <a:tc>
                  <a:txBody>
                    <a:bodyPr/>
                    <a:lstStyle/>
                    <a:p>
                      <a:pPr algn="l">
                        <a:defRPr sz="1200">
                          <a:solidFill>
                            <a:srgbClr val="3D4455"/>
                          </a:solidFill>
                          <a:latin typeface="Calibri"/>
                        </a:defRPr>
                      </a:pPr>
                      <a:r>
                        <a:t>6-7 cm</a:t>
                      </a:r>
                    </a:p>
                  </a:txBody>
                  <a:tcPr>
                    <a:solidFill>
                      <a:srgbClr val="F5F6FA"/>
                    </a:solidFill>
                  </a:tcPr>
                </a:tc>
                <a:tc>
                  <a:txBody>
                    <a:bodyPr/>
                    <a:lstStyle/>
                    <a:p>
                      <a:pPr algn="l">
                        <a:defRPr sz="1200">
                          <a:solidFill>
                            <a:srgbClr val="3D4455"/>
                          </a:solidFill>
                          <a:latin typeface="Calibri"/>
                        </a:defRPr>
                      </a:pPr>
                      <a:r>
                        <a:t>Miller 0</a:t>
                      </a:r>
                    </a:p>
                  </a:txBody>
                  <a:tcPr>
                    <a:solidFill>
                      <a:srgbClr val="F5F6FA"/>
                    </a:solidFill>
                  </a:tcPr>
                </a:tc>
                <a:tc>
                  <a:txBody>
                    <a:bodyPr/>
                    <a:lstStyle/>
                    <a:p>
                      <a:pPr algn="l">
                        <a:defRPr sz="1200">
                          <a:solidFill>
                            <a:srgbClr val="3D4455"/>
                          </a:solidFill>
                          <a:latin typeface="Calibri"/>
                        </a:defRPr>
                      </a:pPr>
                      <a:r>
                        <a:t>1</a:t>
                      </a:r>
                    </a:p>
                  </a:txBody>
                  <a:tcPr>
                    <a:solidFill>
                      <a:srgbClr val="F5F6FA"/>
                    </a:solidFill>
                  </a:tcPr>
                </a:tc>
                <a:tc>
                  <a:txBody>
                    <a:bodyPr/>
                    <a:lstStyle/>
                    <a:p>
                      <a:pPr algn="l">
                        <a:defRPr sz="1200">
                          <a:solidFill>
                            <a:srgbClr val="3D4455"/>
                          </a:solidFill>
                          <a:latin typeface="Calibri"/>
                        </a:defRPr>
                      </a:pPr>
                      <a:r>
                        <a:t>6-8 Fr</a:t>
                      </a:r>
                    </a:p>
                  </a:txBody>
                  <a:tcPr>
                    <a:solidFill>
                      <a:srgbClr val="F5F6FA"/>
                    </a:solidFill>
                  </a:tcPr>
                </a:tc>
              </a:tr>
              <a:tr h="457200">
                <a:tc>
                  <a:txBody>
                    <a:bodyPr/>
                    <a:lstStyle/>
                    <a:p>
                      <a:pPr algn="l">
                        <a:defRPr sz="1200">
                          <a:solidFill>
                            <a:srgbClr val="3D4455"/>
                          </a:solidFill>
                          <a:latin typeface="Calibri"/>
                        </a:defRPr>
                      </a:pPr>
                      <a:r>
                        <a:t>Term neonate</a:t>
                      </a:r>
                    </a:p>
                  </a:txBody>
                  <a:tcPr>
                    <a:solidFill>
                      <a:srgbClr val="FFFFFF"/>
                    </a:solidFill>
                  </a:tcPr>
                </a:tc>
                <a:tc>
                  <a:txBody>
                    <a:bodyPr/>
                    <a:lstStyle/>
                    <a:p>
                      <a:pPr algn="l">
                        <a:defRPr sz="1200">
                          <a:solidFill>
                            <a:srgbClr val="3D4455"/>
                          </a:solidFill>
                          <a:latin typeface="Calibri"/>
                        </a:defRPr>
                      </a:pPr>
                      <a:r>
                        <a:t>3.0-3.5</a:t>
                      </a:r>
                    </a:p>
                  </a:txBody>
                  <a:tcPr>
                    <a:solidFill>
                      <a:srgbClr val="FFFFFF"/>
                    </a:solidFill>
                  </a:tcPr>
                </a:tc>
                <a:tc>
                  <a:txBody>
                    <a:bodyPr/>
                    <a:lstStyle/>
                    <a:p>
                      <a:pPr algn="l">
                        <a:defRPr sz="1200">
                          <a:solidFill>
                            <a:srgbClr val="3D4455"/>
                          </a:solidFill>
                          <a:latin typeface="Calibri"/>
                        </a:defRPr>
                      </a:pPr>
                      <a:r>
                        <a:t>8-9 cm</a:t>
                      </a:r>
                    </a:p>
                  </a:txBody>
                  <a:tcPr>
                    <a:solidFill>
                      <a:srgbClr val="FFFFFF"/>
                    </a:solidFill>
                  </a:tcPr>
                </a:tc>
                <a:tc>
                  <a:txBody>
                    <a:bodyPr/>
                    <a:lstStyle/>
                    <a:p>
                      <a:pPr algn="l">
                        <a:defRPr sz="1200">
                          <a:solidFill>
                            <a:srgbClr val="3D4455"/>
                          </a:solidFill>
                          <a:latin typeface="Calibri"/>
                        </a:defRPr>
                      </a:pPr>
                      <a:r>
                        <a:t>Miller 0-1</a:t>
                      </a:r>
                    </a:p>
                  </a:txBody>
                  <a:tcPr>
                    <a:solidFill>
                      <a:srgbClr val="FFFFFF"/>
                    </a:solidFill>
                  </a:tcPr>
                </a:tc>
                <a:tc>
                  <a:txBody>
                    <a:bodyPr/>
                    <a:lstStyle/>
                    <a:p>
                      <a:pPr algn="l">
                        <a:defRPr sz="1200">
                          <a:solidFill>
                            <a:srgbClr val="3D4455"/>
                          </a:solidFill>
                          <a:latin typeface="Calibri"/>
                        </a:defRPr>
                      </a:pPr>
                      <a:r>
                        <a:t>1</a:t>
                      </a:r>
                    </a:p>
                  </a:txBody>
                  <a:tcPr>
                    <a:solidFill>
                      <a:srgbClr val="FFFFFF"/>
                    </a:solidFill>
                  </a:tcPr>
                </a:tc>
                <a:tc>
                  <a:txBody>
                    <a:bodyPr/>
                    <a:lstStyle/>
                    <a:p>
                      <a:pPr algn="l">
                        <a:defRPr sz="1200">
                          <a:solidFill>
                            <a:srgbClr val="3D4455"/>
                          </a:solidFill>
                          <a:latin typeface="Calibri"/>
                        </a:defRPr>
                      </a:pPr>
                      <a:r>
                        <a:t>8 Fr</a:t>
                      </a:r>
                    </a:p>
                  </a:txBody>
                  <a:tcPr>
                    <a:solidFill>
                      <a:srgbClr val="FFFFFF"/>
                    </a:solidFill>
                  </a:tcPr>
                </a:tc>
              </a:tr>
              <a:tr h="457200">
                <a:tc>
                  <a:txBody>
                    <a:bodyPr/>
                    <a:lstStyle/>
                    <a:p>
                      <a:pPr algn="l">
                        <a:defRPr sz="1200">
                          <a:solidFill>
                            <a:srgbClr val="3D4455"/>
                          </a:solidFill>
                          <a:latin typeface="Calibri"/>
                        </a:defRPr>
                      </a:pPr>
                      <a:r>
                        <a:t>6 months</a:t>
                      </a:r>
                    </a:p>
                  </a:txBody>
                  <a:tcPr>
                    <a:solidFill>
                      <a:srgbClr val="F5F6FA"/>
                    </a:solidFill>
                  </a:tcPr>
                </a:tc>
                <a:tc>
                  <a:txBody>
                    <a:bodyPr/>
                    <a:lstStyle/>
                    <a:p>
                      <a:pPr algn="l">
                        <a:defRPr sz="1200">
                          <a:solidFill>
                            <a:srgbClr val="3D4455"/>
                          </a:solidFill>
                          <a:latin typeface="Calibri"/>
                        </a:defRPr>
                      </a:pPr>
                      <a:r>
                        <a:t>3.5</a:t>
                      </a:r>
                    </a:p>
                  </a:txBody>
                  <a:tcPr>
                    <a:solidFill>
                      <a:srgbClr val="F5F6FA"/>
                    </a:solidFill>
                  </a:tcPr>
                </a:tc>
                <a:tc>
                  <a:txBody>
                    <a:bodyPr/>
                    <a:lstStyle/>
                    <a:p>
                      <a:pPr algn="l">
                        <a:defRPr sz="1200">
                          <a:solidFill>
                            <a:srgbClr val="3D4455"/>
                          </a:solidFill>
                          <a:latin typeface="Calibri"/>
                        </a:defRPr>
                      </a:pPr>
                      <a:r>
                        <a:t>10 cm</a:t>
                      </a:r>
                    </a:p>
                  </a:txBody>
                  <a:tcPr>
                    <a:solidFill>
                      <a:srgbClr val="F5F6FA"/>
                    </a:solidFill>
                  </a:tcPr>
                </a:tc>
                <a:tc>
                  <a:txBody>
                    <a:bodyPr/>
                    <a:lstStyle/>
                    <a:p>
                      <a:pPr algn="l">
                        <a:defRPr sz="1200">
                          <a:solidFill>
                            <a:srgbClr val="3D4455"/>
                          </a:solidFill>
                          <a:latin typeface="Calibri"/>
                        </a:defRPr>
                      </a:pPr>
                      <a:r>
                        <a:t>Miller 1</a:t>
                      </a:r>
                    </a:p>
                  </a:txBody>
                  <a:tcPr>
                    <a:solidFill>
                      <a:srgbClr val="F5F6FA"/>
                    </a:solidFill>
                  </a:tcPr>
                </a:tc>
                <a:tc>
                  <a:txBody>
                    <a:bodyPr/>
                    <a:lstStyle/>
                    <a:p>
                      <a:pPr algn="l">
                        <a:defRPr sz="1200">
                          <a:solidFill>
                            <a:srgbClr val="3D4455"/>
                          </a:solidFill>
                          <a:latin typeface="Calibri"/>
                        </a:defRPr>
                      </a:pPr>
                      <a:r>
                        <a:t>1.5</a:t>
                      </a:r>
                    </a:p>
                  </a:txBody>
                  <a:tcPr>
                    <a:solidFill>
                      <a:srgbClr val="F5F6FA"/>
                    </a:solidFill>
                  </a:tcPr>
                </a:tc>
                <a:tc>
                  <a:txBody>
                    <a:bodyPr/>
                    <a:lstStyle/>
                    <a:p>
                      <a:pPr algn="l">
                        <a:defRPr sz="1200">
                          <a:solidFill>
                            <a:srgbClr val="3D4455"/>
                          </a:solidFill>
                          <a:latin typeface="Calibri"/>
                        </a:defRPr>
                      </a:pPr>
                      <a:r>
                        <a:t>8 Fr</a:t>
                      </a:r>
                    </a:p>
                  </a:txBody>
                  <a:tcPr>
                    <a:solidFill>
                      <a:srgbClr val="F5F6FA"/>
                    </a:solidFill>
                  </a:tcPr>
                </a:tc>
              </a:tr>
              <a:tr h="457200">
                <a:tc>
                  <a:txBody>
                    <a:bodyPr/>
                    <a:lstStyle/>
                    <a:p>
                      <a:pPr algn="l">
                        <a:defRPr sz="1200">
                          <a:solidFill>
                            <a:srgbClr val="3D4455"/>
                          </a:solidFill>
                          <a:latin typeface="Calibri"/>
                        </a:defRPr>
                      </a:pPr>
                      <a:r>
                        <a:t>1 year</a:t>
                      </a:r>
                    </a:p>
                  </a:txBody>
                  <a:tcPr>
                    <a:solidFill>
                      <a:srgbClr val="FFFFFF"/>
                    </a:solidFill>
                  </a:tcPr>
                </a:tc>
                <a:tc>
                  <a:txBody>
                    <a:bodyPr/>
                    <a:lstStyle/>
                    <a:p>
                      <a:pPr algn="l">
                        <a:defRPr sz="1200">
                          <a:solidFill>
                            <a:srgbClr val="3D4455"/>
                          </a:solidFill>
                          <a:latin typeface="Calibri"/>
                        </a:defRPr>
                      </a:pPr>
                      <a:r>
                        <a:t>3.5-4.0</a:t>
                      </a:r>
                    </a:p>
                  </a:txBody>
                  <a:tcPr>
                    <a:solidFill>
                      <a:srgbClr val="FFFFFF"/>
                    </a:solidFill>
                  </a:tcPr>
                </a:tc>
                <a:tc>
                  <a:txBody>
                    <a:bodyPr/>
                    <a:lstStyle/>
                    <a:p>
                      <a:pPr algn="l">
                        <a:defRPr sz="1200">
                          <a:solidFill>
                            <a:srgbClr val="3D4455"/>
                          </a:solidFill>
                          <a:latin typeface="Calibri"/>
                        </a:defRPr>
                      </a:pPr>
                      <a:r>
                        <a:t>11 cm</a:t>
                      </a:r>
                    </a:p>
                  </a:txBody>
                  <a:tcPr>
                    <a:solidFill>
                      <a:srgbClr val="FFFFFF"/>
                    </a:solidFill>
                  </a:tcPr>
                </a:tc>
                <a:tc>
                  <a:txBody>
                    <a:bodyPr/>
                    <a:lstStyle/>
                    <a:p>
                      <a:pPr algn="l">
                        <a:defRPr sz="1200">
                          <a:solidFill>
                            <a:srgbClr val="3D4455"/>
                          </a:solidFill>
                          <a:latin typeface="Calibri"/>
                        </a:defRPr>
                      </a:pPr>
                      <a:r>
                        <a:t>Miller 1</a:t>
                      </a:r>
                    </a:p>
                  </a:txBody>
                  <a:tcPr>
                    <a:solidFill>
                      <a:srgbClr val="FFFFFF"/>
                    </a:solidFill>
                  </a:tcPr>
                </a:tc>
                <a:tc>
                  <a:txBody>
                    <a:bodyPr/>
                    <a:lstStyle/>
                    <a:p>
                      <a:pPr algn="l">
                        <a:defRPr sz="1200">
                          <a:solidFill>
                            <a:srgbClr val="3D4455"/>
                          </a:solidFill>
                          <a:latin typeface="Calibri"/>
                        </a:defRPr>
                      </a:pPr>
                      <a:r>
                        <a:t>1.5</a:t>
                      </a:r>
                    </a:p>
                  </a:txBody>
                  <a:tcPr>
                    <a:solidFill>
                      <a:srgbClr val="FFFFFF"/>
                    </a:solidFill>
                  </a:tcPr>
                </a:tc>
                <a:tc>
                  <a:txBody>
                    <a:bodyPr/>
                    <a:lstStyle/>
                    <a:p>
                      <a:pPr algn="l">
                        <a:defRPr sz="1200">
                          <a:solidFill>
                            <a:srgbClr val="3D4455"/>
                          </a:solidFill>
                          <a:latin typeface="Calibri"/>
                        </a:defRPr>
                      </a:pPr>
                      <a:r>
                        <a:t>8-10 Fr</a:t>
                      </a:r>
                    </a:p>
                  </a:txBody>
                  <a:tcPr>
                    <a:solidFill>
                      <a:srgbClr val="FFFFFF"/>
                    </a:solidFill>
                  </a:tcPr>
                </a:tc>
              </a:tr>
              <a:tr h="457200">
                <a:tc>
                  <a:txBody>
                    <a:bodyPr/>
                    <a:lstStyle/>
                    <a:p>
                      <a:pPr algn="l">
                        <a:defRPr sz="1200">
                          <a:solidFill>
                            <a:srgbClr val="3D4455"/>
                          </a:solidFill>
                          <a:latin typeface="Calibri"/>
                        </a:defRPr>
                      </a:pPr>
                      <a:r>
                        <a:t>2 years</a:t>
                      </a:r>
                    </a:p>
                  </a:txBody>
                  <a:tcPr>
                    <a:solidFill>
                      <a:srgbClr val="F5F6FA"/>
                    </a:solidFill>
                  </a:tcPr>
                </a:tc>
                <a:tc>
                  <a:txBody>
                    <a:bodyPr/>
                    <a:lstStyle/>
                    <a:p>
                      <a:pPr algn="l">
                        <a:defRPr sz="1200">
                          <a:solidFill>
                            <a:srgbClr val="3D4455"/>
                          </a:solidFill>
                          <a:latin typeface="Calibri"/>
                        </a:defRPr>
                      </a:pPr>
                      <a:r>
                        <a:t>4.0</a:t>
                      </a:r>
                    </a:p>
                  </a:txBody>
                  <a:tcPr>
                    <a:solidFill>
                      <a:srgbClr val="F5F6FA"/>
                    </a:solidFill>
                  </a:tcPr>
                </a:tc>
                <a:tc>
                  <a:txBody>
                    <a:bodyPr/>
                    <a:lstStyle/>
                    <a:p>
                      <a:pPr algn="l">
                        <a:defRPr sz="1200">
                          <a:solidFill>
                            <a:srgbClr val="3D4455"/>
                          </a:solidFill>
                          <a:latin typeface="Calibri"/>
                        </a:defRPr>
                      </a:pPr>
                      <a:r>
                        <a:t>12 cm</a:t>
                      </a:r>
                    </a:p>
                  </a:txBody>
                  <a:tcPr>
                    <a:solidFill>
                      <a:srgbClr val="F5F6FA"/>
                    </a:solidFill>
                  </a:tcPr>
                </a:tc>
                <a:tc>
                  <a:txBody>
                    <a:bodyPr/>
                    <a:lstStyle/>
                    <a:p>
                      <a:pPr algn="l">
                        <a:defRPr sz="1200">
                          <a:solidFill>
                            <a:srgbClr val="3D4455"/>
                          </a:solidFill>
                          <a:latin typeface="Calibri"/>
                        </a:defRPr>
                      </a:pPr>
                      <a:r>
                        <a:t>Miller/Mac 2</a:t>
                      </a:r>
                    </a:p>
                  </a:txBody>
                  <a:tcPr>
                    <a:solidFill>
                      <a:srgbClr val="F5F6FA"/>
                    </a:solidFill>
                  </a:tcPr>
                </a:tc>
                <a:tc>
                  <a:txBody>
                    <a:bodyPr/>
                    <a:lstStyle/>
                    <a:p>
                      <a:pPr algn="l">
                        <a:defRPr sz="1200">
                          <a:solidFill>
                            <a:srgbClr val="3D4455"/>
                          </a:solidFill>
                          <a:latin typeface="Calibri"/>
                        </a:defRPr>
                      </a:pPr>
                      <a:r>
                        <a:t>2</a:t>
                      </a:r>
                    </a:p>
                  </a:txBody>
                  <a:tcPr>
                    <a:solidFill>
                      <a:srgbClr val="F5F6FA"/>
                    </a:solidFill>
                  </a:tcPr>
                </a:tc>
                <a:tc>
                  <a:txBody>
                    <a:bodyPr/>
                    <a:lstStyle/>
                    <a:p>
                      <a:pPr algn="l">
                        <a:defRPr sz="1200">
                          <a:solidFill>
                            <a:srgbClr val="3D4455"/>
                          </a:solidFill>
                          <a:latin typeface="Calibri"/>
                        </a:defRPr>
                      </a:pPr>
                      <a:r>
                        <a:t>10 Fr</a:t>
                      </a:r>
                    </a:p>
                  </a:txBody>
                  <a:tcPr>
                    <a:solidFill>
                      <a:srgbClr val="F5F6FA"/>
                    </a:solidFill>
                  </a:tcPr>
                </a:tc>
              </a:tr>
              <a:tr h="457200">
                <a:tc>
                  <a:txBody>
                    <a:bodyPr/>
                    <a:lstStyle/>
                    <a:p>
                      <a:pPr algn="l">
                        <a:defRPr sz="1200">
                          <a:solidFill>
                            <a:srgbClr val="3D4455"/>
                          </a:solidFill>
                          <a:latin typeface="Calibri"/>
                        </a:defRPr>
                      </a:pPr>
                      <a:r>
                        <a:t>4 years</a:t>
                      </a:r>
                    </a:p>
                  </a:txBody>
                  <a:tcPr>
                    <a:solidFill>
                      <a:srgbClr val="FFFFFF"/>
                    </a:solidFill>
                  </a:tcPr>
                </a:tc>
                <a:tc>
                  <a:txBody>
                    <a:bodyPr/>
                    <a:lstStyle/>
                    <a:p>
                      <a:pPr algn="l">
                        <a:defRPr sz="1200">
                          <a:solidFill>
                            <a:srgbClr val="3D4455"/>
                          </a:solidFill>
                          <a:latin typeface="Calibri"/>
                        </a:defRPr>
                      </a:pPr>
                      <a:r>
                        <a:t>4.5</a:t>
                      </a:r>
                    </a:p>
                  </a:txBody>
                  <a:tcPr>
                    <a:solidFill>
                      <a:srgbClr val="FFFFFF"/>
                    </a:solidFill>
                  </a:tcPr>
                </a:tc>
                <a:tc>
                  <a:txBody>
                    <a:bodyPr/>
                    <a:lstStyle/>
                    <a:p>
                      <a:pPr algn="l">
                        <a:defRPr sz="1200">
                          <a:solidFill>
                            <a:srgbClr val="3D4455"/>
                          </a:solidFill>
                          <a:latin typeface="Calibri"/>
                        </a:defRPr>
                      </a:pPr>
                      <a:r>
                        <a:t>14 cm</a:t>
                      </a:r>
                    </a:p>
                  </a:txBody>
                  <a:tcPr>
                    <a:solidFill>
                      <a:srgbClr val="FFFFFF"/>
                    </a:solidFill>
                  </a:tcPr>
                </a:tc>
                <a:tc>
                  <a:txBody>
                    <a:bodyPr/>
                    <a:lstStyle/>
                    <a:p>
                      <a:pPr algn="l">
                        <a:defRPr sz="1200">
                          <a:solidFill>
                            <a:srgbClr val="3D4455"/>
                          </a:solidFill>
                          <a:latin typeface="Calibri"/>
                        </a:defRPr>
                      </a:pPr>
                      <a:r>
                        <a:t>Mac 2</a:t>
                      </a:r>
                    </a:p>
                  </a:txBody>
                  <a:tcPr>
                    <a:solidFill>
                      <a:srgbClr val="FFFFFF"/>
                    </a:solidFill>
                  </a:tcPr>
                </a:tc>
                <a:tc>
                  <a:txBody>
                    <a:bodyPr/>
                    <a:lstStyle/>
                    <a:p>
                      <a:pPr algn="l">
                        <a:defRPr sz="1200">
                          <a:solidFill>
                            <a:srgbClr val="3D4455"/>
                          </a:solidFill>
                          <a:latin typeface="Calibri"/>
                        </a:defRPr>
                      </a:pPr>
                      <a:r>
                        <a:t>2</a:t>
                      </a:r>
                    </a:p>
                  </a:txBody>
                  <a:tcPr>
                    <a:solidFill>
                      <a:srgbClr val="FFFFFF"/>
                    </a:solidFill>
                  </a:tcPr>
                </a:tc>
                <a:tc>
                  <a:txBody>
                    <a:bodyPr/>
                    <a:lstStyle/>
                    <a:p>
                      <a:pPr algn="l">
                        <a:defRPr sz="1200">
                          <a:solidFill>
                            <a:srgbClr val="3D4455"/>
                          </a:solidFill>
                          <a:latin typeface="Calibri"/>
                        </a:defRPr>
                      </a:pPr>
                      <a:r>
                        <a:t>10 Fr</a:t>
                      </a:r>
                    </a:p>
                  </a:txBody>
                  <a:tcPr>
                    <a:solidFill>
                      <a:srgbClr val="FFFFFF"/>
                    </a:solidFill>
                  </a:tcPr>
                </a:tc>
              </a:tr>
              <a:tr h="457200">
                <a:tc>
                  <a:txBody>
                    <a:bodyPr/>
                    <a:lstStyle/>
                    <a:p>
                      <a:pPr algn="l">
                        <a:defRPr sz="1200">
                          <a:solidFill>
                            <a:srgbClr val="3D4455"/>
                          </a:solidFill>
                          <a:latin typeface="Calibri"/>
                        </a:defRPr>
                      </a:pPr>
                      <a:r>
                        <a:t>6 years</a:t>
                      </a:r>
                    </a:p>
                  </a:txBody>
                  <a:tcPr>
                    <a:solidFill>
                      <a:srgbClr val="F5F6FA"/>
                    </a:solidFill>
                  </a:tcPr>
                </a:tc>
                <a:tc>
                  <a:txBody>
                    <a:bodyPr/>
                    <a:lstStyle/>
                    <a:p>
                      <a:pPr algn="l">
                        <a:defRPr sz="1200">
                          <a:solidFill>
                            <a:srgbClr val="3D4455"/>
                          </a:solidFill>
                          <a:latin typeface="Calibri"/>
                        </a:defRPr>
                      </a:pPr>
                      <a:r>
                        <a:t>5.0</a:t>
                      </a:r>
                    </a:p>
                  </a:txBody>
                  <a:tcPr>
                    <a:solidFill>
                      <a:srgbClr val="F5F6FA"/>
                    </a:solidFill>
                  </a:tcPr>
                </a:tc>
                <a:tc>
                  <a:txBody>
                    <a:bodyPr/>
                    <a:lstStyle/>
                    <a:p>
                      <a:pPr algn="l">
                        <a:defRPr sz="1200">
                          <a:solidFill>
                            <a:srgbClr val="3D4455"/>
                          </a:solidFill>
                          <a:latin typeface="Calibri"/>
                        </a:defRPr>
                      </a:pPr>
                      <a:r>
                        <a:t>16 cm</a:t>
                      </a:r>
                    </a:p>
                  </a:txBody>
                  <a:tcPr>
                    <a:solidFill>
                      <a:srgbClr val="F5F6FA"/>
                    </a:solidFill>
                  </a:tcPr>
                </a:tc>
                <a:tc>
                  <a:txBody>
                    <a:bodyPr/>
                    <a:lstStyle/>
                    <a:p>
                      <a:pPr algn="l">
                        <a:defRPr sz="1200">
                          <a:solidFill>
                            <a:srgbClr val="3D4455"/>
                          </a:solidFill>
                          <a:latin typeface="Calibri"/>
                        </a:defRPr>
                      </a:pPr>
                      <a:r>
                        <a:t>Mac 2</a:t>
                      </a:r>
                    </a:p>
                  </a:txBody>
                  <a:tcPr>
                    <a:solidFill>
                      <a:srgbClr val="F5F6FA"/>
                    </a:solidFill>
                  </a:tcPr>
                </a:tc>
                <a:tc>
                  <a:txBody>
                    <a:bodyPr/>
                    <a:lstStyle/>
                    <a:p>
                      <a:pPr algn="l">
                        <a:defRPr sz="1200">
                          <a:solidFill>
                            <a:srgbClr val="3D4455"/>
                          </a:solidFill>
                          <a:latin typeface="Calibri"/>
                        </a:defRPr>
                      </a:pPr>
                      <a:r>
                        <a:t>2.5</a:t>
                      </a:r>
                    </a:p>
                  </a:txBody>
                  <a:tcPr>
                    <a:solidFill>
                      <a:srgbClr val="F5F6FA"/>
                    </a:solidFill>
                  </a:tcPr>
                </a:tc>
                <a:tc>
                  <a:txBody>
                    <a:bodyPr/>
                    <a:lstStyle/>
                    <a:p>
                      <a:pPr algn="l">
                        <a:defRPr sz="1200">
                          <a:solidFill>
                            <a:srgbClr val="3D4455"/>
                          </a:solidFill>
                          <a:latin typeface="Calibri"/>
                        </a:defRPr>
                      </a:pPr>
                      <a:r>
                        <a:t>10-12 Fr</a:t>
                      </a:r>
                    </a:p>
                  </a:txBody>
                  <a:tcPr>
                    <a:solidFill>
                      <a:srgbClr val="F5F6FA"/>
                    </a:solidFill>
                  </a:tcPr>
                </a:tc>
              </a:tr>
              <a:tr h="457200">
                <a:tc>
                  <a:txBody>
                    <a:bodyPr/>
                    <a:lstStyle/>
                    <a:p>
                      <a:pPr algn="l">
                        <a:defRPr sz="1200">
                          <a:solidFill>
                            <a:srgbClr val="3D4455"/>
                          </a:solidFill>
                          <a:latin typeface="Calibri"/>
                        </a:defRPr>
                      </a:pPr>
                      <a:r>
                        <a:t>8 years</a:t>
                      </a:r>
                    </a:p>
                  </a:txBody>
                  <a:tcPr>
                    <a:solidFill>
                      <a:srgbClr val="FFFFFF"/>
                    </a:solidFill>
                  </a:tcPr>
                </a:tc>
                <a:tc>
                  <a:txBody>
                    <a:bodyPr/>
                    <a:lstStyle/>
                    <a:p>
                      <a:pPr algn="l">
                        <a:defRPr sz="1200">
                          <a:solidFill>
                            <a:srgbClr val="3D4455"/>
                          </a:solidFill>
                          <a:latin typeface="Calibri"/>
                        </a:defRPr>
                      </a:pPr>
                      <a:r>
                        <a:t>5.5</a:t>
                      </a:r>
                    </a:p>
                  </a:txBody>
                  <a:tcPr>
                    <a:solidFill>
                      <a:srgbClr val="FFFFFF"/>
                    </a:solidFill>
                  </a:tcPr>
                </a:tc>
                <a:tc>
                  <a:txBody>
                    <a:bodyPr/>
                    <a:lstStyle/>
                    <a:p>
                      <a:pPr algn="l">
                        <a:defRPr sz="1200">
                          <a:solidFill>
                            <a:srgbClr val="3D4455"/>
                          </a:solidFill>
                          <a:latin typeface="Calibri"/>
                        </a:defRPr>
                      </a:pPr>
                      <a:r>
                        <a:t>18 cm</a:t>
                      </a:r>
                    </a:p>
                  </a:txBody>
                  <a:tcPr>
                    <a:solidFill>
                      <a:srgbClr val="FFFFFF"/>
                    </a:solidFill>
                  </a:tcPr>
                </a:tc>
                <a:tc>
                  <a:txBody>
                    <a:bodyPr/>
                    <a:lstStyle/>
                    <a:p>
                      <a:pPr algn="l">
                        <a:defRPr sz="1200">
                          <a:solidFill>
                            <a:srgbClr val="3D4455"/>
                          </a:solidFill>
                          <a:latin typeface="Calibri"/>
                        </a:defRPr>
                      </a:pPr>
                      <a:r>
                        <a:t>Mac 2-3</a:t>
                      </a:r>
                    </a:p>
                  </a:txBody>
                  <a:tcPr>
                    <a:solidFill>
                      <a:srgbClr val="FFFFFF"/>
                    </a:solidFill>
                  </a:tcPr>
                </a:tc>
                <a:tc>
                  <a:txBody>
                    <a:bodyPr/>
                    <a:lstStyle/>
                    <a:p>
                      <a:pPr algn="l">
                        <a:defRPr sz="1200">
                          <a:solidFill>
                            <a:srgbClr val="3D4455"/>
                          </a:solidFill>
                          <a:latin typeface="Calibri"/>
                        </a:defRPr>
                      </a:pPr>
                      <a:r>
                        <a:t>2.5</a:t>
                      </a:r>
                    </a:p>
                  </a:txBody>
                  <a:tcPr>
                    <a:solidFill>
                      <a:srgbClr val="FFFFFF"/>
                    </a:solidFill>
                  </a:tcPr>
                </a:tc>
                <a:tc>
                  <a:txBody>
                    <a:bodyPr/>
                    <a:lstStyle/>
                    <a:p>
                      <a:pPr algn="l">
                        <a:defRPr sz="1200">
                          <a:solidFill>
                            <a:srgbClr val="3D4455"/>
                          </a:solidFill>
                          <a:latin typeface="Calibri"/>
                        </a:defRPr>
                      </a:pPr>
                      <a:r>
                        <a:t>12 Fr</a:t>
                      </a:r>
                    </a:p>
                  </a:txBody>
                  <a:tcPr>
                    <a:solidFill>
                      <a:srgbClr val="FFFFFF"/>
                    </a:solidFill>
                  </a:tcPr>
                </a:tc>
              </a:tr>
              <a:tr h="457200">
                <a:tc>
                  <a:txBody>
                    <a:bodyPr/>
                    <a:lstStyle/>
                    <a:p>
                      <a:pPr algn="l">
                        <a:defRPr sz="1200">
                          <a:solidFill>
                            <a:srgbClr val="3D4455"/>
                          </a:solidFill>
                          <a:latin typeface="Calibri"/>
                        </a:defRPr>
                      </a:pPr>
                      <a:r>
                        <a:t>10 years</a:t>
                      </a:r>
                    </a:p>
                  </a:txBody>
                  <a:tcPr>
                    <a:solidFill>
                      <a:srgbClr val="F5F6FA"/>
                    </a:solidFill>
                  </a:tcPr>
                </a:tc>
                <a:tc>
                  <a:txBody>
                    <a:bodyPr/>
                    <a:lstStyle/>
                    <a:p>
                      <a:pPr algn="l">
                        <a:defRPr sz="1200">
                          <a:solidFill>
                            <a:srgbClr val="3D4455"/>
                          </a:solidFill>
                          <a:latin typeface="Calibri"/>
                        </a:defRPr>
                      </a:pPr>
                      <a:r>
                        <a:t>6.0</a:t>
                      </a:r>
                    </a:p>
                  </a:txBody>
                  <a:tcPr>
                    <a:solidFill>
                      <a:srgbClr val="F5F6FA"/>
                    </a:solidFill>
                  </a:tcPr>
                </a:tc>
                <a:tc>
                  <a:txBody>
                    <a:bodyPr/>
                    <a:lstStyle/>
                    <a:p>
                      <a:pPr algn="l">
                        <a:defRPr sz="1200">
                          <a:solidFill>
                            <a:srgbClr val="3D4455"/>
                          </a:solidFill>
                          <a:latin typeface="Calibri"/>
                        </a:defRPr>
                      </a:pPr>
                      <a:r>
                        <a:t>19 cm</a:t>
                      </a:r>
                    </a:p>
                  </a:txBody>
                  <a:tcPr>
                    <a:solidFill>
                      <a:srgbClr val="F5F6FA"/>
                    </a:solidFill>
                  </a:tcPr>
                </a:tc>
                <a:tc>
                  <a:txBody>
                    <a:bodyPr/>
                    <a:lstStyle/>
                    <a:p>
                      <a:pPr algn="l">
                        <a:defRPr sz="1200">
                          <a:solidFill>
                            <a:srgbClr val="3D4455"/>
                          </a:solidFill>
                          <a:latin typeface="Calibri"/>
                        </a:defRPr>
                      </a:pPr>
                      <a:r>
                        <a:t>Mac 3</a:t>
                      </a:r>
                    </a:p>
                  </a:txBody>
                  <a:tcPr>
                    <a:solidFill>
                      <a:srgbClr val="F5F6FA"/>
                    </a:solidFill>
                  </a:tcPr>
                </a:tc>
                <a:tc>
                  <a:txBody>
                    <a:bodyPr/>
                    <a:lstStyle/>
                    <a:p>
                      <a:pPr algn="l">
                        <a:defRPr sz="1200">
                          <a:solidFill>
                            <a:srgbClr val="3D4455"/>
                          </a:solidFill>
                          <a:latin typeface="Calibri"/>
                        </a:defRPr>
                      </a:pPr>
                      <a:r>
                        <a:t>3</a:t>
                      </a:r>
                    </a:p>
                  </a:txBody>
                  <a:tcPr>
                    <a:solidFill>
                      <a:srgbClr val="F5F6FA"/>
                    </a:solidFill>
                  </a:tcPr>
                </a:tc>
                <a:tc>
                  <a:txBody>
                    <a:bodyPr/>
                    <a:lstStyle/>
                    <a:p>
                      <a:pPr algn="l">
                        <a:defRPr sz="1200">
                          <a:solidFill>
                            <a:srgbClr val="3D4455"/>
                          </a:solidFill>
                          <a:latin typeface="Calibri"/>
                        </a:defRPr>
                      </a:pPr>
                      <a:r>
                        <a:t>12 Fr</a:t>
                      </a:r>
                    </a:p>
                  </a:txBody>
                  <a:tcPr>
                    <a:solidFill>
                      <a:srgbClr val="F5F6FA"/>
                    </a:solidFill>
                  </a:tcPr>
                </a:tc>
              </a:tr>
              <a:tr h="457200">
                <a:tc>
                  <a:txBody>
                    <a:bodyPr/>
                    <a:lstStyle/>
                    <a:p>
                      <a:pPr algn="l">
                        <a:defRPr sz="1200">
                          <a:solidFill>
                            <a:srgbClr val="3D4455"/>
                          </a:solidFill>
                          <a:latin typeface="Calibri"/>
                        </a:defRPr>
                      </a:pPr>
                      <a:r>
                        <a:t>12+ years</a:t>
                      </a:r>
                    </a:p>
                  </a:txBody>
                  <a:tcPr>
                    <a:solidFill>
                      <a:srgbClr val="FFFFFF"/>
                    </a:solidFill>
                  </a:tcPr>
                </a:tc>
                <a:tc>
                  <a:txBody>
                    <a:bodyPr/>
                    <a:lstStyle/>
                    <a:p>
                      <a:pPr algn="l">
                        <a:defRPr sz="1200">
                          <a:solidFill>
                            <a:srgbClr val="3D4455"/>
                          </a:solidFill>
                          <a:latin typeface="Calibri"/>
                        </a:defRPr>
                      </a:pPr>
                      <a:r>
                        <a:t>6.5-7.0</a:t>
                      </a:r>
                    </a:p>
                  </a:txBody>
                  <a:tcPr>
                    <a:solidFill>
                      <a:srgbClr val="FFFFFF"/>
                    </a:solidFill>
                  </a:tcPr>
                </a:tc>
                <a:tc>
                  <a:txBody>
                    <a:bodyPr/>
                    <a:lstStyle/>
                    <a:p>
                      <a:pPr algn="l">
                        <a:defRPr sz="1200">
                          <a:solidFill>
                            <a:srgbClr val="3D4455"/>
                          </a:solidFill>
                          <a:latin typeface="Calibri"/>
                        </a:defRPr>
                      </a:pPr>
                      <a:r>
                        <a:t>20-22 cm</a:t>
                      </a:r>
                    </a:p>
                  </a:txBody>
                  <a:tcPr>
                    <a:solidFill>
                      <a:srgbClr val="FFFFFF"/>
                    </a:solidFill>
                  </a:tcPr>
                </a:tc>
                <a:tc>
                  <a:txBody>
                    <a:bodyPr/>
                    <a:lstStyle/>
                    <a:p>
                      <a:pPr algn="l">
                        <a:defRPr sz="1200">
                          <a:solidFill>
                            <a:srgbClr val="3D4455"/>
                          </a:solidFill>
                          <a:latin typeface="Calibri"/>
                        </a:defRPr>
                      </a:pPr>
                      <a:r>
                        <a:t>Mac 3-4</a:t>
                      </a:r>
                    </a:p>
                  </a:txBody>
                  <a:tcPr>
                    <a:solidFill>
                      <a:srgbClr val="FFFFFF"/>
                    </a:solidFill>
                  </a:tcPr>
                </a:tc>
                <a:tc>
                  <a:txBody>
                    <a:bodyPr/>
                    <a:lstStyle/>
                    <a:p>
                      <a:pPr algn="l">
                        <a:defRPr sz="1200">
                          <a:solidFill>
                            <a:srgbClr val="3D4455"/>
                          </a:solidFill>
                          <a:latin typeface="Calibri"/>
                        </a:defRPr>
                      </a:pPr>
                      <a:r>
                        <a:t>3-4</a:t>
                      </a:r>
                    </a:p>
                  </a:txBody>
                  <a:tcPr>
                    <a:solidFill>
                      <a:srgbClr val="FFFFFF"/>
                    </a:solidFill>
                  </a:tcPr>
                </a:tc>
                <a:tc>
                  <a:txBody>
                    <a:bodyPr/>
                    <a:lstStyle/>
                    <a:p>
                      <a:pPr algn="l">
                        <a:defRPr sz="1200">
                          <a:solidFill>
                            <a:srgbClr val="3D4455"/>
                          </a:solidFill>
                          <a:latin typeface="Calibri"/>
                        </a:defRPr>
                      </a:pPr>
                      <a:r>
                        <a:t>14 Fr</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Recognizing Impending Airway Failure</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Progressive stridor — especially biphasic (indicates critical narrowing)</a:t>
            </a:r>
          </a:p>
          <a:p>
            <a:pPr>
              <a:spcBef>
                <a:spcPts val="400"/>
              </a:spcBef>
              <a:spcAft>
                <a:spcPts val="600"/>
              </a:spcAft>
              <a:defRPr sz="1600">
                <a:solidFill>
                  <a:srgbClr val="3D4455"/>
                </a:solidFill>
                <a:latin typeface="Calibri"/>
              </a:defRPr>
            </a:pPr>
            <a:r>
              <a:t>Diminishing air movement with increasing effort ("getting tired")</a:t>
            </a:r>
          </a:p>
          <a:p>
            <a:pPr>
              <a:spcBef>
                <a:spcPts val="400"/>
              </a:spcBef>
              <a:spcAft>
                <a:spcPts val="600"/>
              </a:spcAft>
              <a:defRPr sz="1600">
                <a:solidFill>
                  <a:srgbClr val="3D4455"/>
                </a:solidFill>
                <a:latin typeface="Calibri"/>
              </a:defRPr>
            </a:pPr>
            <a:r>
              <a:t>Tripod positioning, drooling, refusal to lie down</a:t>
            </a:r>
          </a:p>
          <a:p>
            <a:pPr>
              <a:spcBef>
                <a:spcPts val="400"/>
              </a:spcBef>
              <a:spcAft>
                <a:spcPts val="600"/>
              </a:spcAft>
              <a:defRPr sz="1600">
                <a:solidFill>
                  <a:srgbClr val="3D4455"/>
                </a:solidFill>
                <a:latin typeface="Calibri"/>
              </a:defRPr>
            </a:pPr>
            <a:r>
              <a:t>Altered mental status — the child who stops fighting is in trouble</a:t>
            </a:r>
          </a:p>
          <a:p>
            <a:pPr>
              <a:spcBef>
                <a:spcPts val="400"/>
              </a:spcBef>
              <a:spcAft>
                <a:spcPts val="600"/>
              </a:spcAft>
              <a:defRPr sz="1600">
                <a:solidFill>
                  <a:srgbClr val="3D4455"/>
                </a:solidFill>
                <a:latin typeface="Calibri"/>
              </a:defRPr>
            </a:pPr>
            <a:r>
              <a:t>SpO2 falling below 90% despite supplemental O2</a:t>
            </a:r>
          </a:p>
          <a:p>
            <a:pPr>
              <a:spcBef>
                <a:spcPts val="400"/>
              </a:spcBef>
              <a:spcAft>
                <a:spcPts val="600"/>
              </a:spcAft>
              <a:defRPr sz="1600">
                <a:solidFill>
                  <a:srgbClr val="3D4455"/>
                </a:solidFill>
                <a:latin typeface="Calibri"/>
              </a:defRPr>
            </a:pPr>
            <a:r>
              <a:t>Bradycardia — the child's last compensatory mechanism has failed</a:t>
            </a:r>
          </a:p>
          <a:p>
            <a:pPr lvl="1">
              <a:spcBef>
                <a:spcPts val="400"/>
              </a:spcBef>
              <a:spcAft>
                <a:spcPts val="600"/>
              </a:spcAft>
              <a:defRPr sz="1400">
                <a:solidFill>
                  <a:srgbClr val="8A92A3"/>
                </a:solidFill>
                <a:latin typeface="Calibri"/>
              </a:defRPr>
            </a:pPr>
            <a:r>
              <a:t>The quiet child with retractions is more dangerous than the screaming child</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Pre-Intubation Optimization: The "7 Ps"</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Preparation: equipment, team, medications, plan B</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Preoxygenation: 3 min NRB or HFNC; apneic oxygenation with NC at 1L/kg/min</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Patient positioning: sniffing/ramped position; shoulder roll for infants</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Pretreatment: atropine 0.02 mg/kg if &lt;1 year or giving succinylcholine</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Paralysis + Induction: chosen agents (see RSI drugs)</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Placement: direct or video laryngoscopy; confirm with EtCO2</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Post-intubation: secure tube, CXR, ventilator settings, sedation</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RSI Drug Selection and Dosing</a:t>
            </a:r>
          </a:p>
        </p:txBody>
      </p:sp>
      <p:graphicFrame>
        <p:nvGraphicFramePr>
          <p:cNvPr id="5" name="Table 4"/>
          <p:cNvGraphicFramePr>
            <a:graphicFrameLocks noGrp="1"/>
          </p:cNvGraphicFramePr>
          <p:nvPr/>
        </p:nvGraphicFramePr>
        <p:xfrm>
          <a:off x="822960" y="1280160"/>
          <a:ext cx="10515600" cy="32004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457200">
                <a:tc>
                  <a:txBody>
                    <a:bodyPr/>
                    <a:lstStyle/>
                    <a:p>
                      <a:pPr algn="ctr">
                        <a:defRPr sz="1300" b="1">
                          <a:solidFill>
                            <a:srgbClr val="FFFFFF"/>
                          </a:solidFill>
                          <a:latin typeface="Calibri"/>
                        </a:defRPr>
                      </a:pPr>
                      <a:r>
                        <a:t>Drug</a:t>
                      </a:r>
                    </a:p>
                  </a:txBody>
                  <a:tcPr>
                    <a:solidFill>
                      <a:srgbClr val="007B83"/>
                    </a:solidFill>
                  </a:tcPr>
                </a:tc>
                <a:tc>
                  <a:txBody>
                    <a:bodyPr/>
                    <a:lstStyle/>
                    <a:p>
                      <a:pPr algn="ctr">
                        <a:defRPr sz="1300" b="1">
                          <a:solidFill>
                            <a:srgbClr val="FFFFFF"/>
                          </a:solidFill>
                          <a:latin typeface="Calibri"/>
                        </a:defRPr>
                      </a:pPr>
                      <a:r>
                        <a:t>Class</a:t>
                      </a:r>
                    </a:p>
                  </a:txBody>
                  <a:tcPr>
                    <a:solidFill>
                      <a:srgbClr val="007B83"/>
                    </a:solidFill>
                  </a:tcPr>
                </a:tc>
                <a:tc>
                  <a:txBody>
                    <a:bodyPr/>
                    <a:lstStyle/>
                    <a:p>
                      <a:pPr algn="ctr">
                        <a:defRPr sz="1300" b="1">
                          <a:solidFill>
                            <a:srgbClr val="FFFFFF"/>
                          </a:solidFill>
                          <a:latin typeface="Calibri"/>
                        </a:defRPr>
                      </a:pPr>
                      <a:r>
                        <a:t>Dose</a:t>
                      </a:r>
                    </a:p>
                  </a:txBody>
                  <a:tcPr>
                    <a:solidFill>
                      <a:srgbClr val="007B83"/>
                    </a:solidFill>
                  </a:tcPr>
                </a:tc>
                <a:tc>
                  <a:txBody>
                    <a:bodyPr/>
                    <a:lstStyle/>
                    <a:p>
                      <a:pPr algn="ctr">
                        <a:defRPr sz="1300" b="1">
                          <a:solidFill>
                            <a:srgbClr val="FFFFFF"/>
                          </a:solidFill>
                          <a:latin typeface="Calibri"/>
                        </a:defRPr>
                      </a:pPr>
                      <a:r>
                        <a:t>Onset</a:t>
                      </a:r>
                    </a:p>
                  </a:txBody>
                  <a:tcPr>
                    <a:solidFill>
                      <a:srgbClr val="007B83"/>
                    </a:solidFill>
                  </a:tcPr>
                </a:tc>
                <a:tc>
                  <a:txBody>
                    <a:bodyPr/>
                    <a:lstStyle/>
                    <a:p>
                      <a:pPr algn="ctr">
                        <a:defRPr sz="1300" b="1">
                          <a:solidFill>
                            <a:srgbClr val="FFFFFF"/>
                          </a:solidFill>
                          <a:latin typeface="Calibri"/>
                        </a:defRPr>
                      </a:pPr>
                      <a:r>
                        <a:t>Key Notes</a:t>
                      </a:r>
                    </a:p>
                  </a:txBody>
                  <a:tcPr>
                    <a:solidFill>
                      <a:srgbClr val="007B83"/>
                    </a:solidFill>
                  </a:tcPr>
                </a:tc>
              </a:tr>
              <a:tr h="457200">
                <a:tc>
                  <a:txBody>
                    <a:bodyPr/>
                    <a:lstStyle/>
                    <a:p>
                      <a:pPr algn="l">
                        <a:defRPr sz="1200">
                          <a:solidFill>
                            <a:srgbClr val="3D4455"/>
                          </a:solidFill>
                          <a:latin typeface="Calibri"/>
                        </a:defRPr>
                      </a:pPr>
                      <a:r>
                        <a:t>Etomidate</a:t>
                      </a:r>
                    </a:p>
                  </a:txBody>
                  <a:tcPr>
                    <a:solidFill>
                      <a:srgbClr val="F5F6FA"/>
                    </a:solidFill>
                  </a:tcPr>
                </a:tc>
                <a:tc>
                  <a:txBody>
                    <a:bodyPr/>
                    <a:lstStyle/>
                    <a:p>
                      <a:pPr algn="l">
                        <a:defRPr sz="1200">
                          <a:solidFill>
                            <a:srgbClr val="3D4455"/>
                          </a:solidFill>
                          <a:latin typeface="Calibri"/>
                        </a:defRPr>
                      </a:pPr>
                      <a:r>
                        <a:t>Induction</a:t>
                      </a:r>
                    </a:p>
                  </a:txBody>
                  <a:tcPr>
                    <a:solidFill>
                      <a:srgbClr val="F5F6FA"/>
                    </a:solidFill>
                  </a:tcPr>
                </a:tc>
                <a:tc>
                  <a:txBody>
                    <a:bodyPr/>
                    <a:lstStyle/>
                    <a:p>
                      <a:pPr algn="l">
                        <a:defRPr sz="1200">
                          <a:solidFill>
                            <a:srgbClr val="3D4455"/>
                          </a:solidFill>
                          <a:latin typeface="Calibri"/>
                        </a:defRPr>
                      </a:pPr>
                      <a:r>
                        <a:t>0.3 mg/kg IV</a:t>
                      </a:r>
                    </a:p>
                  </a:txBody>
                  <a:tcPr>
                    <a:solidFill>
                      <a:srgbClr val="F5F6FA"/>
                    </a:solidFill>
                  </a:tcPr>
                </a:tc>
                <a:tc>
                  <a:txBody>
                    <a:bodyPr/>
                    <a:lstStyle/>
                    <a:p>
                      <a:pPr algn="l">
                        <a:defRPr sz="1200">
                          <a:solidFill>
                            <a:srgbClr val="3D4455"/>
                          </a:solidFill>
                          <a:latin typeface="Calibri"/>
                        </a:defRPr>
                      </a:pPr>
                      <a:r>
                        <a:t>30-60 sec</a:t>
                      </a:r>
                    </a:p>
                  </a:txBody>
                  <a:tcPr>
                    <a:solidFill>
                      <a:srgbClr val="F5F6FA"/>
                    </a:solidFill>
                  </a:tcPr>
                </a:tc>
                <a:tc>
                  <a:txBody>
                    <a:bodyPr/>
                    <a:lstStyle/>
                    <a:p>
                      <a:pPr algn="l">
                        <a:defRPr sz="1200">
                          <a:solidFill>
                            <a:srgbClr val="3D4455"/>
                          </a:solidFill>
                          <a:latin typeface="Calibri"/>
                        </a:defRPr>
                      </a:pPr>
                      <a:r>
                        <a:t>Hemodynamically stable; avoid in sepsis (adrenal)</a:t>
                      </a:r>
                    </a:p>
                  </a:txBody>
                  <a:tcPr>
                    <a:solidFill>
                      <a:srgbClr val="F5F6FA"/>
                    </a:solidFill>
                  </a:tcPr>
                </a:tc>
              </a:tr>
              <a:tr h="457200">
                <a:tc>
                  <a:txBody>
                    <a:bodyPr/>
                    <a:lstStyle/>
                    <a:p>
                      <a:pPr algn="l">
                        <a:defRPr sz="1200">
                          <a:solidFill>
                            <a:srgbClr val="3D4455"/>
                          </a:solidFill>
                          <a:latin typeface="Calibri"/>
                        </a:defRPr>
                      </a:pPr>
                      <a:r>
                        <a:t>Ketamine</a:t>
                      </a:r>
                    </a:p>
                  </a:txBody>
                  <a:tcPr>
                    <a:solidFill>
                      <a:srgbClr val="FFFFFF"/>
                    </a:solidFill>
                  </a:tcPr>
                </a:tc>
                <a:tc>
                  <a:txBody>
                    <a:bodyPr/>
                    <a:lstStyle/>
                    <a:p>
                      <a:pPr algn="l">
                        <a:defRPr sz="1200">
                          <a:solidFill>
                            <a:srgbClr val="3D4455"/>
                          </a:solidFill>
                          <a:latin typeface="Calibri"/>
                        </a:defRPr>
                      </a:pPr>
                      <a:r>
                        <a:t>Induction</a:t>
                      </a:r>
                    </a:p>
                  </a:txBody>
                  <a:tcPr>
                    <a:solidFill>
                      <a:srgbClr val="FFFFFF"/>
                    </a:solidFill>
                  </a:tcPr>
                </a:tc>
                <a:tc>
                  <a:txBody>
                    <a:bodyPr/>
                    <a:lstStyle/>
                    <a:p>
                      <a:pPr algn="l">
                        <a:defRPr sz="1200">
                          <a:solidFill>
                            <a:srgbClr val="3D4455"/>
                          </a:solidFill>
                          <a:latin typeface="Calibri"/>
                        </a:defRPr>
                      </a:pPr>
                      <a:r>
                        <a:t>1-2 mg/kg IV</a:t>
                      </a:r>
                    </a:p>
                  </a:txBody>
                  <a:tcPr>
                    <a:solidFill>
                      <a:srgbClr val="FFFFFF"/>
                    </a:solidFill>
                  </a:tcPr>
                </a:tc>
                <a:tc>
                  <a:txBody>
                    <a:bodyPr/>
                    <a:lstStyle/>
                    <a:p>
                      <a:pPr algn="l">
                        <a:defRPr sz="1200">
                          <a:solidFill>
                            <a:srgbClr val="3D4455"/>
                          </a:solidFill>
                          <a:latin typeface="Calibri"/>
                        </a:defRPr>
                      </a:pPr>
                      <a:r>
                        <a:t>60 sec</a:t>
                      </a:r>
                    </a:p>
                  </a:txBody>
                  <a:tcPr>
                    <a:solidFill>
                      <a:srgbClr val="FFFFFF"/>
                    </a:solidFill>
                  </a:tcPr>
                </a:tc>
                <a:tc>
                  <a:txBody>
                    <a:bodyPr/>
                    <a:lstStyle/>
                    <a:p>
                      <a:pPr algn="l">
                        <a:defRPr sz="1200">
                          <a:solidFill>
                            <a:srgbClr val="3D4455"/>
                          </a:solidFill>
                          <a:latin typeface="Calibri"/>
                        </a:defRPr>
                      </a:pPr>
                      <a:r>
                        <a:t>Bronchodilator; maintains hemodynamics; ↑ICP is a myth</a:t>
                      </a:r>
                    </a:p>
                  </a:txBody>
                  <a:tcPr>
                    <a:solidFill>
                      <a:srgbClr val="FFFFFF"/>
                    </a:solidFill>
                  </a:tcPr>
                </a:tc>
              </a:tr>
              <a:tr h="457200">
                <a:tc>
                  <a:txBody>
                    <a:bodyPr/>
                    <a:lstStyle/>
                    <a:p>
                      <a:pPr algn="l">
                        <a:defRPr sz="1200">
                          <a:solidFill>
                            <a:srgbClr val="3D4455"/>
                          </a:solidFill>
                          <a:latin typeface="Calibri"/>
                        </a:defRPr>
                      </a:pPr>
                      <a:r>
                        <a:t>Propofol</a:t>
                      </a:r>
                    </a:p>
                  </a:txBody>
                  <a:tcPr>
                    <a:solidFill>
                      <a:srgbClr val="F5F6FA"/>
                    </a:solidFill>
                  </a:tcPr>
                </a:tc>
                <a:tc>
                  <a:txBody>
                    <a:bodyPr/>
                    <a:lstStyle/>
                    <a:p>
                      <a:pPr algn="l">
                        <a:defRPr sz="1200">
                          <a:solidFill>
                            <a:srgbClr val="3D4455"/>
                          </a:solidFill>
                          <a:latin typeface="Calibri"/>
                        </a:defRPr>
                      </a:pPr>
                      <a:r>
                        <a:t>Induction</a:t>
                      </a:r>
                    </a:p>
                  </a:txBody>
                  <a:tcPr>
                    <a:solidFill>
                      <a:srgbClr val="F5F6FA"/>
                    </a:solidFill>
                  </a:tcPr>
                </a:tc>
                <a:tc>
                  <a:txBody>
                    <a:bodyPr/>
                    <a:lstStyle/>
                    <a:p>
                      <a:pPr algn="l">
                        <a:defRPr sz="1200">
                          <a:solidFill>
                            <a:srgbClr val="3D4455"/>
                          </a:solidFill>
                          <a:latin typeface="Calibri"/>
                        </a:defRPr>
                      </a:pPr>
                      <a:r>
                        <a:t>1-3 mg/kg IV</a:t>
                      </a:r>
                    </a:p>
                  </a:txBody>
                  <a:tcPr>
                    <a:solidFill>
                      <a:srgbClr val="F5F6FA"/>
                    </a:solidFill>
                  </a:tcPr>
                </a:tc>
                <a:tc>
                  <a:txBody>
                    <a:bodyPr/>
                    <a:lstStyle/>
                    <a:p>
                      <a:pPr algn="l">
                        <a:defRPr sz="1200">
                          <a:solidFill>
                            <a:srgbClr val="3D4455"/>
                          </a:solidFill>
                          <a:latin typeface="Calibri"/>
                        </a:defRPr>
                      </a:pPr>
                      <a:r>
                        <a:t>30 sec</a:t>
                      </a:r>
                    </a:p>
                  </a:txBody>
                  <a:tcPr>
                    <a:solidFill>
                      <a:srgbClr val="F5F6FA"/>
                    </a:solidFill>
                  </a:tcPr>
                </a:tc>
                <a:tc>
                  <a:txBody>
                    <a:bodyPr/>
                    <a:lstStyle/>
                    <a:p>
                      <a:pPr algn="l">
                        <a:defRPr sz="1200">
                          <a:solidFill>
                            <a:srgbClr val="3D4455"/>
                          </a:solidFill>
                          <a:latin typeface="Calibri"/>
                        </a:defRPr>
                      </a:pPr>
                      <a:r>
                        <a:t>Causes hypotension; avoid in shock</a:t>
                      </a:r>
                    </a:p>
                  </a:txBody>
                  <a:tcPr>
                    <a:solidFill>
                      <a:srgbClr val="F5F6FA"/>
                    </a:solidFill>
                  </a:tcPr>
                </a:tc>
              </a:tr>
              <a:tr h="457200">
                <a:tc>
                  <a:txBody>
                    <a:bodyPr/>
                    <a:lstStyle/>
                    <a:p>
                      <a:pPr algn="l">
                        <a:defRPr sz="1200">
                          <a:solidFill>
                            <a:srgbClr val="3D4455"/>
                          </a:solidFill>
                          <a:latin typeface="Calibri"/>
                        </a:defRPr>
                      </a:pPr>
                      <a:r>
                        <a:t>Midazolam</a:t>
                      </a:r>
                    </a:p>
                  </a:txBody>
                  <a:tcPr>
                    <a:solidFill>
                      <a:srgbClr val="FFFFFF"/>
                    </a:solidFill>
                  </a:tcPr>
                </a:tc>
                <a:tc>
                  <a:txBody>
                    <a:bodyPr/>
                    <a:lstStyle/>
                    <a:p>
                      <a:pPr algn="l">
                        <a:defRPr sz="1200">
                          <a:solidFill>
                            <a:srgbClr val="3D4455"/>
                          </a:solidFill>
                          <a:latin typeface="Calibri"/>
                        </a:defRPr>
                      </a:pPr>
                      <a:r>
                        <a:t>Induction</a:t>
                      </a:r>
                    </a:p>
                  </a:txBody>
                  <a:tcPr>
                    <a:solidFill>
                      <a:srgbClr val="FFFFFF"/>
                    </a:solidFill>
                  </a:tcPr>
                </a:tc>
                <a:tc>
                  <a:txBody>
                    <a:bodyPr/>
                    <a:lstStyle/>
                    <a:p>
                      <a:pPr algn="l">
                        <a:defRPr sz="1200">
                          <a:solidFill>
                            <a:srgbClr val="3D4455"/>
                          </a:solidFill>
                          <a:latin typeface="Calibri"/>
                        </a:defRPr>
                      </a:pPr>
                      <a:r>
                        <a:t>0.1-0.3 mg/kg IV</a:t>
                      </a:r>
                    </a:p>
                  </a:txBody>
                  <a:tcPr>
                    <a:solidFill>
                      <a:srgbClr val="FFFFFF"/>
                    </a:solidFill>
                  </a:tcPr>
                </a:tc>
                <a:tc>
                  <a:txBody>
                    <a:bodyPr/>
                    <a:lstStyle/>
                    <a:p>
                      <a:pPr algn="l">
                        <a:defRPr sz="1200">
                          <a:solidFill>
                            <a:srgbClr val="3D4455"/>
                          </a:solidFill>
                          <a:latin typeface="Calibri"/>
                        </a:defRPr>
                      </a:pPr>
                      <a:r>
                        <a:t>60-90 sec</a:t>
                      </a:r>
                    </a:p>
                  </a:txBody>
                  <a:tcPr>
                    <a:solidFill>
                      <a:srgbClr val="FFFFFF"/>
                    </a:solidFill>
                  </a:tcPr>
                </a:tc>
                <a:tc>
                  <a:txBody>
                    <a:bodyPr/>
                    <a:lstStyle/>
                    <a:p>
                      <a:pPr algn="l">
                        <a:defRPr sz="1200">
                          <a:solidFill>
                            <a:srgbClr val="3D4455"/>
                          </a:solidFill>
                          <a:latin typeface="Calibri"/>
                        </a:defRPr>
                      </a:pPr>
                      <a:r>
                        <a:t>Unreliable; significant hypotension</a:t>
                      </a:r>
                    </a:p>
                  </a:txBody>
                  <a:tcPr>
                    <a:solidFill>
                      <a:srgbClr val="FFFFFF"/>
                    </a:solidFill>
                  </a:tcPr>
                </a:tc>
              </a:tr>
              <a:tr h="457200">
                <a:tc>
                  <a:txBody>
                    <a:bodyPr/>
                    <a:lstStyle/>
                    <a:p>
                      <a:pPr algn="l">
                        <a:defRPr sz="1200">
                          <a:solidFill>
                            <a:srgbClr val="3D4455"/>
                          </a:solidFill>
                          <a:latin typeface="Calibri"/>
                        </a:defRPr>
                      </a:pPr>
                      <a:r>
                        <a:t>Rocuronium</a:t>
                      </a:r>
                    </a:p>
                  </a:txBody>
                  <a:tcPr>
                    <a:solidFill>
                      <a:srgbClr val="F5F6FA"/>
                    </a:solidFill>
                  </a:tcPr>
                </a:tc>
                <a:tc>
                  <a:txBody>
                    <a:bodyPr/>
                    <a:lstStyle/>
                    <a:p>
                      <a:pPr algn="l">
                        <a:defRPr sz="1200">
                          <a:solidFill>
                            <a:srgbClr val="3D4455"/>
                          </a:solidFill>
                          <a:latin typeface="Calibri"/>
                        </a:defRPr>
                      </a:pPr>
                      <a:r>
                        <a:t>Paralytic</a:t>
                      </a:r>
                    </a:p>
                  </a:txBody>
                  <a:tcPr>
                    <a:solidFill>
                      <a:srgbClr val="F5F6FA"/>
                    </a:solidFill>
                  </a:tcPr>
                </a:tc>
                <a:tc>
                  <a:txBody>
                    <a:bodyPr/>
                    <a:lstStyle/>
                    <a:p>
                      <a:pPr algn="l">
                        <a:defRPr sz="1200">
                          <a:solidFill>
                            <a:srgbClr val="3D4455"/>
                          </a:solidFill>
                          <a:latin typeface="Calibri"/>
                        </a:defRPr>
                      </a:pPr>
                      <a:r>
                        <a:t>1-1.2 mg/kg IV</a:t>
                      </a:r>
                    </a:p>
                  </a:txBody>
                  <a:tcPr>
                    <a:solidFill>
                      <a:srgbClr val="F5F6FA"/>
                    </a:solidFill>
                  </a:tcPr>
                </a:tc>
                <a:tc>
                  <a:txBody>
                    <a:bodyPr/>
                    <a:lstStyle/>
                    <a:p>
                      <a:pPr algn="l">
                        <a:defRPr sz="1200">
                          <a:solidFill>
                            <a:srgbClr val="3D4455"/>
                          </a:solidFill>
                          <a:latin typeface="Calibri"/>
                        </a:defRPr>
                      </a:pPr>
                      <a:r>
                        <a:t>60 sec</a:t>
                      </a:r>
                    </a:p>
                  </a:txBody>
                  <a:tcPr>
                    <a:solidFill>
                      <a:srgbClr val="F5F6FA"/>
                    </a:solidFill>
                  </a:tcPr>
                </a:tc>
                <a:tc>
                  <a:txBody>
                    <a:bodyPr/>
                    <a:lstStyle/>
                    <a:p>
                      <a:pPr algn="l">
                        <a:defRPr sz="1200">
                          <a:solidFill>
                            <a:srgbClr val="3D4455"/>
                          </a:solidFill>
                          <a:latin typeface="Calibri"/>
                        </a:defRPr>
                      </a:pPr>
                      <a:r>
                        <a:t>Preferred paralytic; reversible with sugammadex</a:t>
                      </a:r>
                    </a:p>
                  </a:txBody>
                  <a:tcPr>
                    <a:solidFill>
                      <a:srgbClr val="F5F6FA"/>
                    </a:solidFill>
                  </a:tcPr>
                </a:tc>
              </a:tr>
              <a:tr h="457200">
                <a:tc>
                  <a:txBody>
                    <a:bodyPr/>
                    <a:lstStyle/>
                    <a:p>
                      <a:pPr algn="l">
                        <a:defRPr sz="1200">
                          <a:solidFill>
                            <a:srgbClr val="3D4455"/>
                          </a:solidFill>
                          <a:latin typeface="Calibri"/>
                        </a:defRPr>
                      </a:pPr>
                      <a:r>
                        <a:t>Succinylcholine</a:t>
                      </a:r>
                    </a:p>
                  </a:txBody>
                  <a:tcPr>
                    <a:solidFill>
                      <a:srgbClr val="FFFFFF"/>
                    </a:solidFill>
                  </a:tcPr>
                </a:tc>
                <a:tc>
                  <a:txBody>
                    <a:bodyPr/>
                    <a:lstStyle/>
                    <a:p>
                      <a:pPr algn="l">
                        <a:defRPr sz="1200">
                          <a:solidFill>
                            <a:srgbClr val="3D4455"/>
                          </a:solidFill>
                          <a:latin typeface="Calibri"/>
                        </a:defRPr>
                      </a:pPr>
                      <a:r>
                        <a:t>Paralytic</a:t>
                      </a:r>
                    </a:p>
                  </a:txBody>
                  <a:tcPr>
                    <a:solidFill>
                      <a:srgbClr val="FFFFFF"/>
                    </a:solidFill>
                  </a:tcPr>
                </a:tc>
                <a:tc>
                  <a:txBody>
                    <a:bodyPr/>
                    <a:lstStyle/>
                    <a:p>
                      <a:pPr algn="l">
                        <a:defRPr sz="1200">
                          <a:solidFill>
                            <a:srgbClr val="3D4455"/>
                          </a:solidFill>
                          <a:latin typeface="Calibri"/>
                        </a:defRPr>
                      </a:pPr>
                      <a:r>
                        <a:t>2 mg/kg IV (child)</a:t>
                      </a:r>
                    </a:p>
                  </a:txBody>
                  <a:tcPr>
                    <a:solidFill>
                      <a:srgbClr val="FFFFFF"/>
                    </a:solidFill>
                  </a:tcPr>
                </a:tc>
                <a:tc>
                  <a:txBody>
                    <a:bodyPr/>
                    <a:lstStyle/>
                    <a:p>
                      <a:pPr algn="l">
                        <a:defRPr sz="1200">
                          <a:solidFill>
                            <a:srgbClr val="3D4455"/>
                          </a:solidFill>
                          <a:latin typeface="Calibri"/>
                        </a:defRPr>
                      </a:pPr>
                      <a:r>
                        <a:t>45 sec</a:t>
                      </a:r>
                    </a:p>
                  </a:txBody>
                  <a:tcPr>
                    <a:solidFill>
                      <a:srgbClr val="FFFFFF"/>
                    </a:solidFill>
                  </a:tcPr>
                </a:tc>
                <a:tc>
                  <a:txBody>
                    <a:bodyPr/>
                    <a:lstStyle/>
                    <a:p>
                      <a:pPr algn="l">
                        <a:defRPr sz="1200">
                          <a:solidFill>
                            <a:srgbClr val="3D4455"/>
                          </a:solidFill>
                          <a:latin typeface="Calibri"/>
                        </a:defRPr>
                      </a:pPr>
                      <a:r>
                        <a:t>Short-acting; avoid in hyperK, burns, crush, myopathy</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Difficult Airway Algorithm</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Attempt 1: Direct or video laryngoscopy with optimal positioning</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Attempt 2: Adjust — reposition, change blade, use bougie, BURP/ELM</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Attempt 3: Switch provider or switch to video laryngoscopy if not used</a:t>
            </a:r>
          </a:p>
        </p:txBody>
      </p:sp>
      <p:sp>
        <p:nvSpPr>
          <p:cNvPr id="8" name="Rounded Rectangle 7"/>
          <p:cNvSpPr/>
          <p:nvPr/>
        </p:nvSpPr>
        <p:spPr>
          <a:xfrm>
            <a:off x="630936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FAILED — Cannot intubate: place supraglottic airway (LMA)</a:t>
            </a:r>
          </a:p>
        </p:txBody>
      </p:sp>
      <p:sp>
        <p:nvSpPr>
          <p:cNvPr id="9" name="Rounded Rectangle 8"/>
          <p:cNvSpPr/>
          <p:nvPr/>
        </p:nvSpPr>
        <p:spPr>
          <a:xfrm>
            <a:off x="630936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FAILED LMA — Cannot ventilate: BVM with two-person technique + OPA/NPA</a:t>
            </a:r>
          </a:p>
        </p:txBody>
      </p:sp>
      <p:sp>
        <p:nvSpPr>
          <p:cNvPr id="10" name="Rounded Rectangle 9"/>
          <p:cNvSpPr/>
          <p:nvPr/>
        </p:nvSpPr>
        <p:spPr>
          <a:xfrm>
            <a:off x="630936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CANNOT OXYGENATE: Needle cricothyrotomy (&lt; 8-10y) or surgical cric (&gt;10-12y)</a:t>
            </a:r>
          </a:p>
        </p:txBody>
      </p:sp>
      <p:sp>
        <p:nvSpPr>
          <p:cNvPr id="11" name="Rectangle 10"/>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13" name="TextBox 12"/>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Video Laryngoscopy in Pediatric Airway</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Now considered first-line in many PEM centers for all intubations</a:t>
            </a:r>
          </a:p>
          <a:p>
            <a:pPr>
              <a:spcBef>
                <a:spcPts val="400"/>
              </a:spcBef>
              <a:spcAft>
                <a:spcPts val="600"/>
              </a:spcAft>
              <a:defRPr sz="1600">
                <a:solidFill>
                  <a:srgbClr val="3D4455"/>
                </a:solidFill>
                <a:latin typeface="Calibri"/>
              </a:defRPr>
            </a:pPr>
            <a:r>
              <a:t>Improves glottic visualization by 1-2 Cormack-Lehane grades</a:t>
            </a:r>
          </a:p>
          <a:p>
            <a:pPr>
              <a:spcBef>
                <a:spcPts val="400"/>
              </a:spcBef>
              <a:spcAft>
                <a:spcPts val="600"/>
              </a:spcAft>
              <a:defRPr sz="1600">
                <a:solidFill>
                  <a:srgbClr val="3D4455"/>
                </a:solidFill>
                <a:latin typeface="Calibri"/>
              </a:defRPr>
            </a:pPr>
            <a:r>
              <a:t>Allows team visualization — better teaching and supervision</a:t>
            </a:r>
          </a:p>
          <a:p>
            <a:pPr>
              <a:spcBef>
                <a:spcPts val="400"/>
              </a:spcBef>
              <a:spcAft>
                <a:spcPts val="600"/>
              </a:spcAft>
              <a:defRPr sz="1600">
                <a:solidFill>
                  <a:srgbClr val="3D4455"/>
                </a:solidFill>
                <a:latin typeface="Calibri"/>
              </a:defRPr>
            </a:pPr>
            <a:r>
              <a:t>Available sizes for neonates through adolescents</a:t>
            </a:r>
          </a:p>
          <a:p>
            <a:pPr>
              <a:spcBef>
                <a:spcPts val="400"/>
              </a:spcBef>
              <a:spcAft>
                <a:spcPts val="600"/>
              </a:spcAft>
              <a:defRPr sz="1600">
                <a:solidFill>
                  <a:srgbClr val="3D4455"/>
                </a:solidFill>
                <a:latin typeface="Calibri"/>
              </a:defRPr>
            </a:pPr>
            <a:r>
              <a:t>Hyperangulated blades: better view, but harder tube delivery — use stylet</a:t>
            </a:r>
          </a:p>
          <a:p>
            <a:pPr>
              <a:spcBef>
                <a:spcPts val="400"/>
              </a:spcBef>
              <a:spcAft>
                <a:spcPts val="600"/>
              </a:spcAft>
              <a:defRPr sz="1600">
                <a:solidFill>
                  <a:srgbClr val="3D4455"/>
                </a:solidFill>
                <a:latin typeface="Calibri"/>
              </a:defRPr>
            </a:pPr>
            <a:r>
              <a:t>Standard geometry blades (C-MAC): can also be used as direct laryngoscope</a:t>
            </a:r>
          </a:p>
          <a:p>
            <a:pPr lvl="1">
              <a:spcBef>
                <a:spcPts val="400"/>
              </a:spcBef>
              <a:spcAft>
                <a:spcPts val="600"/>
              </a:spcAft>
              <a:defRPr sz="1400">
                <a:solidFill>
                  <a:srgbClr val="8A92A3"/>
                </a:solidFill>
                <a:latin typeface="Calibri"/>
              </a:defRPr>
            </a:pPr>
            <a:r>
              <a:t>Does NOT replace the need to learn direct laryngoscopy fundamentals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Foreign Body Airway Obstruction (FBAO)</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Peak age: 6 months to 3 years — coins, toys, nuts, hot dogs, grapes</a:t>
            </a:r>
          </a:p>
          <a:p>
            <a:pPr>
              <a:spcBef>
                <a:spcPts val="400"/>
              </a:spcBef>
              <a:spcAft>
                <a:spcPts val="600"/>
              </a:spcAft>
              <a:defRPr sz="1600">
                <a:solidFill>
                  <a:srgbClr val="3D4455"/>
                </a:solidFill>
                <a:latin typeface="Calibri"/>
              </a:defRPr>
            </a:pPr>
            <a:r>
              <a:t>CONSCIOUS + mild obstruction: encourage coughing, do NOT intervene</a:t>
            </a:r>
          </a:p>
          <a:p>
            <a:pPr>
              <a:spcBef>
                <a:spcPts val="400"/>
              </a:spcBef>
              <a:spcAft>
                <a:spcPts val="600"/>
              </a:spcAft>
              <a:defRPr sz="1600">
                <a:solidFill>
                  <a:srgbClr val="3D4455"/>
                </a:solidFill>
                <a:latin typeface="Calibri"/>
              </a:defRPr>
            </a:pPr>
            <a:r>
              <a:t>CONSCIOUS + severe obstruction (silent cough, cyanosis):</a:t>
            </a:r>
          </a:p>
          <a:p>
            <a:pPr lvl="1">
              <a:spcBef>
                <a:spcPts val="400"/>
              </a:spcBef>
              <a:spcAft>
                <a:spcPts val="600"/>
              </a:spcAft>
              <a:defRPr sz="1400">
                <a:solidFill>
                  <a:srgbClr val="8A92A3"/>
                </a:solidFill>
                <a:latin typeface="Calibri"/>
              </a:defRPr>
            </a:pPr>
            <a:r>
              <a:t>&lt; 1 year: 5 back blows + 5 chest thrusts (NO abdominal thrusts)</a:t>
            </a:r>
          </a:p>
          <a:p>
            <a:pPr lvl="1">
              <a:spcBef>
                <a:spcPts val="400"/>
              </a:spcBef>
              <a:spcAft>
                <a:spcPts val="600"/>
              </a:spcAft>
              <a:defRPr sz="1400">
                <a:solidFill>
                  <a:srgbClr val="8A92A3"/>
                </a:solidFill>
                <a:latin typeface="Calibri"/>
              </a:defRPr>
            </a:pPr>
            <a:r>
              <a:t>&gt; 1 year: abdominal thrusts (Heimlich maneuver)</a:t>
            </a:r>
          </a:p>
          <a:p>
            <a:pPr>
              <a:spcBef>
                <a:spcPts val="400"/>
              </a:spcBef>
              <a:spcAft>
                <a:spcPts val="600"/>
              </a:spcAft>
              <a:defRPr sz="1600">
                <a:solidFill>
                  <a:srgbClr val="3D4455"/>
                </a:solidFill>
                <a:latin typeface="Calibri"/>
              </a:defRPr>
            </a:pPr>
            <a:r>
              <a:t>UNCONSCIOUS: begin CPR; look in mouth before each breath — remove visible FB</a:t>
            </a:r>
          </a:p>
          <a:p>
            <a:pPr>
              <a:spcBef>
                <a:spcPts val="400"/>
              </a:spcBef>
              <a:spcAft>
                <a:spcPts val="600"/>
              </a:spcAft>
              <a:defRPr sz="1600">
                <a:solidFill>
                  <a:srgbClr val="3D4455"/>
                </a:solidFill>
                <a:latin typeface="Calibri"/>
              </a:defRPr>
            </a:pPr>
            <a:r>
              <a:t>Persistent: direct laryngoscopy + Magill forceps in ED</a:t>
            </a:r>
          </a:p>
          <a:p>
            <a:pPr lvl="1">
              <a:spcBef>
                <a:spcPts val="400"/>
              </a:spcBef>
              <a:spcAft>
                <a:spcPts val="600"/>
              </a:spcAft>
              <a:defRPr sz="1400">
                <a:solidFill>
                  <a:srgbClr val="8A92A3"/>
                </a:solidFill>
                <a:latin typeface="Calibri"/>
              </a:defRPr>
            </a:pPr>
            <a:r>
              <a:t>Do NOT perform blind finger sweeps in infants or children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Post-Intubation Management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CONFIRM placement: EtCO2 waveform (gold standard), bilateral breath sounds, CXR</a:t>
            </a:r>
          </a:p>
          <a:p>
            <a:pPr>
              <a:spcBef>
                <a:spcPts val="400"/>
              </a:spcBef>
              <a:spcAft>
                <a:spcPts val="600"/>
              </a:spcAft>
              <a:defRPr sz="1600">
                <a:solidFill>
                  <a:srgbClr val="3D4455"/>
                </a:solidFill>
                <a:latin typeface="Calibri"/>
              </a:defRPr>
            </a:pPr>
            <a:r>
              <a:t>Secure the tube: commercial holder or tape; note depth at lip</a:t>
            </a:r>
          </a:p>
          <a:p>
            <a:pPr>
              <a:spcBef>
                <a:spcPts val="400"/>
              </a:spcBef>
              <a:spcAft>
                <a:spcPts val="600"/>
              </a:spcAft>
              <a:defRPr sz="1600">
                <a:solidFill>
                  <a:srgbClr val="3D4455"/>
                </a:solidFill>
                <a:latin typeface="Calibri"/>
              </a:defRPr>
            </a:pPr>
            <a:r>
              <a:t>Ventilator settings: Tidal volume 6-8 mL/kg; RR age-appropriate; PEEP 5-8</a:t>
            </a:r>
          </a:p>
          <a:p>
            <a:pPr>
              <a:spcBef>
                <a:spcPts val="400"/>
              </a:spcBef>
              <a:spcAft>
                <a:spcPts val="600"/>
              </a:spcAft>
              <a:defRPr sz="1600">
                <a:solidFill>
                  <a:srgbClr val="3D4455"/>
                </a:solidFill>
                <a:latin typeface="Calibri"/>
              </a:defRPr>
            </a:pPr>
            <a:r>
              <a:t>Sedation: midazolam 0.1 mg/kg/hr + fentanyl 1-2 mcg/kg/hr infusions</a:t>
            </a:r>
          </a:p>
          <a:p>
            <a:pPr>
              <a:spcBef>
                <a:spcPts val="400"/>
              </a:spcBef>
              <a:spcAft>
                <a:spcPts val="600"/>
              </a:spcAft>
              <a:defRPr sz="1600">
                <a:solidFill>
                  <a:srgbClr val="3D4455"/>
                </a:solidFill>
                <a:latin typeface="Calibri"/>
              </a:defRPr>
            </a:pPr>
            <a:r>
              <a:t>Monitor: continuous EtCO2, SpO2, HR, BP; ABG within 30 min</a:t>
            </a:r>
          </a:p>
          <a:p>
            <a:pPr>
              <a:spcBef>
                <a:spcPts val="400"/>
              </a:spcBef>
              <a:spcAft>
                <a:spcPts val="600"/>
              </a:spcAft>
              <a:defRPr sz="1600">
                <a:solidFill>
                  <a:srgbClr val="3D4455"/>
                </a:solidFill>
                <a:latin typeface="Calibri"/>
              </a:defRPr>
            </a:pPr>
            <a:r>
              <a:t>Prevent: accidental extubation (biggest risk), right mainstem migration</a:t>
            </a:r>
          </a:p>
          <a:p>
            <a:pPr lvl="1">
              <a:spcBef>
                <a:spcPts val="400"/>
              </a:spcBef>
              <a:spcAft>
                <a:spcPts val="600"/>
              </a:spcAft>
              <a:defRPr sz="1400">
                <a:solidFill>
                  <a:srgbClr val="8A92A3"/>
                </a:solidFill>
                <a:latin typeface="Calibri"/>
              </a:defRPr>
            </a:pPr>
            <a:r>
              <a:t>Reassess tube position with every patient movement or transport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8-Month-Old with Stridor and Desaturation</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An 8-month-old boy is brought in with 2 days of cough, runny nose, and low-grade fever. Tonight, parents noticed a "barky cough" and noisy breathing. On arrival: audible inspiratory stridor at rest, moderate retractions, SpO2 88% on room air, HR 175, RR 55. Given blow-by O2 — SpO2 improves to 92%. Child appears tired and has decreased air entry bilaterally.</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What is your PAT assessment? (Abnormal appearance, abnormal breathing, normal circulation — respiratory failure)</a:t>
            </a:r>
          </a:p>
          <a:p>
            <a:pPr>
              <a:spcAft>
                <a:spcPts val="600"/>
              </a:spcAft>
              <a:defRPr sz="1400" b="1">
                <a:solidFill>
                  <a:srgbClr val="007B83"/>
                </a:solidFill>
                <a:latin typeface="Calibri"/>
              </a:defRPr>
            </a:pPr>
            <a:r>
              <a:t>▸  Initial management? (Nebulized epinephrine 0.5 mL/kg of 1:1000, max 5 mL + dexamethasone 0.6 mg/kg)</a:t>
            </a:r>
          </a:p>
          <a:p>
            <a:pPr>
              <a:spcAft>
                <a:spcPts val="600"/>
              </a:spcAft>
              <a:defRPr sz="1400" b="1">
                <a:solidFill>
                  <a:srgbClr val="007B83"/>
                </a:solidFill>
                <a:latin typeface="Calibri"/>
              </a:defRPr>
            </a:pPr>
            <a:r>
              <a:t>▸  No improvement after 2 doses of racemic epi — what are you considering beyond croup?</a:t>
            </a:r>
          </a:p>
          <a:p>
            <a:pPr>
              <a:spcAft>
                <a:spcPts val="600"/>
              </a:spcAft>
              <a:defRPr sz="1400" b="1">
                <a:solidFill>
                  <a:srgbClr val="007B83"/>
                </a:solidFill>
                <a:latin typeface="Calibri"/>
              </a:defRPr>
            </a:pPr>
            <a:r>
              <a:t>▸  Preparation if intubation needed: what ETT size? (3.5 cuffed, have 3.0 and 4.0 ready)</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Airway Pitfalls in PEM</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Failing to preoxygenate adequately — children desaturate in seconds, not minutes</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Underdosing paralytic: rocuronium 0.6 mg/kg is inadequate — use 1-1.2 mg/kg for RSI</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Not having a plan B BEFORE attempt 1 — always prepare LMA and cric kit</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Forcing supine position in a child maintaining their own airway with stridor</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Forgetting atropine in infants — vagal bradycardia during intubation can be fatal</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Right mainstem intubation — verify depth with formula and CXR every time</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Not using EtCO2 for continuous confirmation after intubation</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Pediatric airway anatomy is fundamentally different — plan and size accordingly</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Preoxygenate aggressively; children have minimal apnea reserve</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Ketamine + rocuronium (1.2 mg/kg) is the PEM RSI combination of choice</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Limit to 3 intubation attempts → LMA rescue → surgical airway if cannot oxygenate</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Continuous EtCO2 after intubation is non-negotiable — it detects dislodgement first</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Nishisaki A, et al. Effect of just-in-time simulation training on tracheal intubation procedure safety. Pediatrics. 2010;125(6):e1292-e1299.</a:t>
            </a:r>
          </a:p>
          <a:p>
            <a:pPr>
              <a:spcAft>
                <a:spcPts val="400"/>
              </a:spcAft>
              <a:defRPr sz="1100">
                <a:solidFill>
                  <a:srgbClr val="3D4455"/>
                </a:solidFill>
                <a:latin typeface="Calibri"/>
              </a:defRPr>
            </a:pPr>
            <a:r>
              <a:t>2. Black AE, Flynn PE, et al. Development of a guideline for the management of the unanticipated difficult airway in pediatric practice. Paediatr Anaesth. 2015;25(4):346-362.</a:t>
            </a:r>
          </a:p>
          <a:p>
            <a:pPr>
              <a:spcAft>
                <a:spcPts val="400"/>
              </a:spcAft>
              <a:defRPr sz="1100">
                <a:solidFill>
                  <a:srgbClr val="3D4455"/>
                </a:solidFill>
                <a:latin typeface="Calibri"/>
              </a:defRPr>
            </a:pPr>
            <a:r>
              <a:t>3. Topjian AA, Raymond TT, et al. Pediatric Basic and Advanced Life Support: 2020 AHA Guidelines. Circulation. 2020;142(16_suppl_2):S469-S523.</a:t>
            </a:r>
          </a:p>
          <a:p>
            <a:pPr>
              <a:spcAft>
                <a:spcPts val="400"/>
              </a:spcAft>
              <a:defRPr sz="1100">
                <a:solidFill>
                  <a:srgbClr val="3D4455"/>
                </a:solidFill>
                <a:latin typeface="Calibri"/>
              </a:defRPr>
            </a:pPr>
            <a:r>
              <a:t>4. Weiss M, et al. Cuffed vs uncuffed tracheal tubes in children: a randomised controlled trial. Lancet. 2009;374(9695):1102-1107.</a:t>
            </a:r>
          </a:p>
          <a:p>
            <a:pPr>
              <a:spcAft>
                <a:spcPts val="400"/>
              </a:spcAft>
              <a:defRPr sz="1100">
                <a:solidFill>
                  <a:srgbClr val="3D4455"/>
                </a:solidFill>
                <a:latin typeface="Calibri"/>
              </a:defRPr>
            </a:pPr>
            <a:r>
              <a:t>5. Nagler J, Bachur RG. Advanced airway management. Curr Opin Pediatr. 2009;21(3):299-305.</a:t>
            </a:r>
          </a:p>
          <a:p>
            <a:pPr>
              <a:spcAft>
                <a:spcPts val="400"/>
              </a:spcAft>
              <a:defRPr sz="1100">
                <a:solidFill>
                  <a:srgbClr val="3D4455"/>
                </a:solidFill>
                <a:latin typeface="Calibri"/>
              </a:defRPr>
            </a:pPr>
            <a:r>
              <a:t>6. Szmuk P, et al. A comparison of GlideScope video laryngoscopy and direct laryngoscopy in children. Paediatr Anaesth. 2012;22(11):1092-1097.</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Airway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