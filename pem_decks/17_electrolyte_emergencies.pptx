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talk around urgency. Electrolyte emergencies kill by two mechanisms: the derangement itself (hyperkalemia causing cardiac arrest) or the correction (too-rapid sodium correction causing osmotic demyelination). Both are preventable. The PEM physician must know the emergency treatments cold.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Symptomatic hyponatremia (seizures, AMS) is a medical emergency. Treatment is 3% hypertonic saline 3-5 mL/kg IV over 10-20 minutes. This raises Na by ~3-5 mEq/L and should stop the seizures. After the acute correction, slow down: maximum correction rate 10-12 mEq/L in 24 hours to avoid osmotic demyelination syndrome. If the hyponatremia developed over &gt;48 hours, correct even more slowly (8 mEq/L/24h).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Hypernatremia in children is almost always due to dehydration (gastroenteritis, poor intake). The brain adapts to hypertonicity by generating idiogenic osmoles. If you correct sodium too rapidly, water rushes into brain cells and causes cerebral edema. The correction must be slow and monitored. Check Na every 2-4 hours and adjust fluids accordingly.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time-critical electrolyte emergency. Calcium gluconate does NOT lower potassium — it stabilizes the cardiac membrane to prevent arrhythmia. It buys you time while you implement the shifting and elimination strategies. Insulin + glucose is the most effective shifting agent. Always check if the sample is hemolyzed — false hyperkalemia from hemolysis is very common in pediatric blood draws.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sequence: STABILIZE (calcium) → SHIFT (insulin/albuterol) → ELIMINATE (furosemide/dialysis). Calcium gluconate is preferred over calcium chloride in children because it is less irritating to veins and has lower risk of tissue necrosis if extravasated. Kayexalate onset is slow and uncertain — do not rely on it as your primary treatment in acute hyperkalemia.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critical pearl: hypocalcemia cannot be corrected if magnesium is also low. Magnesium is required for PTH secretion. If you are giving calcium and it is not correcting, check and replace magnesium first. In the setting of massive transfusion, citrate in blood products binds calcium — give empiric calcium with every 3-4 units of blood products.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Classic PEM case of water intoxication from diluted formula. This is preventable with parent education. The treatment is straightforward: 3% NaCl bolus to stop the seizures, then slow correction. Calculate correction carefully. If Na rises too fast (&gt;12 mEq/L in 24h), you can give free water (D5W) or desmopressin to slow the correction and prevent osmotic demyelination.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overcorrection pitfalls are the most important. Both too-rapid correction of hyponatremia and hypernatremia are iatrogenic disasters. Set a correction rate, calculate the expected change with your chosen fluid, check electrolytes frequently, and adjust. The hemolyzed sample issue is very common in pediatrics due to difficult blood draws.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834640"/>
            <a:ext cx="2560320" cy="54864"/>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146304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560"/>
              </a:lnSpc>
              <a:spcBef>
                <a:spcPts val="0"/>
              </a:spcBef>
              <a:spcAft>
                <a:spcPts val="0"/>
              </a:spcAft>
              <a:defRPr sz="1300" b="1" i="0">
                <a:solidFill>
                  <a:srgbClr val="FFFFFF"/>
                </a:solidFill>
                <a:latin typeface="Calibri"/>
              </a:defRPr>
            </a:pPr>
            <a:r>
              <a:t>DECK 17 / 30</a:t>
            </a:r>
          </a:p>
        </p:txBody>
      </p:sp>
      <p:sp>
        <p:nvSpPr>
          <p:cNvPr id="5" name="TextBox 4"/>
          <p:cNvSpPr txBox="1"/>
          <p:nvPr/>
        </p:nvSpPr>
        <p:spPr>
          <a:xfrm>
            <a:off x="731520" y="1965960"/>
            <a:ext cx="9144000" cy="457200"/>
          </a:xfrm>
          <a:prstGeom prst="rect">
            <a:avLst/>
          </a:prstGeom>
          <a:noFill/>
        </p:spPr>
        <p:txBody>
          <a:bodyPr wrap="none">
            <a:spAutoFit/>
          </a:bodyPr>
          <a:lstStyle/>
          <a:p>
            <a:pPr algn="l">
              <a:defRPr sz="1100" b="1">
                <a:solidFill>
                  <a:srgbClr val="00A3AD"/>
                </a:solidFill>
                <a:latin typeface="Calibri"/>
              </a:defRPr>
            </a:pPr>
            <a:r>
              <a:t>PEDIATRIC EMERGENCY MEDICINE  ·  FELLOW TEACHING LIBRARY</a:t>
            </a:r>
          </a:p>
        </p:txBody>
      </p:sp>
      <p:sp>
        <p:nvSpPr>
          <p:cNvPr id="6" name="TextBox 5"/>
          <p:cNvSpPr txBox="1"/>
          <p:nvPr/>
        </p:nvSpPr>
        <p:spPr>
          <a:xfrm>
            <a:off x="731520" y="3200400"/>
            <a:ext cx="10058400" cy="1828800"/>
          </a:xfrm>
          <a:prstGeom prst="rect">
            <a:avLst/>
          </a:prstGeom>
          <a:noFill/>
        </p:spPr>
        <p:txBody>
          <a:bodyPr wrap="square">
            <a:spAutoFit/>
          </a:bodyPr>
          <a:lstStyle/>
          <a:p>
            <a:pPr algn="l">
              <a:defRPr sz="3800" b="1">
                <a:solidFill>
                  <a:srgbClr val="FFFFFF"/>
                </a:solidFill>
                <a:latin typeface="Calibri"/>
              </a:defRPr>
            </a:pPr>
            <a:r>
              <a:t>Electrolyte Emergencies in Pediatric Emergency Medicine</a:t>
            </a:r>
          </a:p>
        </p:txBody>
      </p:sp>
      <p:sp>
        <p:nvSpPr>
          <p:cNvPr id="7" name="TextBox 6"/>
          <p:cNvSpPr txBox="1"/>
          <p:nvPr/>
        </p:nvSpPr>
        <p:spPr>
          <a:xfrm>
            <a:off x="731520" y="4937760"/>
            <a:ext cx="9144000" cy="731520"/>
          </a:xfrm>
          <a:prstGeom prst="rect">
            <a:avLst/>
          </a:prstGeom>
          <a:noFill/>
        </p:spPr>
        <p:txBody>
          <a:bodyPr wrap="square">
            <a:spAutoFit/>
          </a:bodyPr>
          <a:lstStyle/>
          <a:p>
            <a:pPr algn="l">
              <a:defRPr sz="1600">
                <a:solidFill>
                  <a:srgbClr val="8A92A3"/>
                </a:solidFill>
                <a:latin typeface="Calibri"/>
              </a:defRPr>
            </a:pPr>
            <a:r>
              <a:t>Hypo/Hypernatremia, Hypo/Hyperkalemia, Hypocalcemia, and Acute Correction Protocols</a:t>
            </a:r>
          </a:p>
        </p:txBody>
      </p:sp>
      <p:sp>
        <p:nvSpPr>
          <p:cNvPr id="8" name="Rectangle 7"/>
          <p:cNvSpPr/>
          <p:nvPr/>
        </p:nvSpPr>
        <p:spPr>
          <a:xfrm>
            <a:off x="731520" y="6126480"/>
            <a:ext cx="10515600" cy="18288"/>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263640"/>
            <a:ext cx="10058400" cy="365760"/>
          </a:xfrm>
          <a:prstGeom prst="rect">
            <a:avLst/>
          </a:prstGeom>
          <a:noFill/>
        </p:spPr>
        <p:txBody>
          <a:bodyPr wrap="none">
            <a:spAutoFit/>
          </a:bodyPr>
          <a:lstStyle/>
          <a:p>
            <a:pPr>
              <a:defRPr sz="1000">
                <a:solidFill>
                  <a:srgbClr val="8A92A3"/>
                </a:solidFill>
                <a:latin typeface="Calibri"/>
              </a:defRPr>
            </a:pPr>
            <a:r>
              <a:t>PEM Fellow Teaching Library  ·  Fellowship-Grade Education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9144000" cy="640080"/>
          </a:xfrm>
          <a:prstGeom prst="rect">
            <a:avLst/>
          </a:prstGeom>
          <a:noFill/>
        </p:spPr>
        <p:txBody>
          <a:bodyPr wrap="square">
            <a:spAutoFit/>
          </a:bodyPr>
          <a:lstStyle/>
          <a:p>
            <a:pPr algn="l">
              <a:lnSpc>
                <a:spcPts val="3360"/>
              </a:lnSpc>
              <a:spcBef>
                <a:spcPts val="0"/>
              </a:spcBef>
              <a:spcAft>
                <a:spcPts val="0"/>
              </a:spcAft>
              <a:defRPr sz="2800" b="1" i="0">
                <a:solidFill>
                  <a:srgbClr val="FFFFFF"/>
                </a:solidFill>
                <a:latin typeface="Calibri"/>
              </a:defRPr>
            </a:pPr>
            <a:r>
              <a:t>Learning Objectives</a:t>
            </a:r>
          </a:p>
        </p:txBody>
      </p:sp>
      <p:sp>
        <p:nvSpPr>
          <p:cNvPr id="5" name="Oval 4"/>
          <p:cNvSpPr/>
          <p:nvPr/>
        </p:nvSpPr>
        <p:spPr>
          <a:xfrm>
            <a:off x="731520" y="137160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1</a:t>
            </a:r>
          </a:p>
        </p:txBody>
      </p:sp>
      <p:sp>
        <p:nvSpPr>
          <p:cNvPr id="6" name="TextBox 5"/>
          <p:cNvSpPr txBox="1"/>
          <p:nvPr/>
        </p:nvSpPr>
        <p:spPr>
          <a:xfrm>
            <a:off x="1371600" y="1353312"/>
            <a:ext cx="9601200" cy="548640"/>
          </a:xfrm>
          <a:prstGeom prst="rect">
            <a:avLst/>
          </a:prstGeom>
          <a:noFill/>
        </p:spPr>
        <p:txBody>
          <a:bodyPr wrap="square">
            <a:spAutoFit/>
          </a:bodyPr>
          <a:lstStyle/>
          <a:p>
            <a:pPr>
              <a:defRPr sz="1600">
                <a:solidFill>
                  <a:srgbClr val="3D4455"/>
                </a:solidFill>
                <a:latin typeface="Calibri"/>
              </a:defRPr>
            </a:pPr>
            <a:r>
              <a:t>Identify life-threatening electrolyte derangements and their clinical presentations</a:t>
            </a:r>
          </a:p>
        </p:txBody>
      </p:sp>
      <p:sp>
        <p:nvSpPr>
          <p:cNvPr id="7" name="Oval 6"/>
          <p:cNvSpPr/>
          <p:nvPr/>
        </p:nvSpPr>
        <p:spPr>
          <a:xfrm>
            <a:off x="731520" y="214884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2</a:t>
            </a:r>
          </a:p>
        </p:txBody>
      </p:sp>
      <p:sp>
        <p:nvSpPr>
          <p:cNvPr id="8" name="TextBox 7"/>
          <p:cNvSpPr txBox="1"/>
          <p:nvPr/>
        </p:nvSpPr>
        <p:spPr>
          <a:xfrm>
            <a:off x="1371600" y="2130552"/>
            <a:ext cx="9601200" cy="548640"/>
          </a:xfrm>
          <a:prstGeom prst="rect">
            <a:avLst/>
          </a:prstGeom>
          <a:noFill/>
        </p:spPr>
        <p:txBody>
          <a:bodyPr wrap="square">
            <a:spAutoFit/>
          </a:bodyPr>
          <a:lstStyle/>
          <a:p>
            <a:pPr>
              <a:defRPr sz="1600">
                <a:solidFill>
                  <a:srgbClr val="3D4455"/>
                </a:solidFill>
                <a:latin typeface="Calibri"/>
              </a:defRPr>
            </a:pPr>
            <a:r>
              <a:t>Calculate sodium correction rates to avoid osmotic demyelination and cerebral edema</a:t>
            </a:r>
          </a:p>
        </p:txBody>
      </p:sp>
      <p:sp>
        <p:nvSpPr>
          <p:cNvPr id="9" name="Oval 8"/>
          <p:cNvSpPr/>
          <p:nvPr/>
        </p:nvSpPr>
        <p:spPr>
          <a:xfrm>
            <a:off x="731520" y="292608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3</a:t>
            </a:r>
          </a:p>
        </p:txBody>
      </p:sp>
      <p:sp>
        <p:nvSpPr>
          <p:cNvPr id="10" name="TextBox 9"/>
          <p:cNvSpPr txBox="1"/>
          <p:nvPr/>
        </p:nvSpPr>
        <p:spPr>
          <a:xfrm>
            <a:off x="1371600" y="2907792"/>
            <a:ext cx="9601200" cy="548640"/>
          </a:xfrm>
          <a:prstGeom prst="rect">
            <a:avLst/>
          </a:prstGeom>
          <a:noFill/>
        </p:spPr>
        <p:txBody>
          <a:bodyPr wrap="square">
            <a:spAutoFit/>
          </a:bodyPr>
          <a:lstStyle/>
          <a:p>
            <a:pPr>
              <a:defRPr sz="1600">
                <a:solidFill>
                  <a:srgbClr val="3D4455"/>
                </a:solidFill>
                <a:latin typeface="Calibri"/>
              </a:defRPr>
            </a:pPr>
            <a:r>
              <a:t>Manage hyperkalemia emergently with membrane stabilization, shifting, and elimination</a:t>
            </a:r>
          </a:p>
        </p:txBody>
      </p:sp>
      <p:sp>
        <p:nvSpPr>
          <p:cNvPr id="11" name="Oval 10"/>
          <p:cNvSpPr/>
          <p:nvPr/>
        </p:nvSpPr>
        <p:spPr>
          <a:xfrm>
            <a:off x="731520" y="370332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4</a:t>
            </a:r>
          </a:p>
        </p:txBody>
      </p:sp>
      <p:sp>
        <p:nvSpPr>
          <p:cNvPr id="12" name="TextBox 11"/>
          <p:cNvSpPr txBox="1"/>
          <p:nvPr/>
        </p:nvSpPr>
        <p:spPr>
          <a:xfrm>
            <a:off x="1371600" y="3685032"/>
            <a:ext cx="9601200" cy="548640"/>
          </a:xfrm>
          <a:prstGeom prst="rect">
            <a:avLst/>
          </a:prstGeom>
          <a:noFill/>
        </p:spPr>
        <p:txBody>
          <a:bodyPr wrap="square">
            <a:spAutoFit/>
          </a:bodyPr>
          <a:lstStyle/>
          <a:p>
            <a:pPr>
              <a:defRPr sz="1600">
                <a:solidFill>
                  <a:srgbClr val="3D4455"/>
                </a:solidFill>
                <a:latin typeface="Calibri"/>
              </a:defRPr>
            </a:pPr>
            <a:r>
              <a:t>Recognize symptomatic hypocalcemia and treat appropriately</a:t>
            </a:r>
          </a:p>
        </p:txBody>
      </p:sp>
      <p:sp>
        <p:nvSpPr>
          <p:cNvPr id="13" name="Oval 12"/>
          <p:cNvSpPr/>
          <p:nvPr/>
        </p:nvSpPr>
        <p:spPr>
          <a:xfrm>
            <a:off x="731520" y="4480560"/>
            <a:ext cx="411480" cy="411480"/>
          </a:xfrm>
          <a:prstGeom prst="ellipse">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1" i="0">
                <a:solidFill>
                  <a:srgbClr val="FFFFFF"/>
                </a:solidFill>
                <a:latin typeface="Calibri"/>
              </a:defRPr>
            </a:pPr>
            <a:r>
              <a:t>5</a:t>
            </a:r>
          </a:p>
        </p:txBody>
      </p:sp>
      <p:sp>
        <p:nvSpPr>
          <p:cNvPr id="14" name="TextBox 13"/>
          <p:cNvSpPr txBox="1"/>
          <p:nvPr/>
        </p:nvSpPr>
        <p:spPr>
          <a:xfrm>
            <a:off x="1371600" y="4462272"/>
            <a:ext cx="9601200" cy="548640"/>
          </a:xfrm>
          <a:prstGeom prst="rect">
            <a:avLst/>
          </a:prstGeom>
          <a:noFill/>
        </p:spPr>
        <p:txBody>
          <a:bodyPr wrap="square">
            <a:spAutoFit/>
          </a:bodyPr>
          <a:lstStyle/>
          <a:p>
            <a:pPr>
              <a:defRPr sz="1600">
                <a:solidFill>
                  <a:srgbClr val="3D4455"/>
                </a:solidFill>
                <a:latin typeface="Calibri"/>
              </a:defRPr>
            </a:pPr>
            <a:r>
              <a:t>Understand age-specific electrolyte normal values and common pediatric etiologies</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Electrolyte Emergencies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Electrolyte Emergencies in PEM: What Kills and How Fast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Hyperkalemia: cardiac arrest within minutes — the most immediately lethal electrolyte emergency</a:t>
            </a:r>
          </a:p>
          <a:p>
            <a:pPr>
              <a:spcBef>
                <a:spcPts val="400"/>
              </a:spcBef>
              <a:spcAft>
                <a:spcPts val="600"/>
              </a:spcAft>
              <a:defRPr sz="1600">
                <a:solidFill>
                  <a:srgbClr val="3D4455"/>
                </a:solidFill>
                <a:latin typeface="Calibri"/>
              </a:defRPr>
            </a:pPr>
            <a:r>
              <a:t>Hyponatremia: seizures and cerebral edema — dangerous when acute (&lt;48h) or corrected too fast</a:t>
            </a:r>
          </a:p>
          <a:p>
            <a:pPr>
              <a:spcBef>
                <a:spcPts val="400"/>
              </a:spcBef>
              <a:spcAft>
                <a:spcPts val="600"/>
              </a:spcAft>
              <a:defRPr sz="1600">
                <a:solidFill>
                  <a:srgbClr val="3D4455"/>
                </a:solidFill>
                <a:latin typeface="Calibri"/>
              </a:defRPr>
            </a:pPr>
            <a:r>
              <a:t>Hypernatremia: cerebral hemorrhage if corrected too rapidly</a:t>
            </a:r>
          </a:p>
          <a:p>
            <a:pPr>
              <a:spcBef>
                <a:spcPts val="400"/>
              </a:spcBef>
              <a:spcAft>
                <a:spcPts val="600"/>
              </a:spcAft>
              <a:defRPr sz="1600">
                <a:solidFill>
                  <a:srgbClr val="3D4455"/>
                </a:solidFill>
                <a:latin typeface="Calibri"/>
              </a:defRPr>
            </a:pPr>
            <a:r>
              <a:t>Hypocalcemia: seizures, QT prolongation, cardiac arrest</a:t>
            </a:r>
          </a:p>
          <a:p>
            <a:pPr>
              <a:spcBef>
                <a:spcPts val="400"/>
              </a:spcBef>
              <a:spcAft>
                <a:spcPts val="600"/>
              </a:spcAft>
              <a:defRPr sz="1600">
                <a:solidFill>
                  <a:srgbClr val="3D4455"/>
                </a:solidFill>
                <a:latin typeface="Calibri"/>
              </a:defRPr>
            </a:pPr>
            <a:r>
              <a:t>Hypomagnesemia: refractory hypocalcemia and hypokalemia</a:t>
            </a:r>
          </a:p>
          <a:p>
            <a:pPr lvl="1">
              <a:spcBef>
                <a:spcPts val="400"/>
              </a:spcBef>
              <a:spcAft>
                <a:spcPts val="600"/>
              </a:spcAft>
              <a:defRPr sz="1400">
                <a:solidFill>
                  <a:srgbClr val="8A92A3"/>
                </a:solidFill>
                <a:latin typeface="Calibri"/>
              </a:defRPr>
            </a:pPr>
            <a:r>
              <a:t>Rule: if the patient is seizing, crashing, or coding — check the electrolytes NOW</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Electrolyte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0" y="0"/>
            <a:ext cx="73152"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0"/>
            <a:ext cx="3200400" cy="2286000"/>
          </a:xfrm>
          <a:prstGeom prst="rect">
            <a:avLst/>
          </a:prstGeom>
          <a:noFill/>
        </p:spPr>
        <p:txBody>
          <a:bodyPr wrap="square">
            <a:spAutoFit/>
          </a:bodyPr>
          <a:lstStyle/>
          <a:p>
            <a:pPr algn="l">
              <a:defRPr sz="3000" b="1">
                <a:solidFill>
                  <a:srgbClr val="FFFFFF"/>
                </a:solidFill>
                <a:latin typeface="Calibri"/>
              </a:defRPr>
            </a:pPr>
            <a:r>
              <a:t>Sodium Emergencies</a:t>
            </a:r>
          </a:p>
        </p:txBody>
      </p:sp>
      <p:sp>
        <p:nvSpPr>
          <p:cNvPr id="5" name="TextBox 4"/>
          <p:cNvSpPr txBox="1"/>
          <p:nvPr/>
        </p:nvSpPr>
        <p:spPr>
          <a:xfrm>
            <a:off x="4754880" y="2743200"/>
            <a:ext cx="6858000" cy="1828800"/>
          </a:xfrm>
          <a:prstGeom prst="rect">
            <a:avLst/>
          </a:prstGeom>
          <a:noFill/>
        </p:spPr>
        <p:txBody>
          <a:bodyPr wrap="square">
            <a:spAutoFit/>
          </a:bodyPr>
          <a:lstStyle/>
          <a:p>
            <a:pPr algn="l">
              <a:defRPr sz="1600">
                <a:solidFill>
                  <a:srgbClr val="3D4455"/>
                </a:solidFill>
                <a:latin typeface="Calibri"/>
              </a:defRPr>
            </a:pPr>
            <a:r>
              <a:t>Hyponatremia and Hypernatremia</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Electrolyte Emergencies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Hyponatremia: Classification and Management</a:t>
            </a:r>
          </a:p>
        </p:txBody>
      </p:sp>
      <p:graphicFrame>
        <p:nvGraphicFramePr>
          <p:cNvPr id="5" name="Table 4"/>
          <p:cNvGraphicFramePr>
            <a:graphicFrameLocks noGrp="1"/>
          </p:cNvGraphicFramePr>
          <p:nvPr/>
        </p:nvGraphicFramePr>
        <p:xfrm>
          <a:off x="822960" y="1280160"/>
          <a:ext cx="10515600" cy="1828800"/>
        </p:xfrm>
        <a:graphic>
          <a:graphicData uri="http://schemas.openxmlformats.org/drawingml/2006/table">
            <a:tbl>
              <a:tblPr firstRow="1" bandRow="1">
                <a:tableStyleId>{5C22544A-7EE6-4342-B048-85BDC9FD1C3A}</a:tableStyleId>
              </a:tblPr>
              <a:tblGrid>
                <a:gridCol w="2628900"/>
                <a:gridCol w="2628900"/>
                <a:gridCol w="2628900"/>
                <a:gridCol w="2628900"/>
              </a:tblGrid>
              <a:tr h="457200">
                <a:tc>
                  <a:txBody>
                    <a:bodyPr/>
                    <a:lstStyle/>
                    <a:p>
                      <a:pPr algn="ctr">
                        <a:defRPr sz="1300" b="1">
                          <a:solidFill>
                            <a:srgbClr val="FFFFFF"/>
                          </a:solidFill>
                          <a:latin typeface="Calibri"/>
                        </a:defRPr>
                      </a:pPr>
                      <a:r>
                        <a:t>Severity</a:t>
                      </a:r>
                    </a:p>
                  </a:txBody>
                  <a:tcPr>
                    <a:solidFill>
                      <a:srgbClr val="007B83"/>
                    </a:solidFill>
                  </a:tcPr>
                </a:tc>
                <a:tc>
                  <a:txBody>
                    <a:bodyPr/>
                    <a:lstStyle/>
                    <a:p>
                      <a:pPr algn="ctr">
                        <a:defRPr sz="1300" b="1">
                          <a:solidFill>
                            <a:srgbClr val="FFFFFF"/>
                          </a:solidFill>
                          <a:latin typeface="Calibri"/>
                        </a:defRPr>
                      </a:pPr>
                      <a:r>
                        <a:t>Sodium Level</a:t>
                      </a:r>
                    </a:p>
                  </a:txBody>
                  <a:tcPr>
                    <a:solidFill>
                      <a:srgbClr val="007B83"/>
                    </a:solidFill>
                  </a:tcPr>
                </a:tc>
                <a:tc>
                  <a:txBody>
                    <a:bodyPr/>
                    <a:lstStyle/>
                    <a:p>
                      <a:pPr algn="ctr">
                        <a:defRPr sz="1300" b="1">
                          <a:solidFill>
                            <a:srgbClr val="FFFFFF"/>
                          </a:solidFill>
                          <a:latin typeface="Calibri"/>
                        </a:defRPr>
                      </a:pPr>
                      <a:r>
                        <a:t>Symptoms</a:t>
                      </a:r>
                    </a:p>
                  </a:txBody>
                  <a:tcPr>
                    <a:solidFill>
                      <a:srgbClr val="007B83"/>
                    </a:solidFill>
                  </a:tcPr>
                </a:tc>
                <a:tc>
                  <a:txBody>
                    <a:bodyPr/>
                    <a:lstStyle/>
                    <a:p>
                      <a:pPr algn="ctr">
                        <a:defRPr sz="1300" b="1">
                          <a:solidFill>
                            <a:srgbClr val="FFFFFF"/>
                          </a:solidFill>
                          <a:latin typeface="Calibri"/>
                        </a:defRPr>
                      </a:pPr>
                      <a:r>
                        <a:t>Management</a:t>
                      </a:r>
                    </a:p>
                  </a:txBody>
                  <a:tcPr>
                    <a:solidFill>
                      <a:srgbClr val="007B83"/>
                    </a:solidFill>
                  </a:tcPr>
                </a:tc>
              </a:tr>
              <a:tr h="457200">
                <a:tc>
                  <a:txBody>
                    <a:bodyPr/>
                    <a:lstStyle/>
                    <a:p>
                      <a:pPr algn="l">
                        <a:defRPr sz="1200">
                          <a:solidFill>
                            <a:srgbClr val="3D4455"/>
                          </a:solidFill>
                          <a:latin typeface="Calibri"/>
                        </a:defRPr>
                      </a:pPr>
                      <a:r>
                        <a:t>Mild</a:t>
                      </a:r>
                    </a:p>
                  </a:txBody>
                  <a:tcPr>
                    <a:solidFill>
                      <a:srgbClr val="F5F6FA"/>
                    </a:solidFill>
                  </a:tcPr>
                </a:tc>
                <a:tc>
                  <a:txBody>
                    <a:bodyPr/>
                    <a:lstStyle/>
                    <a:p>
                      <a:pPr algn="l">
                        <a:defRPr sz="1200">
                          <a:solidFill>
                            <a:srgbClr val="3D4455"/>
                          </a:solidFill>
                          <a:latin typeface="Calibri"/>
                        </a:defRPr>
                      </a:pPr>
                      <a:r>
                        <a:t>130-134</a:t>
                      </a:r>
                    </a:p>
                  </a:txBody>
                  <a:tcPr>
                    <a:solidFill>
                      <a:srgbClr val="F5F6FA"/>
                    </a:solidFill>
                  </a:tcPr>
                </a:tc>
                <a:tc>
                  <a:txBody>
                    <a:bodyPr/>
                    <a:lstStyle/>
                    <a:p>
                      <a:pPr algn="l">
                        <a:defRPr sz="1200">
                          <a:solidFill>
                            <a:srgbClr val="3D4455"/>
                          </a:solidFill>
                          <a:latin typeface="Calibri"/>
                        </a:defRPr>
                      </a:pPr>
                      <a:r>
                        <a:t>Often asymptomatic</a:t>
                      </a:r>
                    </a:p>
                  </a:txBody>
                  <a:tcPr>
                    <a:solidFill>
                      <a:srgbClr val="F5F6FA"/>
                    </a:solidFill>
                  </a:tcPr>
                </a:tc>
                <a:tc>
                  <a:txBody>
                    <a:bodyPr/>
                    <a:lstStyle/>
                    <a:p>
                      <a:pPr algn="l">
                        <a:defRPr sz="1200">
                          <a:solidFill>
                            <a:srgbClr val="3D4455"/>
                          </a:solidFill>
                          <a:latin typeface="Calibri"/>
                        </a:defRPr>
                      </a:pPr>
                      <a:r>
                        <a:t>Fluid restriction, treat underlying cause</a:t>
                      </a:r>
                    </a:p>
                  </a:txBody>
                  <a:tcPr>
                    <a:solidFill>
                      <a:srgbClr val="F5F6FA"/>
                    </a:solidFill>
                  </a:tcPr>
                </a:tc>
              </a:tr>
              <a:tr h="457200">
                <a:tc>
                  <a:txBody>
                    <a:bodyPr/>
                    <a:lstStyle/>
                    <a:p>
                      <a:pPr algn="l">
                        <a:defRPr sz="1200">
                          <a:solidFill>
                            <a:srgbClr val="3D4455"/>
                          </a:solidFill>
                          <a:latin typeface="Calibri"/>
                        </a:defRPr>
                      </a:pPr>
                      <a:r>
                        <a:t>Moderate</a:t>
                      </a:r>
                    </a:p>
                  </a:txBody>
                  <a:tcPr>
                    <a:solidFill>
                      <a:srgbClr val="FFFFFF"/>
                    </a:solidFill>
                  </a:tcPr>
                </a:tc>
                <a:tc>
                  <a:txBody>
                    <a:bodyPr/>
                    <a:lstStyle/>
                    <a:p>
                      <a:pPr algn="l">
                        <a:defRPr sz="1200">
                          <a:solidFill>
                            <a:srgbClr val="3D4455"/>
                          </a:solidFill>
                          <a:latin typeface="Calibri"/>
                        </a:defRPr>
                      </a:pPr>
                      <a:r>
                        <a:t>125-129</a:t>
                      </a:r>
                    </a:p>
                  </a:txBody>
                  <a:tcPr>
                    <a:solidFill>
                      <a:srgbClr val="FFFFFF"/>
                    </a:solidFill>
                  </a:tcPr>
                </a:tc>
                <a:tc>
                  <a:txBody>
                    <a:bodyPr/>
                    <a:lstStyle/>
                    <a:p>
                      <a:pPr algn="l">
                        <a:defRPr sz="1200">
                          <a:solidFill>
                            <a:srgbClr val="3D4455"/>
                          </a:solidFill>
                          <a:latin typeface="Calibri"/>
                        </a:defRPr>
                      </a:pPr>
                      <a:r>
                        <a:t>Nausea, headache, malaise</a:t>
                      </a:r>
                    </a:p>
                  </a:txBody>
                  <a:tcPr>
                    <a:solidFill>
                      <a:srgbClr val="FFFFFF"/>
                    </a:solidFill>
                  </a:tcPr>
                </a:tc>
                <a:tc>
                  <a:txBody>
                    <a:bodyPr/>
                    <a:lstStyle/>
                    <a:p>
                      <a:pPr algn="l">
                        <a:defRPr sz="1200">
                          <a:solidFill>
                            <a:srgbClr val="3D4455"/>
                          </a:solidFill>
                          <a:latin typeface="Calibri"/>
                        </a:defRPr>
                      </a:pPr>
                      <a:r>
                        <a:t>Careful correction, investigate cause</a:t>
                      </a:r>
                    </a:p>
                  </a:txBody>
                  <a:tcPr>
                    <a:solidFill>
                      <a:srgbClr val="FFFFFF"/>
                    </a:solidFill>
                  </a:tcPr>
                </a:tc>
              </a:tr>
              <a:tr h="457200">
                <a:tc>
                  <a:txBody>
                    <a:bodyPr/>
                    <a:lstStyle/>
                    <a:p>
                      <a:pPr algn="l">
                        <a:defRPr sz="1200">
                          <a:solidFill>
                            <a:srgbClr val="3D4455"/>
                          </a:solidFill>
                          <a:latin typeface="Calibri"/>
                        </a:defRPr>
                      </a:pPr>
                      <a:r>
                        <a:t>Severe</a:t>
                      </a:r>
                    </a:p>
                  </a:txBody>
                  <a:tcPr>
                    <a:solidFill>
                      <a:srgbClr val="F5F6FA"/>
                    </a:solidFill>
                  </a:tcPr>
                </a:tc>
                <a:tc>
                  <a:txBody>
                    <a:bodyPr/>
                    <a:lstStyle/>
                    <a:p>
                      <a:pPr algn="l">
                        <a:defRPr sz="1200">
                          <a:solidFill>
                            <a:srgbClr val="3D4455"/>
                          </a:solidFill>
                          <a:latin typeface="Calibri"/>
                        </a:defRPr>
                      </a:pPr>
                      <a:r>
                        <a:t>&lt;125</a:t>
                      </a:r>
                    </a:p>
                  </a:txBody>
                  <a:tcPr>
                    <a:solidFill>
                      <a:srgbClr val="F5F6FA"/>
                    </a:solidFill>
                  </a:tcPr>
                </a:tc>
                <a:tc>
                  <a:txBody>
                    <a:bodyPr/>
                    <a:lstStyle/>
                    <a:p>
                      <a:pPr algn="l">
                        <a:defRPr sz="1200">
                          <a:solidFill>
                            <a:srgbClr val="3D4455"/>
                          </a:solidFill>
                          <a:latin typeface="Calibri"/>
                        </a:defRPr>
                      </a:pPr>
                      <a:r>
                        <a:t>Seizures, AMS, coma, herniation</a:t>
                      </a:r>
                    </a:p>
                  </a:txBody>
                  <a:tcPr>
                    <a:solidFill>
                      <a:srgbClr val="F5F6FA"/>
                    </a:solidFill>
                  </a:tcPr>
                </a:tc>
                <a:tc>
                  <a:txBody>
                    <a:bodyPr/>
                    <a:lstStyle/>
                    <a:p>
                      <a:pPr algn="l">
                        <a:defRPr sz="1200">
                          <a:solidFill>
                            <a:srgbClr val="3D4455"/>
                          </a:solidFill>
                          <a:latin typeface="Calibri"/>
                        </a:defRPr>
                      </a:pPr>
                      <a:r>
                        <a:t>EMERGENT 3% NaCl 3-5 mL/kg IV bolus</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Electrolyte Emergencies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Hypernatremia Correction Protocol</a:t>
            </a:r>
          </a:p>
        </p:txBody>
      </p:sp>
      <p:sp>
        <p:nvSpPr>
          <p:cNvPr id="5" name="Rounded Rectangle 4"/>
          <p:cNvSpPr/>
          <p:nvPr/>
        </p:nvSpPr>
        <p:spPr>
          <a:xfrm>
            <a:off x="45720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1. ASSESS: dehydration (most common cause in children) vs. excess Na (rare)</a:t>
            </a:r>
          </a:p>
        </p:txBody>
      </p:sp>
      <p:sp>
        <p:nvSpPr>
          <p:cNvPr id="6" name="Rounded Rectangle 5"/>
          <p:cNvSpPr/>
          <p:nvPr/>
        </p:nvSpPr>
        <p:spPr>
          <a:xfrm>
            <a:off x="45720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2. CALCULATE free water deficit: 4 mL/kg × (current Na - desired Na)</a:t>
            </a:r>
          </a:p>
        </p:txBody>
      </p:sp>
      <p:sp>
        <p:nvSpPr>
          <p:cNvPr id="7" name="Rounded Rectangle 6"/>
          <p:cNvSpPr/>
          <p:nvPr/>
        </p:nvSpPr>
        <p:spPr>
          <a:xfrm>
            <a:off x="45720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3. CORRECTION RATE: maximum 10-12 mEq/L per 24 hours (0.5 mEq/L/hr)</a:t>
            </a:r>
          </a:p>
        </p:txBody>
      </p:sp>
      <p:sp>
        <p:nvSpPr>
          <p:cNvPr id="8" name="Rounded Rectangle 7"/>
          <p:cNvSpPr/>
          <p:nvPr/>
        </p:nvSpPr>
        <p:spPr>
          <a:xfrm>
            <a:off x="6309360" y="1371600"/>
            <a:ext cx="5303520" cy="502920"/>
          </a:xfrm>
          <a:prstGeom prst="round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4. FLUID CHOICE: D5 0.2-0.45% NS (hypotonic relative to patient); avoid free water boluses</a:t>
            </a:r>
          </a:p>
        </p:txBody>
      </p:sp>
      <p:sp>
        <p:nvSpPr>
          <p:cNvPr id="9" name="Rounded Rectangle 8"/>
          <p:cNvSpPr/>
          <p:nvPr/>
        </p:nvSpPr>
        <p:spPr>
          <a:xfrm>
            <a:off x="6309360" y="2039112"/>
            <a:ext cx="5303520" cy="502920"/>
          </a:xfrm>
          <a:prstGeom prst="roundRect">
            <a:avLst/>
          </a:prstGeom>
          <a:solidFill>
            <a:srgbClr val="4A90D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5. MONITOR: Na q2-4h initially; adjust rate based on actual correction speed</a:t>
            </a:r>
          </a:p>
        </p:txBody>
      </p:sp>
      <p:sp>
        <p:nvSpPr>
          <p:cNvPr id="10" name="Rounded Rectangle 9"/>
          <p:cNvSpPr/>
          <p:nvPr/>
        </p:nvSpPr>
        <p:spPr>
          <a:xfrm>
            <a:off x="6309360" y="2706624"/>
            <a:ext cx="530352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6. Too-rapid correction → cerebral edema (brain cells adapted to hypertonicity)</a:t>
            </a:r>
          </a:p>
        </p:txBody>
      </p:sp>
      <p:sp>
        <p:nvSpPr>
          <p:cNvPr id="11" name="Rectangle 10"/>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Electrolyte Emergencies</a:t>
            </a:r>
          </a:p>
        </p:txBody>
      </p:sp>
      <p:sp>
        <p:nvSpPr>
          <p:cNvPr id="13" name="TextBox 12"/>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114800"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114800" y="0"/>
            <a:ext cx="73152" cy="685800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0"/>
            <a:ext cx="3200400" cy="2286000"/>
          </a:xfrm>
          <a:prstGeom prst="rect">
            <a:avLst/>
          </a:prstGeom>
          <a:noFill/>
        </p:spPr>
        <p:txBody>
          <a:bodyPr wrap="square">
            <a:spAutoFit/>
          </a:bodyPr>
          <a:lstStyle/>
          <a:p>
            <a:pPr algn="l">
              <a:defRPr sz="3000" b="1">
                <a:solidFill>
                  <a:srgbClr val="FFFFFF"/>
                </a:solidFill>
                <a:latin typeface="Calibri"/>
              </a:defRPr>
            </a:pPr>
            <a:r>
              <a:t>Potassium Emergencies</a:t>
            </a:r>
          </a:p>
        </p:txBody>
      </p:sp>
      <p:sp>
        <p:nvSpPr>
          <p:cNvPr id="5" name="TextBox 4"/>
          <p:cNvSpPr txBox="1"/>
          <p:nvPr/>
        </p:nvSpPr>
        <p:spPr>
          <a:xfrm>
            <a:off x="4754880" y="2743200"/>
            <a:ext cx="6858000" cy="1828800"/>
          </a:xfrm>
          <a:prstGeom prst="rect">
            <a:avLst/>
          </a:prstGeom>
          <a:noFill/>
        </p:spPr>
        <p:txBody>
          <a:bodyPr wrap="square">
            <a:spAutoFit/>
          </a:bodyPr>
          <a:lstStyle/>
          <a:p>
            <a:pPr algn="l">
              <a:defRPr sz="1600">
                <a:solidFill>
                  <a:srgbClr val="3D4455"/>
                </a:solidFill>
                <a:latin typeface="Calibri"/>
              </a:defRPr>
            </a:pPr>
            <a:r>
              <a:t>Hyperkalemia — the silent cardiac killer</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Electrolyte Emergencies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Hyperkalemia: Recognition and Emergency Treatment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Normal K: 3.5-5.0 mEq/L (higher in neonates: up to 6.0)</a:t>
            </a:r>
          </a:p>
          <a:p>
            <a:pPr>
              <a:spcBef>
                <a:spcPts val="400"/>
              </a:spcBef>
              <a:spcAft>
                <a:spcPts val="600"/>
              </a:spcAft>
              <a:defRPr sz="1600">
                <a:solidFill>
                  <a:srgbClr val="3D4455"/>
                </a:solidFill>
                <a:latin typeface="Calibri"/>
              </a:defRPr>
            </a:pPr>
            <a:r>
              <a:t>Causes in children: renal failure, DKA (redistribution), tumor lysis, adrenal insufficiency, hemolyzed sample</a:t>
            </a:r>
          </a:p>
          <a:p>
            <a:pPr>
              <a:spcBef>
                <a:spcPts val="400"/>
              </a:spcBef>
              <a:spcAft>
                <a:spcPts val="600"/>
              </a:spcAft>
              <a:defRPr sz="1600">
                <a:solidFill>
                  <a:srgbClr val="3D4455"/>
                </a:solidFill>
                <a:latin typeface="Calibri"/>
              </a:defRPr>
            </a:pPr>
            <a:r>
              <a:t>ECG changes (progressive): peaked T waves → PR prolongation → wide QRS → sine wave → cardiac arrest</a:t>
            </a:r>
          </a:p>
          <a:p>
            <a:pPr>
              <a:spcBef>
                <a:spcPts val="400"/>
              </a:spcBef>
              <a:spcAft>
                <a:spcPts val="600"/>
              </a:spcAft>
              <a:defRPr sz="1600">
                <a:solidFill>
                  <a:srgbClr val="3D4455"/>
                </a:solidFill>
                <a:latin typeface="Calibri"/>
              </a:defRPr>
            </a:pPr>
            <a:r>
              <a:t>CRITICAL: K &gt;7.0 or any ECG changes = treat immediately</a:t>
            </a:r>
          </a:p>
          <a:p>
            <a:pPr>
              <a:spcBef>
                <a:spcPts val="400"/>
              </a:spcBef>
              <a:spcAft>
                <a:spcPts val="600"/>
              </a:spcAft>
              <a:defRPr sz="1600">
                <a:solidFill>
                  <a:srgbClr val="3D4455"/>
                </a:solidFill>
                <a:latin typeface="Calibri"/>
              </a:defRPr>
            </a:pPr>
            <a:r>
              <a:t>Step 1 — STABILIZE membrane: calcium gluconate 100 mg/kg IV over 5 min (max 3g)</a:t>
            </a:r>
          </a:p>
          <a:p>
            <a:pPr>
              <a:spcBef>
                <a:spcPts val="400"/>
              </a:spcBef>
              <a:spcAft>
                <a:spcPts val="600"/>
              </a:spcAft>
              <a:defRPr sz="1600">
                <a:solidFill>
                  <a:srgbClr val="3D4455"/>
                </a:solidFill>
                <a:latin typeface="Calibri"/>
              </a:defRPr>
            </a:pPr>
            <a:r>
              <a:t>Step 2 — SHIFT K into cells: insulin 0.1 U/kg + D25W 2 mL/kg; albuterol neb 2.5-5 mg</a:t>
            </a:r>
          </a:p>
          <a:p>
            <a:pPr>
              <a:spcBef>
                <a:spcPts val="400"/>
              </a:spcBef>
              <a:spcAft>
                <a:spcPts val="600"/>
              </a:spcAft>
              <a:defRPr sz="1600">
                <a:solidFill>
                  <a:srgbClr val="3D4455"/>
                </a:solidFill>
                <a:latin typeface="Calibri"/>
              </a:defRPr>
            </a:pPr>
            <a:r>
              <a:t>Step 3 — ELIMINATE K: sodium polystyrene (Kayexalate), furosemide, dialysis if refractory</a:t>
            </a:r>
          </a:p>
          <a:p>
            <a:pPr lvl="1">
              <a:spcBef>
                <a:spcPts val="400"/>
              </a:spcBef>
              <a:spcAft>
                <a:spcPts val="600"/>
              </a:spcAft>
              <a:defRPr sz="1400">
                <a:solidFill>
                  <a:srgbClr val="8A92A3"/>
                </a:solidFill>
                <a:latin typeface="Calibri"/>
              </a:defRPr>
            </a:pPr>
            <a:r>
              <a:t>If you see peaked T waves on the monitor, give calcium FIRST — it is the fastest-acting agent</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Electrolyte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Hyperkalemia: Treatment Quick Reference</a:t>
            </a:r>
          </a:p>
        </p:txBody>
      </p:sp>
      <p:graphicFrame>
        <p:nvGraphicFramePr>
          <p:cNvPr id="5" name="Table 4"/>
          <p:cNvGraphicFramePr>
            <a:graphicFrameLocks noGrp="1"/>
          </p:cNvGraphicFramePr>
          <p:nvPr/>
        </p:nvGraphicFramePr>
        <p:xfrm>
          <a:off x="822960" y="1280160"/>
          <a:ext cx="10515600" cy="3657600"/>
        </p:xfrm>
        <a:graphic>
          <a:graphicData uri="http://schemas.openxmlformats.org/drawingml/2006/table">
            <a:tbl>
              <a:tblPr firstRow="1" bandRow="1">
                <a:tableStyleId>{5C22544A-7EE6-4342-B048-85BDC9FD1C3A}</a:tableStyleId>
              </a:tblPr>
              <a:tblGrid>
                <a:gridCol w="2103120"/>
                <a:gridCol w="2103120"/>
                <a:gridCol w="2103120"/>
                <a:gridCol w="2103120"/>
                <a:gridCol w="2103120"/>
              </a:tblGrid>
              <a:tr h="457200">
                <a:tc>
                  <a:txBody>
                    <a:bodyPr/>
                    <a:lstStyle/>
                    <a:p>
                      <a:pPr algn="ctr">
                        <a:defRPr sz="1300" b="1">
                          <a:solidFill>
                            <a:srgbClr val="FFFFFF"/>
                          </a:solidFill>
                          <a:latin typeface="Calibri"/>
                        </a:defRPr>
                      </a:pPr>
                      <a:r>
                        <a:t>Agent</a:t>
                      </a:r>
                    </a:p>
                  </a:txBody>
                  <a:tcPr>
                    <a:solidFill>
                      <a:srgbClr val="007B83"/>
                    </a:solidFill>
                  </a:tcPr>
                </a:tc>
                <a:tc>
                  <a:txBody>
                    <a:bodyPr/>
                    <a:lstStyle/>
                    <a:p>
                      <a:pPr algn="ctr">
                        <a:defRPr sz="1300" b="1">
                          <a:solidFill>
                            <a:srgbClr val="FFFFFF"/>
                          </a:solidFill>
                          <a:latin typeface="Calibri"/>
                        </a:defRPr>
                      </a:pPr>
                      <a:r>
                        <a:t>Mechanism</a:t>
                      </a:r>
                    </a:p>
                  </a:txBody>
                  <a:tcPr>
                    <a:solidFill>
                      <a:srgbClr val="007B83"/>
                    </a:solidFill>
                  </a:tcPr>
                </a:tc>
                <a:tc>
                  <a:txBody>
                    <a:bodyPr/>
                    <a:lstStyle/>
                    <a:p>
                      <a:pPr algn="ctr">
                        <a:defRPr sz="1300" b="1">
                          <a:solidFill>
                            <a:srgbClr val="FFFFFF"/>
                          </a:solidFill>
                          <a:latin typeface="Calibri"/>
                        </a:defRPr>
                      </a:pPr>
                      <a:r>
                        <a:t>Dose</a:t>
                      </a:r>
                    </a:p>
                  </a:txBody>
                  <a:tcPr>
                    <a:solidFill>
                      <a:srgbClr val="007B83"/>
                    </a:solidFill>
                  </a:tcPr>
                </a:tc>
                <a:tc>
                  <a:txBody>
                    <a:bodyPr/>
                    <a:lstStyle/>
                    <a:p>
                      <a:pPr algn="ctr">
                        <a:defRPr sz="1300" b="1">
                          <a:solidFill>
                            <a:srgbClr val="FFFFFF"/>
                          </a:solidFill>
                          <a:latin typeface="Calibri"/>
                        </a:defRPr>
                      </a:pPr>
                      <a:r>
                        <a:t>Onset</a:t>
                      </a:r>
                    </a:p>
                  </a:txBody>
                  <a:tcPr>
                    <a:solidFill>
                      <a:srgbClr val="007B83"/>
                    </a:solidFill>
                  </a:tcPr>
                </a:tc>
                <a:tc>
                  <a:txBody>
                    <a:bodyPr/>
                    <a:lstStyle/>
                    <a:p>
                      <a:pPr algn="ctr">
                        <a:defRPr sz="1300" b="1">
                          <a:solidFill>
                            <a:srgbClr val="FFFFFF"/>
                          </a:solidFill>
                          <a:latin typeface="Calibri"/>
                        </a:defRPr>
                      </a:pPr>
                      <a:r>
                        <a:t>Duration</a:t>
                      </a:r>
                    </a:p>
                  </a:txBody>
                  <a:tcPr>
                    <a:solidFill>
                      <a:srgbClr val="007B83"/>
                    </a:solidFill>
                  </a:tcPr>
                </a:tc>
              </a:tr>
              <a:tr h="457200">
                <a:tc>
                  <a:txBody>
                    <a:bodyPr/>
                    <a:lstStyle/>
                    <a:p>
                      <a:pPr algn="l">
                        <a:defRPr sz="1200">
                          <a:solidFill>
                            <a:srgbClr val="3D4455"/>
                          </a:solidFill>
                          <a:latin typeface="Calibri"/>
                        </a:defRPr>
                      </a:pPr>
                      <a:r>
                        <a:t>Calcium gluconate 10%</a:t>
                      </a:r>
                    </a:p>
                  </a:txBody>
                  <a:tcPr>
                    <a:solidFill>
                      <a:srgbClr val="F5F6FA"/>
                    </a:solidFill>
                  </a:tcPr>
                </a:tc>
                <a:tc>
                  <a:txBody>
                    <a:bodyPr/>
                    <a:lstStyle/>
                    <a:p>
                      <a:pPr algn="l">
                        <a:defRPr sz="1200">
                          <a:solidFill>
                            <a:srgbClr val="3D4455"/>
                          </a:solidFill>
                          <a:latin typeface="Calibri"/>
                        </a:defRPr>
                      </a:pPr>
                      <a:r>
                        <a:t>Membrane stabilization</a:t>
                      </a:r>
                    </a:p>
                  </a:txBody>
                  <a:tcPr>
                    <a:solidFill>
                      <a:srgbClr val="F5F6FA"/>
                    </a:solidFill>
                  </a:tcPr>
                </a:tc>
                <a:tc>
                  <a:txBody>
                    <a:bodyPr/>
                    <a:lstStyle/>
                    <a:p>
                      <a:pPr algn="l">
                        <a:defRPr sz="1200">
                          <a:solidFill>
                            <a:srgbClr val="3D4455"/>
                          </a:solidFill>
                          <a:latin typeface="Calibri"/>
                        </a:defRPr>
                      </a:pPr>
                      <a:r>
                        <a:t>100 mg/kg (1 mL/kg) IV over 5 min</a:t>
                      </a:r>
                    </a:p>
                  </a:txBody>
                  <a:tcPr>
                    <a:solidFill>
                      <a:srgbClr val="F5F6FA"/>
                    </a:solidFill>
                  </a:tcPr>
                </a:tc>
                <a:tc>
                  <a:txBody>
                    <a:bodyPr/>
                    <a:lstStyle/>
                    <a:p>
                      <a:pPr algn="l">
                        <a:defRPr sz="1200">
                          <a:solidFill>
                            <a:srgbClr val="3D4455"/>
                          </a:solidFill>
                          <a:latin typeface="Calibri"/>
                        </a:defRPr>
                      </a:pPr>
                      <a:r>
                        <a:t>1-3 min</a:t>
                      </a:r>
                    </a:p>
                  </a:txBody>
                  <a:tcPr>
                    <a:solidFill>
                      <a:srgbClr val="F5F6FA"/>
                    </a:solidFill>
                  </a:tcPr>
                </a:tc>
                <a:tc>
                  <a:txBody>
                    <a:bodyPr/>
                    <a:lstStyle/>
                    <a:p>
                      <a:pPr algn="l">
                        <a:defRPr sz="1200">
                          <a:solidFill>
                            <a:srgbClr val="3D4455"/>
                          </a:solidFill>
                          <a:latin typeface="Calibri"/>
                        </a:defRPr>
                      </a:pPr>
                      <a:r>
                        <a:t>30-60 min</a:t>
                      </a:r>
                    </a:p>
                  </a:txBody>
                  <a:tcPr>
                    <a:solidFill>
                      <a:srgbClr val="F5F6FA"/>
                    </a:solidFill>
                  </a:tcPr>
                </a:tc>
              </a:tr>
              <a:tr h="457200">
                <a:tc>
                  <a:txBody>
                    <a:bodyPr/>
                    <a:lstStyle/>
                    <a:p>
                      <a:pPr algn="l">
                        <a:defRPr sz="1200">
                          <a:solidFill>
                            <a:srgbClr val="3D4455"/>
                          </a:solidFill>
                          <a:latin typeface="Calibri"/>
                        </a:defRPr>
                      </a:pPr>
                      <a:r>
                        <a:t>Regular insulin + D25W</a:t>
                      </a:r>
                    </a:p>
                  </a:txBody>
                  <a:tcPr>
                    <a:solidFill>
                      <a:srgbClr val="FFFFFF"/>
                    </a:solidFill>
                  </a:tcPr>
                </a:tc>
                <a:tc>
                  <a:txBody>
                    <a:bodyPr/>
                    <a:lstStyle/>
                    <a:p>
                      <a:pPr algn="l">
                        <a:defRPr sz="1200">
                          <a:solidFill>
                            <a:srgbClr val="3D4455"/>
                          </a:solidFill>
                          <a:latin typeface="Calibri"/>
                        </a:defRPr>
                      </a:pPr>
                      <a:r>
                        <a:t>Shift K intracellular</a:t>
                      </a:r>
                    </a:p>
                  </a:txBody>
                  <a:tcPr>
                    <a:solidFill>
                      <a:srgbClr val="FFFFFF"/>
                    </a:solidFill>
                  </a:tcPr>
                </a:tc>
                <a:tc>
                  <a:txBody>
                    <a:bodyPr/>
                    <a:lstStyle/>
                    <a:p>
                      <a:pPr algn="l">
                        <a:defRPr sz="1200">
                          <a:solidFill>
                            <a:srgbClr val="3D4455"/>
                          </a:solidFill>
                          <a:latin typeface="Calibri"/>
                        </a:defRPr>
                      </a:pPr>
                      <a:r>
                        <a:t>Insulin 0.1 U/kg + D25W 2 mL/kg</a:t>
                      </a:r>
                    </a:p>
                  </a:txBody>
                  <a:tcPr>
                    <a:solidFill>
                      <a:srgbClr val="FFFFFF"/>
                    </a:solidFill>
                  </a:tcPr>
                </a:tc>
                <a:tc>
                  <a:txBody>
                    <a:bodyPr/>
                    <a:lstStyle/>
                    <a:p>
                      <a:pPr algn="l">
                        <a:defRPr sz="1200">
                          <a:solidFill>
                            <a:srgbClr val="3D4455"/>
                          </a:solidFill>
                          <a:latin typeface="Calibri"/>
                        </a:defRPr>
                      </a:pPr>
                      <a:r>
                        <a:t>15-30 min</a:t>
                      </a:r>
                    </a:p>
                  </a:txBody>
                  <a:tcPr>
                    <a:solidFill>
                      <a:srgbClr val="FFFFFF"/>
                    </a:solidFill>
                  </a:tcPr>
                </a:tc>
                <a:tc>
                  <a:txBody>
                    <a:bodyPr/>
                    <a:lstStyle/>
                    <a:p>
                      <a:pPr algn="l">
                        <a:defRPr sz="1200">
                          <a:solidFill>
                            <a:srgbClr val="3D4455"/>
                          </a:solidFill>
                          <a:latin typeface="Calibri"/>
                        </a:defRPr>
                      </a:pPr>
                      <a:r>
                        <a:t>4-6 h</a:t>
                      </a:r>
                    </a:p>
                  </a:txBody>
                  <a:tcPr>
                    <a:solidFill>
                      <a:srgbClr val="FFFFFF"/>
                    </a:solidFill>
                  </a:tcPr>
                </a:tc>
              </a:tr>
              <a:tr h="457200">
                <a:tc>
                  <a:txBody>
                    <a:bodyPr/>
                    <a:lstStyle/>
                    <a:p>
                      <a:pPr algn="l">
                        <a:defRPr sz="1200">
                          <a:solidFill>
                            <a:srgbClr val="3D4455"/>
                          </a:solidFill>
                          <a:latin typeface="Calibri"/>
                        </a:defRPr>
                      </a:pPr>
                      <a:r>
                        <a:t>Albuterol nebulized</a:t>
                      </a:r>
                    </a:p>
                  </a:txBody>
                  <a:tcPr>
                    <a:solidFill>
                      <a:srgbClr val="F5F6FA"/>
                    </a:solidFill>
                  </a:tcPr>
                </a:tc>
                <a:tc>
                  <a:txBody>
                    <a:bodyPr/>
                    <a:lstStyle/>
                    <a:p>
                      <a:pPr algn="l">
                        <a:defRPr sz="1200">
                          <a:solidFill>
                            <a:srgbClr val="3D4455"/>
                          </a:solidFill>
                          <a:latin typeface="Calibri"/>
                        </a:defRPr>
                      </a:pPr>
                      <a:r>
                        <a:t>Shift K intracellular</a:t>
                      </a:r>
                    </a:p>
                  </a:txBody>
                  <a:tcPr>
                    <a:solidFill>
                      <a:srgbClr val="F5F6FA"/>
                    </a:solidFill>
                  </a:tcPr>
                </a:tc>
                <a:tc>
                  <a:txBody>
                    <a:bodyPr/>
                    <a:lstStyle/>
                    <a:p>
                      <a:pPr algn="l">
                        <a:defRPr sz="1200">
                          <a:solidFill>
                            <a:srgbClr val="3D4455"/>
                          </a:solidFill>
                          <a:latin typeface="Calibri"/>
                        </a:defRPr>
                      </a:pPr>
                      <a:r>
                        <a:t>2.5 mg (&lt;25 kg) or 5 mg (&gt;25 kg)</a:t>
                      </a:r>
                    </a:p>
                  </a:txBody>
                  <a:tcPr>
                    <a:solidFill>
                      <a:srgbClr val="F5F6FA"/>
                    </a:solidFill>
                  </a:tcPr>
                </a:tc>
                <a:tc>
                  <a:txBody>
                    <a:bodyPr/>
                    <a:lstStyle/>
                    <a:p>
                      <a:pPr algn="l">
                        <a:defRPr sz="1200">
                          <a:solidFill>
                            <a:srgbClr val="3D4455"/>
                          </a:solidFill>
                          <a:latin typeface="Calibri"/>
                        </a:defRPr>
                      </a:pPr>
                      <a:r>
                        <a:t>15-30 min</a:t>
                      </a:r>
                    </a:p>
                  </a:txBody>
                  <a:tcPr>
                    <a:solidFill>
                      <a:srgbClr val="F5F6FA"/>
                    </a:solidFill>
                  </a:tcPr>
                </a:tc>
                <a:tc>
                  <a:txBody>
                    <a:bodyPr/>
                    <a:lstStyle/>
                    <a:p>
                      <a:pPr algn="l">
                        <a:defRPr sz="1200">
                          <a:solidFill>
                            <a:srgbClr val="3D4455"/>
                          </a:solidFill>
                          <a:latin typeface="Calibri"/>
                        </a:defRPr>
                      </a:pPr>
                      <a:r>
                        <a:t>2-4 h</a:t>
                      </a:r>
                    </a:p>
                  </a:txBody>
                  <a:tcPr>
                    <a:solidFill>
                      <a:srgbClr val="F5F6FA"/>
                    </a:solidFill>
                  </a:tcPr>
                </a:tc>
              </a:tr>
              <a:tr h="457200">
                <a:tc>
                  <a:txBody>
                    <a:bodyPr/>
                    <a:lstStyle/>
                    <a:p>
                      <a:pPr algn="l">
                        <a:defRPr sz="1200">
                          <a:solidFill>
                            <a:srgbClr val="3D4455"/>
                          </a:solidFill>
                          <a:latin typeface="Calibri"/>
                        </a:defRPr>
                      </a:pPr>
                      <a:r>
                        <a:t>Sodium bicarbonate</a:t>
                      </a:r>
                    </a:p>
                  </a:txBody>
                  <a:tcPr>
                    <a:solidFill>
                      <a:srgbClr val="FFFFFF"/>
                    </a:solidFill>
                  </a:tcPr>
                </a:tc>
                <a:tc>
                  <a:txBody>
                    <a:bodyPr/>
                    <a:lstStyle/>
                    <a:p>
                      <a:pPr algn="l">
                        <a:defRPr sz="1200">
                          <a:solidFill>
                            <a:srgbClr val="3D4455"/>
                          </a:solidFill>
                          <a:latin typeface="Calibri"/>
                        </a:defRPr>
                      </a:pPr>
                      <a:r>
                        <a:t>Shift K (if acidotic)</a:t>
                      </a:r>
                    </a:p>
                  </a:txBody>
                  <a:tcPr>
                    <a:solidFill>
                      <a:srgbClr val="FFFFFF"/>
                    </a:solidFill>
                  </a:tcPr>
                </a:tc>
                <a:tc>
                  <a:txBody>
                    <a:bodyPr/>
                    <a:lstStyle/>
                    <a:p>
                      <a:pPr algn="l">
                        <a:defRPr sz="1200">
                          <a:solidFill>
                            <a:srgbClr val="3D4455"/>
                          </a:solidFill>
                          <a:latin typeface="Calibri"/>
                        </a:defRPr>
                      </a:pPr>
                      <a:r>
                        <a:t>1-2 mEq/kg IV</a:t>
                      </a:r>
                    </a:p>
                  </a:txBody>
                  <a:tcPr>
                    <a:solidFill>
                      <a:srgbClr val="FFFFFF"/>
                    </a:solidFill>
                  </a:tcPr>
                </a:tc>
                <a:tc>
                  <a:txBody>
                    <a:bodyPr/>
                    <a:lstStyle/>
                    <a:p>
                      <a:pPr algn="l">
                        <a:defRPr sz="1200">
                          <a:solidFill>
                            <a:srgbClr val="3D4455"/>
                          </a:solidFill>
                          <a:latin typeface="Calibri"/>
                        </a:defRPr>
                      </a:pPr>
                      <a:r>
                        <a:t>15-30 min</a:t>
                      </a:r>
                    </a:p>
                  </a:txBody>
                  <a:tcPr>
                    <a:solidFill>
                      <a:srgbClr val="FFFFFF"/>
                    </a:solidFill>
                  </a:tcPr>
                </a:tc>
                <a:tc>
                  <a:txBody>
                    <a:bodyPr/>
                    <a:lstStyle/>
                    <a:p>
                      <a:pPr algn="l">
                        <a:defRPr sz="1200">
                          <a:solidFill>
                            <a:srgbClr val="3D4455"/>
                          </a:solidFill>
                          <a:latin typeface="Calibri"/>
                        </a:defRPr>
                      </a:pPr>
                      <a:r>
                        <a:t>1-2 h</a:t>
                      </a:r>
                    </a:p>
                  </a:txBody>
                  <a:tcPr>
                    <a:solidFill>
                      <a:srgbClr val="FFFFFF"/>
                    </a:solidFill>
                  </a:tcPr>
                </a:tc>
              </a:tr>
              <a:tr h="457200">
                <a:tc>
                  <a:txBody>
                    <a:bodyPr/>
                    <a:lstStyle/>
                    <a:p>
                      <a:pPr algn="l">
                        <a:defRPr sz="1200">
                          <a:solidFill>
                            <a:srgbClr val="3D4455"/>
                          </a:solidFill>
                          <a:latin typeface="Calibri"/>
                        </a:defRPr>
                      </a:pPr>
                      <a:r>
                        <a:t>Furosemide</a:t>
                      </a:r>
                    </a:p>
                  </a:txBody>
                  <a:tcPr>
                    <a:solidFill>
                      <a:srgbClr val="F5F6FA"/>
                    </a:solidFill>
                  </a:tcPr>
                </a:tc>
                <a:tc>
                  <a:txBody>
                    <a:bodyPr/>
                    <a:lstStyle/>
                    <a:p>
                      <a:pPr algn="l">
                        <a:defRPr sz="1200">
                          <a:solidFill>
                            <a:srgbClr val="3D4455"/>
                          </a:solidFill>
                          <a:latin typeface="Calibri"/>
                        </a:defRPr>
                      </a:pPr>
                      <a:r>
                        <a:t>Renal K elimination</a:t>
                      </a:r>
                    </a:p>
                  </a:txBody>
                  <a:tcPr>
                    <a:solidFill>
                      <a:srgbClr val="F5F6FA"/>
                    </a:solidFill>
                  </a:tcPr>
                </a:tc>
                <a:tc>
                  <a:txBody>
                    <a:bodyPr/>
                    <a:lstStyle/>
                    <a:p>
                      <a:pPr algn="l">
                        <a:defRPr sz="1200">
                          <a:solidFill>
                            <a:srgbClr val="3D4455"/>
                          </a:solidFill>
                          <a:latin typeface="Calibri"/>
                        </a:defRPr>
                      </a:pPr>
                      <a:r>
                        <a:t>1-2 mg/kg IV</a:t>
                      </a:r>
                    </a:p>
                  </a:txBody>
                  <a:tcPr>
                    <a:solidFill>
                      <a:srgbClr val="F5F6FA"/>
                    </a:solidFill>
                  </a:tcPr>
                </a:tc>
                <a:tc>
                  <a:txBody>
                    <a:bodyPr/>
                    <a:lstStyle/>
                    <a:p>
                      <a:pPr algn="l">
                        <a:defRPr sz="1200">
                          <a:solidFill>
                            <a:srgbClr val="3D4455"/>
                          </a:solidFill>
                          <a:latin typeface="Calibri"/>
                        </a:defRPr>
                      </a:pPr>
                      <a:r>
                        <a:t>30-60 min</a:t>
                      </a:r>
                    </a:p>
                  </a:txBody>
                  <a:tcPr>
                    <a:solidFill>
                      <a:srgbClr val="F5F6FA"/>
                    </a:solidFill>
                  </a:tcPr>
                </a:tc>
                <a:tc>
                  <a:txBody>
                    <a:bodyPr/>
                    <a:lstStyle/>
                    <a:p>
                      <a:pPr algn="l">
                        <a:defRPr sz="1200">
                          <a:solidFill>
                            <a:srgbClr val="3D4455"/>
                          </a:solidFill>
                          <a:latin typeface="Calibri"/>
                        </a:defRPr>
                      </a:pPr>
                      <a:r>
                        <a:t>6 h</a:t>
                      </a:r>
                    </a:p>
                  </a:txBody>
                  <a:tcPr>
                    <a:solidFill>
                      <a:srgbClr val="F5F6FA"/>
                    </a:solidFill>
                  </a:tcPr>
                </a:tc>
              </a:tr>
              <a:tr h="457200">
                <a:tc>
                  <a:txBody>
                    <a:bodyPr/>
                    <a:lstStyle/>
                    <a:p>
                      <a:pPr algn="l">
                        <a:defRPr sz="1200">
                          <a:solidFill>
                            <a:srgbClr val="3D4455"/>
                          </a:solidFill>
                          <a:latin typeface="Calibri"/>
                        </a:defRPr>
                      </a:pPr>
                      <a:r>
                        <a:t>Kayexalate</a:t>
                      </a:r>
                    </a:p>
                  </a:txBody>
                  <a:tcPr>
                    <a:solidFill>
                      <a:srgbClr val="FFFFFF"/>
                    </a:solidFill>
                  </a:tcPr>
                </a:tc>
                <a:tc>
                  <a:txBody>
                    <a:bodyPr/>
                    <a:lstStyle/>
                    <a:p>
                      <a:pPr algn="l">
                        <a:defRPr sz="1200">
                          <a:solidFill>
                            <a:srgbClr val="3D4455"/>
                          </a:solidFill>
                          <a:latin typeface="Calibri"/>
                        </a:defRPr>
                      </a:pPr>
                      <a:r>
                        <a:t>GI K elimination</a:t>
                      </a:r>
                    </a:p>
                  </a:txBody>
                  <a:tcPr>
                    <a:solidFill>
                      <a:srgbClr val="FFFFFF"/>
                    </a:solidFill>
                  </a:tcPr>
                </a:tc>
                <a:tc>
                  <a:txBody>
                    <a:bodyPr/>
                    <a:lstStyle/>
                    <a:p>
                      <a:pPr algn="l">
                        <a:defRPr sz="1200">
                          <a:solidFill>
                            <a:srgbClr val="3D4455"/>
                          </a:solidFill>
                          <a:latin typeface="Calibri"/>
                        </a:defRPr>
                      </a:pPr>
                      <a:r>
                        <a:t>1 g/kg PO/PR</a:t>
                      </a:r>
                    </a:p>
                  </a:txBody>
                  <a:tcPr>
                    <a:solidFill>
                      <a:srgbClr val="FFFFFF"/>
                    </a:solidFill>
                  </a:tcPr>
                </a:tc>
                <a:tc>
                  <a:txBody>
                    <a:bodyPr/>
                    <a:lstStyle/>
                    <a:p>
                      <a:pPr algn="l">
                        <a:defRPr sz="1200">
                          <a:solidFill>
                            <a:srgbClr val="3D4455"/>
                          </a:solidFill>
                          <a:latin typeface="Calibri"/>
                        </a:defRPr>
                      </a:pPr>
                      <a:r>
                        <a:t>1-2 h</a:t>
                      </a:r>
                    </a:p>
                  </a:txBody>
                  <a:tcPr>
                    <a:solidFill>
                      <a:srgbClr val="FFFFFF"/>
                    </a:solidFill>
                  </a:tcPr>
                </a:tc>
                <a:tc>
                  <a:txBody>
                    <a:bodyPr/>
                    <a:lstStyle/>
                    <a:p>
                      <a:pPr algn="l">
                        <a:defRPr sz="1200">
                          <a:solidFill>
                            <a:srgbClr val="3D4455"/>
                          </a:solidFill>
                          <a:latin typeface="Calibri"/>
                        </a:defRPr>
                      </a:pPr>
                      <a:r>
                        <a:t>Hours</a:t>
                      </a:r>
                    </a:p>
                  </a:txBody>
                  <a:tcPr>
                    <a:solidFill>
                      <a:srgbClr val="FFFFFF"/>
                    </a:solidFill>
                  </a:tcPr>
                </a:tc>
              </a:tr>
              <a:tr h="457200">
                <a:tc>
                  <a:txBody>
                    <a:bodyPr/>
                    <a:lstStyle/>
                    <a:p>
                      <a:pPr algn="l">
                        <a:defRPr sz="1200">
                          <a:solidFill>
                            <a:srgbClr val="3D4455"/>
                          </a:solidFill>
                          <a:latin typeface="Calibri"/>
                        </a:defRPr>
                      </a:pPr>
                      <a:r>
                        <a:t>Dialysis</a:t>
                      </a:r>
                    </a:p>
                  </a:txBody>
                  <a:tcPr>
                    <a:solidFill>
                      <a:srgbClr val="F5F6FA"/>
                    </a:solidFill>
                  </a:tcPr>
                </a:tc>
                <a:tc>
                  <a:txBody>
                    <a:bodyPr/>
                    <a:lstStyle/>
                    <a:p>
                      <a:pPr algn="l">
                        <a:defRPr sz="1200">
                          <a:solidFill>
                            <a:srgbClr val="3D4455"/>
                          </a:solidFill>
                          <a:latin typeface="Calibri"/>
                        </a:defRPr>
                      </a:pPr>
                      <a:r>
                        <a:t>Definitive elimination</a:t>
                      </a:r>
                    </a:p>
                  </a:txBody>
                  <a:tcPr>
                    <a:solidFill>
                      <a:srgbClr val="F5F6FA"/>
                    </a:solidFill>
                  </a:tcPr>
                </a:tc>
                <a:tc>
                  <a:txBody>
                    <a:bodyPr/>
                    <a:lstStyle/>
                    <a:p>
                      <a:pPr algn="l">
                        <a:defRPr sz="1200">
                          <a:solidFill>
                            <a:srgbClr val="3D4455"/>
                          </a:solidFill>
                          <a:latin typeface="Calibri"/>
                        </a:defRPr>
                      </a:pPr>
                      <a:r>
                        <a:t>Contact nephrology</a:t>
                      </a:r>
                    </a:p>
                  </a:txBody>
                  <a:tcPr>
                    <a:solidFill>
                      <a:srgbClr val="F5F6FA"/>
                    </a:solidFill>
                  </a:tcPr>
                </a:tc>
                <a:tc>
                  <a:txBody>
                    <a:bodyPr/>
                    <a:lstStyle/>
                    <a:p>
                      <a:pPr algn="l">
                        <a:defRPr sz="1200">
                          <a:solidFill>
                            <a:srgbClr val="3D4455"/>
                          </a:solidFill>
                          <a:latin typeface="Calibri"/>
                        </a:defRPr>
                      </a:pPr>
                      <a:r>
                        <a:t>Immediate (once initiated)</a:t>
                      </a:r>
                    </a:p>
                  </a:txBody>
                  <a:tcPr>
                    <a:solidFill>
                      <a:srgbClr val="F5F6FA"/>
                    </a:solidFill>
                  </a:tcPr>
                </a:tc>
                <a:tc>
                  <a:txBody>
                    <a:bodyPr/>
                    <a:lstStyle/>
                    <a:p>
                      <a:pPr algn="l">
                        <a:defRPr sz="1200">
                          <a:solidFill>
                            <a:srgbClr val="3D4455"/>
                          </a:solidFill>
                          <a:latin typeface="Calibri"/>
                        </a:defRPr>
                      </a:pPr>
                      <a:r>
                        <a:t>During session</a:t>
                      </a:r>
                    </a:p>
                  </a:txBody>
                  <a:tcPr>
                    <a:solidFill>
                      <a:srgbClr val="F5F6FA"/>
                    </a:solidFill>
                  </a:tcPr>
                </a:tc>
              </a:tr>
            </a:tbl>
          </a:graphicData>
        </a:graphic>
      </p:graphicFrame>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Electrolyte Emergencies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1005840"/>
            <a:ext cx="2286000" cy="45720"/>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Hypocalcemia: Causes, Recognition, and Treatment</a:t>
            </a:r>
          </a:p>
        </p:txBody>
      </p:sp>
      <p:sp>
        <p:nvSpPr>
          <p:cNvPr id="6" name="TextBox 5"/>
          <p:cNvSpPr txBox="1"/>
          <p:nvPr/>
        </p:nvSpPr>
        <p:spPr>
          <a:xfrm>
            <a:off x="731520" y="1371600"/>
            <a:ext cx="10515600" cy="4754880"/>
          </a:xfrm>
          <a:prstGeom prst="rect">
            <a:avLst/>
          </a:prstGeom>
          <a:noFill/>
        </p:spPr>
        <p:txBody>
          <a:bodyPr wrap="square">
            <a:spAutoFit/>
          </a:bodyPr>
          <a:lstStyle/>
          <a:p>
            <a:pPr>
              <a:spcBef>
                <a:spcPts val="400"/>
              </a:spcBef>
              <a:spcAft>
                <a:spcPts val="600"/>
              </a:spcAft>
              <a:defRPr sz="1600">
                <a:solidFill>
                  <a:srgbClr val="3D4455"/>
                </a:solidFill>
                <a:latin typeface="Calibri"/>
              </a:defRPr>
            </a:pPr>
            <a:r>
              <a:t>Normal ionized Ca: 1.1-1.3 mmol/L (use ionized, not total calcium)</a:t>
            </a:r>
          </a:p>
          <a:p>
            <a:pPr>
              <a:spcBef>
                <a:spcPts val="400"/>
              </a:spcBef>
              <a:spcAft>
                <a:spcPts val="600"/>
              </a:spcAft>
              <a:defRPr sz="1600">
                <a:solidFill>
                  <a:srgbClr val="3D4455"/>
                </a:solidFill>
                <a:latin typeface="Calibri"/>
              </a:defRPr>
            </a:pPr>
            <a:r>
              <a:t>Common causes in children: DiGeorge syndrome, hypoparathyroidism, vitamin D deficiency, critical illness, citrate toxicity (massive transfusion)</a:t>
            </a:r>
          </a:p>
          <a:p>
            <a:pPr>
              <a:spcBef>
                <a:spcPts val="400"/>
              </a:spcBef>
              <a:spcAft>
                <a:spcPts val="600"/>
              </a:spcAft>
              <a:defRPr sz="1600">
                <a:solidFill>
                  <a:srgbClr val="3D4455"/>
                </a:solidFill>
                <a:latin typeface="Calibri"/>
              </a:defRPr>
            </a:pPr>
            <a:r>
              <a:t>Neonatal hypocalcemia: early (first 48h, associated with prematurity) or late (day 5-10, associated with high-phosphorus formula)</a:t>
            </a:r>
          </a:p>
          <a:p>
            <a:pPr>
              <a:spcBef>
                <a:spcPts val="400"/>
              </a:spcBef>
              <a:spcAft>
                <a:spcPts val="600"/>
              </a:spcAft>
              <a:defRPr sz="1600">
                <a:solidFill>
                  <a:srgbClr val="3D4455"/>
                </a:solidFill>
                <a:latin typeface="Calibri"/>
              </a:defRPr>
            </a:pPr>
            <a:r>
              <a:t>Symptoms: tetany, Chvostek sign, Trousseau sign, seizures, QT prolongation, laryngospasm</a:t>
            </a:r>
          </a:p>
          <a:p>
            <a:pPr>
              <a:spcBef>
                <a:spcPts val="400"/>
              </a:spcBef>
              <a:spcAft>
                <a:spcPts val="600"/>
              </a:spcAft>
              <a:defRPr sz="1600">
                <a:solidFill>
                  <a:srgbClr val="3D4455"/>
                </a:solidFill>
                <a:latin typeface="Calibri"/>
              </a:defRPr>
            </a:pPr>
            <a:r>
              <a:t>Severe/symptomatic: calcium gluconate 10% 100 mg/kg (1 mL/kg) IV over 10 min with cardiac monitoring</a:t>
            </a:r>
          </a:p>
          <a:p>
            <a:pPr>
              <a:spcBef>
                <a:spcPts val="400"/>
              </a:spcBef>
              <a:spcAft>
                <a:spcPts val="600"/>
              </a:spcAft>
              <a:defRPr sz="1600">
                <a:solidFill>
                  <a:srgbClr val="3D4455"/>
                </a:solidFill>
                <a:latin typeface="Calibri"/>
              </a:defRPr>
            </a:pPr>
            <a:r>
              <a:t>QT prolongation + hypocalcemia = risk of Torsades de Pointes</a:t>
            </a:r>
          </a:p>
          <a:p>
            <a:pPr lvl="1">
              <a:spcBef>
                <a:spcPts val="400"/>
              </a:spcBef>
              <a:spcAft>
                <a:spcPts val="600"/>
              </a:spcAft>
              <a:defRPr sz="1400">
                <a:solidFill>
                  <a:srgbClr val="8A92A3"/>
                </a:solidFill>
                <a:latin typeface="Calibri"/>
              </a:defRPr>
            </a:pPr>
            <a:r>
              <a:t>Always check magnesium when treating hypocalcemia — hypomagnesemia causes refractory hypocalcemia</a:t>
            </a:r>
          </a:p>
        </p:txBody>
      </p:sp>
      <p:sp>
        <p:nvSpPr>
          <p:cNvPr id="7" name="Rectangle 6"/>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Electrolyte Emergencies</a:t>
            </a:r>
          </a:p>
        </p:txBody>
      </p:sp>
      <p:sp>
        <p:nvSpPr>
          <p:cNvPr id="9" name="TextBox 8"/>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712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28600"/>
            <a:ext cx="1645920" cy="457200"/>
          </a:xfrm>
          <a:prstGeom prst="roundRect">
            <a:avLst/>
          </a:prstGeom>
          <a:solidFill>
            <a:srgbClr val="F0A5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439"/>
              </a:lnSpc>
              <a:spcBef>
                <a:spcPts val="0"/>
              </a:spcBef>
              <a:spcAft>
                <a:spcPts val="0"/>
              </a:spcAft>
              <a:defRPr sz="1200" b="1" i="0">
                <a:solidFill>
                  <a:srgbClr val="FFFFFF"/>
                </a:solidFill>
                <a:latin typeface="Calibri"/>
              </a:defRPr>
            </a:pPr>
            <a:r>
              <a:t>CLINICAL CASE</a:t>
            </a:r>
          </a:p>
        </p:txBody>
      </p:sp>
      <p:sp>
        <p:nvSpPr>
          <p:cNvPr id="5" name="TextBox 4"/>
          <p:cNvSpPr txBox="1"/>
          <p:nvPr/>
        </p:nvSpPr>
        <p:spPr>
          <a:xfrm>
            <a:off x="2651760" y="182880"/>
            <a:ext cx="8686800" cy="640080"/>
          </a:xfrm>
          <a:prstGeom prst="rect">
            <a:avLst/>
          </a:prstGeom>
          <a:noFill/>
        </p:spPr>
        <p:txBody>
          <a:bodyPr wrap="square">
            <a:spAutoFit/>
          </a:bodyPr>
          <a:lstStyle/>
          <a:p>
            <a:pPr algn="l">
              <a:lnSpc>
                <a:spcPts val="2879"/>
              </a:lnSpc>
              <a:spcBef>
                <a:spcPts val="0"/>
              </a:spcBef>
              <a:spcAft>
                <a:spcPts val="0"/>
              </a:spcAft>
              <a:defRPr sz="2400" b="1" i="0">
                <a:solidFill>
                  <a:srgbClr val="FFFFFF"/>
                </a:solidFill>
                <a:latin typeface="Calibri"/>
              </a:defRPr>
            </a:pPr>
            <a:r>
              <a:t>2-Year-Old with Seizures and Na of 118</a:t>
            </a:r>
          </a:p>
        </p:txBody>
      </p:sp>
      <p:sp>
        <p:nvSpPr>
          <p:cNvPr id="6" name="Rounded Rectangle 5"/>
          <p:cNvSpPr/>
          <p:nvPr/>
        </p:nvSpPr>
        <p:spPr>
          <a:xfrm>
            <a:off x="548640" y="1280160"/>
            <a:ext cx="10972800" cy="2560320"/>
          </a:xfrm>
          <a:prstGeom prst="roundRect">
            <a:avLst/>
          </a:prstGeom>
          <a:solidFill>
            <a:srgbClr val="FFFFFF"/>
          </a:solidFill>
          <a:ln w="19050">
            <a:solidFill>
              <a:srgbClr val="E0E4EB"/>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defRPr sz="1500">
                <a:solidFill>
                  <a:srgbClr val="3D4455"/>
                </a:solidFill>
                <a:latin typeface="Calibri"/>
              </a:defRPr>
            </a:pPr>
            <a:r>
              <a:t>A 2-year-old boy (13 kg) presents with a generalized seizure lasting 3 minutes. He had gastroenteritis for 3 days with vomiting and diarrhea. Parents have been giving diluted formula and water to "keep him hydrated." He is post-ictal, lethargic. Labs: Na 118, K 3.2, Cl 88, CO2 14, BUN 18, Cr 0.4, glucose 95.</a:t>
            </a:r>
          </a:p>
        </p:txBody>
      </p:sp>
      <p:sp>
        <p:nvSpPr>
          <p:cNvPr id="7" name="TextBox 6"/>
          <p:cNvSpPr txBox="1"/>
          <p:nvPr/>
        </p:nvSpPr>
        <p:spPr>
          <a:xfrm>
            <a:off x="731520" y="4114800"/>
            <a:ext cx="10515600" cy="2011680"/>
          </a:xfrm>
          <a:prstGeom prst="rect">
            <a:avLst/>
          </a:prstGeom>
          <a:noFill/>
        </p:spPr>
        <p:txBody>
          <a:bodyPr wrap="square">
            <a:spAutoFit/>
          </a:bodyPr>
          <a:lstStyle/>
          <a:p>
            <a:pPr>
              <a:spcAft>
                <a:spcPts val="600"/>
              </a:spcAft>
              <a:defRPr sz="1400" b="1">
                <a:solidFill>
                  <a:srgbClr val="007B83"/>
                </a:solidFill>
                <a:latin typeface="Calibri"/>
              </a:defRPr>
            </a:pPr>
            <a:r>
              <a:t>▸  What caused the seizure? (Acute hyponatremia from water intoxication — diluted formula)</a:t>
            </a:r>
          </a:p>
          <a:p>
            <a:pPr>
              <a:spcAft>
                <a:spcPts val="600"/>
              </a:spcAft>
              <a:defRPr sz="1400" b="1">
                <a:solidFill>
                  <a:srgbClr val="007B83"/>
                </a:solidFill>
                <a:latin typeface="Calibri"/>
              </a:defRPr>
            </a:pPr>
            <a:r>
              <a:t>▸  Immediate treatment? (3% NaCl 3 mL/kg = 39 mL IV over 15 min → raises Na ~3-5 mEq/L)</a:t>
            </a:r>
          </a:p>
          <a:p>
            <a:pPr>
              <a:spcAft>
                <a:spcPts val="600"/>
              </a:spcAft>
              <a:defRPr sz="1400" b="1">
                <a:solidFill>
                  <a:srgbClr val="007B83"/>
                </a:solidFill>
                <a:latin typeface="Calibri"/>
              </a:defRPr>
            </a:pPr>
            <a:r>
              <a:t>▸  Target for first 4-6 hours? (Raise Na to ~122-125 to stop seizure activity)</a:t>
            </a:r>
          </a:p>
          <a:p>
            <a:pPr>
              <a:spcAft>
                <a:spcPts val="600"/>
              </a:spcAft>
              <a:defRPr sz="1400" b="1">
                <a:solidFill>
                  <a:srgbClr val="007B83"/>
                </a:solidFill>
                <a:latin typeface="Calibri"/>
              </a:defRPr>
            </a:pPr>
            <a:r>
              <a:t>▸  Maximum 24-hour correction? (10-12 mEq/L — so target Na ~128-130 by 24 hours)</a:t>
            </a:r>
          </a:p>
          <a:p>
            <a:pPr>
              <a:spcAft>
                <a:spcPts val="600"/>
              </a:spcAft>
              <a:defRPr sz="1400" b="1">
                <a:solidFill>
                  <a:srgbClr val="007B83"/>
                </a:solidFill>
                <a:latin typeface="Calibri"/>
              </a:defRPr>
            </a:pPr>
            <a:r>
              <a:t>▸  If Na corrects too fast? → D5W infusion to slow the rise; desmopressin if needed</a:t>
            </a:r>
          </a:p>
        </p:txBody>
      </p:sp>
      <p:sp>
        <p:nvSpPr>
          <p:cNvPr id="8" name="Rectangle 7"/>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Electrolyte Emergencies</a:t>
            </a:r>
          </a:p>
        </p:txBody>
      </p:sp>
      <p:sp>
        <p:nvSpPr>
          <p:cNvPr id="10" name="TextBox 9"/>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E8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Electrolyte Emergency Pitfalls</a:t>
            </a:r>
          </a:p>
        </p:txBody>
      </p:sp>
      <p:sp>
        <p:nvSpPr>
          <p:cNvPr id="5" name="Rounded Rectangle 4"/>
          <p:cNvSpPr/>
          <p:nvPr/>
        </p:nvSpPr>
        <p:spPr>
          <a:xfrm>
            <a:off x="457200" y="128016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6" name="TextBox 5"/>
          <p:cNvSpPr txBox="1"/>
          <p:nvPr/>
        </p:nvSpPr>
        <p:spPr>
          <a:xfrm>
            <a:off x="1097280" y="1280160"/>
            <a:ext cx="10515600" cy="548640"/>
          </a:xfrm>
          <a:prstGeom prst="rect">
            <a:avLst/>
          </a:prstGeom>
          <a:noFill/>
        </p:spPr>
        <p:txBody>
          <a:bodyPr wrap="square">
            <a:spAutoFit/>
          </a:bodyPr>
          <a:lstStyle/>
          <a:p>
            <a:pPr>
              <a:defRPr sz="1500">
                <a:solidFill>
                  <a:srgbClr val="3D4455"/>
                </a:solidFill>
                <a:latin typeface="Calibri"/>
              </a:defRPr>
            </a:pPr>
            <a:r>
              <a:t>Correcting hyponatremia too rapidly → osmotic demyelination syndrome (max 10-12 mEq/L per 24h)</a:t>
            </a:r>
          </a:p>
        </p:txBody>
      </p:sp>
      <p:sp>
        <p:nvSpPr>
          <p:cNvPr id="7" name="Rounded Rectangle 6"/>
          <p:cNvSpPr/>
          <p:nvPr/>
        </p:nvSpPr>
        <p:spPr>
          <a:xfrm>
            <a:off x="457200" y="1993391"/>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8" name="TextBox 7"/>
          <p:cNvSpPr txBox="1"/>
          <p:nvPr/>
        </p:nvSpPr>
        <p:spPr>
          <a:xfrm>
            <a:off x="1097280" y="1993391"/>
            <a:ext cx="10515600" cy="548640"/>
          </a:xfrm>
          <a:prstGeom prst="rect">
            <a:avLst/>
          </a:prstGeom>
          <a:noFill/>
        </p:spPr>
        <p:txBody>
          <a:bodyPr wrap="square">
            <a:spAutoFit/>
          </a:bodyPr>
          <a:lstStyle/>
          <a:p>
            <a:pPr>
              <a:defRPr sz="1500">
                <a:solidFill>
                  <a:srgbClr val="3D4455"/>
                </a:solidFill>
                <a:latin typeface="Calibri"/>
              </a:defRPr>
            </a:pPr>
            <a:r>
              <a:t>Correcting hypernatremia too rapidly → cerebral edema (max 10-12 mEq/L per 24h)</a:t>
            </a:r>
          </a:p>
        </p:txBody>
      </p:sp>
      <p:sp>
        <p:nvSpPr>
          <p:cNvPr id="9" name="Rounded Rectangle 8"/>
          <p:cNvSpPr/>
          <p:nvPr/>
        </p:nvSpPr>
        <p:spPr>
          <a:xfrm>
            <a:off x="457200" y="2706624"/>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0" name="TextBox 9"/>
          <p:cNvSpPr txBox="1"/>
          <p:nvPr/>
        </p:nvSpPr>
        <p:spPr>
          <a:xfrm>
            <a:off x="1097280" y="2706624"/>
            <a:ext cx="10515600" cy="548640"/>
          </a:xfrm>
          <a:prstGeom prst="rect">
            <a:avLst/>
          </a:prstGeom>
          <a:noFill/>
        </p:spPr>
        <p:txBody>
          <a:bodyPr wrap="square">
            <a:spAutoFit/>
          </a:bodyPr>
          <a:lstStyle/>
          <a:p>
            <a:pPr>
              <a:defRPr sz="1500">
                <a:solidFill>
                  <a:srgbClr val="3D4455"/>
                </a:solidFill>
                <a:latin typeface="Calibri"/>
              </a:defRPr>
            </a:pPr>
            <a:r>
              <a:t>Not giving calcium FIRST in hyperkalemia with ECG changes — it is the fastest-acting agent</a:t>
            </a:r>
          </a:p>
        </p:txBody>
      </p:sp>
      <p:sp>
        <p:nvSpPr>
          <p:cNvPr id="11" name="Rounded Rectangle 10"/>
          <p:cNvSpPr/>
          <p:nvPr/>
        </p:nvSpPr>
        <p:spPr>
          <a:xfrm>
            <a:off x="457200" y="3419856"/>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2" name="TextBox 11"/>
          <p:cNvSpPr txBox="1"/>
          <p:nvPr/>
        </p:nvSpPr>
        <p:spPr>
          <a:xfrm>
            <a:off x="1097280" y="3419856"/>
            <a:ext cx="10515600" cy="548640"/>
          </a:xfrm>
          <a:prstGeom prst="rect">
            <a:avLst/>
          </a:prstGeom>
          <a:noFill/>
        </p:spPr>
        <p:txBody>
          <a:bodyPr wrap="square">
            <a:spAutoFit/>
          </a:bodyPr>
          <a:lstStyle/>
          <a:p>
            <a:pPr>
              <a:defRPr sz="1500">
                <a:solidFill>
                  <a:srgbClr val="3D4455"/>
                </a:solidFill>
                <a:latin typeface="Calibri"/>
              </a:defRPr>
            </a:pPr>
            <a:r>
              <a:t>Treating a hemolyzed K level as real hyperkalemia — always confirm before aggressive treatment</a:t>
            </a:r>
          </a:p>
        </p:txBody>
      </p:sp>
      <p:sp>
        <p:nvSpPr>
          <p:cNvPr id="13" name="Rounded Rectangle 12"/>
          <p:cNvSpPr/>
          <p:nvPr/>
        </p:nvSpPr>
        <p:spPr>
          <a:xfrm>
            <a:off x="457200" y="4133087"/>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4" name="TextBox 13"/>
          <p:cNvSpPr txBox="1"/>
          <p:nvPr/>
        </p:nvSpPr>
        <p:spPr>
          <a:xfrm>
            <a:off x="1097280" y="4133087"/>
            <a:ext cx="10515600" cy="548640"/>
          </a:xfrm>
          <a:prstGeom prst="rect">
            <a:avLst/>
          </a:prstGeom>
          <a:noFill/>
        </p:spPr>
        <p:txBody>
          <a:bodyPr wrap="square">
            <a:spAutoFit/>
          </a:bodyPr>
          <a:lstStyle/>
          <a:p>
            <a:pPr>
              <a:defRPr sz="1500">
                <a:solidFill>
                  <a:srgbClr val="3D4455"/>
                </a:solidFill>
                <a:latin typeface="Calibri"/>
              </a:defRPr>
            </a:pPr>
            <a:r>
              <a:t>Forgetting to check magnesium with refractory hypocalcemia or hypokalemia</a:t>
            </a:r>
          </a:p>
        </p:txBody>
      </p:sp>
      <p:sp>
        <p:nvSpPr>
          <p:cNvPr id="15" name="Rounded Rectangle 14"/>
          <p:cNvSpPr/>
          <p:nvPr/>
        </p:nvSpPr>
        <p:spPr>
          <a:xfrm>
            <a:off x="457200" y="4846320"/>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6" name="TextBox 15"/>
          <p:cNvSpPr txBox="1"/>
          <p:nvPr/>
        </p:nvSpPr>
        <p:spPr>
          <a:xfrm>
            <a:off x="1097280" y="4846320"/>
            <a:ext cx="10515600" cy="548640"/>
          </a:xfrm>
          <a:prstGeom prst="rect">
            <a:avLst/>
          </a:prstGeom>
          <a:noFill/>
        </p:spPr>
        <p:txBody>
          <a:bodyPr wrap="square">
            <a:spAutoFit/>
          </a:bodyPr>
          <a:lstStyle/>
          <a:p>
            <a:pPr>
              <a:defRPr sz="1500">
                <a:solidFill>
                  <a:srgbClr val="3D4455"/>
                </a:solidFill>
                <a:latin typeface="Calibri"/>
              </a:defRPr>
            </a:pPr>
            <a:r>
              <a:t>Using total calcium instead of ionized calcium — total Ca is unreliable in critically ill children</a:t>
            </a:r>
          </a:p>
        </p:txBody>
      </p:sp>
      <p:sp>
        <p:nvSpPr>
          <p:cNvPr id="17" name="Rounded Rectangle 16"/>
          <p:cNvSpPr/>
          <p:nvPr/>
        </p:nvSpPr>
        <p:spPr>
          <a:xfrm>
            <a:off x="457200" y="5559552"/>
            <a:ext cx="457200" cy="457200"/>
          </a:xfrm>
          <a:prstGeom prst="roundRect">
            <a:avLst/>
          </a:prstGeom>
          <a:solidFill>
            <a:srgbClr val="FD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ts val="1920"/>
              </a:lnSpc>
              <a:spcBef>
                <a:spcPts val="0"/>
              </a:spcBef>
              <a:spcAft>
                <a:spcPts val="0"/>
              </a:spcAft>
              <a:defRPr sz="1600" b="0" i="0">
                <a:solidFill>
                  <a:srgbClr val="E84D4D"/>
                </a:solidFill>
                <a:latin typeface="Calibri"/>
              </a:defRPr>
            </a:pPr>
            <a:r>
              <a:t>⚠</a:t>
            </a:r>
          </a:p>
        </p:txBody>
      </p:sp>
      <p:sp>
        <p:nvSpPr>
          <p:cNvPr id="18" name="TextBox 17"/>
          <p:cNvSpPr txBox="1"/>
          <p:nvPr/>
        </p:nvSpPr>
        <p:spPr>
          <a:xfrm>
            <a:off x="1097280" y="5559552"/>
            <a:ext cx="10515600" cy="548640"/>
          </a:xfrm>
          <a:prstGeom prst="rect">
            <a:avLst/>
          </a:prstGeom>
          <a:noFill/>
        </p:spPr>
        <p:txBody>
          <a:bodyPr wrap="square">
            <a:spAutoFit/>
          </a:bodyPr>
          <a:lstStyle/>
          <a:p>
            <a:pPr>
              <a:defRPr sz="1500">
                <a:solidFill>
                  <a:srgbClr val="3D4455"/>
                </a:solidFill>
                <a:latin typeface="Calibri"/>
              </a:defRPr>
            </a:pPr>
            <a:r>
              <a:t>Not monitoring Na frequently enough during correction — check q2-4h and adjust fluids accordingly</a:t>
            </a:r>
          </a:p>
        </p:txBody>
      </p:sp>
      <p:sp>
        <p:nvSpPr>
          <p:cNvPr id="19" name="Rectangle 18"/>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Electrolyte Emergencies</a:t>
            </a:r>
          </a:p>
        </p:txBody>
      </p:sp>
      <p:sp>
        <p:nvSpPr>
          <p:cNvPr id="21" name="TextBox 20"/>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058400" cy="457200"/>
          </a:xfrm>
          <a:prstGeom prst="rect">
            <a:avLst/>
          </a:prstGeom>
          <a:noFill/>
        </p:spPr>
        <p:txBody>
          <a:bodyPr wrap="none">
            <a:spAutoFit/>
          </a:bodyPr>
          <a:lstStyle/>
          <a:p>
            <a:pPr>
              <a:defRPr sz="1400" b="1">
                <a:solidFill>
                  <a:srgbClr val="007B83"/>
                </a:solidFill>
                <a:latin typeface="Calibri"/>
              </a:defRPr>
            </a:pPr>
            <a:r>
              <a:t>TAKE-HOME MESSAGES</a:t>
            </a:r>
          </a:p>
        </p:txBody>
      </p:sp>
      <p:sp>
        <p:nvSpPr>
          <p:cNvPr id="4" name="Rectangle 3"/>
          <p:cNvSpPr/>
          <p:nvPr/>
        </p:nvSpPr>
        <p:spPr>
          <a:xfrm>
            <a:off x="731520" y="1371600"/>
            <a:ext cx="274320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37360"/>
            <a:ext cx="457200" cy="457200"/>
          </a:xfrm>
          <a:prstGeom prst="rect">
            <a:avLst/>
          </a:prstGeom>
          <a:noFill/>
        </p:spPr>
        <p:txBody>
          <a:bodyPr wrap="none">
            <a:spAutoFit/>
          </a:bodyPr>
          <a:lstStyle/>
          <a:p>
            <a:pPr>
              <a:defRPr sz="2200" b="1">
                <a:solidFill>
                  <a:srgbClr val="007B83"/>
                </a:solidFill>
                <a:latin typeface="Calibri"/>
              </a:defRPr>
            </a:pPr>
            <a:r>
              <a:t>1</a:t>
            </a:r>
          </a:p>
        </p:txBody>
      </p:sp>
      <p:sp>
        <p:nvSpPr>
          <p:cNvPr id="6" name="TextBox 5"/>
          <p:cNvSpPr txBox="1"/>
          <p:nvPr/>
        </p:nvSpPr>
        <p:spPr>
          <a:xfrm>
            <a:off x="1371600" y="1737360"/>
            <a:ext cx="10058400" cy="640080"/>
          </a:xfrm>
          <a:prstGeom prst="rect">
            <a:avLst/>
          </a:prstGeom>
          <a:noFill/>
        </p:spPr>
        <p:txBody>
          <a:bodyPr wrap="square">
            <a:spAutoFit/>
          </a:bodyPr>
          <a:lstStyle/>
          <a:p>
            <a:pPr>
              <a:defRPr sz="1700">
                <a:solidFill>
                  <a:srgbClr val="FFFFFF"/>
                </a:solidFill>
                <a:latin typeface="Calibri"/>
              </a:defRPr>
            </a:pPr>
            <a:r>
              <a:t>Hyperkalemia with ECG changes: calcium gluconate FIRST (membrane stabilization), then insulin + glucose + albuterol</a:t>
            </a:r>
          </a:p>
        </p:txBody>
      </p:sp>
      <p:sp>
        <p:nvSpPr>
          <p:cNvPr id="7" name="TextBox 6"/>
          <p:cNvSpPr txBox="1"/>
          <p:nvPr/>
        </p:nvSpPr>
        <p:spPr>
          <a:xfrm>
            <a:off x="731520" y="2514600"/>
            <a:ext cx="457200" cy="457200"/>
          </a:xfrm>
          <a:prstGeom prst="rect">
            <a:avLst/>
          </a:prstGeom>
          <a:noFill/>
        </p:spPr>
        <p:txBody>
          <a:bodyPr wrap="none">
            <a:spAutoFit/>
          </a:bodyPr>
          <a:lstStyle/>
          <a:p>
            <a:pPr>
              <a:defRPr sz="2200" b="1">
                <a:solidFill>
                  <a:srgbClr val="007B83"/>
                </a:solidFill>
                <a:latin typeface="Calibri"/>
              </a:defRPr>
            </a:pPr>
            <a:r>
              <a:t>2</a:t>
            </a:r>
          </a:p>
        </p:txBody>
      </p:sp>
      <p:sp>
        <p:nvSpPr>
          <p:cNvPr id="8" name="TextBox 7"/>
          <p:cNvSpPr txBox="1"/>
          <p:nvPr/>
        </p:nvSpPr>
        <p:spPr>
          <a:xfrm>
            <a:off x="1371600" y="2514600"/>
            <a:ext cx="10058400" cy="640080"/>
          </a:xfrm>
          <a:prstGeom prst="rect">
            <a:avLst/>
          </a:prstGeom>
          <a:noFill/>
        </p:spPr>
        <p:txBody>
          <a:bodyPr wrap="square">
            <a:spAutoFit/>
          </a:bodyPr>
          <a:lstStyle/>
          <a:p>
            <a:pPr>
              <a:defRPr sz="1700">
                <a:solidFill>
                  <a:srgbClr val="FFFFFF"/>
                </a:solidFill>
                <a:latin typeface="Calibri"/>
              </a:defRPr>
            </a:pPr>
            <a:r>
              <a:t>Symptomatic hyponatremia (seizures): 3% NaCl 3-5 mL/kg IV bolus; max correction 10-12 mEq/L per 24h</a:t>
            </a:r>
          </a:p>
        </p:txBody>
      </p:sp>
      <p:sp>
        <p:nvSpPr>
          <p:cNvPr id="9" name="TextBox 8"/>
          <p:cNvSpPr txBox="1"/>
          <p:nvPr/>
        </p:nvSpPr>
        <p:spPr>
          <a:xfrm>
            <a:off x="731520" y="3291839"/>
            <a:ext cx="457200" cy="457200"/>
          </a:xfrm>
          <a:prstGeom prst="rect">
            <a:avLst/>
          </a:prstGeom>
          <a:noFill/>
        </p:spPr>
        <p:txBody>
          <a:bodyPr wrap="none">
            <a:spAutoFit/>
          </a:bodyPr>
          <a:lstStyle/>
          <a:p>
            <a:pPr>
              <a:defRPr sz="2200" b="1">
                <a:solidFill>
                  <a:srgbClr val="007B83"/>
                </a:solidFill>
                <a:latin typeface="Calibri"/>
              </a:defRPr>
            </a:pPr>
            <a:r>
              <a:t>3</a:t>
            </a:r>
          </a:p>
        </p:txBody>
      </p:sp>
      <p:sp>
        <p:nvSpPr>
          <p:cNvPr id="10" name="TextBox 9"/>
          <p:cNvSpPr txBox="1"/>
          <p:nvPr/>
        </p:nvSpPr>
        <p:spPr>
          <a:xfrm>
            <a:off x="1371600" y="3291839"/>
            <a:ext cx="10058400" cy="640080"/>
          </a:xfrm>
          <a:prstGeom prst="rect">
            <a:avLst/>
          </a:prstGeom>
          <a:noFill/>
        </p:spPr>
        <p:txBody>
          <a:bodyPr wrap="square">
            <a:spAutoFit/>
          </a:bodyPr>
          <a:lstStyle/>
          <a:p>
            <a:pPr>
              <a:defRPr sz="1700">
                <a:solidFill>
                  <a:srgbClr val="FFFFFF"/>
                </a:solidFill>
                <a:latin typeface="Calibri"/>
              </a:defRPr>
            </a:pPr>
            <a:r>
              <a:t>Hypernatremia: correct slowly (max 10-12 mEq/L per 24h) with hypotonic fluids; monitor Na q2-4h</a:t>
            </a:r>
          </a:p>
        </p:txBody>
      </p:sp>
      <p:sp>
        <p:nvSpPr>
          <p:cNvPr id="11" name="TextBox 10"/>
          <p:cNvSpPr txBox="1"/>
          <p:nvPr/>
        </p:nvSpPr>
        <p:spPr>
          <a:xfrm>
            <a:off x="731520" y="4069079"/>
            <a:ext cx="457200" cy="457200"/>
          </a:xfrm>
          <a:prstGeom prst="rect">
            <a:avLst/>
          </a:prstGeom>
          <a:noFill/>
        </p:spPr>
        <p:txBody>
          <a:bodyPr wrap="none">
            <a:spAutoFit/>
          </a:bodyPr>
          <a:lstStyle/>
          <a:p>
            <a:pPr>
              <a:defRPr sz="2200" b="1">
                <a:solidFill>
                  <a:srgbClr val="007B83"/>
                </a:solidFill>
                <a:latin typeface="Calibri"/>
              </a:defRPr>
            </a:pPr>
            <a:r>
              <a:t>4</a:t>
            </a:r>
          </a:p>
        </p:txBody>
      </p:sp>
      <p:sp>
        <p:nvSpPr>
          <p:cNvPr id="12" name="TextBox 11"/>
          <p:cNvSpPr txBox="1"/>
          <p:nvPr/>
        </p:nvSpPr>
        <p:spPr>
          <a:xfrm>
            <a:off x="1371600" y="4069079"/>
            <a:ext cx="10058400" cy="640080"/>
          </a:xfrm>
          <a:prstGeom prst="rect">
            <a:avLst/>
          </a:prstGeom>
          <a:noFill/>
        </p:spPr>
        <p:txBody>
          <a:bodyPr wrap="square">
            <a:spAutoFit/>
          </a:bodyPr>
          <a:lstStyle/>
          <a:p>
            <a:pPr>
              <a:defRPr sz="1700">
                <a:solidFill>
                  <a:srgbClr val="FFFFFF"/>
                </a:solidFill>
                <a:latin typeface="Calibri"/>
              </a:defRPr>
            </a:pPr>
            <a:r>
              <a:t>Always check ionized calcium (not total) and magnesium when treating electrolyte emergencies</a:t>
            </a:r>
          </a:p>
        </p:txBody>
      </p:sp>
      <p:sp>
        <p:nvSpPr>
          <p:cNvPr id="13" name="TextBox 12"/>
          <p:cNvSpPr txBox="1"/>
          <p:nvPr/>
        </p:nvSpPr>
        <p:spPr>
          <a:xfrm>
            <a:off x="731520" y="4846320"/>
            <a:ext cx="457200" cy="457200"/>
          </a:xfrm>
          <a:prstGeom prst="rect">
            <a:avLst/>
          </a:prstGeom>
          <a:noFill/>
        </p:spPr>
        <p:txBody>
          <a:bodyPr wrap="none">
            <a:spAutoFit/>
          </a:bodyPr>
          <a:lstStyle/>
          <a:p>
            <a:pPr>
              <a:defRPr sz="2200" b="1">
                <a:solidFill>
                  <a:srgbClr val="007B83"/>
                </a:solidFill>
                <a:latin typeface="Calibri"/>
              </a:defRPr>
            </a:pPr>
            <a:r>
              <a:t>5</a:t>
            </a:r>
          </a:p>
        </p:txBody>
      </p:sp>
      <p:sp>
        <p:nvSpPr>
          <p:cNvPr id="14" name="TextBox 13"/>
          <p:cNvSpPr txBox="1"/>
          <p:nvPr/>
        </p:nvSpPr>
        <p:spPr>
          <a:xfrm>
            <a:off x="1371600" y="4846320"/>
            <a:ext cx="10058400" cy="640080"/>
          </a:xfrm>
          <a:prstGeom prst="rect">
            <a:avLst/>
          </a:prstGeom>
          <a:noFill/>
        </p:spPr>
        <p:txBody>
          <a:bodyPr wrap="square">
            <a:spAutoFit/>
          </a:bodyPr>
          <a:lstStyle/>
          <a:p>
            <a:pPr>
              <a:defRPr sz="1700">
                <a:solidFill>
                  <a:srgbClr val="FFFFFF"/>
                </a:solidFill>
                <a:latin typeface="Calibri"/>
              </a:defRPr>
            </a:pPr>
            <a:r>
              <a:t>Before treating hyperkalemia — confirm the sample is not hemolyzed</a:t>
            </a:r>
          </a:p>
        </p:txBody>
      </p:sp>
      <p:sp>
        <p:nvSpPr>
          <p:cNvPr id="15" name="Rectangle 14"/>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Electrolyte Emergencies</a:t>
            </a:r>
          </a:p>
        </p:txBody>
      </p:sp>
      <p:sp>
        <p:nvSpPr>
          <p:cNvPr id="17" name="TextBox 16"/>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515600" cy="640080"/>
          </a:xfrm>
          <a:prstGeom prst="rect">
            <a:avLst/>
          </a:prstGeom>
          <a:noFill/>
        </p:spPr>
        <p:txBody>
          <a:bodyPr wrap="square">
            <a:spAutoFit/>
          </a:bodyPr>
          <a:lstStyle/>
          <a:p>
            <a:pPr algn="l">
              <a:lnSpc>
                <a:spcPts val="3120"/>
              </a:lnSpc>
              <a:spcBef>
                <a:spcPts val="0"/>
              </a:spcBef>
              <a:spcAft>
                <a:spcPts val="0"/>
              </a:spcAft>
              <a:defRPr sz="2600" b="1" i="0">
                <a:solidFill>
                  <a:srgbClr val="FFFFFF"/>
                </a:solidFill>
                <a:latin typeface="Calibri"/>
              </a:defRPr>
            </a:pPr>
            <a:r>
              <a:t>References</a:t>
            </a:r>
          </a:p>
        </p:txBody>
      </p:sp>
      <p:sp>
        <p:nvSpPr>
          <p:cNvPr id="5" name="TextBox 4"/>
          <p:cNvSpPr txBox="1"/>
          <p:nvPr/>
        </p:nvSpPr>
        <p:spPr>
          <a:xfrm>
            <a:off x="731520" y="1280160"/>
            <a:ext cx="10515600" cy="4846320"/>
          </a:xfrm>
          <a:prstGeom prst="rect">
            <a:avLst/>
          </a:prstGeom>
          <a:noFill/>
        </p:spPr>
        <p:txBody>
          <a:bodyPr wrap="square">
            <a:spAutoFit/>
          </a:bodyPr>
          <a:lstStyle/>
          <a:p>
            <a:pPr>
              <a:spcAft>
                <a:spcPts val="400"/>
              </a:spcAft>
              <a:defRPr sz="1100">
                <a:solidFill>
                  <a:srgbClr val="3D4455"/>
                </a:solidFill>
                <a:latin typeface="Calibri"/>
              </a:defRPr>
            </a:pPr>
            <a:r>
              <a:t>1. Moritz ML, Ayus JC. Prevention of hospital-acquired hyponatremia: do we have the answers? Pediatrics. 2011;128(5):980-983.</a:t>
            </a:r>
          </a:p>
          <a:p>
            <a:pPr>
              <a:spcAft>
                <a:spcPts val="400"/>
              </a:spcAft>
              <a:defRPr sz="1100">
                <a:solidFill>
                  <a:srgbClr val="3D4455"/>
                </a:solidFill>
                <a:latin typeface="Calibri"/>
              </a:defRPr>
            </a:pPr>
            <a:r>
              <a:t>2. Sterns RH. Disorders of plasma sodium — causes, consequences, and correction. N Engl J Med. 2015;372(1):55-65.</a:t>
            </a:r>
          </a:p>
          <a:p>
            <a:pPr>
              <a:spcAft>
                <a:spcPts val="400"/>
              </a:spcAft>
              <a:defRPr sz="1100">
                <a:solidFill>
                  <a:srgbClr val="3D4455"/>
                </a:solidFill>
                <a:latin typeface="Calibri"/>
              </a:defRPr>
            </a:pPr>
            <a:r>
              <a:t>3. Mahoney BA, et al. Emergency interventions for hyperkalaemia. Cochrane Database Syst Rev. 2005;2:CD003235.</a:t>
            </a:r>
          </a:p>
          <a:p>
            <a:pPr>
              <a:spcAft>
                <a:spcPts val="400"/>
              </a:spcAft>
              <a:defRPr sz="1100">
                <a:solidFill>
                  <a:srgbClr val="3D4455"/>
                </a:solidFill>
                <a:latin typeface="Calibri"/>
              </a:defRPr>
            </a:pPr>
            <a:r>
              <a:t>4. Greenbaum LA. Electrolyte and acid-base disorders. In: Kliegman RM, ed. Nelson Textbook of Pediatrics. 21st ed. Elsevier; 2020.</a:t>
            </a:r>
          </a:p>
          <a:p>
            <a:pPr>
              <a:spcAft>
                <a:spcPts val="400"/>
              </a:spcAft>
              <a:defRPr sz="1100">
                <a:solidFill>
                  <a:srgbClr val="3D4455"/>
                </a:solidFill>
                <a:latin typeface="Calibri"/>
              </a:defRPr>
            </a:pPr>
            <a:r>
              <a:t>5. Feld LG, et al. Clinical practice guideline: maintenance intravenous fluids in children. Pediatrics. 2018;142(6):e20183083.</a:t>
            </a:r>
          </a:p>
        </p:txBody>
      </p:sp>
      <p:sp>
        <p:nvSpPr>
          <p:cNvPr id="6" name="Rectangle 5"/>
          <p:cNvSpPr/>
          <p:nvPr/>
        </p:nvSpPr>
        <p:spPr>
          <a:xfrm>
            <a:off x="0" y="6446520"/>
            <a:ext cx="12191695" cy="4114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4572000" cy="320040"/>
          </a:xfrm>
          <a:prstGeom prst="rect">
            <a:avLst/>
          </a:prstGeom>
          <a:noFill/>
        </p:spPr>
        <p:txBody>
          <a:bodyPr wrap="none">
            <a:spAutoFit/>
          </a:bodyPr>
          <a:lstStyle/>
          <a:p>
            <a:pPr algn="l">
              <a:defRPr sz="900">
                <a:solidFill>
                  <a:srgbClr val="8AB4C8"/>
                </a:solidFill>
                <a:latin typeface="Calibri"/>
              </a:defRPr>
            </a:pPr>
            <a:r>
              <a:t>PEM Fellow Teaching Library  |  Electrolyte Emergencies</a:t>
            </a:r>
          </a:p>
        </p:txBody>
      </p:sp>
      <p:sp>
        <p:nvSpPr>
          <p:cNvPr id="8" name="TextBox 7"/>
          <p:cNvSpPr txBox="1"/>
          <p:nvPr/>
        </p:nvSpPr>
        <p:spPr>
          <a:xfrm>
            <a:off x="10515600" y="6473952"/>
            <a:ext cx="1371600" cy="320040"/>
          </a:xfrm>
          <a:prstGeom prst="rect">
            <a:avLst/>
          </a:prstGeom>
          <a:noFill/>
        </p:spPr>
        <p:txBody>
          <a:bodyPr wrap="none">
            <a:spAutoFit/>
          </a:bodyPr>
          <a:lstStyle/>
          <a:p>
            <a:pPr algn="r">
              <a:defRPr sz="900">
                <a:solidFill>
                  <a:srgbClr val="8AB4C8"/>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286000"/>
            <a:ext cx="8229600" cy="1371600"/>
          </a:xfrm>
          <a:prstGeom prst="rect">
            <a:avLst/>
          </a:prstGeom>
          <a:noFill/>
        </p:spPr>
        <p:txBody>
          <a:bodyPr wrap="none">
            <a:spAutoFit/>
          </a:bodyPr>
          <a:lstStyle/>
          <a:p>
            <a:pPr algn="ctr">
              <a:defRPr sz="3600" b="1">
                <a:solidFill>
                  <a:srgbClr val="FFFFFF"/>
                </a:solidFill>
                <a:latin typeface="Calibri"/>
              </a:defRPr>
            </a:pPr>
            <a:r>
              <a:t>Questions &amp; Discussion</a:t>
            </a:r>
          </a:p>
        </p:txBody>
      </p:sp>
      <p:sp>
        <p:nvSpPr>
          <p:cNvPr id="4" name="TextBox 3"/>
          <p:cNvSpPr txBox="1"/>
          <p:nvPr/>
        </p:nvSpPr>
        <p:spPr>
          <a:xfrm>
            <a:off x="1828800" y="3840480"/>
            <a:ext cx="8229600" cy="914400"/>
          </a:xfrm>
          <a:prstGeom prst="rect">
            <a:avLst/>
          </a:prstGeom>
          <a:noFill/>
        </p:spPr>
        <p:txBody>
          <a:bodyPr wrap="none">
            <a:spAutoFit/>
          </a:bodyPr>
          <a:lstStyle/>
          <a:p>
            <a:pPr algn="ctr">
              <a:defRPr sz="1600">
                <a:solidFill>
                  <a:srgbClr val="00A3AD"/>
                </a:solidFill>
                <a:latin typeface="Calibri"/>
              </a:defRPr>
            </a:pPr>
            <a:r>
              <a:t>PEM Fellow Teaching Library</a:t>
            </a:r>
          </a:p>
        </p:txBody>
      </p:sp>
      <p:sp>
        <p:nvSpPr>
          <p:cNvPr id="5" name="Rectangle 4"/>
          <p:cNvSpPr/>
          <p:nvPr/>
        </p:nvSpPr>
        <p:spPr>
          <a:xfrm>
            <a:off x="4572000" y="3657600"/>
            <a:ext cx="3017520" cy="36576"/>
          </a:xfrm>
          <a:prstGeom prst="rect">
            <a:avLst/>
          </a:prstGeom>
          <a:solidFill>
            <a:srgbClr val="007B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