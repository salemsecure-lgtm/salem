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DKA as a true emergency. While mortality is low, it is NOT zero, and the consequences of cerebral edema are devastating. The most commonly missed DKA presentations: the young child with "gastroenteritis" (vomiting, abdominal pain, dehydration) who actually has new-onset diabetes. Always check a glucose in a dehydrated, vomiting child.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Severity classification guides your management intensity and disposition. Severe DKA (pH &lt;7.1) always requires PICU admission. The mental status component is critical — any alteration in consciousness in DKA raises concern for cerebral edema. Young children with new-onset DKA frequently present with severe disease because the diagnosis was delayed.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core protocol. Key changes from older protocols: lower fluid rates (1.5x maintenance, not 2x), insulin dose 0.05-0.1 (not always 0.1), NO insulin bolus (increases cerebral edema risk). The 2-bag system allows you to titrate dextrose concentration without changing the fluid rate. Keep glucose 150-300 during treatment — do NOT try to normalize glucose rapidly.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PECARN FLUID trial was the definitive study addressing decades of controversy about fluid resuscitation in DKA. The bottom line: neither fast vs. slow fluids nor 0.9% vs. 0.45% saline affected outcomes. This does NOT mean fluids do not matter — it means that within the studied ranges, the approach is safe. Standard practice remains measured, not aggressive, fluid replacement.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Potassium is the most critical electrolyte to manage. Insulin drives K into cells — a patient can become dangerously hypokalemic within hours of starting insulin. If K is &lt;3.5, hold insulin until K is repleted. The corrected sodium is essential for monitoring: it should rise as glucose falls. A FALLING corrected sodium during treatment is the earliest laboratory sign of impending cerebral edema.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Cerebral edema in DKA is the emergency within the emergency. The key to saving these children is EARLY recognition. Do not wait for Cushing triad — that is a late sign indicating herniation. Headache and altered mental status during DKA treatment should trigger immediate action. Have hypertonic saline prepared and at the bedside for every moderate-severe DKA patient.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DKA mimics are critical teaching material. The most commonly missed DKA presentation is the young child diagnosed with "viral gastroenteritis" who actually has new-onset diabetes. Every child with vomiting and dehydration should have a glucose checked. The right column contains the most dangerous management errors.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case has every high-risk feature for cerebral edema: young age, new-onset diabetes, severe DKA, high BUN. This child needs PICU admission and hourly neuro checks. Walk through the corrected sodium calculation — this is a board favorite and a clinical necessity. Note that the K of 5.8 is actually falsely elevated due to acidosis — do NOT give extra K yet, but start it soon.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pitfall on this list has killed children. The insulin bolus prohibition is absolute. The bicarbonate prohibition is equally absolute in pediatric DKA. Stopping insulin based on glucose normalization (rather than gap closure) leads to rebound ketoacidosis. And the corrected sodium is your early warning system for cerebral edema.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834640"/>
            <a:ext cx="2560320" cy="54864"/>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280160"/>
            <a:ext cx="146304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560"/>
              </a:lnSpc>
              <a:spcBef>
                <a:spcPts val="0"/>
              </a:spcBef>
              <a:spcAft>
                <a:spcPts val="0"/>
              </a:spcAft>
              <a:defRPr sz="1300" b="1" i="0">
                <a:solidFill>
                  <a:srgbClr val="FFFFFF"/>
                </a:solidFill>
                <a:latin typeface="Calibri"/>
              </a:defRPr>
            </a:pPr>
            <a:r>
              <a:t>DECK 16 / 30</a:t>
            </a:r>
          </a:p>
        </p:txBody>
      </p:sp>
      <p:sp>
        <p:nvSpPr>
          <p:cNvPr id="5" name="TextBox 4"/>
          <p:cNvSpPr txBox="1"/>
          <p:nvPr/>
        </p:nvSpPr>
        <p:spPr>
          <a:xfrm>
            <a:off x="731520" y="1965960"/>
            <a:ext cx="9144000" cy="457200"/>
          </a:xfrm>
          <a:prstGeom prst="rect">
            <a:avLst/>
          </a:prstGeom>
          <a:noFill/>
        </p:spPr>
        <p:txBody>
          <a:bodyPr wrap="none">
            <a:spAutoFit/>
          </a:bodyPr>
          <a:lstStyle/>
          <a:p>
            <a:pPr algn="l">
              <a:defRPr sz="1100" b="1">
                <a:solidFill>
                  <a:srgbClr val="00A3AD"/>
                </a:solidFill>
                <a:latin typeface="Calibri"/>
              </a:defRPr>
            </a:pPr>
            <a:r>
              <a:t>PEDIATRIC EMERGENCY MEDICINE  ·  FELLOW TEACHING LIBRARY</a:t>
            </a:r>
          </a:p>
        </p:txBody>
      </p:sp>
      <p:sp>
        <p:nvSpPr>
          <p:cNvPr id="6" name="TextBox 5"/>
          <p:cNvSpPr txBox="1"/>
          <p:nvPr/>
        </p:nvSpPr>
        <p:spPr>
          <a:xfrm>
            <a:off x="731520" y="3200400"/>
            <a:ext cx="10058400" cy="1828800"/>
          </a:xfrm>
          <a:prstGeom prst="rect">
            <a:avLst/>
          </a:prstGeom>
          <a:noFill/>
        </p:spPr>
        <p:txBody>
          <a:bodyPr wrap="square">
            <a:spAutoFit/>
          </a:bodyPr>
          <a:lstStyle/>
          <a:p>
            <a:pPr algn="l">
              <a:defRPr sz="3800" b="1">
                <a:solidFill>
                  <a:srgbClr val="FFFFFF"/>
                </a:solidFill>
                <a:latin typeface="Calibri"/>
              </a:defRPr>
            </a:pPr>
            <a:r>
              <a:t>DKA in Children: Emergency Recognition and Management</a:t>
            </a:r>
          </a:p>
        </p:txBody>
      </p:sp>
      <p:sp>
        <p:nvSpPr>
          <p:cNvPr id="7" name="TextBox 6"/>
          <p:cNvSpPr txBox="1"/>
          <p:nvPr/>
        </p:nvSpPr>
        <p:spPr>
          <a:xfrm>
            <a:off x="731520" y="4937760"/>
            <a:ext cx="9144000" cy="731520"/>
          </a:xfrm>
          <a:prstGeom prst="rect">
            <a:avLst/>
          </a:prstGeom>
          <a:noFill/>
        </p:spPr>
        <p:txBody>
          <a:bodyPr wrap="square">
            <a:spAutoFit/>
          </a:bodyPr>
          <a:lstStyle/>
          <a:p>
            <a:pPr algn="l">
              <a:defRPr sz="1600">
                <a:solidFill>
                  <a:srgbClr val="8A92A3"/>
                </a:solidFill>
                <a:latin typeface="Calibri"/>
              </a:defRPr>
            </a:pPr>
            <a:r>
              <a:t>Fluid Resuscitation, Insulin Therapy, Electrolyte Management, and Cerebral Edema Prevention</a:t>
            </a:r>
          </a:p>
        </p:txBody>
      </p:sp>
      <p:sp>
        <p:nvSpPr>
          <p:cNvPr id="8" name="Rectangle 7"/>
          <p:cNvSpPr/>
          <p:nvPr/>
        </p:nvSpPr>
        <p:spPr>
          <a:xfrm>
            <a:off x="731520" y="6126480"/>
            <a:ext cx="10515600" cy="18288"/>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263640"/>
            <a:ext cx="10058400" cy="365760"/>
          </a:xfrm>
          <a:prstGeom prst="rect">
            <a:avLst/>
          </a:prstGeom>
          <a:noFill/>
        </p:spPr>
        <p:txBody>
          <a:bodyPr wrap="none">
            <a:spAutoFit/>
          </a:bodyPr>
          <a:lstStyle/>
          <a:p>
            <a:pPr>
              <a:defRPr sz="1000">
                <a:solidFill>
                  <a:srgbClr val="8A92A3"/>
                </a:solidFill>
                <a:latin typeface="Calibri"/>
              </a:defRPr>
            </a:pPr>
            <a:r>
              <a:t>PEM Fellow Teaching Library  ·  Fellowship-Grade Education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9144000" cy="640080"/>
          </a:xfrm>
          <a:prstGeom prst="rect">
            <a:avLst/>
          </a:prstGeom>
          <a:noFill/>
        </p:spPr>
        <p:txBody>
          <a:bodyPr wrap="square">
            <a:spAutoFit/>
          </a:bodyPr>
          <a:lstStyle/>
          <a:p>
            <a:pPr algn="l">
              <a:lnSpc>
                <a:spcPts val="3360"/>
              </a:lnSpc>
              <a:spcBef>
                <a:spcPts val="0"/>
              </a:spcBef>
              <a:spcAft>
                <a:spcPts val="0"/>
              </a:spcAft>
              <a:defRPr sz="2800" b="1" i="0">
                <a:solidFill>
                  <a:srgbClr val="FFFFFF"/>
                </a:solidFill>
                <a:latin typeface="Calibri"/>
              </a:defRPr>
            </a:pPr>
            <a:r>
              <a:t>Learning Objectives</a:t>
            </a:r>
          </a:p>
        </p:txBody>
      </p:sp>
      <p:sp>
        <p:nvSpPr>
          <p:cNvPr id="5" name="Oval 4"/>
          <p:cNvSpPr/>
          <p:nvPr/>
        </p:nvSpPr>
        <p:spPr>
          <a:xfrm>
            <a:off x="731520" y="137160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1</a:t>
            </a:r>
          </a:p>
        </p:txBody>
      </p:sp>
      <p:sp>
        <p:nvSpPr>
          <p:cNvPr id="6" name="TextBox 5"/>
          <p:cNvSpPr txBox="1"/>
          <p:nvPr/>
        </p:nvSpPr>
        <p:spPr>
          <a:xfrm>
            <a:off x="1371600" y="1353312"/>
            <a:ext cx="9601200" cy="548640"/>
          </a:xfrm>
          <a:prstGeom prst="rect">
            <a:avLst/>
          </a:prstGeom>
          <a:noFill/>
        </p:spPr>
        <p:txBody>
          <a:bodyPr wrap="square">
            <a:spAutoFit/>
          </a:bodyPr>
          <a:lstStyle/>
          <a:p>
            <a:pPr>
              <a:defRPr sz="1600">
                <a:solidFill>
                  <a:srgbClr val="3D4455"/>
                </a:solidFill>
                <a:latin typeface="Calibri"/>
              </a:defRPr>
            </a:pPr>
            <a:r>
              <a:t>Recognize DKA presentation including subtle and new-onset diabetes presentations</a:t>
            </a:r>
          </a:p>
        </p:txBody>
      </p:sp>
      <p:sp>
        <p:nvSpPr>
          <p:cNvPr id="7" name="Oval 6"/>
          <p:cNvSpPr/>
          <p:nvPr/>
        </p:nvSpPr>
        <p:spPr>
          <a:xfrm>
            <a:off x="731520" y="214884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2</a:t>
            </a:r>
          </a:p>
        </p:txBody>
      </p:sp>
      <p:sp>
        <p:nvSpPr>
          <p:cNvPr id="8" name="TextBox 7"/>
          <p:cNvSpPr txBox="1"/>
          <p:nvPr/>
        </p:nvSpPr>
        <p:spPr>
          <a:xfrm>
            <a:off x="1371600" y="2130552"/>
            <a:ext cx="9601200" cy="548640"/>
          </a:xfrm>
          <a:prstGeom prst="rect">
            <a:avLst/>
          </a:prstGeom>
          <a:noFill/>
        </p:spPr>
        <p:txBody>
          <a:bodyPr wrap="square">
            <a:spAutoFit/>
          </a:bodyPr>
          <a:lstStyle/>
          <a:p>
            <a:pPr>
              <a:defRPr sz="1600">
                <a:solidFill>
                  <a:srgbClr val="3D4455"/>
                </a:solidFill>
                <a:latin typeface="Calibri"/>
              </a:defRPr>
            </a:pPr>
            <a:r>
              <a:t>Classify DKA severity (mild, moderate, severe) and initiate appropriate management</a:t>
            </a:r>
          </a:p>
        </p:txBody>
      </p:sp>
      <p:sp>
        <p:nvSpPr>
          <p:cNvPr id="9" name="Oval 8"/>
          <p:cNvSpPr/>
          <p:nvPr/>
        </p:nvSpPr>
        <p:spPr>
          <a:xfrm>
            <a:off x="731520" y="292608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3</a:t>
            </a:r>
          </a:p>
        </p:txBody>
      </p:sp>
      <p:sp>
        <p:nvSpPr>
          <p:cNvPr id="10" name="TextBox 9"/>
          <p:cNvSpPr txBox="1"/>
          <p:nvPr/>
        </p:nvSpPr>
        <p:spPr>
          <a:xfrm>
            <a:off x="1371600" y="2907792"/>
            <a:ext cx="9601200" cy="548640"/>
          </a:xfrm>
          <a:prstGeom prst="rect">
            <a:avLst/>
          </a:prstGeom>
          <a:noFill/>
        </p:spPr>
        <p:txBody>
          <a:bodyPr wrap="square">
            <a:spAutoFit/>
          </a:bodyPr>
          <a:lstStyle/>
          <a:p>
            <a:pPr>
              <a:defRPr sz="1600">
                <a:solidFill>
                  <a:srgbClr val="3D4455"/>
                </a:solidFill>
                <a:latin typeface="Calibri"/>
              </a:defRPr>
            </a:pPr>
            <a:r>
              <a:t>Execute evidence-based fluid and insulin protocols with cerebral edema precautions</a:t>
            </a:r>
          </a:p>
        </p:txBody>
      </p:sp>
      <p:sp>
        <p:nvSpPr>
          <p:cNvPr id="11" name="Oval 10"/>
          <p:cNvSpPr/>
          <p:nvPr/>
        </p:nvSpPr>
        <p:spPr>
          <a:xfrm>
            <a:off x="731520" y="370332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4</a:t>
            </a:r>
          </a:p>
        </p:txBody>
      </p:sp>
      <p:sp>
        <p:nvSpPr>
          <p:cNvPr id="12" name="TextBox 11"/>
          <p:cNvSpPr txBox="1"/>
          <p:nvPr/>
        </p:nvSpPr>
        <p:spPr>
          <a:xfrm>
            <a:off x="1371600" y="3685032"/>
            <a:ext cx="9601200" cy="548640"/>
          </a:xfrm>
          <a:prstGeom prst="rect">
            <a:avLst/>
          </a:prstGeom>
          <a:noFill/>
        </p:spPr>
        <p:txBody>
          <a:bodyPr wrap="square">
            <a:spAutoFit/>
          </a:bodyPr>
          <a:lstStyle/>
          <a:p>
            <a:pPr>
              <a:defRPr sz="1600">
                <a:solidFill>
                  <a:srgbClr val="3D4455"/>
                </a:solidFill>
                <a:latin typeface="Calibri"/>
              </a:defRPr>
            </a:pPr>
            <a:r>
              <a:t>Monitor and replace electrolytes — especially potassium and phosphorus</a:t>
            </a:r>
          </a:p>
        </p:txBody>
      </p:sp>
      <p:sp>
        <p:nvSpPr>
          <p:cNvPr id="13" name="Oval 12"/>
          <p:cNvSpPr/>
          <p:nvPr/>
        </p:nvSpPr>
        <p:spPr>
          <a:xfrm>
            <a:off x="731520" y="448056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5</a:t>
            </a:r>
          </a:p>
        </p:txBody>
      </p:sp>
      <p:sp>
        <p:nvSpPr>
          <p:cNvPr id="14" name="TextBox 13"/>
          <p:cNvSpPr txBox="1"/>
          <p:nvPr/>
        </p:nvSpPr>
        <p:spPr>
          <a:xfrm>
            <a:off x="1371600" y="4462272"/>
            <a:ext cx="9601200" cy="548640"/>
          </a:xfrm>
          <a:prstGeom prst="rect">
            <a:avLst/>
          </a:prstGeom>
          <a:noFill/>
        </p:spPr>
        <p:txBody>
          <a:bodyPr wrap="square">
            <a:spAutoFit/>
          </a:bodyPr>
          <a:lstStyle/>
          <a:p>
            <a:pPr>
              <a:defRPr sz="1600">
                <a:solidFill>
                  <a:srgbClr val="3D4455"/>
                </a:solidFill>
                <a:latin typeface="Calibri"/>
              </a:defRPr>
            </a:pPr>
            <a:r>
              <a:t>Recognize and emergently treat cerebral edema — the deadliest DKA complication</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DKA</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DKA in Pediatric Emergency Medicine</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DKA occurs in ~30% of children at initial diabetes diagnosis (higher in younger children)</a:t>
            </a:r>
          </a:p>
          <a:p>
            <a:pPr>
              <a:spcBef>
                <a:spcPts val="400"/>
              </a:spcBef>
              <a:spcAft>
                <a:spcPts val="600"/>
              </a:spcAft>
              <a:defRPr sz="1600">
                <a:solidFill>
                  <a:srgbClr val="3D4455"/>
                </a:solidFill>
                <a:latin typeface="Calibri"/>
              </a:defRPr>
            </a:pPr>
            <a:r>
              <a:t>Diagnostic criteria: glucose &gt;200, pH &lt;7.3 or HCO3 &lt;15, ketonemia/ketonuria</a:t>
            </a:r>
          </a:p>
          <a:p>
            <a:pPr>
              <a:spcBef>
                <a:spcPts val="400"/>
              </a:spcBef>
              <a:spcAft>
                <a:spcPts val="600"/>
              </a:spcAft>
              <a:defRPr sz="1600">
                <a:solidFill>
                  <a:srgbClr val="3D4455"/>
                </a:solidFill>
                <a:latin typeface="Calibri"/>
              </a:defRPr>
            </a:pPr>
            <a:r>
              <a:t>Most common precipitant in known diabetics: missed insulin doses, infection, pump failure</a:t>
            </a:r>
          </a:p>
          <a:p>
            <a:pPr>
              <a:spcBef>
                <a:spcPts val="400"/>
              </a:spcBef>
              <a:spcAft>
                <a:spcPts val="600"/>
              </a:spcAft>
              <a:defRPr sz="1600">
                <a:solidFill>
                  <a:srgbClr val="3D4455"/>
                </a:solidFill>
                <a:latin typeface="Calibri"/>
              </a:defRPr>
            </a:pPr>
            <a:r>
              <a:t>Mortality: 0.15-0.3% in developed countries — cerebral edema accounts for 60-90% of deaths</a:t>
            </a:r>
          </a:p>
          <a:p>
            <a:pPr>
              <a:spcBef>
                <a:spcPts val="400"/>
              </a:spcBef>
              <a:spcAft>
                <a:spcPts val="600"/>
              </a:spcAft>
              <a:defRPr sz="1600">
                <a:solidFill>
                  <a:srgbClr val="3D4455"/>
                </a:solidFill>
                <a:latin typeface="Calibri"/>
              </a:defRPr>
            </a:pPr>
            <a:r>
              <a:t>Young children (&lt;5 years) and new-onset diabetes are highest risk for cerebral edema</a:t>
            </a:r>
          </a:p>
          <a:p>
            <a:pPr lvl="1">
              <a:spcBef>
                <a:spcPts val="400"/>
              </a:spcBef>
              <a:spcAft>
                <a:spcPts val="600"/>
              </a:spcAft>
              <a:defRPr sz="1400">
                <a:solidFill>
                  <a:srgbClr val="8A92A3"/>
                </a:solidFill>
                <a:latin typeface="Calibri"/>
              </a:defRPr>
            </a:pPr>
            <a:r>
              <a:t>DKA is the leading cause of death in children with type 1 diabetes</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DKA</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DKA Severity Classification</a:t>
            </a:r>
          </a:p>
        </p:txBody>
      </p:sp>
      <p:graphicFrame>
        <p:nvGraphicFramePr>
          <p:cNvPr id="5" name="Table 4"/>
          <p:cNvGraphicFramePr>
            <a:graphicFrameLocks noGrp="1"/>
          </p:cNvGraphicFramePr>
          <p:nvPr/>
        </p:nvGraphicFramePr>
        <p:xfrm>
          <a:off x="822960" y="1280160"/>
          <a:ext cx="10515600" cy="3200400"/>
        </p:xfrm>
        <a:graphic>
          <a:graphicData uri="http://schemas.openxmlformats.org/drawingml/2006/table">
            <a:tbl>
              <a:tblPr firstRow="1" bandRow="1">
                <a:tableStyleId>{5C22544A-7EE6-4342-B048-85BDC9FD1C3A}</a:tableStyleId>
              </a:tblPr>
              <a:tblGrid>
                <a:gridCol w="2628900"/>
                <a:gridCol w="2628900"/>
                <a:gridCol w="2628900"/>
                <a:gridCol w="2628900"/>
              </a:tblGrid>
              <a:tr h="457200">
                <a:tc>
                  <a:txBody>
                    <a:bodyPr/>
                    <a:lstStyle/>
                    <a:p>
                      <a:pPr algn="ctr">
                        <a:defRPr sz="1300" b="1">
                          <a:solidFill>
                            <a:srgbClr val="FFFFFF"/>
                          </a:solidFill>
                          <a:latin typeface="Calibri"/>
                        </a:defRPr>
                      </a:pPr>
                      <a:r>
                        <a:t>Parameter</a:t>
                      </a:r>
                    </a:p>
                  </a:txBody>
                  <a:tcPr>
                    <a:solidFill>
                      <a:srgbClr val="007B83"/>
                    </a:solidFill>
                  </a:tcPr>
                </a:tc>
                <a:tc>
                  <a:txBody>
                    <a:bodyPr/>
                    <a:lstStyle/>
                    <a:p>
                      <a:pPr algn="ctr">
                        <a:defRPr sz="1300" b="1">
                          <a:solidFill>
                            <a:srgbClr val="FFFFFF"/>
                          </a:solidFill>
                          <a:latin typeface="Calibri"/>
                        </a:defRPr>
                      </a:pPr>
                      <a:r>
                        <a:t>Mild</a:t>
                      </a:r>
                    </a:p>
                  </a:txBody>
                  <a:tcPr>
                    <a:solidFill>
                      <a:srgbClr val="007B83"/>
                    </a:solidFill>
                  </a:tcPr>
                </a:tc>
                <a:tc>
                  <a:txBody>
                    <a:bodyPr/>
                    <a:lstStyle/>
                    <a:p>
                      <a:pPr algn="ctr">
                        <a:defRPr sz="1300" b="1">
                          <a:solidFill>
                            <a:srgbClr val="FFFFFF"/>
                          </a:solidFill>
                          <a:latin typeface="Calibri"/>
                        </a:defRPr>
                      </a:pPr>
                      <a:r>
                        <a:t>Moderate</a:t>
                      </a:r>
                    </a:p>
                  </a:txBody>
                  <a:tcPr>
                    <a:solidFill>
                      <a:srgbClr val="007B83"/>
                    </a:solidFill>
                  </a:tcPr>
                </a:tc>
                <a:tc>
                  <a:txBody>
                    <a:bodyPr/>
                    <a:lstStyle/>
                    <a:p>
                      <a:pPr algn="ctr">
                        <a:defRPr sz="1300" b="1">
                          <a:solidFill>
                            <a:srgbClr val="FFFFFF"/>
                          </a:solidFill>
                          <a:latin typeface="Calibri"/>
                        </a:defRPr>
                      </a:pPr>
                      <a:r>
                        <a:t>Severe</a:t>
                      </a:r>
                    </a:p>
                  </a:txBody>
                  <a:tcPr>
                    <a:solidFill>
                      <a:srgbClr val="007B83"/>
                    </a:solidFill>
                  </a:tcPr>
                </a:tc>
              </a:tr>
              <a:tr h="457200">
                <a:tc>
                  <a:txBody>
                    <a:bodyPr/>
                    <a:lstStyle/>
                    <a:p>
                      <a:pPr algn="l">
                        <a:defRPr sz="1200">
                          <a:solidFill>
                            <a:srgbClr val="3D4455"/>
                          </a:solidFill>
                          <a:latin typeface="Calibri"/>
                        </a:defRPr>
                      </a:pPr>
                      <a:r>
                        <a:t>pH</a:t>
                      </a:r>
                    </a:p>
                  </a:txBody>
                  <a:tcPr>
                    <a:solidFill>
                      <a:srgbClr val="F5F6FA"/>
                    </a:solidFill>
                  </a:tcPr>
                </a:tc>
                <a:tc>
                  <a:txBody>
                    <a:bodyPr/>
                    <a:lstStyle/>
                    <a:p>
                      <a:pPr algn="l">
                        <a:defRPr sz="1200">
                          <a:solidFill>
                            <a:srgbClr val="3D4455"/>
                          </a:solidFill>
                          <a:latin typeface="Calibri"/>
                        </a:defRPr>
                      </a:pPr>
                      <a:r>
                        <a:t>7.2-7.3</a:t>
                      </a:r>
                    </a:p>
                  </a:txBody>
                  <a:tcPr>
                    <a:solidFill>
                      <a:srgbClr val="F5F6FA"/>
                    </a:solidFill>
                  </a:tcPr>
                </a:tc>
                <a:tc>
                  <a:txBody>
                    <a:bodyPr/>
                    <a:lstStyle/>
                    <a:p>
                      <a:pPr algn="l">
                        <a:defRPr sz="1200">
                          <a:solidFill>
                            <a:srgbClr val="3D4455"/>
                          </a:solidFill>
                          <a:latin typeface="Calibri"/>
                        </a:defRPr>
                      </a:pPr>
                      <a:r>
                        <a:t>7.1-7.2</a:t>
                      </a:r>
                    </a:p>
                  </a:txBody>
                  <a:tcPr>
                    <a:solidFill>
                      <a:srgbClr val="F5F6FA"/>
                    </a:solidFill>
                  </a:tcPr>
                </a:tc>
                <a:tc>
                  <a:txBody>
                    <a:bodyPr/>
                    <a:lstStyle/>
                    <a:p>
                      <a:pPr algn="l">
                        <a:defRPr sz="1200">
                          <a:solidFill>
                            <a:srgbClr val="3D4455"/>
                          </a:solidFill>
                          <a:latin typeface="Calibri"/>
                        </a:defRPr>
                      </a:pPr>
                      <a:r>
                        <a:t>&lt;7.1</a:t>
                      </a:r>
                    </a:p>
                  </a:txBody>
                  <a:tcPr>
                    <a:solidFill>
                      <a:srgbClr val="F5F6FA"/>
                    </a:solidFill>
                  </a:tcPr>
                </a:tc>
              </a:tr>
              <a:tr h="457200">
                <a:tc>
                  <a:txBody>
                    <a:bodyPr/>
                    <a:lstStyle/>
                    <a:p>
                      <a:pPr algn="l">
                        <a:defRPr sz="1200">
                          <a:solidFill>
                            <a:srgbClr val="3D4455"/>
                          </a:solidFill>
                          <a:latin typeface="Calibri"/>
                        </a:defRPr>
                      </a:pPr>
                      <a:r>
                        <a:t>Bicarbonate</a:t>
                      </a:r>
                    </a:p>
                  </a:txBody>
                  <a:tcPr>
                    <a:solidFill>
                      <a:srgbClr val="FFFFFF"/>
                    </a:solidFill>
                  </a:tcPr>
                </a:tc>
                <a:tc>
                  <a:txBody>
                    <a:bodyPr/>
                    <a:lstStyle/>
                    <a:p>
                      <a:pPr algn="l">
                        <a:defRPr sz="1200">
                          <a:solidFill>
                            <a:srgbClr val="3D4455"/>
                          </a:solidFill>
                          <a:latin typeface="Calibri"/>
                        </a:defRPr>
                      </a:pPr>
                      <a:r>
                        <a:t>10-15 mEq/L</a:t>
                      </a:r>
                    </a:p>
                  </a:txBody>
                  <a:tcPr>
                    <a:solidFill>
                      <a:srgbClr val="FFFFFF"/>
                    </a:solidFill>
                  </a:tcPr>
                </a:tc>
                <a:tc>
                  <a:txBody>
                    <a:bodyPr/>
                    <a:lstStyle/>
                    <a:p>
                      <a:pPr algn="l">
                        <a:defRPr sz="1200">
                          <a:solidFill>
                            <a:srgbClr val="3D4455"/>
                          </a:solidFill>
                          <a:latin typeface="Calibri"/>
                        </a:defRPr>
                      </a:pPr>
                      <a:r>
                        <a:t>5-10 mEq/L</a:t>
                      </a:r>
                    </a:p>
                  </a:txBody>
                  <a:tcPr>
                    <a:solidFill>
                      <a:srgbClr val="FFFFFF"/>
                    </a:solidFill>
                  </a:tcPr>
                </a:tc>
                <a:tc>
                  <a:txBody>
                    <a:bodyPr/>
                    <a:lstStyle/>
                    <a:p>
                      <a:pPr algn="l">
                        <a:defRPr sz="1200">
                          <a:solidFill>
                            <a:srgbClr val="3D4455"/>
                          </a:solidFill>
                          <a:latin typeface="Calibri"/>
                        </a:defRPr>
                      </a:pPr>
                      <a:r>
                        <a:t>&lt;5 mEq/L</a:t>
                      </a:r>
                    </a:p>
                  </a:txBody>
                  <a:tcPr>
                    <a:solidFill>
                      <a:srgbClr val="FFFFFF"/>
                    </a:solidFill>
                  </a:tcPr>
                </a:tc>
              </a:tr>
              <a:tr h="457200">
                <a:tc>
                  <a:txBody>
                    <a:bodyPr/>
                    <a:lstStyle/>
                    <a:p>
                      <a:pPr algn="l">
                        <a:defRPr sz="1200">
                          <a:solidFill>
                            <a:srgbClr val="3D4455"/>
                          </a:solidFill>
                          <a:latin typeface="Calibri"/>
                        </a:defRPr>
                      </a:pPr>
                      <a:r>
                        <a:t>Mental Status</a:t>
                      </a:r>
                    </a:p>
                  </a:txBody>
                  <a:tcPr>
                    <a:solidFill>
                      <a:srgbClr val="F5F6FA"/>
                    </a:solidFill>
                  </a:tcPr>
                </a:tc>
                <a:tc>
                  <a:txBody>
                    <a:bodyPr/>
                    <a:lstStyle/>
                    <a:p>
                      <a:pPr algn="l">
                        <a:defRPr sz="1200">
                          <a:solidFill>
                            <a:srgbClr val="3D4455"/>
                          </a:solidFill>
                          <a:latin typeface="Calibri"/>
                        </a:defRPr>
                      </a:pPr>
                      <a:r>
                        <a:t>Alert</a:t>
                      </a:r>
                    </a:p>
                  </a:txBody>
                  <a:tcPr>
                    <a:solidFill>
                      <a:srgbClr val="F5F6FA"/>
                    </a:solidFill>
                  </a:tcPr>
                </a:tc>
                <a:tc>
                  <a:txBody>
                    <a:bodyPr/>
                    <a:lstStyle/>
                    <a:p>
                      <a:pPr algn="l">
                        <a:defRPr sz="1200">
                          <a:solidFill>
                            <a:srgbClr val="3D4455"/>
                          </a:solidFill>
                          <a:latin typeface="Calibri"/>
                        </a:defRPr>
                      </a:pPr>
                      <a:r>
                        <a:t>Alert/drowsy</a:t>
                      </a:r>
                    </a:p>
                  </a:txBody>
                  <a:tcPr>
                    <a:solidFill>
                      <a:srgbClr val="F5F6FA"/>
                    </a:solidFill>
                  </a:tcPr>
                </a:tc>
                <a:tc>
                  <a:txBody>
                    <a:bodyPr/>
                    <a:lstStyle/>
                    <a:p>
                      <a:pPr algn="l">
                        <a:defRPr sz="1200">
                          <a:solidFill>
                            <a:srgbClr val="3D4455"/>
                          </a:solidFill>
                          <a:latin typeface="Calibri"/>
                        </a:defRPr>
                      </a:pPr>
                      <a:r>
                        <a:t>Obtunded/coma</a:t>
                      </a:r>
                    </a:p>
                  </a:txBody>
                  <a:tcPr>
                    <a:solidFill>
                      <a:srgbClr val="F5F6FA"/>
                    </a:solidFill>
                  </a:tcPr>
                </a:tc>
              </a:tr>
              <a:tr h="457200">
                <a:tc>
                  <a:txBody>
                    <a:bodyPr/>
                    <a:lstStyle/>
                    <a:p>
                      <a:pPr algn="l">
                        <a:defRPr sz="1200">
                          <a:solidFill>
                            <a:srgbClr val="3D4455"/>
                          </a:solidFill>
                          <a:latin typeface="Calibri"/>
                        </a:defRPr>
                      </a:pPr>
                      <a:r>
                        <a:t>Dehydration</a:t>
                      </a:r>
                    </a:p>
                  </a:txBody>
                  <a:tcPr>
                    <a:solidFill>
                      <a:srgbClr val="FFFFFF"/>
                    </a:solidFill>
                  </a:tcPr>
                </a:tc>
                <a:tc>
                  <a:txBody>
                    <a:bodyPr/>
                    <a:lstStyle/>
                    <a:p>
                      <a:pPr algn="l">
                        <a:defRPr sz="1200">
                          <a:solidFill>
                            <a:srgbClr val="3D4455"/>
                          </a:solidFill>
                          <a:latin typeface="Calibri"/>
                        </a:defRPr>
                      </a:pPr>
                      <a:r>
                        <a:t>5%</a:t>
                      </a:r>
                    </a:p>
                  </a:txBody>
                  <a:tcPr>
                    <a:solidFill>
                      <a:srgbClr val="FFFFFF"/>
                    </a:solidFill>
                  </a:tcPr>
                </a:tc>
                <a:tc>
                  <a:txBody>
                    <a:bodyPr/>
                    <a:lstStyle/>
                    <a:p>
                      <a:pPr algn="l">
                        <a:defRPr sz="1200">
                          <a:solidFill>
                            <a:srgbClr val="3D4455"/>
                          </a:solidFill>
                          <a:latin typeface="Calibri"/>
                        </a:defRPr>
                      </a:pPr>
                      <a:r>
                        <a:t>7%</a:t>
                      </a:r>
                    </a:p>
                  </a:txBody>
                  <a:tcPr>
                    <a:solidFill>
                      <a:srgbClr val="FFFFFF"/>
                    </a:solidFill>
                  </a:tcPr>
                </a:tc>
                <a:tc>
                  <a:txBody>
                    <a:bodyPr/>
                    <a:lstStyle/>
                    <a:p>
                      <a:pPr algn="l">
                        <a:defRPr sz="1200">
                          <a:solidFill>
                            <a:srgbClr val="3D4455"/>
                          </a:solidFill>
                          <a:latin typeface="Calibri"/>
                        </a:defRPr>
                      </a:pPr>
                      <a:r>
                        <a:t>10%</a:t>
                      </a:r>
                    </a:p>
                  </a:txBody>
                  <a:tcPr>
                    <a:solidFill>
                      <a:srgbClr val="FFFFFF"/>
                    </a:solidFill>
                  </a:tcPr>
                </a:tc>
              </a:tr>
              <a:tr h="457200">
                <a:tc>
                  <a:txBody>
                    <a:bodyPr/>
                    <a:lstStyle/>
                    <a:p>
                      <a:pPr algn="l">
                        <a:defRPr sz="1200">
                          <a:solidFill>
                            <a:srgbClr val="3D4455"/>
                          </a:solidFill>
                          <a:latin typeface="Calibri"/>
                        </a:defRPr>
                      </a:pPr>
                      <a:r>
                        <a:t>Kussmaul Breathing</a:t>
                      </a:r>
                    </a:p>
                  </a:txBody>
                  <a:tcPr>
                    <a:solidFill>
                      <a:srgbClr val="F5F6FA"/>
                    </a:solidFill>
                  </a:tcPr>
                </a:tc>
                <a:tc>
                  <a:txBody>
                    <a:bodyPr/>
                    <a:lstStyle/>
                    <a:p>
                      <a:pPr algn="l">
                        <a:defRPr sz="1200">
                          <a:solidFill>
                            <a:srgbClr val="3D4455"/>
                          </a:solidFill>
                          <a:latin typeface="Calibri"/>
                        </a:defRPr>
                      </a:pPr>
                      <a:r>
                        <a:t>Mild</a:t>
                      </a:r>
                    </a:p>
                  </a:txBody>
                  <a:tcPr>
                    <a:solidFill>
                      <a:srgbClr val="F5F6FA"/>
                    </a:solidFill>
                  </a:tcPr>
                </a:tc>
                <a:tc>
                  <a:txBody>
                    <a:bodyPr/>
                    <a:lstStyle/>
                    <a:p>
                      <a:pPr algn="l">
                        <a:defRPr sz="1200">
                          <a:solidFill>
                            <a:srgbClr val="3D4455"/>
                          </a:solidFill>
                          <a:latin typeface="Calibri"/>
                        </a:defRPr>
                      </a:pPr>
                      <a:r>
                        <a:t>Moderate</a:t>
                      </a:r>
                    </a:p>
                  </a:txBody>
                  <a:tcPr>
                    <a:solidFill>
                      <a:srgbClr val="F5F6FA"/>
                    </a:solidFill>
                  </a:tcPr>
                </a:tc>
                <a:tc>
                  <a:txBody>
                    <a:bodyPr/>
                    <a:lstStyle/>
                    <a:p>
                      <a:pPr algn="l">
                        <a:defRPr sz="1200">
                          <a:solidFill>
                            <a:srgbClr val="3D4455"/>
                          </a:solidFill>
                          <a:latin typeface="Calibri"/>
                        </a:defRPr>
                      </a:pPr>
                      <a:r>
                        <a:t>Severe, deep</a:t>
                      </a:r>
                    </a:p>
                  </a:txBody>
                  <a:tcPr>
                    <a:solidFill>
                      <a:srgbClr val="F5F6FA"/>
                    </a:solidFill>
                  </a:tcPr>
                </a:tc>
              </a:tr>
              <a:tr h="457200">
                <a:tc>
                  <a:txBody>
                    <a:bodyPr/>
                    <a:lstStyle/>
                    <a:p>
                      <a:pPr algn="l">
                        <a:defRPr sz="1200">
                          <a:solidFill>
                            <a:srgbClr val="3D4455"/>
                          </a:solidFill>
                          <a:latin typeface="Calibri"/>
                        </a:defRPr>
                      </a:pPr>
                      <a:r>
                        <a:t>Management Setting</a:t>
                      </a:r>
                    </a:p>
                  </a:txBody>
                  <a:tcPr>
                    <a:solidFill>
                      <a:srgbClr val="FFFFFF"/>
                    </a:solidFill>
                  </a:tcPr>
                </a:tc>
                <a:tc>
                  <a:txBody>
                    <a:bodyPr/>
                    <a:lstStyle/>
                    <a:p>
                      <a:pPr algn="l">
                        <a:defRPr sz="1200">
                          <a:solidFill>
                            <a:srgbClr val="3D4455"/>
                          </a:solidFill>
                          <a:latin typeface="Calibri"/>
                        </a:defRPr>
                      </a:pPr>
                      <a:r>
                        <a:t>ED/floor</a:t>
                      </a:r>
                    </a:p>
                  </a:txBody>
                  <a:tcPr>
                    <a:solidFill>
                      <a:srgbClr val="FFFFFF"/>
                    </a:solidFill>
                  </a:tcPr>
                </a:tc>
                <a:tc>
                  <a:txBody>
                    <a:bodyPr/>
                    <a:lstStyle/>
                    <a:p>
                      <a:pPr algn="l">
                        <a:defRPr sz="1200">
                          <a:solidFill>
                            <a:srgbClr val="3D4455"/>
                          </a:solidFill>
                          <a:latin typeface="Calibri"/>
                        </a:defRPr>
                      </a:pPr>
                      <a:r>
                        <a:t>Floor/stepdown</a:t>
                      </a:r>
                    </a:p>
                  </a:txBody>
                  <a:tcPr>
                    <a:solidFill>
                      <a:srgbClr val="FFFFFF"/>
                    </a:solidFill>
                  </a:tcPr>
                </a:tc>
                <a:tc>
                  <a:txBody>
                    <a:bodyPr/>
                    <a:lstStyle/>
                    <a:p>
                      <a:pPr algn="l">
                        <a:defRPr sz="1200">
                          <a:solidFill>
                            <a:srgbClr val="3D4455"/>
                          </a:solidFill>
                          <a:latin typeface="Calibri"/>
                        </a:defRPr>
                      </a:pPr>
                      <a:r>
                        <a:t>PICU</a:t>
                      </a:r>
                    </a:p>
                  </a:txBody>
                  <a:tcPr>
                    <a:solidFill>
                      <a:srgbClr val="FFFFFF"/>
                    </a:solidFill>
                  </a:tcPr>
                </a:tc>
              </a:tr>
            </a:tbl>
          </a:graphicData>
        </a:graphic>
      </p:graphicFrame>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DKA</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DKA Management Protocol</a:t>
            </a:r>
          </a:p>
        </p:txBody>
      </p:sp>
      <p:sp>
        <p:nvSpPr>
          <p:cNvPr id="5" name="Rounded Rectangle 4"/>
          <p:cNvSpPr/>
          <p:nvPr/>
        </p:nvSpPr>
        <p:spPr>
          <a:xfrm>
            <a:off x="457200" y="1371600"/>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1. HOUR 0: ABCs, 2 IVs, labs (BMP, VBG, CBC, UA, beta-hydroxybutyrate), 10-20 mL/kg NS bolus (if clinically dehydrated)</a:t>
            </a:r>
          </a:p>
        </p:txBody>
      </p:sp>
      <p:sp>
        <p:nvSpPr>
          <p:cNvPr id="6" name="Rounded Rectangle 5"/>
          <p:cNvSpPr/>
          <p:nvPr/>
        </p:nvSpPr>
        <p:spPr>
          <a:xfrm>
            <a:off x="457200" y="2039112"/>
            <a:ext cx="530352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2. HOUR 0-1: Start 2-bag system: D10 NS + 40 KCl/bag and NS + 40 KCl/bag; run at 1.5x maintenance</a:t>
            </a:r>
          </a:p>
        </p:txBody>
      </p:sp>
      <p:sp>
        <p:nvSpPr>
          <p:cNvPr id="7" name="Rounded Rectangle 6"/>
          <p:cNvSpPr/>
          <p:nvPr/>
        </p:nvSpPr>
        <p:spPr>
          <a:xfrm>
            <a:off x="457200" y="2706624"/>
            <a:ext cx="5303520" cy="50292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3. HOUR 1: Start insulin drip 0.05-0.1 units/kg/hr (NO bolus); continue fluids</a:t>
            </a:r>
          </a:p>
        </p:txBody>
      </p:sp>
      <p:sp>
        <p:nvSpPr>
          <p:cNvPr id="8" name="Rounded Rectangle 7"/>
          <p:cNvSpPr/>
          <p:nvPr/>
        </p:nvSpPr>
        <p:spPr>
          <a:xfrm>
            <a:off x="6309360" y="1371600"/>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4. HOURS 1-24: Monitor BG hourly, BMP q2h, neuro checks q1h; titrate D10 to keep glucose 150-300</a:t>
            </a:r>
          </a:p>
        </p:txBody>
      </p:sp>
      <p:sp>
        <p:nvSpPr>
          <p:cNvPr id="9" name="Rounded Rectangle 8"/>
          <p:cNvSpPr/>
          <p:nvPr/>
        </p:nvSpPr>
        <p:spPr>
          <a:xfrm>
            <a:off x="6309360" y="2039112"/>
            <a:ext cx="530352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5. TRANSITION: When pH &gt;7.3, HCO3 &gt;15, AG closed, tolerating PO → overlap SQ insulin 30 min before stopping drip</a:t>
            </a:r>
          </a:p>
        </p:txBody>
      </p:sp>
      <p:sp>
        <p:nvSpPr>
          <p:cNvPr id="10" name="Rounded Rectangle 9"/>
          <p:cNvSpPr/>
          <p:nvPr/>
        </p:nvSpPr>
        <p:spPr>
          <a:xfrm>
            <a:off x="6309360" y="2706624"/>
            <a:ext cx="5303520" cy="50292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6. Throughout: neuro checks hourly — any deterioration → STOP fluids, hypertonic saline, call PICU</a:t>
            </a:r>
          </a:p>
        </p:txBody>
      </p:sp>
      <p:sp>
        <p:nvSpPr>
          <p:cNvPr id="11" name="Rectangle 10"/>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DKA</a:t>
            </a:r>
          </a:p>
        </p:txBody>
      </p:sp>
      <p:sp>
        <p:nvSpPr>
          <p:cNvPr id="13" name="TextBox 12"/>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0"/>
            <a:ext cx="10058400" cy="457200"/>
          </a:xfrm>
          <a:prstGeom prst="rect">
            <a:avLst/>
          </a:prstGeom>
          <a:noFill/>
        </p:spPr>
        <p:txBody>
          <a:bodyPr wrap="none">
            <a:spAutoFit/>
          </a:bodyPr>
          <a:lstStyle/>
          <a:p>
            <a:pPr>
              <a:defRPr sz="1400" b="1">
                <a:solidFill>
                  <a:srgbClr val="007B83"/>
                </a:solidFill>
                <a:latin typeface="Calibri"/>
              </a:defRPr>
            </a:pPr>
            <a:r>
              <a:t>▎ PECARN FLUID TRIAL</a:t>
            </a:r>
          </a:p>
        </p:txBody>
      </p:sp>
      <p:sp>
        <p:nvSpPr>
          <p:cNvPr id="4" name="TextBox 3"/>
          <p:cNvSpPr txBox="1"/>
          <p:nvPr/>
        </p:nvSpPr>
        <p:spPr>
          <a:xfrm>
            <a:off x="731520" y="2286000"/>
            <a:ext cx="10515600" cy="2286000"/>
          </a:xfrm>
          <a:prstGeom prst="rect">
            <a:avLst/>
          </a:prstGeom>
          <a:noFill/>
        </p:spPr>
        <p:txBody>
          <a:bodyPr wrap="square">
            <a:spAutoFit/>
          </a:bodyPr>
          <a:lstStyle/>
          <a:p>
            <a:pPr algn="l">
              <a:defRPr sz="2800" b="1">
                <a:solidFill>
                  <a:srgbClr val="FFFFFF"/>
                </a:solidFill>
                <a:latin typeface="Calibri"/>
              </a:defRPr>
            </a:pPr>
            <a:r>
              <a:t>The rate and type of IV fluid in pediatric DKA does NOT affect neurologic outcomes.</a:t>
            </a:r>
          </a:p>
        </p:txBody>
      </p:sp>
      <p:sp>
        <p:nvSpPr>
          <p:cNvPr id="5" name="TextBox 4"/>
          <p:cNvSpPr txBox="1"/>
          <p:nvPr/>
        </p:nvSpPr>
        <p:spPr>
          <a:xfrm>
            <a:off x="731520" y="4572000"/>
            <a:ext cx="10058400" cy="1371600"/>
          </a:xfrm>
          <a:prstGeom prst="rect">
            <a:avLst/>
          </a:prstGeom>
          <a:noFill/>
        </p:spPr>
        <p:txBody>
          <a:bodyPr wrap="square">
            <a:spAutoFit/>
          </a:bodyPr>
          <a:lstStyle/>
          <a:p>
            <a:pPr>
              <a:defRPr sz="1500">
                <a:solidFill>
                  <a:srgbClr val="8A92A3"/>
                </a:solidFill>
                <a:latin typeface="Calibri"/>
              </a:defRPr>
            </a:pPr>
            <a:r>
              <a:t>Kuppermann et al., NEJM 2018. 1,389 children randomized to 4 fluid strategies. No difference in neurocognitive outcomes at 6 months. However, rapid correction of glucose and osmolality should still be avoided. Current standard: NS at 1.5x maintenance after initial bolus.</a:t>
            </a:r>
          </a:p>
        </p:txBody>
      </p:sp>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DKA</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Electrolyte Management in DKA</a:t>
            </a:r>
          </a:p>
        </p:txBody>
      </p:sp>
      <p:graphicFrame>
        <p:nvGraphicFramePr>
          <p:cNvPr id="5" name="Table 4"/>
          <p:cNvGraphicFramePr>
            <a:graphicFrameLocks noGrp="1"/>
          </p:cNvGraphicFramePr>
          <p:nvPr/>
        </p:nvGraphicFramePr>
        <p:xfrm>
          <a:off x="822960" y="1280160"/>
          <a:ext cx="10515600" cy="2286000"/>
        </p:xfrm>
        <a:graphic>
          <a:graphicData uri="http://schemas.openxmlformats.org/drawingml/2006/table">
            <a:tbl>
              <a:tblPr firstRow="1" bandRow="1">
                <a:tableStyleId>{5C22544A-7EE6-4342-B048-85BDC9FD1C3A}</a:tableStyleId>
              </a:tblPr>
              <a:tblGrid>
                <a:gridCol w="2628900"/>
                <a:gridCol w="2628900"/>
                <a:gridCol w="2628900"/>
                <a:gridCol w="2628900"/>
              </a:tblGrid>
              <a:tr h="457200">
                <a:tc>
                  <a:txBody>
                    <a:bodyPr/>
                    <a:lstStyle/>
                    <a:p>
                      <a:pPr algn="ctr">
                        <a:defRPr sz="1300" b="1">
                          <a:solidFill>
                            <a:srgbClr val="FFFFFF"/>
                          </a:solidFill>
                          <a:latin typeface="Calibri"/>
                        </a:defRPr>
                      </a:pPr>
                      <a:r>
                        <a:t>Electrolyte</a:t>
                      </a:r>
                    </a:p>
                  </a:txBody>
                  <a:tcPr>
                    <a:solidFill>
                      <a:srgbClr val="007B83"/>
                    </a:solidFill>
                  </a:tcPr>
                </a:tc>
                <a:tc>
                  <a:txBody>
                    <a:bodyPr/>
                    <a:lstStyle/>
                    <a:p>
                      <a:pPr algn="ctr">
                        <a:defRPr sz="1300" b="1">
                          <a:solidFill>
                            <a:srgbClr val="FFFFFF"/>
                          </a:solidFill>
                          <a:latin typeface="Calibri"/>
                        </a:defRPr>
                      </a:pPr>
                      <a:r>
                        <a:t>Issue in DKA</a:t>
                      </a:r>
                    </a:p>
                  </a:txBody>
                  <a:tcPr>
                    <a:solidFill>
                      <a:srgbClr val="007B83"/>
                    </a:solidFill>
                  </a:tcPr>
                </a:tc>
                <a:tc>
                  <a:txBody>
                    <a:bodyPr/>
                    <a:lstStyle/>
                    <a:p>
                      <a:pPr algn="ctr">
                        <a:defRPr sz="1300" b="1">
                          <a:solidFill>
                            <a:srgbClr val="FFFFFF"/>
                          </a:solidFill>
                          <a:latin typeface="Calibri"/>
                        </a:defRPr>
                      </a:pPr>
                      <a:r>
                        <a:t>Replacement</a:t>
                      </a:r>
                    </a:p>
                  </a:txBody>
                  <a:tcPr>
                    <a:solidFill>
                      <a:srgbClr val="007B83"/>
                    </a:solidFill>
                  </a:tcPr>
                </a:tc>
                <a:tc>
                  <a:txBody>
                    <a:bodyPr/>
                    <a:lstStyle/>
                    <a:p>
                      <a:pPr algn="ctr">
                        <a:defRPr sz="1300" b="1">
                          <a:solidFill>
                            <a:srgbClr val="FFFFFF"/>
                          </a:solidFill>
                          <a:latin typeface="Calibri"/>
                        </a:defRPr>
                      </a:pPr>
                      <a:r>
                        <a:t>Monitoring</a:t>
                      </a:r>
                    </a:p>
                  </a:txBody>
                  <a:tcPr>
                    <a:solidFill>
                      <a:srgbClr val="007B83"/>
                    </a:solidFill>
                  </a:tcPr>
                </a:tc>
              </a:tr>
              <a:tr h="457200">
                <a:tc>
                  <a:txBody>
                    <a:bodyPr/>
                    <a:lstStyle/>
                    <a:p>
                      <a:pPr algn="l">
                        <a:defRPr sz="1200">
                          <a:solidFill>
                            <a:srgbClr val="3D4455"/>
                          </a:solidFill>
                          <a:latin typeface="Calibri"/>
                        </a:defRPr>
                      </a:pPr>
                      <a:r>
                        <a:t>Potassium</a:t>
                      </a:r>
                    </a:p>
                  </a:txBody>
                  <a:tcPr>
                    <a:solidFill>
                      <a:srgbClr val="F5F6FA"/>
                    </a:solidFill>
                  </a:tcPr>
                </a:tc>
                <a:tc>
                  <a:txBody>
                    <a:bodyPr/>
                    <a:lstStyle/>
                    <a:p>
                      <a:pPr algn="l">
                        <a:defRPr sz="1200">
                          <a:solidFill>
                            <a:srgbClr val="3D4455"/>
                          </a:solidFill>
                          <a:latin typeface="Calibri"/>
                        </a:defRPr>
                      </a:pPr>
                      <a:r>
                        <a:t>Total body depleted despite normal/high serum K</a:t>
                      </a:r>
                    </a:p>
                  </a:txBody>
                  <a:tcPr>
                    <a:solidFill>
                      <a:srgbClr val="F5F6FA"/>
                    </a:solidFill>
                  </a:tcPr>
                </a:tc>
                <a:tc>
                  <a:txBody>
                    <a:bodyPr/>
                    <a:lstStyle/>
                    <a:p>
                      <a:pPr algn="l">
                        <a:defRPr sz="1200">
                          <a:solidFill>
                            <a:srgbClr val="3D4455"/>
                          </a:solidFill>
                          <a:latin typeface="Calibri"/>
                        </a:defRPr>
                      </a:pPr>
                      <a:r>
                        <a:t>Add 40 mEq KCl/L to all fluids once K &lt;5.5 and urine output confirmed</a:t>
                      </a:r>
                    </a:p>
                  </a:txBody>
                  <a:tcPr>
                    <a:solidFill>
                      <a:srgbClr val="F5F6FA"/>
                    </a:solidFill>
                  </a:tcPr>
                </a:tc>
                <a:tc>
                  <a:txBody>
                    <a:bodyPr/>
                    <a:lstStyle/>
                    <a:p>
                      <a:pPr algn="l">
                        <a:defRPr sz="1200">
                          <a:solidFill>
                            <a:srgbClr val="3D4455"/>
                          </a:solidFill>
                          <a:latin typeface="Calibri"/>
                        </a:defRPr>
                      </a:pPr>
                      <a:r>
                        <a:t>q2h BMP; watch for hypokalemia with insulin</a:t>
                      </a:r>
                    </a:p>
                  </a:txBody>
                  <a:tcPr>
                    <a:solidFill>
                      <a:srgbClr val="F5F6FA"/>
                    </a:solidFill>
                  </a:tcPr>
                </a:tc>
              </a:tr>
              <a:tr h="457200">
                <a:tc>
                  <a:txBody>
                    <a:bodyPr/>
                    <a:lstStyle/>
                    <a:p>
                      <a:pPr algn="l">
                        <a:defRPr sz="1200">
                          <a:solidFill>
                            <a:srgbClr val="3D4455"/>
                          </a:solidFill>
                          <a:latin typeface="Calibri"/>
                        </a:defRPr>
                      </a:pPr>
                      <a:r>
                        <a:t>Sodium</a:t>
                      </a:r>
                    </a:p>
                  </a:txBody>
                  <a:tcPr>
                    <a:solidFill>
                      <a:srgbClr val="FFFFFF"/>
                    </a:solidFill>
                  </a:tcPr>
                </a:tc>
                <a:tc>
                  <a:txBody>
                    <a:bodyPr/>
                    <a:lstStyle/>
                    <a:p>
                      <a:pPr algn="l">
                        <a:defRPr sz="1200">
                          <a:solidFill>
                            <a:srgbClr val="3D4455"/>
                          </a:solidFill>
                          <a:latin typeface="Calibri"/>
                        </a:defRPr>
                      </a:pPr>
                      <a:r>
                        <a:t>Factitious hyponatremia from hyperglycemia</a:t>
                      </a:r>
                    </a:p>
                  </a:txBody>
                  <a:tcPr>
                    <a:solidFill>
                      <a:srgbClr val="FFFFFF"/>
                    </a:solidFill>
                  </a:tcPr>
                </a:tc>
                <a:tc>
                  <a:txBody>
                    <a:bodyPr/>
                    <a:lstStyle/>
                    <a:p>
                      <a:pPr algn="l">
                        <a:defRPr sz="1200">
                          <a:solidFill>
                            <a:srgbClr val="3D4455"/>
                          </a:solidFill>
                          <a:latin typeface="Calibri"/>
                        </a:defRPr>
                      </a:pPr>
                      <a:r>
                        <a:t>Corrected Na = measured Na + 1.6 × [(glucose-100)/100]</a:t>
                      </a:r>
                    </a:p>
                  </a:txBody>
                  <a:tcPr>
                    <a:solidFill>
                      <a:srgbClr val="FFFFFF"/>
                    </a:solidFill>
                  </a:tcPr>
                </a:tc>
                <a:tc>
                  <a:txBody>
                    <a:bodyPr/>
                    <a:lstStyle/>
                    <a:p>
                      <a:pPr algn="l">
                        <a:defRPr sz="1200">
                          <a:solidFill>
                            <a:srgbClr val="3D4455"/>
                          </a:solidFill>
                          <a:latin typeface="Calibri"/>
                        </a:defRPr>
                      </a:pPr>
                      <a:r>
                        <a:t>Corrected Na should RISE with treatment; if falling → concern for CE</a:t>
                      </a:r>
                    </a:p>
                  </a:txBody>
                  <a:tcPr>
                    <a:solidFill>
                      <a:srgbClr val="FFFFFF"/>
                    </a:solidFill>
                  </a:tcPr>
                </a:tc>
              </a:tr>
              <a:tr h="457200">
                <a:tc>
                  <a:txBody>
                    <a:bodyPr/>
                    <a:lstStyle/>
                    <a:p>
                      <a:pPr algn="l">
                        <a:defRPr sz="1200">
                          <a:solidFill>
                            <a:srgbClr val="3D4455"/>
                          </a:solidFill>
                          <a:latin typeface="Calibri"/>
                        </a:defRPr>
                      </a:pPr>
                      <a:r>
                        <a:t>Phosphorus</a:t>
                      </a:r>
                    </a:p>
                  </a:txBody>
                  <a:tcPr>
                    <a:solidFill>
                      <a:srgbClr val="F5F6FA"/>
                    </a:solidFill>
                  </a:tcPr>
                </a:tc>
                <a:tc>
                  <a:txBody>
                    <a:bodyPr/>
                    <a:lstStyle/>
                    <a:p>
                      <a:pPr algn="l">
                        <a:defRPr sz="1200">
                          <a:solidFill>
                            <a:srgbClr val="3D4455"/>
                          </a:solidFill>
                          <a:latin typeface="Calibri"/>
                        </a:defRPr>
                      </a:pPr>
                      <a:r>
                        <a:t>Total body depleted</a:t>
                      </a:r>
                    </a:p>
                  </a:txBody>
                  <a:tcPr>
                    <a:solidFill>
                      <a:srgbClr val="F5F6FA"/>
                    </a:solidFill>
                  </a:tcPr>
                </a:tc>
                <a:tc>
                  <a:txBody>
                    <a:bodyPr/>
                    <a:lstStyle/>
                    <a:p>
                      <a:pPr algn="l">
                        <a:defRPr sz="1200">
                          <a:solidFill>
                            <a:srgbClr val="3D4455"/>
                          </a:solidFill>
                          <a:latin typeface="Calibri"/>
                        </a:defRPr>
                      </a:pPr>
                      <a:r>
                        <a:t>Consider KPhos if &lt;1.5 mg/dL</a:t>
                      </a:r>
                    </a:p>
                  </a:txBody>
                  <a:tcPr>
                    <a:solidFill>
                      <a:srgbClr val="F5F6FA"/>
                    </a:solidFill>
                  </a:tcPr>
                </a:tc>
                <a:tc>
                  <a:txBody>
                    <a:bodyPr/>
                    <a:lstStyle/>
                    <a:p>
                      <a:pPr algn="l">
                        <a:defRPr sz="1200">
                          <a:solidFill>
                            <a:srgbClr val="3D4455"/>
                          </a:solidFill>
                          <a:latin typeface="Calibri"/>
                        </a:defRPr>
                      </a:pPr>
                      <a:r>
                        <a:t>Risk of hypocalcemia with replacement</a:t>
                      </a:r>
                    </a:p>
                  </a:txBody>
                  <a:tcPr>
                    <a:solidFill>
                      <a:srgbClr val="F5F6FA"/>
                    </a:solidFill>
                  </a:tcPr>
                </a:tc>
              </a:tr>
              <a:tr h="457200">
                <a:tc>
                  <a:txBody>
                    <a:bodyPr/>
                    <a:lstStyle/>
                    <a:p>
                      <a:pPr algn="l">
                        <a:defRPr sz="1200">
                          <a:solidFill>
                            <a:srgbClr val="3D4455"/>
                          </a:solidFill>
                          <a:latin typeface="Calibri"/>
                        </a:defRPr>
                      </a:pPr>
                      <a:r>
                        <a:t>Bicarbonate</a:t>
                      </a:r>
                    </a:p>
                  </a:txBody>
                  <a:tcPr>
                    <a:solidFill>
                      <a:srgbClr val="FFFFFF"/>
                    </a:solidFill>
                  </a:tcPr>
                </a:tc>
                <a:tc>
                  <a:txBody>
                    <a:bodyPr/>
                    <a:lstStyle/>
                    <a:p>
                      <a:pPr algn="l">
                        <a:defRPr sz="1200">
                          <a:solidFill>
                            <a:srgbClr val="3D4455"/>
                          </a:solidFill>
                          <a:latin typeface="Calibri"/>
                        </a:defRPr>
                      </a:pPr>
                      <a:r>
                        <a:t>Low due to ketoacidosis</a:t>
                      </a:r>
                    </a:p>
                  </a:txBody>
                  <a:tcPr>
                    <a:solidFill>
                      <a:srgbClr val="FFFFFF"/>
                    </a:solidFill>
                  </a:tcPr>
                </a:tc>
                <a:tc>
                  <a:txBody>
                    <a:bodyPr/>
                    <a:lstStyle/>
                    <a:p>
                      <a:pPr algn="l">
                        <a:defRPr sz="1200">
                          <a:solidFill>
                            <a:srgbClr val="3D4455"/>
                          </a:solidFill>
                          <a:latin typeface="Calibri"/>
                        </a:defRPr>
                      </a:pPr>
                      <a:r>
                        <a:t>Do NOT give IV bicarbonate — increases CE risk</a:t>
                      </a:r>
                    </a:p>
                  </a:txBody>
                  <a:tcPr>
                    <a:solidFill>
                      <a:srgbClr val="FFFFFF"/>
                    </a:solidFill>
                  </a:tcPr>
                </a:tc>
                <a:tc>
                  <a:txBody>
                    <a:bodyPr/>
                    <a:lstStyle/>
                    <a:p>
                      <a:pPr algn="l">
                        <a:defRPr sz="1200">
                          <a:solidFill>
                            <a:srgbClr val="3D4455"/>
                          </a:solidFill>
                          <a:latin typeface="Calibri"/>
                        </a:defRPr>
                      </a:pPr>
                      <a:r>
                        <a:t>Normalizes with insulin + fluids</a:t>
                      </a:r>
                    </a:p>
                  </a:txBody>
                  <a:tcPr>
                    <a:solidFill>
                      <a:srgbClr val="FFFFFF"/>
                    </a:solidFill>
                  </a:tcPr>
                </a:tc>
              </a:tr>
            </a:tbl>
          </a:graphicData>
        </a:graphic>
      </p:graphicFrame>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DKA</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Cerebral Edema: The Deadliest Complication</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Occurs in 0.5-1% of pediatric DKA episodes — 20-25% mortality, 35% permanent neurologic injury</a:t>
            </a:r>
          </a:p>
          <a:p>
            <a:pPr>
              <a:spcBef>
                <a:spcPts val="400"/>
              </a:spcBef>
              <a:spcAft>
                <a:spcPts val="600"/>
              </a:spcAft>
              <a:defRPr sz="1600">
                <a:solidFill>
                  <a:srgbClr val="3D4455"/>
                </a:solidFill>
                <a:latin typeface="Calibri"/>
              </a:defRPr>
            </a:pPr>
            <a:r>
              <a:t>Usually occurs 4-12 hours into treatment (but can occur before or after)</a:t>
            </a:r>
          </a:p>
          <a:p>
            <a:pPr>
              <a:spcBef>
                <a:spcPts val="400"/>
              </a:spcBef>
              <a:spcAft>
                <a:spcPts val="600"/>
              </a:spcAft>
              <a:defRPr sz="1600">
                <a:solidFill>
                  <a:srgbClr val="3D4455"/>
                </a:solidFill>
                <a:latin typeface="Calibri"/>
              </a:defRPr>
            </a:pPr>
            <a:r>
              <a:t>Risk factors: younger age, new-onset diabetes, severe DKA, high BUN, failure of corrected Na to rise</a:t>
            </a:r>
          </a:p>
          <a:p>
            <a:pPr>
              <a:spcBef>
                <a:spcPts val="400"/>
              </a:spcBef>
              <a:spcAft>
                <a:spcPts val="600"/>
              </a:spcAft>
              <a:defRPr sz="1600">
                <a:solidFill>
                  <a:srgbClr val="3D4455"/>
                </a:solidFill>
                <a:latin typeface="Calibri"/>
              </a:defRPr>
            </a:pPr>
            <a:r>
              <a:t>Clinical signs: headache, vomiting, altered mental status, hypertension, bradycardia, pupil changes</a:t>
            </a:r>
          </a:p>
          <a:p>
            <a:pPr>
              <a:spcBef>
                <a:spcPts val="400"/>
              </a:spcBef>
              <a:spcAft>
                <a:spcPts val="600"/>
              </a:spcAft>
              <a:defRPr sz="1600">
                <a:solidFill>
                  <a:srgbClr val="3D4455"/>
                </a:solidFill>
                <a:latin typeface="Calibri"/>
              </a:defRPr>
            </a:pPr>
            <a:r>
              <a:t>Cushing triad (HTN + bradycardia + irregular breathing) = late and ominous sign</a:t>
            </a:r>
          </a:p>
          <a:p>
            <a:pPr>
              <a:spcBef>
                <a:spcPts val="400"/>
              </a:spcBef>
              <a:spcAft>
                <a:spcPts val="600"/>
              </a:spcAft>
              <a:defRPr sz="1600">
                <a:solidFill>
                  <a:srgbClr val="3D4455"/>
                </a:solidFill>
                <a:latin typeface="Calibri"/>
              </a:defRPr>
            </a:pPr>
            <a:r>
              <a:t>TREATMENT IS EMERGENT:</a:t>
            </a:r>
          </a:p>
          <a:p>
            <a:pPr lvl="1">
              <a:spcBef>
                <a:spcPts val="400"/>
              </a:spcBef>
              <a:spcAft>
                <a:spcPts val="600"/>
              </a:spcAft>
              <a:defRPr sz="1400">
                <a:solidFill>
                  <a:srgbClr val="8A92A3"/>
                </a:solidFill>
                <a:latin typeface="Calibri"/>
              </a:defRPr>
            </a:pPr>
            <a:r>
              <a:t>3% hypertonic saline 5 mL/kg IV over 10-15 min OR mannitol 0.5-1 g/kg IV</a:t>
            </a:r>
          </a:p>
          <a:p>
            <a:pPr lvl="1">
              <a:spcBef>
                <a:spcPts val="400"/>
              </a:spcBef>
              <a:spcAft>
                <a:spcPts val="600"/>
              </a:spcAft>
              <a:defRPr sz="1400">
                <a:solidFill>
                  <a:srgbClr val="8A92A3"/>
                </a:solidFill>
                <a:latin typeface="Calibri"/>
              </a:defRPr>
            </a:pPr>
            <a:r>
              <a:t>Elevate HOB 30°, reduce IV fluids to minimum, intubate if needed (avoid hyperventilation)</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DKA</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DKA Mimics and Diagnostic Traps</a:t>
            </a:r>
          </a:p>
        </p:txBody>
      </p:sp>
      <p:sp>
        <p:nvSpPr>
          <p:cNvPr id="5" name="Rounded Rectangle 4"/>
          <p:cNvSpPr/>
          <p:nvPr/>
        </p:nvSpPr>
        <p:spPr>
          <a:xfrm>
            <a:off x="457200" y="1280160"/>
            <a:ext cx="5303520" cy="54864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DKA MIMICS</a:t>
            </a:r>
          </a:p>
        </p:txBody>
      </p:sp>
      <p:sp>
        <p:nvSpPr>
          <p:cNvPr id="6" name="TextBox 5"/>
          <p:cNvSpPr txBox="1"/>
          <p:nvPr/>
        </p:nvSpPr>
        <p:spPr>
          <a:xfrm>
            <a:off x="64008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Gastroenteritis (vomiting, abdominal pain, dehydration)</a:t>
            </a:r>
          </a:p>
          <a:p>
            <a:pPr>
              <a:spcAft>
                <a:spcPts val="500"/>
              </a:spcAft>
              <a:defRPr sz="1400">
                <a:solidFill>
                  <a:srgbClr val="3D4455"/>
                </a:solidFill>
                <a:latin typeface="Calibri"/>
              </a:defRPr>
            </a:pPr>
            <a:r>
              <a:t>Appendicitis (abdominal pain, leukocytosis)</a:t>
            </a:r>
          </a:p>
          <a:p>
            <a:pPr>
              <a:spcAft>
                <a:spcPts val="500"/>
              </a:spcAft>
              <a:defRPr sz="1400">
                <a:solidFill>
                  <a:srgbClr val="3D4455"/>
                </a:solidFill>
                <a:latin typeface="Calibri"/>
              </a:defRPr>
            </a:pPr>
            <a:r>
              <a:t>Pneumonia (Kussmaul breathing misread as respiratory distress)</a:t>
            </a:r>
          </a:p>
          <a:p>
            <a:pPr>
              <a:spcAft>
                <a:spcPts val="500"/>
              </a:spcAft>
              <a:defRPr sz="1400">
                <a:solidFill>
                  <a:srgbClr val="3D4455"/>
                </a:solidFill>
                <a:latin typeface="Calibri"/>
              </a:defRPr>
            </a:pPr>
            <a:r>
              <a:t>Sepsis (tachycardia, dehydration, acidosis)</a:t>
            </a:r>
          </a:p>
          <a:p>
            <a:pPr>
              <a:spcAft>
                <a:spcPts val="500"/>
              </a:spcAft>
              <a:defRPr sz="1400">
                <a:solidFill>
                  <a:srgbClr val="3D4455"/>
                </a:solidFill>
                <a:latin typeface="Calibri"/>
              </a:defRPr>
            </a:pPr>
            <a:r>
              <a:t>Asthma (deep breathing, tachycardia)</a:t>
            </a:r>
          </a:p>
          <a:p>
            <a:pPr>
              <a:spcAft>
                <a:spcPts val="500"/>
              </a:spcAft>
              <a:defRPr sz="1400">
                <a:solidFill>
                  <a:srgbClr val="3D4455"/>
                </a:solidFill>
                <a:latin typeface="Calibri"/>
              </a:defRPr>
            </a:pPr>
            <a:r>
              <a:t>UTI (polyuria, incontinence in new-onset DM)</a:t>
            </a:r>
          </a:p>
        </p:txBody>
      </p:sp>
      <p:sp>
        <p:nvSpPr>
          <p:cNvPr id="7" name="Rectangle 6"/>
          <p:cNvSpPr/>
          <p:nvPr/>
        </p:nvSpPr>
        <p:spPr>
          <a:xfrm>
            <a:off x="5989320" y="1280160"/>
            <a:ext cx="27432" cy="4754880"/>
          </a:xfrm>
          <a:prstGeom prst="rect">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309360" y="1280160"/>
            <a:ext cx="5303520" cy="548640"/>
          </a:xfrm>
          <a:prstGeom prst="round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AVOID THESE TRAPS</a:t>
            </a:r>
          </a:p>
        </p:txBody>
      </p:sp>
      <p:sp>
        <p:nvSpPr>
          <p:cNvPr id="9" name="TextBox 8"/>
          <p:cNvSpPr txBox="1"/>
          <p:nvPr/>
        </p:nvSpPr>
        <p:spPr>
          <a:xfrm>
            <a:off x="649224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Always check glucose in a dehydrated, vomiting child</a:t>
            </a:r>
          </a:p>
          <a:p>
            <a:pPr>
              <a:spcAft>
                <a:spcPts val="500"/>
              </a:spcAft>
              <a:defRPr sz="1400">
                <a:solidFill>
                  <a:srgbClr val="3D4455"/>
                </a:solidFill>
                <a:latin typeface="Calibri"/>
              </a:defRPr>
            </a:pPr>
            <a:r>
              <a:t>Do not give IV bicarbonate — it worsens cerebral edema</a:t>
            </a:r>
          </a:p>
          <a:p>
            <a:pPr>
              <a:spcAft>
                <a:spcPts val="500"/>
              </a:spcAft>
              <a:defRPr sz="1400">
                <a:solidFill>
                  <a:srgbClr val="3D4455"/>
                </a:solidFill>
                <a:latin typeface="Calibri"/>
              </a:defRPr>
            </a:pPr>
            <a:r>
              <a:t>Do not bolus insulin — increases cerebral edema risk</a:t>
            </a:r>
          </a:p>
          <a:p>
            <a:pPr>
              <a:spcAft>
                <a:spcPts val="500"/>
              </a:spcAft>
              <a:defRPr sz="1400">
                <a:solidFill>
                  <a:srgbClr val="3D4455"/>
                </a:solidFill>
                <a:latin typeface="Calibri"/>
              </a:defRPr>
            </a:pPr>
            <a:r>
              <a:t>Do not drop glucose faster than 50-100 mg/dL/hr</a:t>
            </a:r>
          </a:p>
          <a:p>
            <a:pPr>
              <a:spcAft>
                <a:spcPts val="500"/>
              </a:spcAft>
              <a:defRPr sz="1400">
                <a:solidFill>
                  <a:srgbClr val="3D4455"/>
                </a:solidFill>
                <a:latin typeface="Calibri"/>
              </a:defRPr>
            </a:pPr>
            <a:r>
              <a:t>Do not forget potassium replacement</a:t>
            </a:r>
          </a:p>
          <a:p>
            <a:pPr>
              <a:spcAft>
                <a:spcPts val="500"/>
              </a:spcAft>
              <a:defRPr sz="1400">
                <a:solidFill>
                  <a:srgbClr val="3D4455"/>
                </a:solidFill>
                <a:latin typeface="Calibri"/>
              </a:defRPr>
            </a:pPr>
            <a:r>
              <a:t>Do not discharge until anion gap is closed (not just until glucose normalizes)</a:t>
            </a:r>
          </a:p>
        </p:txBody>
      </p:sp>
      <p:sp>
        <p:nvSpPr>
          <p:cNvPr id="10" name="Rectangle 9"/>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DKA</a:t>
            </a:r>
          </a:p>
        </p:txBody>
      </p:sp>
      <p:sp>
        <p:nvSpPr>
          <p:cNvPr id="12" name="TextBox 11"/>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71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28600"/>
            <a:ext cx="1645920" cy="457200"/>
          </a:xfrm>
          <a:prstGeom prst="round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CLINICAL CASE</a:t>
            </a:r>
          </a:p>
        </p:txBody>
      </p:sp>
      <p:sp>
        <p:nvSpPr>
          <p:cNvPr id="5" name="TextBox 4"/>
          <p:cNvSpPr txBox="1"/>
          <p:nvPr/>
        </p:nvSpPr>
        <p:spPr>
          <a:xfrm>
            <a:off x="2651760" y="182880"/>
            <a:ext cx="8686800" cy="640080"/>
          </a:xfrm>
          <a:prstGeom prst="rect">
            <a:avLst/>
          </a:prstGeom>
          <a:noFill/>
        </p:spPr>
        <p:txBody>
          <a:bodyPr wrap="square">
            <a:spAutoFit/>
          </a:bodyPr>
          <a:lstStyle/>
          <a:p>
            <a:pPr algn="l">
              <a:lnSpc>
                <a:spcPts val="2879"/>
              </a:lnSpc>
              <a:spcBef>
                <a:spcPts val="0"/>
              </a:spcBef>
              <a:spcAft>
                <a:spcPts val="0"/>
              </a:spcAft>
              <a:defRPr sz="2400" b="1" i="0">
                <a:solidFill>
                  <a:srgbClr val="FFFFFF"/>
                </a:solidFill>
                <a:latin typeface="Calibri"/>
              </a:defRPr>
            </a:pPr>
            <a:r>
              <a:t>4-Year-Old with Vomiting and Lethargy</a:t>
            </a:r>
          </a:p>
        </p:txBody>
      </p:sp>
      <p:sp>
        <p:nvSpPr>
          <p:cNvPr id="6" name="Rounded Rectangle 5"/>
          <p:cNvSpPr/>
          <p:nvPr/>
        </p:nvSpPr>
        <p:spPr>
          <a:xfrm>
            <a:off x="548640" y="1280160"/>
            <a:ext cx="10972800" cy="2560320"/>
          </a:xfrm>
          <a:prstGeom prst="roundRect">
            <a:avLst/>
          </a:prstGeom>
          <a:solidFill>
            <a:srgbClr val="FFFFFF"/>
          </a:solidFill>
          <a:ln w="1905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500">
                <a:solidFill>
                  <a:srgbClr val="3D4455"/>
                </a:solidFill>
                <a:latin typeface="Calibri"/>
              </a:defRPr>
            </a:pPr>
            <a:r>
              <a:t>A 4-year-old girl is brought in for 3 days of vomiting, decreased oral intake, and increasing sleepiness. Parents thought it was a stomach bug. She has been urinating more than usual for the past 2 weeks. On exam: lethargic, dry mucous membranes, Kussmaul respirations, fruity breath, HR 145, BP 95/60, RR 36, SpO2 99%. Labs: glucose 487, pH 7.05, HCO3 4, K 5.8, Na 128, BUN 32.</a:t>
            </a:r>
          </a:p>
        </p:txBody>
      </p:sp>
      <p:sp>
        <p:nvSpPr>
          <p:cNvPr id="7" name="TextBox 6"/>
          <p:cNvSpPr txBox="1"/>
          <p:nvPr/>
        </p:nvSpPr>
        <p:spPr>
          <a:xfrm>
            <a:off x="731520" y="4114800"/>
            <a:ext cx="10515600" cy="2011680"/>
          </a:xfrm>
          <a:prstGeom prst="rect">
            <a:avLst/>
          </a:prstGeom>
          <a:noFill/>
        </p:spPr>
        <p:txBody>
          <a:bodyPr wrap="square">
            <a:spAutoFit/>
          </a:bodyPr>
          <a:lstStyle/>
          <a:p>
            <a:pPr>
              <a:spcAft>
                <a:spcPts val="600"/>
              </a:spcAft>
              <a:defRPr sz="1400" b="1">
                <a:solidFill>
                  <a:srgbClr val="007B83"/>
                </a:solidFill>
                <a:latin typeface="Calibri"/>
              </a:defRPr>
            </a:pPr>
            <a:r>
              <a:t>▸  Severity classification? (Severe DKA — pH &lt;7.1, HCO3 &lt;5, altered mental status)</a:t>
            </a:r>
          </a:p>
          <a:p>
            <a:pPr>
              <a:spcAft>
                <a:spcPts val="600"/>
              </a:spcAft>
              <a:defRPr sz="1400" b="1">
                <a:solidFill>
                  <a:srgbClr val="007B83"/>
                </a:solidFill>
                <a:latin typeface="Calibri"/>
              </a:defRPr>
            </a:pPr>
            <a:r>
              <a:t>▸  Corrected sodium? Na 128 + 1.6 × [(487-100)/100] = 128 + 6.2 = 134.2 (normal corrected)</a:t>
            </a:r>
          </a:p>
          <a:p>
            <a:pPr>
              <a:spcAft>
                <a:spcPts val="600"/>
              </a:spcAft>
              <a:defRPr sz="1400" b="1">
                <a:solidFill>
                  <a:srgbClr val="007B83"/>
                </a:solidFill>
                <a:latin typeface="Calibri"/>
              </a:defRPr>
            </a:pPr>
            <a:r>
              <a:t>▸  Initial management? (NS 10 mL/kg bolus, then 2-bag system at 1.5x maintenance with K)</a:t>
            </a:r>
          </a:p>
          <a:p>
            <a:pPr>
              <a:spcAft>
                <a:spcPts val="600"/>
              </a:spcAft>
              <a:defRPr sz="1400" b="1">
                <a:solidFill>
                  <a:srgbClr val="007B83"/>
                </a:solidFill>
                <a:latin typeface="Calibri"/>
              </a:defRPr>
            </a:pPr>
            <a:r>
              <a:t>▸  When to start insulin? (After first bolus, once K confirmed &lt;6.5 → insulin 0.05 units/kg/hr)</a:t>
            </a:r>
          </a:p>
          <a:p>
            <a:pPr>
              <a:spcAft>
                <a:spcPts val="600"/>
              </a:spcAft>
              <a:defRPr sz="1400" b="1">
                <a:solidFill>
                  <a:srgbClr val="007B83"/>
                </a:solidFill>
                <a:latin typeface="Calibri"/>
              </a:defRPr>
            </a:pPr>
            <a:r>
              <a:t>▸  Disposition? (PICU — severe DKA, AMS, age &lt;5, new-onset diabetes, all high-risk features for CE)</a:t>
            </a:r>
          </a:p>
        </p:txBody>
      </p:sp>
      <p:sp>
        <p:nvSpPr>
          <p:cNvPr id="8" name="Rectangle 7"/>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DKA</a:t>
            </a:r>
          </a:p>
        </p:txBody>
      </p:sp>
      <p:sp>
        <p:nvSpPr>
          <p:cNvPr id="10" name="TextBox 9"/>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DKA Management Pitfalls</a:t>
            </a:r>
          </a:p>
        </p:txBody>
      </p:sp>
      <p:sp>
        <p:nvSpPr>
          <p:cNvPr id="5" name="Rounded Rectangle 4"/>
          <p:cNvSpPr/>
          <p:nvPr/>
        </p:nvSpPr>
        <p:spPr>
          <a:xfrm>
            <a:off x="457200" y="128016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6" name="TextBox 5"/>
          <p:cNvSpPr txBox="1"/>
          <p:nvPr/>
        </p:nvSpPr>
        <p:spPr>
          <a:xfrm>
            <a:off x="1097280" y="1280160"/>
            <a:ext cx="10515600" cy="548640"/>
          </a:xfrm>
          <a:prstGeom prst="rect">
            <a:avLst/>
          </a:prstGeom>
          <a:noFill/>
        </p:spPr>
        <p:txBody>
          <a:bodyPr wrap="square">
            <a:spAutoFit/>
          </a:bodyPr>
          <a:lstStyle/>
          <a:p>
            <a:pPr>
              <a:defRPr sz="1500">
                <a:solidFill>
                  <a:srgbClr val="3D4455"/>
                </a:solidFill>
                <a:latin typeface="Calibri"/>
              </a:defRPr>
            </a:pPr>
            <a:r>
              <a:t>Missing new-onset diabetes presenting as "gastroenteritis" — check glucose in dehydrated, vomiting children</a:t>
            </a:r>
          </a:p>
        </p:txBody>
      </p:sp>
      <p:sp>
        <p:nvSpPr>
          <p:cNvPr id="7" name="Rounded Rectangle 6"/>
          <p:cNvSpPr/>
          <p:nvPr/>
        </p:nvSpPr>
        <p:spPr>
          <a:xfrm>
            <a:off x="457200" y="1993391"/>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8" name="TextBox 7"/>
          <p:cNvSpPr txBox="1"/>
          <p:nvPr/>
        </p:nvSpPr>
        <p:spPr>
          <a:xfrm>
            <a:off x="1097280" y="1993391"/>
            <a:ext cx="10515600" cy="548640"/>
          </a:xfrm>
          <a:prstGeom prst="rect">
            <a:avLst/>
          </a:prstGeom>
          <a:noFill/>
        </p:spPr>
        <p:txBody>
          <a:bodyPr wrap="square">
            <a:spAutoFit/>
          </a:bodyPr>
          <a:lstStyle/>
          <a:p>
            <a:pPr>
              <a:defRPr sz="1500">
                <a:solidFill>
                  <a:srgbClr val="3D4455"/>
                </a:solidFill>
                <a:latin typeface="Calibri"/>
              </a:defRPr>
            </a:pPr>
            <a:r>
              <a:t>Giving an insulin bolus — this is contraindicated and increases cerebral edema risk</a:t>
            </a:r>
          </a:p>
        </p:txBody>
      </p:sp>
      <p:sp>
        <p:nvSpPr>
          <p:cNvPr id="9" name="Rounded Rectangle 8"/>
          <p:cNvSpPr/>
          <p:nvPr/>
        </p:nvSpPr>
        <p:spPr>
          <a:xfrm>
            <a:off x="457200" y="2706624"/>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0" name="TextBox 9"/>
          <p:cNvSpPr txBox="1"/>
          <p:nvPr/>
        </p:nvSpPr>
        <p:spPr>
          <a:xfrm>
            <a:off x="1097280" y="2706624"/>
            <a:ext cx="10515600" cy="548640"/>
          </a:xfrm>
          <a:prstGeom prst="rect">
            <a:avLst/>
          </a:prstGeom>
          <a:noFill/>
        </p:spPr>
        <p:txBody>
          <a:bodyPr wrap="square">
            <a:spAutoFit/>
          </a:bodyPr>
          <a:lstStyle/>
          <a:p>
            <a:pPr>
              <a:defRPr sz="1500">
                <a:solidFill>
                  <a:srgbClr val="3D4455"/>
                </a:solidFill>
                <a:latin typeface="Calibri"/>
              </a:defRPr>
            </a:pPr>
            <a:r>
              <a:t>Giving IV bicarbonate — also increases cerebral edema risk; acidosis resolves with insulin + fluids</a:t>
            </a:r>
          </a:p>
        </p:txBody>
      </p:sp>
      <p:sp>
        <p:nvSpPr>
          <p:cNvPr id="11" name="Rounded Rectangle 10"/>
          <p:cNvSpPr/>
          <p:nvPr/>
        </p:nvSpPr>
        <p:spPr>
          <a:xfrm>
            <a:off x="457200" y="3419856"/>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2" name="TextBox 11"/>
          <p:cNvSpPr txBox="1"/>
          <p:nvPr/>
        </p:nvSpPr>
        <p:spPr>
          <a:xfrm>
            <a:off x="1097280" y="3419856"/>
            <a:ext cx="10515600" cy="548640"/>
          </a:xfrm>
          <a:prstGeom prst="rect">
            <a:avLst/>
          </a:prstGeom>
          <a:noFill/>
        </p:spPr>
        <p:txBody>
          <a:bodyPr wrap="square">
            <a:spAutoFit/>
          </a:bodyPr>
          <a:lstStyle/>
          <a:p>
            <a:pPr>
              <a:defRPr sz="1500">
                <a:solidFill>
                  <a:srgbClr val="3D4455"/>
                </a:solidFill>
                <a:latin typeface="Calibri"/>
              </a:defRPr>
            </a:pPr>
            <a:r>
              <a:t>Dropping glucose too rapidly — aim for 50-100 mg/dL/hr; use 2-bag system with D10</a:t>
            </a:r>
          </a:p>
        </p:txBody>
      </p:sp>
      <p:sp>
        <p:nvSpPr>
          <p:cNvPr id="13" name="Rounded Rectangle 12"/>
          <p:cNvSpPr/>
          <p:nvPr/>
        </p:nvSpPr>
        <p:spPr>
          <a:xfrm>
            <a:off x="457200" y="4133087"/>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4" name="TextBox 13"/>
          <p:cNvSpPr txBox="1"/>
          <p:nvPr/>
        </p:nvSpPr>
        <p:spPr>
          <a:xfrm>
            <a:off x="1097280" y="4133087"/>
            <a:ext cx="10515600" cy="548640"/>
          </a:xfrm>
          <a:prstGeom prst="rect">
            <a:avLst/>
          </a:prstGeom>
          <a:noFill/>
        </p:spPr>
        <p:txBody>
          <a:bodyPr wrap="square">
            <a:spAutoFit/>
          </a:bodyPr>
          <a:lstStyle/>
          <a:p>
            <a:pPr>
              <a:defRPr sz="1500">
                <a:solidFill>
                  <a:srgbClr val="3D4455"/>
                </a:solidFill>
                <a:latin typeface="Calibri"/>
              </a:defRPr>
            </a:pPr>
            <a:r>
              <a:t>Forgetting potassium replacement — insulin drives K intracellularly; hypokalemia can be fatal</a:t>
            </a:r>
          </a:p>
        </p:txBody>
      </p:sp>
      <p:sp>
        <p:nvSpPr>
          <p:cNvPr id="15" name="Rounded Rectangle 14"/>
          <p:cNvSpPr/>
          <p:nvPr/>
        </p:nvSpPr>
        <p:spPr>
          <a:xfrm>
            <a:off x="457200" y="484632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6" name="TextBox 15"/>
          <p:cNvSpPr txBox="1"/>
          <p:nvPr/>
        </p:nvSpPr>
        <p:spPr>
          <a:xfrm>
            <a:off x="1097280" y="4846320"/>
            <a:ext cx="10515600" cy="548640"/>
          </a:xfrm>
          <a:prstGeom prst="rect">
            <a:avLst/>
          </a:prstGeom>
          <a:noFill/>
        </p:spPr>
        <p:txBody>
          <a:bodyPr wrap="square">
            <a:spAutoFit/>
          </a:bodyPr>
          <a:lstStyle/>
          <a:p>
            <a:pPr>
              <a:defRPr sz="1500">
                <a:solidFill>
                  <a:srgbClr val="3D4455"/>
                </a:solidFill>
                <a:latin typeface="Calibri"/>
              </a:defRPr>
            </a:pPr>
            <a:r>
              <a:t>Stopping insulin when glucose normalizes — keep insulin running until anion gap closes; add dextrose</a:t>
            </a:r>
          </a:p>
        </p:txBody>
      </p:sp>
      <p:sp>
        <p:nvSpPr>
          <p:cNvPr id="17" name="Rounded Rectangle 16"/>
          <p:cNvSpPr/>
          <p:nvPr/>
        </p:nvSpPr>
        <p:spPr>
          <a:xfrm>
            <a:off x="457200" y="5559552"/>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8" name="TextBox 17"/>
          <p:cNvSpPr txBox="1"/>
          <p:nvPr/>
        </p:nvSpPr>
        <p:spPr>
          <a:xfrm>
            <a:off x="1097280" y="5559552"/>
            <a:ext cx="10515600" cy="548640"/>
          </a:xfrm>
          <a:prstGeom prst="rect">
            <a:avLst/>
          </a:prstGeom>
          <a:noFill/>
        </p:spPr>
        <p:txBody>
          <a:bodyPr wrap="square">
            <a:spAutoFit/>
          </a:bodyPr>
          <a:lstStyle/>
          <a:p>
            <a:pPr>
              <a:defRPr sz="1500">
                <a:solidFill>
                  <a:srgbClr val="3D4455"/>
                </a:solidFill>
                <a:latin typeface="Calibri"/>
              </a:defRPr>
            </a:pPr>
            <a:r>
              <a:t>Not monitoring corrected sodium — falling corrected Na = cerebral edema warning sign</a:t>
            </a:r>
          </a:p>
        </p:txBody>
      </p:sp>
      <p:sp>
        <p:nvSpPr>
          <p:cNvPr id="19" name="Rectangle 18"/>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DKA</a:t>
            </a:r>
          </a:p>
        </p:txBody>
      </p:sp>
      <p:sp>
        <p:nvSpPr>
          <p:cNvPr id="21" name="TextBox 20"/>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10058400" cy="457200"/>
          </a:xfrm>
          <a:prstGeom prst="rect">
            <a:avLst/>
          </a:prstGeom>
          <a:noFill/>
        </p:spPr>
        <p:txBody>
          <a:bodyPr wrap="none">
            <a:spAutoFit/>
          </a:bodyPr>
          <a:lstStyle/>
          <a:p>
            <a:pPr>
              <a:defRPr sz="1400" b="1">
                <a:solidFill>
                  <a:srgbClr val="007B83"/>
                </a:solidFill>
                <a:latin typeface="Calibri"/>
              </a:defRPr>
            </a:pPr>
            <a:r>
              <a:t>TAKE-HOME MESSAGES</a:t>
            </a:r>
          </a:p>
        </p:txBody>
      </p:sp>
      <p:sp>
        <p:nvSpPr>
          <p:cNvPr id="4" name="Rectangle 3"/>
          <p:cNvSpPr/>
          <p:nvPr/>
        </p:nvSpPr>
        <p:spPr>
          <a:xfrm>
            <a:off x="731520" y="1371600"/>
            <a:ext cx="274320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457200" cy="457200"/>
          </a:xfrm>
          <a:prstGeom prst="rect">
            <a:avLst/>
          </a:prstGeom>
          <a:noFill/>
        </p:spPr>
        <p:txBody>
          <a:bodyPr wrap="none">
            <a:spAutoFit/>
          </a:bodyPr>
          <a:lstStyle/>
          <a:p>
            <a:pPr>
              <a:defRPr sz="2200" b="1">
                <a:solidFill>
                  <a:srgbClr val="007B83"/>
                </a:solidFill>
                <a:latin typeface="Calibri"/>
              </a:defRPr>
            </a:pPr>
            <a:r>
              <a:t>1</a:t>
            </a:r>
          </a:p>
        </p:txBody>
      </p:sp>
      <p:sp>
        <p:nvSpPr>
          <p:cNvPr id="6" name="TextBox 5"/>
          <p:cNvSpPr txBox="1"/>
          <p:nvPr/>
        </p:nvSpPr>
        <p:spPr>
          <a:xfrm>
            <a:off x="1371600" y="1737360"/>
            <a:ext cx="10058400" cy="640080"/>
          </a:xfrm>
          <a:prstGeom prst="rect">
            <a:avLst/>
          </a:prstGeom>
          <a:noFill/>
        </p:spPr>
        <p:txBody>
          <a:bodyPr wrap="square">
            <a:spAutoFit/>
          </a:bodyPr>
          <a:lstStyle/>
          <a:p>
            <a:pPr>
              <a:defRPr sz="1700">
                <a:solidFill>
                  <a:srgbClr val="FFFFFF"/>
                </a:solidFill>
                <a:latin typeface="Calibri"/>
              </a:defRPr>
            </a:pPr>
            <a:r>
              <a:t>Always check glucose in a vomiting, dehydrated child — DKA mimics gastroenteritis</a:t>
            </a:r>
          </a:p>
        </p:txBody>
      </p:sp>
      <p:sp>
        <p:nvSpPr>
          <p:cNvPr id="7" name="TextBox 6"/>
          <p:cNvSpPr txBox="1"/>
          <p:nvPr/>
        </p:nvSpPr>
        <p:spPr>
          <a:xfrm>
            <a:off x="731520" y="2514600"/>
            <a:ext cx="457200" cy="457200"/>
          </a:xfrm>
          <a:prstGeom prst="rect">
            <a:avLst/>
          </a:prstGeom>
          <a:noFill/>
        </p:spPr>
        <p:txBody>
          <a:bodyPr wrap="none">
            <a:spAutoFit/>
          </a:bodyPr>
          <a:lstStyle/>
          <a:p>
            <a:pPr>
              <a:defRPr sz="2200" b="1">
                <a:solidFill>
                  <a:srgbClr val="007B83"/>
                </a:solidFill>
                <a:latin typeface="Calibri"/>
              </a:defRPr>
            </a:pPr>
            <a:r>
              <a:t>2</a:t>
            </a:r>
          </a:p>
        </p:txBody>
      </p:sp>
      <p:sp>
        <p:nvSpPr>
          <p:cNvPr id="8" name="TextBox 7"/>
          <p:cNvSpPr txBox="1"/>
          <p:nvPr/>
        </p:nvSpPr>
        <p:spPr>
          <a:xfrm>
            <a:off x="1371600" y="2514600"/>
            <a:ext cx="10058400" cy="640080"/>
          </a:xfrm>
          <a:prstGeom prst="rect">
            <a:avLst/>
          </a:prstGeom>
          <a:noFill/>
        </p:spPr>
        <p:txBody>
          <a:bodyPr wrap="square">
            <a:spAutoFit/>
          </a:bodyPr>
          <a:lstStyle/>
          <a:p>
            <a:pPr>
              <a:defRPr sz="1700">
                <a:solidFill>
                  <a:srgbClr val="FFFFFF"/>
                </a:solidFill>
                <a:latin typeface="Calibri"/>
              </a:defRPr>
            </a:pPr>
            <a:r>
              <a:t>NO insulin bolus, NO IV bicarbonate in pediatric DKA — both increase cerebral edema risk</a:t>
            </a:r>
          </a:p>
        </p:txBody>
      </p:sp>
      <p:sp>
        <p:nvSpPr>
          <p:cNvPr id="9" name="TextBox 8"/>
          <p:cNvSpPr txBox="1"/>
          <p:nvPr/>
        </p:nvSpPr>
        <p:spPr>
          <a:xfrm>
            <a:off x="731520" y="3291839"/>
            <a:ext cx="457200" cy="457200"/>
          </a:xfrm>
          <a:prstGeom prst="rect">
            <a:avLst/>
          </a:prstGeom>
          <a:noFill/>
        </p:spPr>
        <p:txBody>
          <a:bodyPr wrap="none">
            <a:spAutoFit/>
          </a:bodyPr>
          <a:lstStyle/>
          <a:p>
            <a:pPr>
              <a:defRPr sz="2200" b="1">
                <a:solidFill>
                  <a:srgbClr val="007B83"/>
                </a:solidFill>
                <a:latin typeface="Calibri"/>
              </a:defRPr>
            </a:pPr>
            <a:r>
              <a:t>3</a:t>
            </a:r>
          </a:p>
        </p:txBody>
      </p:sp>
      <p:sp>
        <p:nvSpPr>
          <p:cNvPr id="10" name="TextBox 9"/>
          <p:cNvSpPr txBox="1"/>
          <p:nvPr/>
        </p:nvSpPr>
        <p:spPr>
          <a:xfrm>
            <a:off x="1371600" y="3291839"/>
            <a:ext cx="10058400" cy="640080"/>
          </a:xfrm>
          <a:prstGeom prst="rect">
            <a:avLst/>
          </a:prstGeom>
          <a:noFill/>
        </p:spPr>
        <p:txBody>
          <a:bodyPr wrap="square">
            <a:spAutoFit/>
          </a:bodyPr>
          <a:lstStyle/>
          <a:p>
            <a:pPr>
              <a:defRPr sz="1700">
                <a:solidFill>
                  <a:srgbClr val="FFFFFF"/>
                </a:solidFill>
                <a:latin typeface="Calibri"/>
              </a:defRPr>
            </a:pPr>
            <a:r>
              <a:t>Use the 2-bag system: titrate dextrose to keep glucose 150-300 while insulin runs</a:t>
            </a:r>
          </a:p>
        </p:txBody>
      </p:sp>
      <p:sp>
        <p:nvSpPr>
          <p:cNvPr id="11" name="TextBox 10"/>
          <p:cNvSpPr txBox="1"/>
          <p:nvPr/>
        </p:nvSpPr>
        <p:spPr>
          <a:xfrm>
            <a:off x="731520" y="4069079"/>
            <a:ext cx="457200" cy="457200"/>
          </a:xfrm>
          <a:prstGeom prst="rect">
            <a:avLst/>
          </a:prstGeom>
          <a:noFill/>
        </p:spPr>
        <p:txBody>
          <a:bodyPr wrap="none">
            <a:spAutoFit/>
          </a:bodyPr>
          <a:lstStyle/>
          <a:p>
            <a:pPr>
              <a:defRPr sz="2200" b="1">
                <a:solidFill>
                  <a:srgbClr val="007B83"/>
                </a:solidFill>
                <a:latin typeface="Calibri"/>
              </a:defRPr>
            </a:pPr>
            <a:r>
              <a:t>4</a:t>
            </a:r>
          </a:p>
        </p:txBody>
      </p:sp>
      <p:sp>
        <p:nvSpPr>
          <p:cNvPr id="12" name="TextBox 11"/>
          <p:cNvSpPr txBox="1"/>
          <p:nvPr/>
        </p:nvSpPr>
        <p:spPr>
          <a:xfrm>
            <a:off x="1371600" y="4069079"/>
            <a:ext cx="10058400" cy="640080"/>
          </a:xfrm>
          <a:prstGeom prst="rect">
            <a:avLst/>
          </a:prstGeom>
          <a:noFill/>
        </p:spPr>
        <p:txBody>
          <a:bodyPr wrap="square">
            <a:spAutoFit/>
          </a:bodyPr>
          <a:lstStyle/>
          <a:p>
            <a:pPr>
              <a:defRPr sz="1700">
                <a:solidFill>
                  <a:srgbClr val="FFFFFF"/>
                </a:solidFill>
                <a:latin typeface="Calibri"/>
              </a:defRPr>
            </a:pPr>
            <a:r>
              <a:t>Monitor corrected sodium — a falling corrected Na during treatment is the earliest sign of cerebral edema</a:t>
            </a:r>
          </a:p>
        </p:txBody>
      </p:sp>
      <p:sp>
        <p:nvSpPr>
          <p:cNvPr id="13" name="TextBox 12"/>
          <p:cNvSpPr txBox="1"/>
          <p:nvPr/>
        </p:nvSpPr>
        <p:spPr>
          <a:xfrm>
            <a:off x="731520" y="4846320"/>
            <a:ext cx="457200" cy="457200"/>
          </a:xfrm>
          <a:prstGeom prst="rect">
            <a:avLst/>
          </a:prstGeom>
          <a:noFill/>
        </p:spPr>
        <p:txBody>
          <a:bodyPr wrap="none">
            <a:spAutoFit/>
          </a:bodyPr>
          <a:lstStyle/>
          <a:p>
            <a:pPr>
              <a:defRPr sz="2200" b="1">
                <a:solidFill>
                  <a:srgbClr val="007B83"/>
                </a:solidFill>
                <a:latin typeface="Calibri"/>
              </a:defRPr>
            </a:pPr>
            <a:r>
              <a:t>5</a:t>
            </a:r>
          </a:p>
        </p:txBody>
      </p:sp>
      <p:sp>
        <p:nvSpPr>
          <p:cNvPr id="14" name="TextBox 13"/>
          <p:cNvSpPr txBox="1"/>
          <p:nvPr/>
        </p:nvSpPr>
        <p:spPr>
          <a:xfrm>
            <a:off x="1371600" y="4846320"/>
            <a:ext cx="10058400" cy="640080"/>
          </a:xfrm>
          <a:prstGeom prst="rect">
            <a:avLst/>
          </a:prstGeom>
          <a:noFill/>
        </p:spPr>
        <p:txBody>
          <a:bodyPr wrap="square">
            <a:spAutoFit/>
          </a:bodyPr>
          <a:lstStyle/>
          <a:p>
            <a:pPr>
              <a:defRPr sz="1700">
                <a:solidFill>
                  <a:srgbClr val="FFFFFF"/>
                </a:solidFill>
                <a:latin typeface="Calibri"/>
              </a:defRPr>
            </a:pPr>
            <a:r>
              <a:t>Cerebral edema treatment: 3% hypertonic saline 5 mL/kg IV IMMEDIATELY if suspected</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DKA</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References</a:t>
            </a:r>
          </a:p>
        </p:txBody>
      </p:sp>
      <p:sp>
        <p:nvSpPr>
          <p:cNvPr id="5" name="TextBox 4"/>
          <p:cNvSpPr txBox="1"/>
          <p:nvPr/>
        </p:nvSpPr>
        <p:spPr>
          <a:xfrm>
            <a:off x="731520" y="1280160"/>
            <a:ext cx="10515600" cy="4846320"/>
          </a:xfrm>
          <a:prstGeom prst="rect">
            <a:avLst/>
          </a:prstGeom>
          <a:noFill/>
        </p:spPr>
        <p:txBody>
          <a:bodyPr wrap="square">
            <a:spAutoFit/>
          </a:bodyPr>
          <a:lstStyle/>
          <a:p>
            <a:pPr>
              <a:spcAft>
                <a:spcPts val="400"/>
              </a:spcAft>
              <a:defRPr sz="1100">
                <a:solidFill>
                  <a:srgbClr val="3D4455"/>
                </a:solidFill>
                <a:latin typeface="Calibri"/>
              </a:defRPr>
            </a:pPr>
            <a:r>
              <a:t>1. Wolfsdorf JI, et al. ISPAD Clinical Practice Consensus Guidelines 2018: Diabetic ketoacidosis and the hyperglycemic hyperosmolar state. Pediatr Diabetes. 2018;19(Suppl 27):155-177.</a:t>
            </a:r>
          </a:p>
          <a:p>
            <a:pPr>
              <a:spcAft>
                <a:spcPts val="400"/>
              </a:spcAft>
              <a:defRPr sz="1100">
                <a:solidFill>
                  <a:srgbClr val="3D4455"/>
                </a:solidFill>
                <a:latin typeface="Calibri"/>
              </a:defRPr>
            </a:pPr>
            <a:r>
              <a:t>2. Kuppermann N, et al. Clinical trial of fluid infusion rates for pediatric diabetic ketoacidosis (PECARN FLUID). N Engl J Med. 2018;378(24):2275-2287.</a:t>
            </a:r>
          </a:p>
          <a:p>
            <a:pPr>
              <a:spcAft>
                <a:spcPts val="400"/>
              </a:spcAft>
              <a:defRPr sz="1100">
                <a:solidFill>
                  <a:srgbClr val="3D4455"/>
                </a:solidFill>
                <a:latin typeface="Calibri"/>
              </a:defRPr>
            </a:pPr>
            <a:r>
              <a:t>3. Glaser N, et al. Risk factors for cerebral edema in children with diabetic ketoacidosis. N Engl J Med. 2001;344(4):264-269.</a:t>
            </a:r>
          </a:p>
          <a:p>
            <a:pPr>
              <a:spcAft>
                <a:spcPts val="400"/>
              </a:spcAft>
              <a:defRPr sz="1100">
                <a:solidFill>
                  <a:srgbClr val="3D4455"/>
                </a:solidFill>
                <a:latin typeface="Calibri"/>
              </a:defRPr>
            </a:pPr>
            <a:r>
              <a:t>4. DePiero A, et al. Performance of the PECARN DKA FLUID trial fluid protocol outside a clinical trial. Pediatr Emerg Care. 2021;37(12):e1523-e1528.</a:t>
            </a:r>
          </a:p>
          <a:p>
            <a:pPr>
              <a:spcAft>
                <a:spcPts val="400"/>
              </a:spcAft>
              <a:defRPr sz="1100">
                <a:solidFill>
                  <a:srgbClr val="3D4455"/>
                </a:solidFill>
                <a:latin typeface="Calibri"/>
              </a:defRPr>
            </a:pPr>
            <a:r>
              <a:t>5. Tasker RC, et al. Cerebral edema in children with diabetic ketoacidosis: vasogenic rather than cellular? Pediatr Diabetes. 2005;6(2):75-78.</a:t>
            </a:r>
          </a:p>
        </p:txBody>
      </p:sp>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DKA</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2286000"/>
            <a:ext cx="8229600" cy="1371600"/>
          </a:xfrm>
          <a:prstGeom prst="rect">
            <a:avLst/>
          </a:prstGeom>
          <a:noFill/>
        </p:spPr>
        <p:txBody>
          <a:bodyPr wrap="none">
            <a:spAutoFit/>
          </a:bodyPr>
          <a:lstStyle/>
          <a:p>
            <a:pPr algn="ctr">
              <a:defRPr sz="3600" b="1">
                <a:solidFill>
                  <a:srgbClr val="FFFFFF"/>
                </a:solidFill>
                <a:latin typeface="Calibri"/>
              </a:defRPr>
            </a:pPr>
            <a:r>
              <a:t>Questions &amp; Discussion</a:t>
            </a:r>
          </a:p>
        </p:txBody>
      </p:sp>
      <p:sp>
        <p:nvSpPr>
          <p:cNvPr id="4" name="TextBox 3"/>
          <p:cNvSpPr txBox="1"/>
          <p:nvPr/>
        </p:nvSpPr>
        <p:spPr>
          <a:xfrm>
            <a:off x="1828800" y="3840480"/>
            <a:ext cx="8229600" cy="914400"/>
          </a:xfrm>
          <a:prstGeom prst="rect">
            <a:avLst/>
          </a:prstGeom>
          <a:noFill/>
        </p:spPr>
        <p:txBody>
          <a:bodyPr wrap="none">
            <a:spAutoFit/>
          </a:bodyPr>
          <a:lstStyle/>
          <a:p>
            <a:pPr algn="ctr">
              <a:defRPr sz="1600">
                <a:solidFill>
                  <a:srgbClr val="00A3AD"/>
                </a:solidFill>
                <a:latin typeface="Calibri"/>
              </a:defRPr>
            </a:pPr>
            <a:r>
              <a:t>PEM Fellow Teaching Library</a:t>
            </a:r>
          </a:p>
        </p:txBody>
      </p:sp>
      <p:sp>
        <p:nvSpPr>
          <p:cNvPr id="5" name="Rectangle 4"/>
          <p:cNvSpPr/>
          <p:nvPr/>
        </p:nvSpPr>
        <p:spPr>
          <a:xfrm>
            <a:off x="4572000" y="3657600"/>
            <a:ext cx="301752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