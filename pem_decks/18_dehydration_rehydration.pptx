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ORT is one of the most important medical interventions of the 20th century. Despite this, ED physicians consistently underuse it, defaulting to IV fluids. The evidence is clear: for mild-moderate dehydration, ORT is as effective as IV fluids, faster to initiate, less painful, and allows earlier discharge. Change the culture in your department to ORT-first.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single finding reliably predicts dehydration — use the combination. The most useful individual signs: prolonged capillary refill, abnormal skin turgor, and abnormal respiratory pattern. The CDS (Clinical Dehydration Scale) and WHO scale are validated tools. Weight change is the gold standard (if a recent well-weight is available), but it is rarely available in the 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key teaching: start ORT for mild-moderate dehydration. Even for moderate dehydration, a trial of ORT is appropriate before escalating to IV fluids. If the child vomits during ORT, wait 20 minutes and try again. If ORT truly fails (persistent vomiting, worsening clinical status), then proceed to IV fluids. Ondansetron before ORT reduces vomiting and improves ORT success rates.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one of the most practice-changing studies in PEM. Ondansetron is safe in children (no increase in serious adverse events), reduces vomiting within 15-30 minutes, and allows successful ORT in children who were initially unable to tolerate PO. The ODT (orally disintegrating tablet) formulation is ideal for children who are actively vomiting.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2018 AAP guideline was a paradigm shift. For decades, hypotonic maintenance fluids were standard based on the Holliday-Segar formula. But hospitalized children often have elevated ADH (from pain, nausea, illness), which impairs free water excretion. Hypotonic fluids in this setting cause iatrogenic hyponatremia — which can be fatal. Isotonic fluids are now the standard.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Holliday-Segar formula determines maintenance VOLUME, not type. The fluid TYPE should be isotonic (D5NS) per current guidelines. For rehydration, total fluid = maintenance + deficit replacement. Deficit volume = estimated % dehydration × weight in kg × 10. Example: 10 kg child with 7% dehydration → deficit = 0.07 × 10 × 1000 = 700 mL, given over 24 hours in addition to maintenance.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syringe technique is the single most important ORT skill. Giving 5 mL every 2-3 minutes = ~150 mL/hour — which is significant. Parents can do this at the bedside while you see other patients. Child life specialists can help make it engaging. The goal is not to stop the vomiting and diarrhea — it is to replace more fluid than is being lost.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case demonstrates the ideal approach: start with ORT, give ondansetron to support it, and only escalate to IV if ORT fails. Weight-based dehydration assessment is the gold standard when a recent well-weight is available. This child has a known weight loss of 7% = moderate dehydration. ORT goal: 100 mL/kg over 4 hours = ~4 mL/min by syringe.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most common pitfall is skipping ORT. The second most common: overestimating dehydration severity. Studies show that clinicians rate dehydration as moderate when it is often mild, and severe when it is often moderate. Use objective measures (weight, clinical scales) and reassess after intervention.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834640"/>
            <a:ext cx="2560320" cy="54864"/>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280160"/>
            <a:ext cx="1463040" cy="502920"/>
          </a:xfrm>
          <a:prstGeom prst="round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560"/>
              </a:lnSpc>
              <a:spcBef>
                <a:spcPts val="0"/>
              </a:spcBef>
              <a:spcAft>
                <a:spcPts val="0"/>
              </a:spcAft>
              <a:defRPr sz="1300" b="1" i="0">
                <a:solidFill>
                  <a:srgbClr val="FFFFFF"/>
                </a:solidFill>
                <a:latin typeface="Calibri"/>
              </a:defRPr>
            </a:pPr>
            <a:r>
              <a:t>DECK 18 / 30</a:t>
            </a:r>
          </a:p>
        </p:txBody>
      </p:sp>
      <p:sp>
        <p:nvSpPr>
          <p:cNvPr id="5" name="TextBox 4"/>
          <p:cNvSpPr txBox="1"/>
          <p:nvPr/>
        </p:nvSpPr>
        <p:spPr>
          <a:xfrm>
            <a:off x="731520" y="1965960"/>
            <a:ext cx="9144000" cy="457200"/>
          </a:xfrm>
          <a:prstGeom prst="rect">
            <a:avLst/>
          </a:prstGeom>
          <a:noFill/>
        </p:spPr>
        <p:txBody>
          <a:bodyPr wrap="none">
            <a:spAutoFit/>
          </a:bodyPr>
          <a:lstStyle/>
          <a:p>
            <a:pPr algn="l">
              <a:defRPr sz="1100" b="1">
                <a:solidFill>
                  <a:srgbClr val="00A3AD"/>
                </a:solidFill>
                <a:latin typeface="Calibri"/>
              </a:defRPr>
            </a:pPr>
            <a:r>
              <a:t>PEDIATRIC EMERGENCY MEDICINE  ·  FELLOW TEACHING LIBRARY</a:t>
            </a:r>
          </a:p>
        </p:txBody>
      </p:sp>
      <p:sp>
        <p:nvSpPr>
          <p:cNvPr id="6" name="TextBox 5"/>
          <p:cNvSpPr txBox="1"/>
          <p:nvPr/>
        </p:nvSpPr>
        <p:spPr>
          <a:xfrm>
            <a:off x="731520" y="3200400"/>
            <a:ext cx="10058400" cy="1828800"/>
          </a:xfrm>
          <a:prstGeom prst="rect">
            <a:avLst/>
          </a:prstGeom>
          <a:noFill/>
        </p:spPr>
        <p:txBody>
          <a:bodyPr wrap="square">
            <a:spAutoFit/>
          </a:bodyPr>
          <a:lstStyle/>
          <a:p>
            <a:pPr algn="l">
              <a:defRPr sz="3800" b="1">
                <a:solidFill>
                  <a:srgbClr val="FFFFFF"/>
                </a:solidFill>
                <a:latin typeface="Calibri"/>
              </a:defRPr>
            </a:pPr>
            <a:r>
              <a:t>Dehydration and IV/Oral Rehydration Strategies</a:t>
            </a:r>
          </a:p>
        </p:txBody>
      </p:sp>
      <p:sp>
        <p:nvSpPr>
          <p:cNvPr id="7" name="TextBox 6"/>
          <p:cNvSpPr txBox="1"/>
          <p:nvPr/>
        </p:nvSpPr>
        <p:spPr>
          <a:xfrm>
            <a:off x="731520" y="4937760"/>
            <a:ext cx="9144000" cy="731520"/>
          </a:xfrm>
          <a:prstGeom prst="rect">
            <a:avLst/>
          </a:prstGeom>
          <a:noFill/>
        </p:spPr>
        <p:txBody>
          <a:bodyPr wrap="square">
            <a:spAutoFit/>
          </a:bodyPr>
          <a:lstStyle/>
          <a:p>
            <a:pPr algn="l">
              <a:defRPr sz="1600">
                <a:solidFill>
                  <a:srgbClr val="8A92A3"/>
                </a:solidFill>
                <a:latin typeface="Calibri"/>
              </a:defRPr>
            </a:pPr>
            <a:r>
              <a:t>Clinical Assessment, Evidence-Based ORT, and When to Escalate to IV Fluids</a:t>
            </a:r>
          </a:p>
        </p:txBody>
      </p:sp>
      <p:sp>
        <p:nvSpPr>
          <p:cNvPr id="8" name="Rectangle 7"/>
          <p:cNvSpPr/>
          <p:nvPr/>
        </p:nvSpPr>
        <p:spPr>
          <a:xfrm>
            <a:off x="731520" y="6126480"/>
            <a:ext cx="10515600" cy="18288"/>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6263640"/>
            <a:ext cx="10058400" cy="365760"/>
          </a:xfrm>
          <a:prstGeom prst="rect">
            <a:avLst/>
          </a:prstGeom>
          <a:noFill/>
        </p:spPr>
        <p:txBody>
          <a:bodyPr wrap="none">
            <a:spAutoFit/>
          </a:bodyPr>
          <a:lstStyle/>
          <a:p>
            <a:pPr>
              <a:defRPr sz="1000">
                <a:solidFill>
                  <a:srgbClr val="8A92A3"/>
                </a:solidFill>
                <a:latin typeface="Calibri"/>
              </a:defRPr>
            </a:pPr>
            <a:r>
              <a:t>PEM Fellow Teaching Library  ·  Fellowship-Grade Education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9144000" cy="640080"/>
          </a:xfrm>
          <a:prstGeom prst="rect">
            <a:avLst/>
          </a:prstGeom>
          <a:noFill/>
        </p:spPr>
        <p:txBody>
          <a:bodyPr wrap="square">
            <a:spAutoFit/>
          </a:bodyPr>
          <a:lstStyle/>
          <a:p>
            <a:pPr algn="l">
              <a:lnSpc>
                <a:spcPts val="3360"/>
              </a:lnSpc>
              <a:spcBef>
                <a:spcPts val="0"/>
              </a:spcBef>
              <a:spcAft>
                <a:spcPts val="0"/>
              </a:spcAft>
              <a:defRPr sz="2800" b="1" i="0">
                <a:solidFill>
                  <a:srgbClr val="FFFFFF"/>
                </a:solidFill>
                <a:latin typeface="Calibri"/>
              </a:defRPr>
            </a:pPr>
            <a:r>
              <a:t>Learning Objectives</a:t>
            </a:r>
          </a:p>
        </p:txBody>
      </p:sp>
      <p:sp>
        <p:nvSpPr>
          <p:cNvPr id="5" name="Oval 4"/>
          <p:cNvSpPr/>
          <p:nvPr/>
        </p:nvSpPr>
        <p:spPr>
          <a:xfrm>
            <a:off x="731520" y="1371600"/>
            <a:ext cx="411480" cy="411480"/>
          </a:xfrm>
          <a:prstGeom prst="ellipse">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1</a:t>
            </a:r>
          </a:p>
        </p:txBody>
      </p:sp>
      <p:sp>
        <p:nvSpPr>
          <p:cNvPr id="6" name="TextBox 5"/>
          <p:cNvSpPr txBox="1"/>
          <p:nvPr/>
        </p:nvSpPr>
        <p:spPr>
          <a:xfrm>
            <a:off x="1371600" y="1353312"/>
            <a:ext cx="9601200" cy="548640"/>
          </a:xfrm>
          <a:prstGeom prst="rect">
            <a:avLst/>
          </a:prstGeom>
          <a:noFill/>
        </p:spPr>
        <p:txBody>
          <a:bodyPr wrap="square">
            <a:spAutoFit/>
          </a:bodyPr>
          <a:lstStyle/>
          <a:p>
            <a:pPr>
              <a:defRPr sz="1600">
                <a:solidFill>
                  <a:srgbClr val="3D4455"/>
                </a:solidFill>
                <a:latin typeface="Calibri"/>
              </a:defRPr>
            </a:pPr>
            <a:r>
              <a:t>Accurately assess dehydration severity using validated clinical scales</a:t>
            </a:r>
          </a:p>
        </p:txBody>
      </p:sp>
      <p:sp>
        <p:nvSpPr>
          <p:cNvPr id="7" name="Oval 6"/>
          <p:cNvSpPr/>
          <p:nvPr/>
        </p:nvSpPr>
        <p:spPr>
          <a:xfrm>
            <a:off x="731520" y="2148840"/>
            <a:ext cx="411480" cy="411480"/>
          </a:xfrm>
          <a:prstGeom prst="ellipse">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2</a:t>
            </a:r>
          </a:p>
        </p:txBody>
      </p:sp>
      <p:sp>
        <p:nvSpPr>
          <p:cNvPr id="8" name="TextBox 7"/>
          <p:cNvSpPr txBox="1"/>
          <p:nvPr/>
        </p:nvSpPr>
        <p:spPr>
          <a:xfrm>
            <a:off x="1371600" y="2130552"/>
            <a:ext cx="9601200" cy="548640"/>
          </a:xfrm>
          <a:prstGeom prst="rect">
            <a:avLst/>
          </a:prstGeom>
          <a:noFill/>
        </p:spPr>
        <p:txBody>
          <a:bodyPr wrap="square">
            <a:spAutoFit/>
          </a:bodyPr>
          <a:lstStyle/>
          <a:p>
            <a:pPr>
              <a:defRPr sz="1600">
                <a:solidFill>
                  <a:srgbClr val="3D4455"/>
                </a:solidFill>
                <a:latin typeface="Calibri"/>
              </a:defRPr>
            </a:pPr>
            <a:r>
              <a:t>Prioritize oral rehydration therapy (ORT) as first-line — including when it seems hard</a:t>
            </a:r>
          </a:p>
        </p:txBody>
      </p:sp>
      <p:sp>
        <p:nvSpPr>
          <p:cNvPr id="9" name="Oval 8"/>
          <p:cNvSpPr/>
          <p:nvPr/>
        </p:nvSpPr>
        <p:spPr>
          <a:xfrm>
            <a:off x="731520" y="2926080"/>
            <a:ext cx="411480" cy="411480"/>
          </a:xfrm>
          <a:prstGeom prst="ellipse">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3</a:t>
            </a:r>
          </a:p>
        </p:txBody>
      </p:sp>
      <p:sp>
        <p:nvSpPr>
          <p:cNvPr id="10" name="TextBox 9"/>
          <p:cNvSpPr txBox="1"/>
          <p:nvPr/>
        </p:nvSpPr>
        <p:spPr>
          <a:xfrm>
            <a:off x="1371600" y="2907792"/>
            <a:ext cx="9601200" cy="548640"/>
          </a:xfrm>
          <a:prstGeom prst="rect">
            <a:avLst/>
          </a:prstGeom>
          <a:noFill/>
        </p:spPr>
        <p:txBody>
          <a:bodyPr wrap="square">
            <a:spAutoFit/>
          </a:bodyPr>
          <a:lstStyle/>
          <a:p>
            <a:pPr>
              <a:defRPr sz="1600">
                <a:solidFill>
                  <a:srgbClr val="3D4455"/>
                </a:solidFill>
                <a:latin typeface="Calibri"/>
              </a:defRPr>
            </a:pPr>
            <a:r>
              <a:t>Calculate fluid deficits and maintenance requirements for IV rehydration</a:t>
            </a:r>
          </a:p>
        </p:txBody>
      </p:sp>
      <p:sp>
        <p:nvSpPr>
          <p:cNvPr id="11" name="Oval 10"/>
          <p:cNvSpPr/>
          <p:nvPr/>
        </p:nvSpPr>
        <p:spPr>
          <a:xfrm>
            <a:off x="731520" y="3703320"/>
            <a:ext cx="411480" cy="411480"/>
          </a:xfrm>
          <a:prstGeom prst="ellipse">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4</a:t>
            </a:r>
          </a:p>
        </p:txBody>
      </p:sp>
      <p:sp>
        <p:nvSpPr>
          <p:cNvPr id="12" name="TextBox 11"/>
          <p:cNvSpPr txBox="1"/>
          <p:nvPr/>
        </p:nvSpPr>
        <p:spPr>
          <a:xfrm>
            <a:off x="1371600" y="3685032"/>
            <a:ext cx="9601200" cy="548640"/>
          </a:xfrm>
          <a:prstGeom prst="rect">
            <a:avLst/>
          </a:prstGeom>
          <a:noFill/>
        </p:spPr>
        <p:txBody>
          <a:bodyPr wrap="square">
            <a:spAutoFit/>
          </a:bodyPr>
          <a:lstStyle/>
          <a:p>
            <a:pPr>
              <a:defRPr sz="1600">
                <a:solidFill>
                  <a:srgbClr val="3D4455"/>
                </a:solidFill>
                <a:latin typeface="Calibri"/>
              </a:defRPr>
            </a:pPr>
            <a:r>
              <a:t>Select appropriate IV fluids using current evidence (isotonic preferred)</a:t>
            </a:r>
          </a:p>
        </p:txBody>
      </p:sp>
      <p:sp>
        <p:nvSpPr>
          <p:cNvPr id="13" name="Oval 12"/>
          <p:cNvSpPr/>
          <p:nvPr/>
        </p:nvSpPr>
        <p:spPr>
          <a:xfrm>
            <a:off x="731520" y="4480560"/>
            <a:ext cx="411480" cy="411480"/>
          </a:xfrm>
          <a:prstGeom prst="ellipse">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5</a:t>
            </a:r>
          </a:p>
        </p:txBody>
      </p:sp>
      <p:sp>
        <p:nvSpPr>
          <p:cNvPr id="14" name="TextBox 13"/>
          <p:cNvSpPr txBox="1"/>
          <p:nvPr/>
        </p:nvSpPr>
        <p:spPr>
          <a:xfrm>
            <a:off x="1371600" y="4462272"/>
            <a:ext cx="9601200" cy="548640"/>
          </a:xfrm>
          <a:prstGeom prst="rect">
            <a:avLst/>
          </a:prstGeom>
          <a:noFill/>
        </p:spPr>
        <p:txBody>
          <a:bodyPr wrap="square">
            <a:spAutoFit/>
          </a:bodyPr>
          <a:lstStyle/>
          <a:p>
            <a:pPr>
              <a:defRPr sz="1600">
                <a:solidFill>
                  <a:srgbClr val="3D4455"/>
                </a:solidFill>
                <a:latin typeface="Calibri"/>
              </a:defRPr>
            </a:pPr>
            <a:r>
              <a:t>Identify children who need IV fluids, admission, or further workup vs. safe discharge</a:t>
            </a:r>
          </a:p>
        </p:txBody>
      </p:sp>
      <p:sp>
        <p:nvSpPr>
          <p:cNvPr id="15" name="Rectangle 14"/>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Dehydration &amp; Rehydration</a:t>
            </a:r>
          </a:p>
        </p:txBody>
      </p:sp>
      <p:sp>
        <p:nvSpPr>
          <p:cNvPr id="17" name="TextBox 16"/>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005840"/>
            <a:ext cx="2286000" cy="45720"/>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Dehydration in PEM: The Most Common Fluid Problem</a:t>
            </a:r>
          </a:p>
        </p:txBody>
      </p:sp>
      <p:sp>
        <p:nvSpPr>
          <p:cNvPr id="6" name="TextBox 5"/>
          <p:cNvSpPr txBox="1"/>
          <p:nvPr/>
        </p:nvSpPr>
        <p:spPr>
          <a:xfrm>
            <a:off x="731520" y="1371600"/>
            <a:ext cx="10515600" cy="4754880"/>
          </a:xfrm>
          <a:prstGeom prst="rect">
            <a:avLst/>
          </a:prstGeom>
          <a:noFill/>
        </p:spPr>
        <p:txBody>
          <a:bodyPr wrap="square">
            <a:spAutoFit/>
          </a:bodyPr>
          <a:lstStyle/>
          <a:p>
            <a:pPr>
              <a:spcBef>
                <a:spcPts val="400"/>
              </a:spcBef>
              <a:spcAft>
                <a:spcPts val="600"/>
              </a:spcAft>
              <a:defRPr sz="1600">
                <a:solidFill>
                  <a:srgbClr val="3D4455"/>
                </a:solidFill>
                <a:latin typeface="Calibri"/>
              </a:defRPr>
            </a:pPr>
            <a:r>
              <a:t>Dehydration from acute gastroenteritis is one of the top 5 reasons for pediatric ED visits</a:t>
            </a:r>
          </a:p>
          <a:p>
            <a:pPr>
              <a:spcBef>
                <a:spcPts val="400"/>
              </a:spcBef>
              <a:spcAft>
                <a:spcPts val="600"/>
              </a:spcAft>
              <a:defRPr sz="1600">
                <a:solidFill>
                  <a:srgbClr val="3D4455"/>
                </a:solidFill>
                <a:latin typeface="Calibri"/>
              </a:defRPr>
            </a:pPr>
            <a:r>
              <a:t>Most dehydration is MILD and can be managed with oral rehydration therapy (ORT)</a:t>
            </a:r>
          </a:p>
          <a:p>
            <a:pPr>
              <a:spcBef>
                <a:spcPts val="400"/>
              </a:spcBef>
              <a:spcAft>
                <a:spcPts val="600"/>
              </a:spcAft>
              <a:defRPr sz="1600">
                <a:solidFill>
                  <a:srgbClr val="3D4455"/>
                </a:solidFill>
                <a:latin typeface="Calibri"/>
              </a:defRPr>
            </a:pPr>
            <a:r>
              <a:t>ORT is underused in ED settings — evidence strongly supports ORT over IV fluids for mild-moderate dehydration</a:t>
            </a:r>
          </a:p>
          <a:p>
            <a:pPr>
              <a:spcBef>
                <a:spcPts val="400"/>
              </a:spcBef>
              <a:spcAft>
                <a:spcPts val="600"/>
              </a:spcAft>
              <a:defRPr sz="1600">
                <a:solidFill>
                  <a:srgbClr val="3D4455"/>
                </a:solidFill>
                <a:latin typeface="Calibri"/>
              </a:defRPr>
            </a:pPr>
            <a:r>
              <a:t>The WHO estimates ORT has saved &gt;50 million lives worldwide since the 1970s</a:t>
            </a:r>
          </a:p>
          <a:p>
            <a:pPr>
              <a:spcBef>
                <a:spcPts val="400"/>
              </a:spcBef>
              <a:spcAft>
                <a:spcPts val="600"/>
              </a:spcAft>
              <a:defRPr sz="1600">
                <a:solidFill>
                  <a:srgbClr val="3D4455"/>
                </a:solidFill>
                <a:latin typeface="Calibri"/>
              </a:defRPr>
            </a:pPr>
            <a:r>
              <a:t>IV fluids are reserved for severe dehydration, failed ORT, or inability to tolerate PO</a:t>
            </a:r>
          </a:p>
          <a:p>
            <a:pPr lvl="1">
              <a:spcBef>
                <a:spcPts val="400"/>
              </a:spcBef>
              <a:spcAft>
                <a:spcPts val="600"/>
              </a:spcAft>
              <a:defRPr sz="1400">
                <a:solidFill>
                  <a:srgbClr val="8A92A3"/>
                </a:solidFill>
                <a:latin typeface="Calibri"/>
              </a:defRPr>
            </a:pPr>
            <a:r>
              <a:t>The best IV is the one you never need to place. Start ORT early.</a:t>
            </a:r>
          </a:p>
        </p:txBody>
      </p:sp>
      <p:sp>
        <p:nvSpPr>
          <p:cNvPr id="7" name="Rectangle 6"/>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Dehydration &amp; Rehydration</a:t>
            </a:r>
          </a:p>
        </p:txBody>
      </p:sp>
      <p:sp>
        <p:nvSpPr>
          <p:cNvPr id="9" name="TextBox 8"/>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Clinical Dehydration Assessment</a:t>
            </a:r>
          </a:p>
        </p:txBody>
      </p:sp>
      <p:graphicFrame>
        <p:nvGraphicFramePr>
          <p:cNvPr id="5" name="Table 4"/>
          <p:cNvGraphicFramePr>
            <a:graphicFrameLocks noGrp="1"/>
          </p:cNvGraphicFramePr>
          <p:nvPr/>
        </p:nvGraphicFramePr>
        <p:xfrm>
          <a:off x="822960" y="1280160"/>
          <a:ext cx="10515600" cy="4572000"/>
        </p:xfrm>
        <a:graphic>
          <a:graphicData uri="http://schemas.openxmlformats.org/drawingml/2006/table">
            <a:tbl>
              <a:tblPr firstRow="1" bandRow="1">
                <a:tableStyleId>{5C22544A-7EE6-4342-B048-85BDC9FD1C3A}</a:tableStyleId>
              </a:tblPr>
              <a:tblGrid>
                <a:gridCol w="2628900"/>
                <a:gridCol w="2628900"/>
                <a:gridCol w="2628900"/>
                <a:gridCol w="2628900"/>
              </a:tblGrid>
              <a:tr h="457200">
                <a:tc>
                  <a:txBody>
                    <a:bodyPr/>
                    <a:lstStyle/>
                    <a:p>
                      <a:pPr algn="ctr">
                        <a:defRPr sz="1300" b="1">
                          <a:solidFill>
                            <a:srgbClr val="FFFFFF"/>
                          </a:solidFill>
                          <a:latin typeface="Calibri"/>
                        </a:defRPr>
                      </a:pPr>
                      <a:r>
                        <a:t>Finding</a:t>
                      </a:r>
                    </a:p>
                  </a:txBody>
                  <a:tcPr>
                    <a:solidFill>
                      <a:srgbClr val="007B83"/>
                    </a:solidFill>
                  </a:tcPr>
                </a:tc>
                <a:tc>
                  <a:txBody>
                    <a:bodyPr/>
                    <a:lstStyle/>
                    <a:p>
                      <a:pPr algn="ctr">
                        <a:defRPr sz="1300" b="1">
                          <a:solidFill>
                            <a:srgbClr val="FFFFFF"/>
                          </a:solidFill>
                          <a:latin typeface="Calibri"/>
                        </a:defRPr>
                      </a:pPr>
                      <a:r>
                        <a:t>Mild (3-5%)</a:t>
                      </a:r>
                    </a:p>
                  </a:txBody>
                  <a:tcPr>
                    <a:solidFill>
                      <a:srgbClr val="007B83"/>
                    </a:solidFill>
                  </a:tcPr>
                </a:tc>
                <a:tc>
                  <a:txBody>
                    <a:bodyPr/>
                    <a:lstStyle/>
                    <a:p>
                      <a:pPr algn="ctr">
                        <a:defRPr sz="1300" b="1">
                          <a:solidFill>
                            <a:srgbClr val="FFFFFF"/>
                          </a:solidFill>
                          <a:latin typeface="Calibri"/>
                        </a:defRPr>
                      </a:pPr>
                      <a:r>
                        <a:t>Moderate (6-9%)</a:t>
                      </a:r>
                    </a:p>
                  </a:txBody>
                  <a:tcPr>
                    <a:solidFill>
                      <a:srgbClr val="007B83"/>
                    </a:solidFill>
                  </a:tcPr>
                </a:tc>
                <a:tc>
                  <a:txBody>
                    <a:bodyPr/>
                    <a:lstStyle/>
                    <a:p>
                      <a:pPr algn="ctr">
                        <a:defRPr sz="1300" b="1">
                          <a:solidFill>
                            <a:srgbClr val="FFFFFF"/>
                          </a:solidFill>
                          <a:latin typeface="Calibri"/>
                        </a:defRPr>
                      </a:pPr>
                      <a:r>
                        <a:t>Severe (≥10%)</a:t>
                      </a:r>
                    </a:p>
                  </a:txBody>
                  <a:tcPr>
                    <a:solidFill>
                      <a:srgbClr val="007B83"/>
                    </a:solidFill>
                  </a:tcPr>
                </a:tc>
              </a:tr>
              <a:tr h="457200">
                <a:tc>
                  <a:txBody>
                    <a:bodyPr/>
                    <a:lstStyle/>
                    <a:p>
                      <a:pPr algn="l">
                        <a:defRPr sz="1200">
                          <a:solidFill>
                            <a:srgbClr val="3D4455"/>
                          </a:solidFill>
                          <a:latin typeface="Calibri"/>
                        </a:defRPr>
                      </a:pPr>
                      <a:r>
                        <a:t>General appearance</a:t>
                      </a:r>
                    </a:p>
                  </a:txBody>
                  <a:tcPr>
                    <a:solidFill>
                      <a:srgbClr val="F5F6FA"/>
                    </a:solidFill>
                  </a:tcPr>
                </a:tc>
                <a:tc>
                  <a:txBody>
                    <a:bodyPr/>
                    <a:lstStyle/>
                    <a:p>
                      <a:pPr algn="l">
                        <a:defRPr sz="1200">
                          <a:solidFill>
                            <a:srgbClr val="3D4455"/>
                          </a:solidFill>
                          <a:latin typeface="Calibri"/>
                        </a:defRPr>
                      </a:pPr>
                      <a:r>
                        <a:t>Normal, thirsty</a:t>
                      </a:r>
                    </a:p>
                  </a:txBody>
                  <a:tcPr>
                    <a:solidFill>
                      <a:srgbClr val="F5F6FA"/>
                    </a:solidFill>
                  </a:tcPr>
                </a:tc>
                <a:tc>
                  <a:txBody>
                    <a:bodyPr/>
                    <a:lstStyle/>
                    <a:p>
                      <a:pPr algn="l">
                        <a:defRPr sz="1200">
                          <a:solidFill>
                            <a:srgbClr val="3D4455"/>
                          </a:solidFill>
                          <a:latin typeface="Calibri"/>
                        </a:defRPr>
                      </a:pPr>
                      <a:r>
                        <a:t>Restless, irritable</a:t>
                      </a:r>
                    </a:p>
                  </a:txBody>
                  <a:tcPr>
                    <a:solidFill>
                      <a:srgbClr val="F5F6FA"/>
                    </a:solidFill>
                  </a:tcPr>
                </a:tc>
                <a:tc>
                  <a:txBody>
                    <a:bodyPr/>
                    <a:lstStyle/>
                    <a:p>
                      <a:pPr algn="l">
                        <a:defRPr sz="1200">
                          <a:solidFill>
                            <a:srgbClr val="3D4455"/>
                          </a:solidFill>
                          <a:latin typeface="Calibri"/>
                        </a:defRPr>
                      </a:pPr>
                      <a:r>
                        <a:t>Lethargic, limp</a:t>
                      </a:r>
                    </a:p>
                  </a:txBody>
                  <a:tcPr>
                    <a:solidFill>
                      <a:srgbClr val="F5F6FA"/>
                    </a:solidFill>
                  </a:tcPr>
                </a:tc>
              </a:tr>
              <a:tr h="457200">
                <a:tc>
                  <a:txBody>
                    <a:bodyPr/>
                    <a:lstStyle/>
                    <a:p>
                      <a:pPr algn="l">
                        <a:defRPr sz="1200">
                          <a:solidFill>
                            <a:srgbClr val="3D4455"/>
                          </a:solidFill>
                          <a:latin typeface="Calibri"/>
                        </a:defRPr>
                      </a:pPr>
                      <a:r>
                        <a:t>Eyes</a:t>
                      </a:r>
                    </a:p>
                  </a:txBody>
                  <a:tcPr>
                    <a:solidFill>
                      <a:srgbClr val="FFFFFF"/>
                    </a:solidFill>
                  </a:tcPr>
                </a:tc>
                <a:tc>
                  <a:txBody>
                    <a:bodyPr/>
                    <a:lstStyle/>
                    <a:p>
                      <a:pPr algn="l">
                        <a:defRPr sz="1200">
                          <a:solidFill>
                            <a:srgbClr val="3D4455"/>
                          </a:solidFill>
                          <a:latin typeface="Calibri"/>
                        </a:defRPr>
                      </a:pPr>
                      <a:r>
                        <a:t>Normal</a:t>
                      </a:r>
                    </a:p>
                  </a:txBody>
                  <a:tcPr>
                    <a:solidFill>
                      <a:srgbClr val="FFFFFF"/>
                    </a:solidFill>
                  </a:tcPr>
                </a:tc>
                <a:tc>
                  <a:txBody>
                    <a:bodyPr/>
                    <a:lstStyle/>
                    <a:p>
                      <a:pPr algn="l">
                        <a:defRPr sz="1200">
                          <a:solidFill>
                            <a:srgbClr val="3D4455"/>
                          </a:solidFill>
                          <a:latin typeface="Calibri"/>
                        </a:defRPr>
                      </a:pPr>
                      <a:r>
                        <a:t>Slightly sunken</a:t>
                      </a:r>
                    </a:p>
                  </a:txBody>
                  <a:tcPr>
                    <a:solidFill>
                      <a:srgbClr val="FFFFFF"/>
                    </a:solidFill>
                  </a:tcPr>
                </a:tc>
                <a:tc>
                  <a:txBody>
                    <a:bodyPr/>
                    <a:lstStyle/>
                    <a:p>
                      <a:pPr algn="l">
                        <a:defRPr sz="1200">
                          <a:solidFill>
                            <a:srgbClr val="3D4455"/>
                          </a:solidFill>
                          <a:latin typeface="Calibri"/>
                        </a:defRPr>
                      </a:pPr>
                      <a:r>
                        <a:t>Deeply sunken</a:t>
                      </a:r>
                    </a:p>
                  </a:txBody>
                  <a:tcPr>
                    <a:solidFill>
                      <a:srgbClr val="FFFFFF"/>
                    </a:solidFill>
                  </a:tcPr>
                </a:tc>
              </a:tr>
              <a:tr h="457200">
                <a:tc>
                  <a:txBody>
                    <a:bodyPr/>
                    <a:lstStyle/>
                    <a:p>
                      <a:pPr algn="l">
                        <a:defRPr sz="1200">
                          <a:solidFill>
                            <a:srgbClr val="3D4455"/>
                          </a:solidFill>
                          <a:latin typeface="Calibri"/>
                        </a:defRPr>
                      </a:pPr>
                      <a:r>
                        <a:t>Tears</a:t>
                      </a:r>
                    </a:p>
                  </a:txBody>
                  <a:tcPr>
                    <a:solidFill>
                      <a:srgbClr val="F5F6FA"/>
                    </a:solidFill>
                  </a:tcPr>
                </a:tc>
                <a:tc>
                  <a:txBody>
                    <a:bodyPr/>
                    <a:lstStyle/>
                    <a:p>
                      <a:pPr algn="l">
                        <a:defRPr sz="1200">
                          <a:solidFill>
                            <a:srgbClr val="3D4455"/>
                          </a:solidFill>
                          <a:latin typeface="Calibri"/>
                        </a:defRPr>
                      </a:pPr>
                      <a:r>
                        <a:t>Present</a:t>
                      </a:r>
                    </a:p>
                  </a:txBody>
                  <a:tcPr>
                    <a:solidFill>
                      <a:srgbClr val="F5F6FA"/>
                    </a:solidFill>
                  </a:tcPr>
                </a:tc>
                <a:tc>
                  <a:txBody>
                    <a:bodyPr/>
                    <a:lstStyle/>
                    <a:p>
                      <a:pPr algn="l">
                        <a:defRPr sz="1200">
                          <a:solidFill>
                            <a:srgbClr val="3D4455"/>
                          </a:solidFill>
                          <a:latin typeface="Calibri"/>
                        </a:defRPr>
                      </a:pPr>
                      <a:r>
                        <a:t>Decreased</a:t>
                      </a:r>
                    </a:p>
                  </a:txBody>
                  <a:tcPr>
                    <a:solidFill>
                      <a:srgbClr val="F5F6FA"/>
                    </a:solidFill>
                  </a:tcPr>
                </a:tc>
                <a:tc>
                  <a:txBody>
                    <a:bodyPr/>
                    <a:lstStyle/>
                    <a:p>
                      <a:pPr algn="l">
                        <a:defRPr sz="1200">
                          <a:solidFill>
                            <a:srgbClr val="3D4455"/>
                          </a:solidFill>
                          <a:latin typeface="Calibri"/>
                        </a:defRPr>
                      </a:pPr>
                      <a:r>
                        <a:t>Absent</a:t>
                      </a:r>
                    </a:p>
                  </a:txBody>
                  <a:tcPr>
                    <a:solidFill>
                      <a:srgbClr val="F5F6FA"/>
                    </a:solidFill>
                  </a:tcPr>
                </a:tc>
              </a:tr>
              <a:tr h="457200">
                <a:tc>
                  <a:txBody>
                    <a:bodyPr/>
                    <a:lstStyle/>
                    <a:p>
                      <a:pPr algn="l">
                        <a:defRPr sz="1200">
                          <a:solidFill>
                            <a:srgbClr val="3D4455"/>
                          </a:solidFill>
                          <a:latin typeface="Calibri"/>
                        </a:defRPr>
                      </a:pPr>
                      <a:r>
                        <a:t>Mucous membranes</a:t>
                      </a:r>
                    </a:p>
                  </a:txBody>
                  <a:tcPr>
                    <a:solidFill>
                      <a:srgbClr val="FFFFFF"/>
                    </a:solidFill>
                  </a:tcPr>
                </a:tc>
                <a:tc>
                  <a:txBody>
                    <a:bodyPr/>
                    <a:lstStyle/>
                    <a:p>
                      <a:pPr algn="l">
                        <a:defRPr sz="1200">
                          <a:solidFill>
                            <a:srgbClr val="3D4455"/>
                          </a:solidFill>
                          <a:latin typeface="Calibri"/>
                        </a:defRPr>
                      </a:pPr>
                      <a:r>
                        <a:t>Moist</a:t>
                      </a:r>
                    </a:p>
                  </a:txBody>
                  <a:tcPr>
                    <a:solidFill>
                      <a:srgbClr val="FFFFFF"/>
                    </a:solidFill>
                  </a:tcPr>
                </a:tc>
                <a:tc>
                  <a:txBody>
                    <a:bodyPr/>
                    <a:lstStyle/>
                    <a:p>
                      <a:pPr algn="l">
                        <a:defRPr sz="1200">
                          <a:solidFill>
                            <a:srgbClr val="3D4455"/>
                          </a:solidFill>
                          <a:latin typeface="Calibri"/>
                        </a:defRPr>
                      </a:pPr>
                      <a:r>
                        <a:t>Sticky/dry</a:t>
                      </a:r>
                    </a:p>
                  </a:txBody>
                  <a:tcPr>
                    <a:solidFill>
                      <a:srgbClr val="FFFFFF"/>
                    </a:solidFill>
                  </a:tcPr>
                </a:tc>
                <a:tc>
                  <a:txBody>
                    <a:bodyPr/>
                    <a:lstStyle/>
                    <a:p>
                      <a:pPr algn="l">
                        <a:defRPr sz="1200">
                          <a:solidFill>
                            <a:srgbClr val="3D4455"/>
                          </a:solidFill>
                          <a:latin typeface="Calibri"/>
                        </a:defRPr>
                      </a:pPr>
                      <a:r>
                        <a:t>Parched</a:t>
                      </a:r>
                    </a:p>
                  </a:txBody>
                  <a:tcPr>
                    <a:solidFill>
                      <a:srgbClr val="FFFFFF"/>
                    </a:solidFill>
                  </a:tcPr>
                </a:tc>
              </a:tr>
              <a:tr h="457200">
                <a:tc>
                  <a:txBody>
                    <a:bodyPr/>
                    <a:lstStyle/>
                    <a:p>
                      <a:pPr algn="l">
                        <a:defRPr sz="1200">
                          <a:solidFill>
                            <a:srgbClr val="3D4455"/>
                          </a:solidFill>
                          <a:latin typeface="Calibri"/>
                        </a:defRPr>
                      </a:pPr>
                      <a:r>
                        <a:t>Skin turgor</a:t>
                      </a:r>
                    </a:p>
                  </a:txBody>
                  <a:tcPr>
                    <a:solidFill>
                      <a:srgbClr val="F5F6FA"/>
                    </a:solidFill>
                  </a:tcPr>
                </a:tc>
                <a:tc>
                  <a:txBody>
                    <a:bodyPr/>
                    <a:lstStyle/>
                    <a:p>
                      <a:pPr algn="l">
                        <a:defRPr sz="1200">
                          <a:solidFill>
                            <a:srgbClr val="3D4455"/>
                          </a:solidFill>
                          <a:latin typeface="Calibri"/>
                        </a:defRPr>
                      </a:pPr>
                      <a:r>
                        <a:t>Normal</a:t>
                      </a:r>
                    </a:p>
                  </a:txBody>
                  <a:tcPr>
                    <a:solidFill>
                      <a:srgbClr val="F5F6FA"/>
                    </a:solidFill>
                  </a:tcPr>
                </a:tc>
                <a:tc>
                  <a:txBody>
                    <a:bodyPr/>
                    <a:lstStyle/>
                    <a:p>
                      <a:pPr algn="l">
                        <a:defRPr sz="1200">
                          <a:solidFill>
                            <a:srgbClr val="3D4455"/>
                          </a:solidFill>
                          <a:latin typeface="Calibri"/>
                        </a:defRPr>
                      </a:pPr>
                      <a:r>
                        <a:t>Decreased (tenting)</a:t>
                      </a:r>
                    </a:p>
                  </a:txBody>
                  <a:tcPr>
                    <a:solidFill>
                      <a:srgbClr val="F5F6FA"/>
                    </a:solidFill>
                  </a:tcPr>
                </a:tc>
                <a:tc>
                  <a:txBody>
                    <a:bodyPr/>
                    <a:lstStyle/>
                    <a:p>
                      <a:pPr algn="l">
                        <a:defRPr sz="1200">
                          <a:solidFill>
                            <a:srgbClr val="3D4455"/>
                          </a:solidFill>
                          <a:latin typeface="Calibri"/>
                        </a:defRPr>
                      </a:pPr>
                      <a:r>
                        <a:t>Markedly decreased</a:t>
                      </a:r>
                    </a:p>
                  </a:txBody>
                  <a:tcPr>
                    <a:solidFill>
                      <a:srgbClr val="F5F6FA"/>
                    </a:solidFill>
                  </a:tcPr>
                </a:tc>
              </a:tr>
              <a:tr h="457200">
                <a:tc>
                  <a:txBody>
                    <a:bodyPr/>
                    <a:lstStyle/>
                    <a:p>
                      <a:pPr algn="l">
                        <a:defRPr sz="1200">
                          <a:solidFill>
                            <a:srgbClr val="3D4455"/>
                          </a:solidFill>
                          <a:latin typeface="Calibri"/>
                        </a:defRPr>
                      </a:pPr>
                      <a:r>
                        <a:t>Capillary refill</a:t>
                      </a:r>
                    </a:p>
                  </a:txBody>
                  <a:tcPr>
                    <a:solidFill>
                      <a:srgbClr val="FFFFFF"/>
                    </a:solidFill>
                  </a:tcPr>
                </a:tc>
                <a:tc>
                  <a:txBody>
                    <a:bodyPr/>
                    <a:lstStyle/>
                    <a:p>
                      <a:pPr algn="l">
                        <a:defRPr sz="1200">
                          <a:solidFill>
                            <a:srgbClr val="3D4455"/>
                          </a:solidFill>
                          <a:latin typeface="Calibri"/>
                        </a:defRPr>
                      </a:pPr>
                      <a:r>
                        <a:t>&lt;2 seconds</a:t>
                      </a:r>
                    </a:p>
                  </a:txBody>
                  <a:tcPr>
                    <a:solidFill>
                      <a:srgbClr val="FFFFFF"/>
                    </a:solidFill>
                  </a:tcPr>
                </a:tc>
                <a:tc>
                  <a:txBody>
                    <a:bodyPr/>
                    <a:lstStyle/>
                    <a:p>
                      <a:pPr algn="l">
                        <a:defRPr sz="1200">
                          <a:solidFill>
                            <a:srgbClr val="3D4455"/>
                          </a:solidFill>
                          <a:latin typeface="Calibri"/>
                        </a:defRPr>
                      </a:pPr>
                      <a:r>
                        <a:t>2-3 seconds</a:t>
                      </a:r>
                    </a:p>
                  </a:txBody>
                  <a:tcPr>
                    <a:solidFill>
                      <a:srgbClr val="FFFFFF"/>
                    </a:solidFill>
                  </a:tcPr>
                </a:tc>
                <a:tc>
                  <a:txBody>
                    <a:bodyPr/>
                    <a:lstStyle/>
                    <a:p>
                      <a:pPr algn="l">
                        <a:defRPr sz="1200">
                          <a:solidFill>
                            <a:srgbClr val="3D4455"/>
                          </a:solidFill>
                          <a:latin typeface="Calibri"/>
                        </a:defRPr>
                      </a:pPr>
                      <a:r>
                        <a:t>&gt;3 seconds</a:t>
                      </a:r>
                    </a:p>
                  </a:txBody>
                  <a:tcPr>
                    <a:solidFill>
                      <a:srgbClr val="FFFFFF"/>
                    </a:solidFill>
                  </a:tcPr>
                </a:tc>
              </a:tr>
              <a:tr h="457200">
                <a:tc>
                  <a:txBody>
                    <a:bodyPr/>
                    <a:lstStyle/>
                    <a:p>
                      <a:pPr algn="l">
                        <a:defRPr sz="1200">
                          <a:solidFill>
                            <a:srgbClr val="3D4455"/>
                          </a:solidFill>
                          <a:latin typeface="Calibri"/>
                        </a:defRPr>
                      </a:pPr>
                      <a:r>
                        <a:t>Heart rate</a:t>
                      </a:r>
                    </a:p>
                  </a:txBody>
                  <a:tcPr>
                    <a:solidFill>
                      <a:srgbClr val="F5F6FA"/>
                    </a:solidFill>
                  </a:tcPr>
                </a:tc>
                <a:tc>
                  <a:txBody>
                    <a:bodyPr/>
                    <a:lstStyle/>
                    <a:p>
                      <a:pPr algn="l">
                        <a:defRPr sz="1200">
                          <a:solidFill>
                            <a:srgbClr val="3D4455"/>
                          </a:solidFill>
                          <a:latin typeface="Calibri"/>
                        </a:defRPr>
                      </a:pPr>
                      <a:r>
                        <a:t>Normal</a:t>
                      </a:r>
                    </a:p>
                  </a:txBody>
                  <a:tcPr>
                    <a:solidFill>
                      <a:srgbClr val="F5F6FA"/>
                    </a:solidFill>
                  </a:tcPr>
                </a:tc>
                <a:tc>
                  <a:txBody>
                    <a:bodyPr/>
                    <a:lstStyle/>
                    <a:p>
                      <a:pPr algn="l">
                        <a:defRPr sz="1200">
                          <a:solidFill>
                            <a:srgbClr val="3D4455"/>
                          </a:solidFill>
                          <a:latin typeface="Calibri"/>
                        </a:defRPr>
                      </a:pPr>
                      <a:r>
                        <a:t>Increased</a:t>
                      </a:r>
                    </a:p>
                  </a:txBody>
                  <a:tcPr>
                    <a:solidFill>
                      <a:srgbClr val="F5F6FA"/>
                    </a:solidFill>
                  </a:tcPr>
                </a:tc>
                <a:tc>
                  <a:txBody>
                    <a:bodyPr/>
                    <a:lstStyle/>
                    <a:p>
                      <a:pPr algn="l">
                        <a:defRPr sz="1200">
                          <a:solidFill>
                            <a:srgbClr val="3D4455"/>
                          </a:solidFill>
                          <a:latin typeface="Calibri"/>
                        </a:defRPr>
                      </a:pPr>
                      <a:r>
                        <a:t>Increased (or bradycardic if severe)</a:t>
                      </a:r>
                    </a:p>
                  </a:txBody>
                  <a:tcPr>
                    <a:solidFill>
                      <a:srgbClr val="F5F6FA"/>
                    </a:solidFill>
                  </a:tcPr>
                </a:tc>
              </a:tr>
              <a:tr h="457200">
                <a:tc>
                  <a:txBody>
                    <a:bodyPr/>
                    <a:lstStyle/>
                    <a:p>
                      <a:pPr algn="l">
                        <a:defRPr sz="1200">
                          <a:solidFill>
                            <a:srgbClr val="3D4455"/>
                          </a:solidFill>
                          <a:latin typeface="Calibri"/>
                        </a:defRPr>
                      </a:pPr>
                      <a:r>
                        <a:t>Urine output</a:t>
                      </a:r>
                    </a:p>
                  </a:txBody>
                  <a:tcPr>
                    <a:solidFill>
                      <a:srgbClr val="FFFFFF"/>
                    </a:solidFill>
                  </a:tcPr>
                </a:tc>
                <a:tc>
                  <a:txBody>
                    <a:bodyPr/>
                    <a:lstStyle/>
                    <a:p>
                      <a:pPr algn="l">
                        <a:defRPr sz="1200">
                          <a:solidFill>
                            <a:srgbClr val="3D4455"/>
                          </a:solidFill>
                          <a:latin typeface="Calibri"/>
                        </a:defRPr>
                      </a:pPr>
                      <a:r>
                        <a:t>Normal/slightly decreased</a:t>
                      </a:r>
                    </a:p>
                  </a:txBody>
                  <a:tcPr>
                    <a:solidFill>
                      <a:srgbClr val="FFFFFF"/>
                    </a:solidFill>
                  </a:tcPr>
                </a:tc>
                <a:tc>
                  <a:txBody>
                    <a:bodyPr/>
                    <a:lstStyle/>
                    <a:p>
                      <a:pPr algn="l">
                        <a:defRPr sz="1200">
                          <a:solidFill>
                            <a:srgbClr val="3D4455"/>
                          </a:solidFill>
                          <a:latin typeface="Calibri"/>
                        </a:defRPr>
                      </a:pPr>
                      <a:r>
                        <a:t>Decreased (oliguria)</a:t>
                      </a:r>
                    </a:p>
                  </a:txBody>
                  <a:tcPr>
                    <a:solidFill>
                      <a:srgbClr val="FFFFFF"/>
                    </a:solidFill>
                  </a:tcPr>
                </a:tc>
                <a:tc>
                  <a:txBody>
                    <a:bodyPr/>
                    <a:lstStyle/>
                    <a:p>
                      <a:pPr algn="l">
                        <a:defRPr sz="1200">
                          <a:solidFill>
                            <a:srgbClr val="3D4455"/>
                          </a:solidFill>
                          <a:latin typeface="Calibri"/>
                        </a:defRPr>
                      </a:pPr>
                      <a:r>
                        <a:t>Minimal/anuria</a:t>
                      </a:r>
                    </a:p>
                  </a:txBody>
                  <a:tcPr>
                    <a:solidFill>
                      <a:srgbClr val="FFFFFF"/>
                    </a:solidFill>
                  </a:tcPr>
                </a:tc>
              </a:tr>
              <a:tr h="457200">
                <a:tc>
                  <a:txBody>
                    <a:bodyPr/>
                    <a:lstStyle/>
                    <a:p>
                      <a:pPr algn="l">
                        <a:defRPr sz="1200">
                          <a:solidFill>
                            <a:srgbClr val="3D4455"/>
                          </a:solidFill>
                          <a:latin typeface="Calibri"/>
                        </a:defRPr>
                      </a:pPr>
                      <a:r>
                        <a:t>Fontanelle (if open)</a:t>
                      </a:r>
                    </a:p>
                  </a:txBody>
                  <a:tcPr>
                    <a:solidFill>
                      <a:srgbClr val="F5F6FA"/>
                    </a:solidFill>
                  </a:tcPr>
                </a:tc>
                <a:tc>
                  <a:txBody>
                    <a:bodyPr/>
                    <a:lstStyle/>
                    <a:p>
                      <a:pPr algn="l">
                        <a:defRPr sz="1200">
                          <a:solidFill>
                            <a:srgbClr val="3D4455"/>
                          </a:solidFill>
                          <a:latin typeface="Calibri"/>
                        </a:defRPr>
                      </a:pPr>
                      <a:r>
                        <a:t>Normal</a:t>
                      </a:r>
                    </a:p>
                  </a:txBody>
                  <a:tcPr>
                    <a:solidFill>
                      <a:srgbClr val="F5F6FA"/>
                    </a:solidFill>
                  </a:tcPr>
                </a:tc>
                <a:tc>
                  <a:txBody>
                    <a:bodyPr/>
                    <a:lstStyle/>
                    <a:p>
                      <a:pPr algn="l">
                        <a:defRPr sz="1200">
                          <a:solidFill>
                            <a:srgbClr val="3D4455"/>
                          </a:solidFill>
                          <a:latin typeface="Calibri"/>
                        </a:defRPr>
                      </a:pPr>
                      <a:r>
                        <a:t>Sunken</a:t>
                      </a:r>
                    </a:p>
                  </a:txBody>
                  <a:tcPr>
                    <a:solidFill>
                      <a:srgbClr val="F5F6FA"/>
                    </a:solidFill>
                  </a:tcPr>
                </a:tc>
                <a:tc>
                  <a:txBody>
                    <a:bodyPr/>
                    <a:lstStyle/>
                    <a:p>
                      <a:pPr algn="l">
                        <a:defRPr sz="1200">
                          <a:solidFill>
                            <a:srgbClr val="3D4455"/>
                          </a:solidFill>
                          <a:latin typeface="Calibri"/>
                        </a:defRPr>
                      </a:pPr>
                      <a:r>
                        <a:t>Very sunken</a:t>
                      </a:r>
                    </a:p>
                  </a:txBody>
                  <a:tcPr>
                    <a:solidFill>
                      <a:srgbClr val="F5F6FA"/>
                    </a:solidFill>
                  </a:tcPr>
                </a:tc>
              </a:tr>
            </a:tbl>
          </a:graphicData>
        </a:graphic>
      </p:graphicFrame>
      <p:sp>
        <p:nvSpPr>
          <p:cNvPr id="6" name="Rectangle 5"/>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Dehydration &amp; Rehydration</a:t>
            </a:r>
          </a:p>
        </p:txBody>
      </p:sp>
      <p:sp>
        <p:nvSpPr>
          <p:cNvPr id="8" name="TextBox 7"/>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Rehydration Strategy by Severity</a:t>
            </a:r>
          </a:p>
        </p:txBody>
      </p:sp>
      <p:sp>
        <p:nvSpPr>
          <p:cNvPr id="5" name="Rounded Rectangle 4"/>
          <p:cNvSpPr/>
          <p:nvPr/>
        </p:nvSpPr>
        <p:spPr>
          <a:xfrm>
            <a:off x="457200" y="1371600"/>
            <a:ext cx="5303520" cy="502920"/>
          </a:xfrm>
          <a:prstGeom prst="round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1. MILD (3-5%): ORT — 50 mL/kg over 4 hours (small, frequent sips; use syringe if needed)</a:t>
            </a:r>
          </a:p>
        </p:txBody>
      </p:sp>
      <p:sp>
        <p:nvSpPr>
          <p:cNvPr id="6" name="Rounded Rectangle 5"/>
          <p:cNvSpPr/>
          <p:nvPr/>
        </p:nvSpPr>
        <p:spPr>
          <a:xfrm>
            <a:off x="457200" y="2039112"/>
            <a:ext cx="5303520" cy="502920"/>
          </a:xfrm>
          <a:prstGeom prst="round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2. MODERATE (6-9%): ORT first (100 mL/kg over 4h); if ORT fails → IV NS 20 mL/kg bolus then reassess</a:t>
            </a:r>
          </a:p>
        </p:txBody>
      </p:sp>
      <p:sp>
        <p:nvSpPr>
          <p:cNvPr id="7" name="Rounded Rectangle 6"/>
          <p:cNvSpPr/>
          <p:nvPr/>
        </p:nvSpPr>
        <p:spPr>
          <a:xfrm>
            <a:off x="457200" y="2706624"/>
            <a:ext cx="5303520" cy="502920"/>
          </a:xfrm>
          <a:prstGeom prst="round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3. SEVERE (≥10%): IV NS 20 mL/kg bolus × 3 as needed; reassess after each bolus; correct deficit over 24h</a:t>
            </a:r>
          </a:p>
        </p:txBody>
      </p:sp>
      <p:sp>
        <p:nvSpPr>
          <p:cNvPr id="8" name="Rounded Rectangle 7"/>
          <p:cNvSpPr/>
          <p:nvPr/>
        </p:nvSpPr>
        <p:spPr>
          <a:xfrm>
            <a:off x="6309360" y="1371600"/>
            <a:ext cx="5303520" cy="502920"/>
          </a:xfrm>
          <a:prstGeom prst="round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4. SHOCK: Rapid IV/IO NS 20 mL/kg push; repeat as needed; consider blood products if hemorrhagic</a:t>
            </a:r>
          </a:p>
        </p:txBody>
      </p:sp>
      <p:sp>
        <p:nvSpPr>
          <p:cNvPr id="9" name="Rounded Rectangle 8"/>
          <p:cNvSpPr/>
          <p:nvPr/>
        </p:nvSpPr>
        <p:spPr>
          <a:xfrm>
            <a:off x="6309360" y="2039112"/>
            <a:ext cx="5303520" cy="502920"/>
          </a:xfrm>
          <a:prstGeom prst="round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5. After initial resuscitation: calculate remaining deficit + maintenance; use isotonic fluids (NS or LR)</a:t>
            </a:r>
          </a:p>
        </p:txBody>
      </p:sp>
      <p:sp>
        <p:nvSpPr>
          <p:cNvPr id="10" name="Rounded Rectangle 9"/>
          <p:cNvSpPr/>
          <p:nvPr/>
        </p:nvSpPr>
        <p:spPr>
          <a:xfrm>
            <a:off x="6309360" y="2706624"/>
            <a:ext cx="5303520" cy="502920"/>
          </a:xfrm>
          <a:prstGeom prst="round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6. Reassess frequently: mental status, urine output, vital signs, weight if possible</a:t>
            </a:r>
          </a:p>
        </p:txBody>
      </p:sp>
      <p:sp>
        <p:nvSpPr>
          <p:cNvPr id="11" name="Rectangle 10"/>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Dehydration &amp; Rehydration</a:t>
            </a:r>
          </a:p>
        </p:txBody>
      </p:sp>
      <p:sp>
        <p:nvSpPr>
          <p:cNvPr id="13" name="TextBox 12"/>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0"/>
            <a:ext cx="10058400" cy="457200"/>
          </a:xfrm>
          <a:prstGeom prst="rect">
            <a:avLst/>
          </a:prstGeom>
          <a:noFill/>
        </p:spPr>
        <p:txBody>
          <a:bodyPr wrap="none">
            <a:spAutoFit/>
          </a:bodyPr>
          <a:lstStyle/>
          <a:p>
            <a:pPr>
              <a:defRPr sz="1400" b="1">
                <a:solidFill>
                  <a:srgbClr val="007B83"/>
                </a:solidFill>
                <a:latin typeface="Calibri"/>
              </a:defRPr>
            </a:pPr>
            <a:r>
              <a:t>▎ EVIDENCE-BASED PEARL</a:t>
            </a:r>
          </a:p>
        </p:txBody>
      </p:sp>
      <p:sp>
        <p:nvSpPr>
          <p:cNvPr id="4" name="TextBox 3"/>
          <p:cNvSpPr txBox="1"/>
          <p:nvPr/>
        </p:nvSpPr>
        <p:spPr>
          <a:xfrm>
            <a:off x="731520" y="2286000"/>
            <a:ext cx="10515600" cy="2286000"/>
          </a:xfrm>
          <a:prstGeom prst="rect">
            <a:avLst/>
          </a:prstGeom>
          <a:noFill/>
        </p:spPr>
        <p:txBody>
          <a:bodyPr wrap="square">
            <a:spAutoFit/>
          </a:bodyPr>
          <a:lstStyle/>
          <a:p>
            <a:pPr algn="l">
              <a:defRPr sz="2800" b="1">
                <a:solidFill>
                  <a:srgbClr val="FFFFFF"/>
                </a:solidFill>
                <a:latin typeface="Calibri"/>
              </a:defRPr>
            </a:pPr>
            <a:r>
              <a:t>Ondansetron + ORT is a powerful combination that reduces IV fluid use and hospitalization.</a:t>
            </a:r>
          </a:p>
        </p:txBody>
      </p:sp>
      <p:sp>
        <p:nvSpPr>
          <p:cNvPr id="5" name="TextBox 4"/>
          <p:cNvSpPr txBox="1"/>
          <p:nvPr/>
        </p:nvSpPr>
        <p:spPr>
          <a:xfrm>
            <a:off x="731520" y="4572000"/>
            <a:ext cx="10058400" cy="1371600"/>
          </a:xfrm>
          <a:prstGeom prst="rect">
            <a:avLst/>
          </a:prstGeom>
          <a:noFill/>
        </p:spPr>
        <p:txBody>
          <a:bodyPr wrap="square">
            <a:spAutoFit/>
          </a:bodyPr>
          <a:lstStyle/>
          <a:p>
            <a:pPr>
              <a:defRPr sz="1500">
                <a:solidFill>
                  <a:srgbClr val="8A92A3"/>
                </a:solidFill>
                <a:latin typeface="Calibri"/>
              </a:defRPr>
            </a:pPr>
            <a:r>
              <a:t>A single dose of ondansetron (0.15 mg/kg IV/PO, max 4 mg) before starting ORT significantly reduces vomiting, improves oral intake, and reduces the need for IV fluids. Freedman et al., NEJM 2006. Give ondansetron early to set ORT up for success.</a:t>
            </a:r>
          </a:p>
        </p:txBody>
      </p:sp>
      <p:sp>
        <p:nvSpPr>
          <p:cNvPr id="6" name="Rectangle 5"/>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Dehydration &amp; Rehydration</a:t>
            </a:r>
          </a:p>
        </p:txBody>
      </p:sp>
      <p:sp>
        <p:nvSpPr>
          <p:cNvPr id="8" name="TextBox 7"/>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005840"/>
            <a:ext cx="2286000" cy="45720"/>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IV Fluid Selection: Current Evidence</a:t>
            </a:r>
          </a:p>
        </p:txBody>
      </p:sp>
      <p:sp>
        <p:nvSpPr>
          <p:cNvPr id="6" name="TextBox 5"/>
          <p:cNvSpPr txBox="1"/>
          <p:nvPr/>
        </p:nvSpPr>
        <p:spPr>
          <a:xfrm>
            <a:off x="731520" y="1371600"/>
            <a:ext cx="10515600" cy="4754880"/>
          </a:xfrm>
          <a:prstGeom prst="rect">
            <a:avLst/>
          </a:prstGeom>
          <a:noFill/>
        </p:spPr>
        <p:txBody>
          <a:bodyPr wrap="square">
            <a:spAutoFit/>
          </a:bodyPr>
          <a:lstStyle/>
          <a:p>
            <a:pPr>
              <a:spcBef>
                <a:spcPts val="400"/>
              </a:spcBef>
              <a:spcAft>
                <a:spcPts val="600"/>
              </a:spcAft>
              <a:defRPr sz="1600">
                <a:solidFill>
                  <a:srgbClr val="3D4455"/>
                </a:solidFill>
                <a:latin typeface="Calibri"/>
              </a:defRPr>
            </a:pPr>
            <a:r>
              <a:t>Isotonic fluids (NS or LR) are standard for both bolus AND maintenance in most situations</a:t>
            </a:r>
          </a:p>
          <a:p>
            <a:pPr>
              <a:spcBef>
                <a:spcPts val="400"/>
              </a:spcBef>
              <a:spcAft>
                <a:spcPts val="600"/>
              </a:spcAft>
              <a:defRPr sz="1600">
                <a:solidFill>
                  <a:srgbClr val="3D4455"/>
                </a:solidFill>
                <a:latin typeface="Calibri"/>
              </a:defRPr>
            </a:pPr>
            <a:r>
              <a:t>Hypotonic maintenance fluids (D5 0.2NS) are associated with hospital-acquired hyponatremia — AVOID</a:t>
            </a:r>
          </a:p>
          <a:p>
            <a:pPr>
              <a:spcBef>
                <a:spcPts val="400"/>
              </a:spcBef>
              <a:spcAft>
                <a:spcPts val="600"/>
              </a:spcAft>
              <a:defRPr sz="1600">
                <a:solidFill>
                  <a:srgbClr val="3D4455"/>
                </a:solidFill>
                <a:latin typeface="Calibri"/>
              </a:defRPr>
            </a:pPr>
            <a:r>
              <a:t>AAP 2018 guideline recommends isotonic fluids (D5NS or D5LR) for maintenance in most children</a:t>
            </a:r>
          </a:p>
          <a:p>
            <a:pPr>
              <a:spcBef>
                <a:spcPts val="400"/>
              </a:spcBef>
              <a:spcAft>
                <a:spcPts val="600"/>
              </a:spcAft>
              <a:defRPr sz="1600">
                <a:solidFill>
                  <a:srgbClr val="3D4455"/>
                </a:solidFill>
                <a:latin typeface="Calibri"/>
              </a:defRPr>
            </a:pPr>
            <a:r>
              <a:t>Exception: neonates &lt;28 days may need D10 with lower sodium depending on clinical context</a:t>
            </a:r>
          </a:p>
          <a:p>
            <a:pPr>
              <a:spcBef>
                <a:spcPts val="400"/>
              </a:spcBef>
              <a:spcAft>
                <a:spcPts val="600"/>
              </a:spcAft>
              <a:defRPr sz="1600">
                <a:solidFill>
                  <a:srgbClr val="3D4455"/>
                </a:solidFill>
                <a:latin typeface="Calibri"/>
              </a:defRPr>
            </a:pPr>
            <a:r>
              <a:t>Dextrose: add D5 or D10 to maintenance fluids to prevent hypoglycemia and ketosis</a:t>
            </a:r>
          </a:p>
          <a:p>
            <a:pPr>
              <a:spcBef>
                <a:spcPts val="400"/>
              </a:spcBef>
              <a:spcAft>
                <a:spcPts val="600"/>
              </a:spcAft>
              <a:defRPr sz="1600">
                <a:solidFill>
                  <a:srgbClr val="3D4455"/>
                </a:solidFill>
                <a:latin typeface="Calibri"/>
              </a:defRPr>
            </a:pPr>
            <a:r>
              <a:t>Potassium: add 20 mEq/L KCl to maintenance fluids once urine output is confirmed</a:t>
            </a:r>
          </a:p>
          <a:p>
            <a:pPr lvl="1">
              <a:spcBef>
                <a:spcPts val="400"/>
              </a:spcBef>
              <a:spcAft>
                <a:spcPts val="600"/>
              </a:spcAft>
              <a:defRPr sz="1400">
                <a:solidFill>
                  <a:srgbClr val="8A92A3"/>
                </a:solidFill>
                <a:latin typeface="Calibri"/>
              </a:defRPr>
            </a:pPr>
            <a:r>
              <a:t>Gone are the days of D5 1/4NS as standard maintenance — isotonic fluids are the new standard</a:t>
            </a:r>
          </a:p>
        </p:txBody>
      </p:sp>
      <p:sp>
        <p:nvSpPr>
          <p:cNvPr id="7" name="Rectangle 6"/>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Dehydration &amp; Rehydration</a:t>
            </a:r>
          </a:p>
        </p:txBody>
      </p:sp>
      <p:sp>
        <p:nvSpPr>
          <p:cNvPr id="9" name="TextBox 8"/>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Maintenance Fluid Calculation (Holliday-Segar)</a:t>
            </a:r>
          </a:p>
        </p:txBody>
      </p:sp>
      <p:graphicFrame>
        <p:nvGraphicFramePr>
          <p:cNvPr id="5" name="Table 4"/>
          <p:cNvGraphicFramePr>
            <a:graphicFrameLocks noGrp="1"/>
          </p:cNvGraphicFramePr>
          <p:nvPr/>
        </p:nvGraphicFramePr>
        <p:xfrm>
          <a:off x="822960" y="1280160"/>
          <a:ext cx="10515600" cy="1828800"/>
        </p:xfrm>
        <a:graphic>
          <a:graphicData uri="http://schemas.openxmlformats.org/drawingml/2006/table">
            <a:tbl>
              <a:tblPr firstRow="1" bandRow="1">
                <a:tableStyleId>{5C22544A-7EE6-4342-B048-85BDC9FD1C3A}</a:tableStyleId>
              </a:tblPr>
              <a:tblGrid>
                <a:gridCol w="2628900"/>
                <a:gridCol w="2628900"/>
                <a:gridCol w="2628900"/>
                <a:gridCol w="2628900"/>
              </a:tblGrid>
              <a:tr h="457200">
                <a:tc>
                  <a:txBody>
                    <a:bodyPr/>
                    <a:lstStyle/>
                    <a:p>
                      <a:pPr algn="ctr">
                        <a:defRPr sz="1300" b="1">
                          <a:solidFill>
                            <a:srgbClr val="FFFFFF"/>
                          </a:solidFill>
                          <a:latin typeface="Calibri"/>
                        </a:defRPr>
                      </a:pPr>
                      <a:r>
                        <a:t>Weight</a:t>
                      </a:r>
                    </a:p>
                  </a:txBody>
                  <a:tcPr>
                    <a:solidFill>
                      <a:srgbClr val="007B83"/>
                    </a:solidFill>
                  </a:tcPr>
                </a:tc>
                <a:tc>
                  <a:txBody>
                    <a:bodyPr/>
                    <a:lstStyle/>
                    <a:p>
                      <a:pPr algn="ctr">
                        <a:defRPr sz="1300" b="1">
                          <a:solidFill>
                            <a:srgbClr val="FFFFFF"/>
                          </a:solidFill>
                          <a:latin typeface="Calibri"/>
                        </a:defRPr>
                      </a:pPr>
                      <a:r>
                        <a:t>Hourly Rate</a:t>
                      </a:r>
                    </a:p>
                  </a:txBody>
                  <a:tcPr>
                    <a:solidFill>
                      <a:srgbClr val="007B83"/>
                    </a:solidFill>
                  </a:tcPr>
                </a:tc>
                <a:tc>
                  <a:txBody>
                    <a:bodyPr/>
                    <a:lstStyle/>
                    <a:p>
                      <a:pPr algn="ctr">
                        <a:defRPr sz="1300" b="1">
                          <a:solidFill>
                            <a:srgbClr val="FFFFFF"/>
                          </a:solidFill>
                          <a:latin typeface="Calibri"/>
                        </a:defRPr>
                      </a:pPr>
                      <a:r>
                        <a:t>24-Hour Volume</a:t>
                      </a:r>
                    </a:p>
                  </a:txBody>
                  <a:tcPr>
                    <a:solidFill>
                      <a:srgbClr val="007B83"/>
                    </a:solidFill>
                  </a:tcPr>
                </a:tc>
                <a:tc>
                  <a:txBody>
                    <a:bodyPr/>
                    <a:lstStyle/>
                    <a:p>
                      <a:pPr algn="ctr">
                        <a:defRPr sz="1300" b="1">
                          <a:solidFill>
                            <a:srgbClr val="FFFFFF"/>
                          </a:solidFill>
                          <a:latin typeface="Calibri"/>
                        </a:defRPr>
                      </a:pPr>
                      <a:r>
                        <a:t>Example</a:t>
                      </a:r>
                    </a:p>
                  </a:txBody>
                  <a:tcPr>
                    <a:solidFill>
                      <a:srgbClr val="007B83"/>
                    </a:solidFill>
                  </a:tcPr>
                </a:tc>
              </a:tr>
              <a:tr h="457200">
                <a:tc>
                  <a:txBody>
                    <a:bodyPr/>
                    <a:lstStyle/>
                    <a:p>
                      <a:pPr algn="l">
                        <a:defRPr sz="1200">
                          <a:solidFill>
                            <a:srgbClr val="3D4455"/>
                          </a:solidFill>
                          <a:latin typeface="Calibri"/>
                        </a:defRPr>
                      </a:pPr>
                      <a:r>
                        <a:t>First 10 kg</a:t>
                      </a:r>
                    </a:p>
                  </a:txBody>
                  <a:tcPr>
                    <a:solidFill>
                      <a:srgbClr val="F5F6FA"/>
                    </a:solidFill>
                  </a:tcPr>
                </a:tc>
                <a:tc>
                  <a:txBody>
                    <a:bodyPr/>
                    <a:lstStyle/>
                    <a:p>
                      <a:pPr algn="l">
                        <a:defRPr sz="1200">
                          <a:solidFill>
                            <a:srgbClr val="3D4455"/>
                          </a:solidFill>
                          <a:latin typeface="Calibri"/>
                        </a:defRPr>
                      </a:pPr>
                      <a:r>
                        <a:t>4 mL/kg/hr</a:t>
                      </a:r>
                    </a:p>
                  </a:txBody>
                  <a:tcPr>
                    <a:solidFill>
                      <a:srgbClr val="F5F6FA"/>
                    </a:solidFill>
                  </a:tcPr>
                </a:tc>
                <a:tc>
                  <a:txBody>
                    <a:bodyPr/>
                    <a:lstStyle/>
                    <a:p>
                      <a:pPr algn="l">
                        <a:defRPr sz="1200">
                          <a:solidFill>
                            <a:srgbClr val="3D4455"/>
                          </a:solidFill>
                          <a:latin typeface="Calibri"/>
                        </a:defRPr>
                      </a:pPr>
                      <a:r>
                        <a:t>100 mL/kg/day</a:t>
                      </a:r>
                    </a:p>
                  </a:txBody>
                  <a:tcPr>
                    <a:solidFill>
                      <a:srgbClr val="F5F6FA"/>
                    </a:solidFill>
                  </a:tcPr>
                </a:tc>
                <a:tc>
                  <a:txBody>
                    <a:bodyPr/>
                    <a:lstStyle/>
                    <a:p>
                      <a:pPr algn="l">
                        <a:defRPr sz="1200">
                          <a:solidFill>
                            <a:srgbClr val="3D4455"/>
                          </a:solidFill>
                          <a:latin typeface="Calibri"/>
                        </a:defRPr>
                      </a:pPr>
                      <a:r>
                        <a:t>10 kg child = 40 mL/hr = 1000 mL/day</a:t>
                      </a:r>
                    </a:p>
                  </a:txBody>
                  <a:tcPr>
                    <a:solidFill>
                      <a:srgbClr val="F5F6FA"/>
                    </a:solidFill>
                  </a:tcPr>
                </a:tc>
              </a:tr>
              <a:tr h="457200">
                <a:tc>
                  <a:txBody>
                    <a:bodyPr/>
                    <a:lstStyle/>
                    <a:p>
                      <a:pPr algn="l">
                        <a:defRPr sz="1200">
                          <a:solidFill>
                            <a:srgbClr val="3D4455"/>
                          </a:solidFill>
                          <a:latin typeface="Calibri"/>
                        </a:defRPr>
                      </a:pPr>
                      <a:r>
                        <a:t>Next 10 kg (11-20 kg)</a:t>
                      </a:r>
                    </a:p>
                  </a:txBody>
                  <a:tcPr>
                    <a:solidFill>
                      <a:srgbClr val="FFFFFF"/>
                    </a:solidFill>
                  </a:tcPr>
                </a:tc>
                <a:tc>
                  <a:txBody>
                    <a:bodyPr/>
                    <a:lstStyle/>
                    <a:p>
                      <a:pPr algn="l">
                        <a:defRPr sz="1200">
                          <a:solidFill>
                            <a:srgbClr val="3D4455"/>
                          </a:solidFill>
                          <a:latin typeface="Calibri"/>
                        </a:defRPr>
                      </a:pPr>
                      <a:r>
                        <a:t>2 mL/kg/hr</a:t>
                      </a:r>
                    </a:p>
                  </a:txBody>
                  <a:tcPr>
                    <a:solidFill>
                      <a:srgbClr val="FFFFFF"/>
                    </a:solidFill>
                  </a:tcPr>
                </a:tc>
                <a:tc>
                  <a:txBody>
                    <a:bodyPr/>
                    <a:lstStyle/>
                    <a:p>
                      <a:pPr algn="l">
                        <a:defRPr sz="1200">
                          <a:solidFill>
                            <a:srgbClr val="3D4455"/>
                          </a:solidFill>
                          <a:latin typeface="Calibri"/>
                        </a:defRPr>
                      </a:pPr>
                      <a:r>
                        <a:t>50 mL/kg/day</a:t>
                      </a:r>
                    </a:p>
                  </a:txBody>
                  <a:tcPr>
                    <a:solidFill>
                      <a:srgbClr val="FFFFFF"/>
                    </a:solidFill>
                  </a:tcPr>
                </a:tc>
                <a:tc>
                  <a:txBody>
                    <a:bodyPr/>
                    <a:lstStyle/>
                    <a:p>
                      <a:pPr algn="l">
                        <a:defRPr sz="1200">
                          <a:solidFill>
                            <a:srgbClr val="3D4455"/>
                          </a:solidFill>
                          <a:latin typeface="Calibri"/>
                        </a:defRPr>
                      </a:pPr>
                      <a:r>
                        <a:t>20 kg child = 60 mL/hr = 1500 mL/day</a:t>
                      </a:r>
                    </a:p>
                  </a:txBody>
                  <a:tcPr>
                    <a:solidFill>
                      <a:srgbClr val="FFFFFF"/>
                    </a:solidFill>
                  </a:tcPr>
                </a:tc>
              </a:tr>
              <a:tr h="457200">
                <a:tc>
                  <a:txBody>
                    <a:bodyPr/>
                    <a:lstStyle/>
                    <a:p>
                      <a:pPr algn="l">
                        <a:defRPr sz="1200">
                          <a:solidFill>
                            <a:srgbClr val="3D4455"/>
                          </a:solidFill>
                          <a:latin typeface="Calibri"/>
                        </a:defRPr>
                      </a:pPr>
                      <a:r>
                        <a:t>Each kg above 20 kg</a:t>
                      </a:r>
                    </a:p>
                  </a:txBody>
                  <a:tcPr>
                    <a:solidFill>
                      <a:srgbClr val="F5F6FA"/>
                    </a:solidFill>
                  </a:tcPr>
                </a:tc>
                <a:tc>
                  <a:txBody>
                    <a:bodyPr/>
                    <a:lstStyle/>
                    <a:p>
                      <a:pPr algn="l">
                        <a:defRPr sz="1200">
                          <a:solidFill>
                            <a:srgbClr val="3D4455"/>
                          </a:solidFill>
                          <a:latin typeface="Calibri"/>
                        </a:defRPr>
                      </a:pPr>
                      <a:r>
                        <a:t>1 mL/kg/hr</a:t>
                      </a:r>
                    </a:p>
                  </a:txBody>
                  <a:tcPr>
                    <a:solidFill>
                      <a:srgbClr val="F5F6FA"/>
                    </a:solidFill>
                  </a:tcPr>
                </a:tc>
                <a:tc>
                  <a:txBody>
                    <a:bodyPr/>
                    <a:lstStyle/>
                    <a:p>
                      <a:pPr algn="l">
                        <a:defRPr sz="1200">
                          <a:solidFill>
                            <a:srgbClr val="3D4455"/>
                          </a:solidFill>
                          <a:latin typeface="Calibri"/>
                        </a:defRPr>
                      </a:pPr>
                      <a:r>
                        <a:t>20 mL/kg/day</a:t>
                      </a:r>
                    </a:p>
                  </a:txBody>
                  <a:tcPr>
                    <a:solidFill>
                      <a:srgbClr val="F5F6FA"/>
                    </a:solidFill>
                  </a:tcPr>
                </a:tc>
                <a:tc>
                  <a:txBody>
                    <a:bodyPr/>
                    <a:lstStyle/>
                    <a:p>
                      <a:pPr algn="l">
                        <a:defRPr sz="1200">
                          <a:solidFill>
                            <a:srgbClr val="3D4455"/>
                          </a:solidFill>
                          <a:latin typeface="Calibri"/>
                        </a:defRPr>
                      </a:pPr>
                      <a:r>
                        <a:t>30 kg child = 70 mL/hr = 1700 mL/day</a:t>
                      </a:r>
                    </a:p>
                  </a:txBody>
                  <a:tcPr>
                    <a:solidFill>
                      <a:srgbClr val="F5F6FA"/>
                    </a:solidFill>
                  </a:tcPr>
                </a:tc>
              </a:tr>
            </a:tbl>
          </a:graphicData>
        </a:graphic>
      </p:graphicFrame>
      <p:sp>
        <p:nvSpPr>
          <p:cNvPr id="6" name="Rectangle 5"/>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Dehydration &amp; Rehydration</a:t>
            </a:r>
          </a:p>
        </p:txBody>
      </p:sp>
      <p:sp>
        <p:nvSpPr>
          <p:cNvPr id="8" name="TextBox 7"/>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ORT Success Tips vs. When to Switch to IV</a:t>
            </a:r>
          </a:p>
        </p:txBody>
      </p:sp>
      <p:sp>
        <p:nvSpPr>
          <p:cNvPr id="5" name="Rounded Rectangle 4"/>
          <p:cNvSpPr/>
          <p:nvPr/>
        </p:nvSpPr>
        <p:spPr>
          <a:xfrm>
            <a:off x="457200" y="1280160"/>
            <a:ext cx="5303520" cy="548640"/>
          </a:xfrm>
          <a:prstGeom prst="round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TIPS FOR ORT SUCCESS</a:t>
            </a:r>
          </a:p>
        </p:txBody>
      </p:sp>
      <p:sp>
        <p:nvSpPr>
          <p:cNvPr id="6" name="TextBox 5"/>
          <p:cNvSpPr txBox="1"/>
          <p:nvPr/>
        </p:nvSpPr>
        <p:spPr>
          <a:xfrm>
            <a:off x="640080" y="2011680"/>
            <a:ext cx="4937760" cy="4114800"/>
          </a:xfrm>
          <a:prstGeom prst="rect">
            <a:avLst/>
          </a:prstGeom>
          <a:noFill/>
        </p:spPr>
        <p:txBody>
          <a:bodyPr wrap="square">
            <a:spAutoFit/>
          </a:bodyPr>
          <a:lstStyle/>
          <a:p>
            <a:pPr>
              <a:spcAft>
                <a:spcPts val="500"/>
              </a:spcAft>
              <a:defRPr sz="1400">
                <a:solidFill>
                  <a:srgbClr val="3D4455"/>
                </a:solidFill>
                <a:latin typeface="Calibri"/>
              </a:defRPr>
            </a:pPr>
            <a:r>
              <a:t>Give ondansetron first if vomiting</a:t>
            </a:r>
          </a:p>
          <a:p>
            <a:pPr>
              <a:spcAft>
                <a:spcPts val="500"/>
              </a:spcAft>
              <a:defRPr sz="1400">
                <a:solidFill>
                  <a:srgbClr val="3D4455"/>
                </a:solidFill>
                <a:latin typeface="Calibri"/>
              </a:defRPr>
            </a:pPr>
            <a:r>
              <a:t>Use a syringe: 5-10 mL every 2-3 minutes</a:t>
            </a:r>
          </a:p>
          <a:p>
            <a:pPr>
              <a:spcAft>
                <a:spcPts val="500"/>
              </a:spcAft>
              <a:defRPr sz="1400">
                <a:solidFill>
                  <a:srgbClr val="3D4455"/>
                </a:solidFill>
                <a:latin typeface="Calibri"/>
              </a:defRPr>
            </a:pPr>
            <a:r>
              <a:t>Use ORS (Pedialyte) — not juice, sports drinks, or water</a:t>
            </a:r>
          </a:p>
          <a:p>
            <a:pPr>
              <a:spcAft>
                <a:spcPts val="500"/>
              </a:spcAft>
              <a:defRPr sz="1400">
                <a:solidFill>
                  <a:srgbClr val="3D4455"/>
                </a:solidFill>
                <a:latin typeface="Calibri"/>
              </a:defRPr>
            </a:pPr>
            <a:r>
              <a:t>Make it a game with the child; involve parents</a:t>
            </a:r>
          </a:p>
          <a:p>
            <a:pPr>
              <a:spcAft>
                <a:spcPts val="500"/>
              </a:spcAft>
              <a:defRPr sz="1400">
                <a:solidFill>
                  <a:srgbClr val="3D4455"/>
                </a:solidFill>
                <a:latin typeface="Calibri"/>
              </a:defRPr>
            </a:pPr>
            <a:r>
              <a:t>If child vomits, wait 20 min and restart at smaller volumes</a:t>
            </a:r>
          </a:p>
          <a:p>
            <a:pPr>
              <a:spcAft>
                <a:spcPts val="500"/>
              </a:spcAft>
              <a:defRPr sz="1400">
                <a:solidFill>
                  <a:srgbClr val="3D4455"/>
                </a:solidFill>
                <a:latin typeface="Calibri"/>
              </a:defRPr>
            </a:pPr>
            <a:r>
              <a:t>Popsicles count (if made from ORS)</a:t>
            </a:r>
          </a:p>
          <a:p>
            <a:pPr>
              <a:spcAft>
                <a:spcPts val="500"/>
              </a:spcAft>
              <a:defRPr sz="1400">
                <a:solidFill>
                  <a:srgbClr val="3D4455"/>
                </a:solidFill>
                <a:latin typeface="Calibri"/>
              </a:defRPr>
            </a:pPr>
            <a:r>
              <a:t>Breastfeed ad lib in addition to ORS for breastfed infants</a:t>
            </a:r>
          </a:p>
        </p:txBody>
      </p:sp>
      <p:sp>
        <p:nvSpPr>
          <p:cNvPr id="7" name="Rectangle 6"/>
          <p:cNvSpPr/>
          <p:nvPr/>
        </p:nvSpPr>
        <p:spPr>
          <a:xfrm>
            <a:off x="5989320" y="1280160"/>
            <a:ext cx="27432" cy="4754880"/>
          </a:xfrm>
          <a:prstGeom prst="rect">
            <a:avLst/>
          </a:prstGeom>
          <a:solidFill>
            <a:srgbClr val="E0E4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309360" y="1280160"/>
            <a:ext cx="5303520" cy="548640"/>
          </a:xfrm>
          <a:prstGeom prst="roundRect">
            <a:avLst/>
          </a:prstGeom>
          <a:solidFill>
            <a:srgbClr val="E84D4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SWITCH TO IV WHEN</a:t>
            </a:r>
          </a:p>
        </p:txBody>
      </p:sp>
      <p:sp>
        <p:nvSpPr>
          <p:cNvPr id="9" name="TextBox 8"/>
          <p:cNvSpPr txBox="1"/>
          <p:nvPr/>
        </p:nvSpPr>
        <p:spPr>
          <a:xfrm>
            <a:off x="6492240" y="2011680"/>
            <a:ext cx="4937760" cy="4114800"/>
          </a:xfrm>
          <a:prstGeom prst="rect">
            <a:avLst/>
          </a:prstGeom>
          <a:noFill/>
        </p:spPr>
        <p:txBody>
          <a:bodyPr wrap="square">
            <a:spAutoFit/>
          </a:bodyPr>
          <a:lstStyle/>
          <a:p>
            <a:pPr>
              <a:spcAft>
                <a:spcPts val="500"/>
              </a:spcAft>
              <a:defRPr sz="1400">
                <a:solidFill>
                  <a:srgbClr val="3D4455"/>
                </a:solidFill>
                <a:latin typeface="Calibri"/>
              </a:defRPr>
            </a:pPr>
            <a:r>
              <a:t>Persistent vomiting despite ondansetron and ORT trial</a:t>
            </a:r>
          </a:p>
          <a:p>
            <a:pPr>
              <a:spcAft>
                <a:spcPts val="500"/>
              </a:spcAft>
              <a:defRPr sz="1400">
                <a:solidFill>
                  <a:srgbClr val="3D4455"/>
                </a:solidFill>
                <a:latin typeface="Calibri"/>
              </a:defRPr>
            </a:pPr>
            <a:r>
              <a:t>Severe dehydration (≥10%)</a:t>
            </a:r>
          </a:p>
          <a:p>
            <a:pPr>
              <a:spcAft>
                <a:spcPts val="500"/>
              </a:spcAft>
              <a:defRPr sz="1400">
                <a:solidFill>
                  <a:srgbClr val="3D4455"/>
                </a:solidFill>
                <a:latin typeface="Calibri"/>
              </a:defRPr>
            </a:pPr>
            <a:r>
              <a:t>Hemodynamic instability (tachycardia, poor perfusion)</a:t>
            </a:r>
          </a:p>
          <a:p>
            <a:pPr>
              <a:spcAft>
                <a:spcPts val="500"/>
              </a:spcAft>
              <a:defRPr sz="1400">
                <a:solidFill>
                  <a:srgbClr val="3D4455"/>
                </a:solidFill>
                <a:latin typeface="Calibri"/>
              </a:defRPr>
            </a:pPr>
            <a:r>
              <a:t>Altered mental status</a:t>
            </a:r>
          </a:p>
          <a:p>
            <a:pPr>
              <a:spcAft>
                <a:spcPts val="500"/>
              </a:spcAft>
              <a:defRPr sz="1400">
                <a:solidFill>
                  <a:srgbClr val="3D4455"/>
                </a:solidFill>
                <a:latin typeface="Calibri"/>
              </a:defRPr>
            </a:pPr>
            <a:r>
              <a:t>Inability to keep up with ongoing losses</a:t>
            </a:r>
          </a:p>
          <a:p>
            <a:pPr>
              <a:spcAft>
                <a:spcPts val="500"/>
              </a:spcAft>
              <a:defRPr sz="1400">
                <a:solidFill>
                  <a:srgbClr val="3D4455"/>
                </a:solidFill>
                <a:latin typeface="Calibri"/>
              </a:defRPr>
            </a:pPr>
            <a:r>
              <a:t>Surgical abdomen suspected</a:t>
            </a:r>
          </a:p>
          <a:p>
            <a:pPr>
              <a:spcAft>
                <a:spcPts val="500"/>
              </a:spcAft>
              <a:defRPr sz="1400">
                <a:solidFill>
                  <a:srgbClr val="3D4455"/>
                </a:solidFill>
                <a:latin typeface="Calibri"/>
              </a:defRPr>
            </a:pPr>
            <a:r>
              <a:t>Electrolyte derangement requiring IV correction</a:t>
            </a:r>
          </a:p>
        </p:txBody>
      </p:sp>
      <p:sp>
        <p:nvSpPr>
          <p:cNvPr id="10" name="Rectangle 9"/>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Dehydration &amp; Rehydration</a:t>
            </a:r>
          </a:p>
        </p:txBody>
      </p:sp>
      <p:sp>
        <p:nvSpPr>
          <p:cNvPr id="12" name="TextBox 11"/>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712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28600"/>
            <a:ext cx="1645920" cy="457200"/>
          </a:xfrm>
          <a:prstGeom prst="round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CLINICAL CASE</a:t>
            </a:r>
          </a:p>
        </p:txBody>
      </p:sp>
      <p:sp>
        <p:nvSpPr>
          <p:cNvPr id="5" name="TextBox 4"/>
          <p:cNvSpPr txBox="1"/>
          <p:nvPr/>
        </p:nvSpPr>
        <p:spPr>
          <a:xfrm>
            <a:off x="2651760" y="182880"/>
            <a:ext cx="8686800" cy="640080"/>
          </a:xfrm>
          <a:prstGeom prst="rect">
            <a:avLst/>
          </a:prstGeom>
          <a:noFill/>
        </p:spPr>
        <p:txBody>
          <a:bodyPr wrap="square">
            <a:spAutoFit/>
          </a:bodyPr>
          <a:lstStyle/>
          <a:p>
            <a:pPr algn="l">
              <a:lnSpc>
                <a:spcPts val="2879"/>
              </a:lnSpc>
              <a:spcBef>
                <a:spcPts val="0"/>
              </a:spcBef>
              <a:spcAft>
                <a:spcPts val="0"/>
              </a:spcAft>
              <a:defRPr sz="2400" b="1" i="0">
                <a:solidFill>
                  <a:srgbClr val="FFFFFF"/>
                </a:solidFill>
                <a:latin typeface="Calibri"/>
              </a:defRPr>
            </a:pPr>
            <a:r>
              <a:t>14-Month-Old with 3 Days of Diarrhea</a:t>
            </a:r>
          </a:p>
        </p:txBody>
      </p:sp>
      <p:sp>
        <p:nvSpPr>
          <p:cNvPr id="6" name="Rounded Rectangle 5"/>
          <p:cNvSpPr/>
          <p:nvPr/>
        </p:nvSpPr>
        <p:spPr>
          <a:xfrm>
            <a:off x="548640" y="1280160"/>
            <a:ext cx="10972800" cy="2560320"/>
          </a:xfrm>
          <a:prstGeom prst="roundRect">
            <a:avLst/>
          </a:prstGeom>
          <a:solidFill>
            <a:srgbClr val="FFFFFF"/>
          </a:solidFill>
          <a:ln w="19050">
            <a:solidFill>
              <a:srgbClr val="E0E4EB"/>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82880"/>
          <a:lstStyle/>
          <a:p>
            <a:pPr algn="ctr">
              <a:defRPr sz="1500">
                <a:solidFill>
                  <a:srgbClr val="3D4455"/>
                </a:solidFill>
                <a:latin typeface="Calibri"/>
              </a:defRPr>
            </a:pPr>
            <a:r>
              <a:t>A 14-month-old girl (10 kg baseline weight, 9.3 kg today) presents with 3 days of watery diarrhea (8-10 episodes/day) and vomiting (4-5 times today). She is irritable but consolable, has sunken eyes, dry mucous membranes, and decreased skin turgor. CRT 2.5 seconds. Last wet diaper was 6 hours ago. Vitals: HR 150, BP 90/55, RR 28, T 38.3°C.</a:t>
            </a:r>
          </a:p>
        </p:txBody>
      </p:sp>
      <p:sp>
        <p:nvSpPr>
          <p:cNvPr id="7" name="TextBox 6"/>
          <p:cNvSpPr txBox="1"/>
          <p:nvPr/>
        </p:nvSpPr>
        <p:spPr>
          <a:xfrm>
            <a:off x="731520" y="4114800"/>
            <a:ext cx="10515600" cy="2011680"/>
          </a:xfrm>
          <a:prstGeom prst="rect">
            <a:avLst/>
          </a:prstGeom>
          <a:noFill/>
        </p:spPr>
        <p:txBody>
          <a:bodyPr wrap="square">
            <a:spAutoFit/>
          </a:bodyPr>
          <a:lstStyle/>
          <a:p>
            <a:pPr>
              <a:spcAft>
                <a:spcPts val="600"/>
              </a:spcAft>
              <a:defRPr sz="1400" b="1">
                <a:solidFill>
                  <a:srgbClr val="007B83"/>
                </a:solidFill>
                <a:latin typeface="Calibri"/>
              </a:defRPr>
            </a:pPr>
            <a:r>
              <a:t>▸  Dehydration severity? (Moderate — 7% dehydration; weight loss 700g/10kg = 7%)</a:t>
            </a:r>
          </a:p>
          <a:p>
            <a:pPr>
              <a:spcAft>
                <a:spcPts val="600"/>
              </a:spcAft>
              <a:defRPr sz="1400" b="1">
                <a:solidFill>
                  <a:srgbClr val="007B83"/>
                </a:solidFill>
                <a:latin typeface="Calibri"/>
              </a:defRPr>
            </a:pPr>
            <a:r>
              <a:t>▸  Initial management? (Ondansetron 1.5 mg ODT → then ORT: 100 mL/kg = 1000 mL over 4 hours by syringe)</a:t>
            </a:r>
          </a:p>
          <a:p>
            <a:pPr>
              <a:spcAft>
                <a:spcPts val="600"/>
              </a:spcAft>
              <a:defRPr sz="1400" b="1">
                <a:solidFill>
                  <a:srgbClr val="007B83"/>
                </a:solidFill>
                <a:latin typeface="Calibri"/>
              </a:defRPr>
            </a:pPr>
            <a:r>
              <a:t>▸  If ORT fails after 2 hours? (IV NS 20 mL/kg bolus → then calculate deficit + maintenance)</a:t>
            </a:r>
          </a:p>
          <a:p>
            <a:pPr>
              <a:spcAft>
                <a:spcPts val="600"/>
              </a:spcAft>
              <a:defRPr sz="1400" b="1">
                <a:solidFill>
                  <a:srgbClr val="007B83"/>
                </a:solidFill>
                <a:latin typeface="Calibri"/>
              </a:defRPr>
            </a:pPr>
            <a:r>
              <a:t>▸  Disposition if ORT succeeds? (Home with ORS instructions, strict return precautions for poor intake/lethargy)</a:t>
            </a:r>
          </a:p>
        </p:txBody>
      </p:sp>
      <p:sp>
        <p:nvSpPr>
          <p:cNvPr id="8" name="Rectangle 7"/>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Dehydration &amp; Rehydration</a:t>
            </a:r>
          </a:p>
        </p:txBody>
      </p:sp>
      <p:sp>
        <p:nvSpPr>
          <p:cNvPr id="10" name="TextBox 9"/>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E8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Dehydration Management Pitfalls</a:t>
            </a:r>
          </a:p>
        </p:txBody>
      </p:sp>
      <p:sp>
        <p:nvSpPr>
          <p:cNvPr id="5" name="Rounded Rectangle 4"/>
          <p:cNvSpPr/>
          <p:nvPr/>
        </p:nvSpPr>
        <p:spPr>
          <a:xfrm>
            <a:off x="457200" y="1280160"/>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6" name="TextBox 5"/>
          <p:cNvSpPr txBox="1"/>
          <p:nvPr/>
        </p:nvSpPr>
        <p:spPr>
          <a:xfrm>
            <a:off x="1097280" y="1280160"/>
            <a:ext cx="10515600" cy="548640"/>
          </a:xfrm>
          <a:prstGeom prst="rect">
            <a:avLst/>
          </a:prstGeom>
          <a:noFill/>
        </p:spPr>
        <p:txBody>
          <a:bodyPr wrap="square">
            <a:spAutoFit/>
          </a:bodyPr>
          <a:lstStyle/>
          <a:p>
            <a:pPr>
              <a:defRPr sz="1500">
                <a:solidFill>
                  <a:srgbClr val="3D4455"/>
                </a:solidFill>
                <a:latin typeface="Calibri"/>
              </a:defRPr>
            </a:pPr>
            <a:r>
              <a:t>Defaulting to IV fluids without trying ORT first — ORT is first-line for mild-moderate dehydration</a:t>
            </a:r>
          </a:p>
        </p:txBody>
      </p:sp>
      <p:sp>
        <p:nvSpPr>
          <p:cNvPr id="7" name="Rounded Rectangle 6"/>
          <p:cNvSpPr/>
          <p:nvPr/>
        </p:nvSpPr>
        <p:spPr>
          <a:xfrm>
            <a:off x="457200" y="1993391"/>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8" name="TextBox 7"/>
          <p:cNvSpPr txBox="1"/>
          <p:nvPr/>
        </p:nvSpPr>
        <p:spPr>
          <a:xfrm>
            <a:off x="1097280" y="1993391"/>
            <a:ext cx="10515600" cy="548640"/>
          </a:xfrm>
          <a:prstGeom prst="rect">
            <a:avLst/>
          </a:prstGeom>
          <a:noFill/>
        </p:spPr>
        <p:txBody>
          <a:bodyPr wrap="square">
            <a:spAutoFit/>
          </a:bodyPr>
          <a:lstStyle/>
          <a:p>
            <a:pPr>
              <a:defRPr sz="1500">
                <a:solidFill>
                  <a:srgbClr val="3D4455"/>
                </a:solidFill>
                <a:latin typeface="Calibri"/>
              </a:defRPr>
            </a:pPr>
            <a:r>
              <a:t>Using hypotonic maintenance fluids (D5 0.2NS) — use isotonic fluids per AAP guidelines</a:t>
            </a:r>
          </a:p>
        </p:txBody>
      </p:sp>
      <p:sp>
        <p:nvSpPr>
          <p:cNvPr id="9" name="Rounded Rectangle 8"/>
          <p:cNvSpPr/>
          <p:nvPr/>
        </p:nvSpPr>
        <p:spPr>
          <a:xfrm>
            <a:off x="457200" y="2706624"/>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10" name="TextBox 9"/>
          <p:cNvSpPr txBox="1"/>
          <p:nvPr/>
        </p:nvSpPr>
        <p:spPr>
          <a:xfrm>
            <a:off x="1097280" y="2706624"/>
            <a:ext cx="10515600" cy="548640"/>
          </a:xfrm>
          <a:prstGeom prst="rect">
            <a:avLst/>
          </a:prstGeom>
          <a:noFill/>
        </p:spPr>
        <p:txBody>
          <a:bodyPr wrap="square">
            <a:spAutoFit/>
          </a:bodyPr>
          <a:lstStyle/>
          <a:p>
            <a:pPr>
              <a:defRPr sz="1500">
                <a:solidFill>
                  <a:srgbClr val="3D4455"/>
                </a:solidFill>
                <a:latin typeface="Calibri"/>
              </a:defRPr>
            </a:pPr>
            <a:r>
              <a:t>Not giving ondansetron before ORT in a vomiting child — it dramatically improves ORT success</a:t>
            </a:r>
          </a:p>
        </p:txBody>
      </p:sp>
      <p:sp>
        <p:nvSpPr>
          <p:cNvPr id="11" name="Rounded Rectangle 10"/>
          <p:cNvSpPr/>
          <p:nvPr/>
        </p:nvSpPr>
        <p:spPr>
          <a:xfrm>
            <a:off x="457200" y="3419856"/>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12" name="TextBox 11"/>
          <p:cNvSpPr txBox="1"/>
          <p:nvPr/>
        </p:nvSpPr>
        <p:spPr>
          <a:xfrm>
            <a:off x="1097280" y="3419856"/>
            <a:ext cx="10515600" cy="548640"/>
          </a:xfrm>
          <a:prstGeom prst="rect">
            <a:avLst/>
          </a:prstGeom>
          <a:noFill/>
        </p:spPr>
        <p:txBody>
          <a:bodyPr wrap="square">
            <a:spAutoFit/>
          </a:bodyPr>
          <a:lstStyle/>
          <a:p>
            <a:pPr>
              <a:defRPr sz="1500">
                <a:solidFill>
                  <a:srgbClr val="3D4455"/>
                </a:solidFill>
                <a:latin typeface="Calibri"/>
              </a:defRPr>
            </a:pPr>
            <a:r>
              <a:t>Overestimating dehydration severity — studies show clinicians consistently overestimate</a:t>
            </a:r>
          </a:p>
        </p:txBody>
      </p:sp>
      <p:sp>
        <p:nvSpPr>
          <p:cNvPr id="13" name="Rounded Rectangle 12"/>
          <p:cNvSpPr/>
          <p:nvPr/>
        </p:nvSpPr>
        <p:spPr>
          <a:xfrm>
            <a:off x="457200" y="4133087"/>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14" name="TextBox 13"/>
          <p:cNvSpPr txBox="1"/>
          <p:nvPr/>
        </p:nvSpPr>
        <p:spPr>
          <a:xfrm>
            <a:off x="1097280" y="4133087"/>
            <a:ext cx="10515600" cy="548640"/>
          </a:xfrm>
          <a:prstGeom prst="rect">
            <a:avLst/>
          </a:prstGeom>
          <a:noFill/>
        </p:spPr>
        <p:txBody>
          <a:bodyPr wrap="square">
            <a:spAutoFit/>
          </a:bodyPr>
          <a:lstStyle/>
          <a:p>
            <a:pPr>
              <a:defRPr sz="1500">
                <a:solidFill>
                  <a:srgbClr val="3D4455"/>
                </a:solidFill>
                <a:latin typeface="Calibri"/>
              </a:defRPr>
            </a:pPr>
            <a:r>
              <a:t>Using inappropriate oral fluids: juice, soda, sports drinks, water — use ORS (balanced electrolytes)</a:t>
            </a:r>
          </a:p>
        </p:txBody>
      </p:sp>
      <p:sp>
        <p:nvSpPr>
          <p:cNvPr id="15" name="Rounded Rectangle 14"/>
          <p:cNvSpPr/>
          <p:nvPr/>
        </p:nvSpPr>
        <p:spPr>
          <a:xfrm>
            <a:off x="457200" y="4846320"/>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16" name="TextBox 15"/>
          <p:cNvSpPr txBox="1"/>
          <p:nvPr/>
        </p:nvSpPr>
        <p:spPr>
          <a:xfrm>
            <a:off x="1097280" y="4846320"/>
            <a:ext cx="10515600" cy="548640"/>
          </a:xfrm>
          <a:prstGeom prst="rect">
            <a:avLst/>
          </a:prstGeom>
          <a:noFill/>
        </p:spPr>
        <p:txBody>
          <a:bodyPr wrap="square">
            <a:spAutoFit/>
          </a:bodyPr>
          <a:lstStyle/>
          <a:p>
            <a:pPr>
              <a:defRPr sz="1500">
                <a:solidFill>
                  <a:srgbClr val="3D4455"/>
                </a:solidFill>
                <a:latin typeface="Calibri"/>
              </a:defRPr>
            </a:pPr>
            <a:r>
              <a:t>Not reassessing after fluid resuscitation — always reassess mental status, CRT, HR, urine output</a:t>
            </a:r>
          </a:p>
        </p:txBody>
      </p:sp>
      <p:sp>
        <p:nvSpPr>
          <p:cNvPr id="17" name="Rounded Rectangle 16"/>
          <p:cNvSpPr/>
          <p:nvPr/>
        </p:nvSpPr>
        <p:spPr>
          <a:xfrm>
            <a:off x="457200" y="5559552"/>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18" name="TextBox 17"/>
          <p:cNvSpPr txBox="1"/>
          <p:nvPr/>
        </p:nvSpPr>
        <p:spPr>
          <a:xfrm>
            <a:off x="1097280" y="5559552"/>
            <a:ext cx="10515600" cy="548640"/>
          </a:xfrm>
          <a:prstGeom prst="rect">
            <a:avLst/>
          </a:prstGeom>
          <a:noFill/>
        </p:spPr>
        <p:txBody>
          <a:bodyPr wrap="square">
            <a:spAutoFit/>
          </a:bodyPr>
          <a:lstStyle/>
          <a:p>
            <a:pPr>
              <a:defRPr sz="1500">
                <a:solidFill>
                  <a:srgbClr val="3D4455"/>
                </a:solidFill>
                <a:latin typeface="Calibri"/>
              </a:defRPr>
            </a:pPr>
            <a:r>
              <a:t>Forgetting to check glucose in lethargic, dehydrated children — hypoglycemia is common</a:t>
            </a:r>
          </a:p>
        </p:txBody>
      </p:sp>
      <p:sp>
        <p:nvSpPr>
          <p:cNvPr id="19" name="Rectangle 18"/>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Dehydration &amp; Rehydration</a:t>
            </a:r>
          </a:p>
        </p:txBody>
      </p:sp>
      <p:sp>
        <p:nvSpPr>
          <p:cNvPr id="21" name="TextBox 20"/>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731520"/>
            <a:ext cx="10058400" cy="457200"/>
          </a:xfrm>
          <a:prstGeom prst="rect">
            <a:avLst/>
          </a:prstGeom>
          <a:noFill/>
        </p:spPr>
        <p:txBody>
          <a:bodyPr wrap="none">
            <a:spAutoFit/>
          </a:bodyPr>
          <a:lstStyle/>
          <a:p>
            <a:pPr>
              <a:defRPr sz="1400" b="1">
                <a:solidFill>
                  <a:srgbClr val="007B83"/>
                </a:solidFill>
                <a:latin typeface="Calibri"/>
              </a:defRPr>
            </a:pPr>
            <a:r>
              <a:t>TAKE-HOME MESSAGES</a:t>
            </a:r>
          </a:p>
        </p:txBody>
      </p:sp>
      <p:sp>
        <p:nvSpPr>
          <p:cNvPr id="4" name="Rectangle 3"/>
          <p:cNvSpPr/>
          <p:nvPr/>
        </p:nvSpPr>
        <p:spPr>
          <a:xfrm>
            <a:off x="731520" y="1371600"/>
            <a:ext cx="2743200" cy="36576"/>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737360"/>
            <a:ext cx="457200" cy="457200"/>
          </a:xfrm>
          <a:prstGeom prst="rect">
            <a:avLst/>
          </a:prstGeom>
          <a:noFill/>
        </p:spPr>
        <p:txBody>
          <a:bodyPr wrap="none">
            <a:spAutoFit/>
          </a:bodyPr>
          <a:lstStyle/>
          <a:p>
            <a:pPr>
              <a:defRPr sz="2200" b="1">
                <a:solidFill>
                  <a:srgbClr val="007B83"/>
                </a:solidFill>
                <a:latin typeface="Calibri"/>
              </a:defRPr>
            </a:pPr>
            <a:r>
              <a:t>1</a:t>
            </a:r>
          </a:p>
        </p:txBody>
      </p:sp>
      <p:sp>
        <p:nvSpPr>
          <p:cNvPr id="6" name="TextBox 5"/>
          <p:cNvSpPr txBox="1"/>
          <p:nvPr/>
        </p:nvSpPr>
        <p:spPr>
          <a:xfrm>
            <a:off x="1371600" y="1737360"/>
            <a:ext cx="10058400" cy="640080"/>
          </a:xfrm>
          <a:prstGeom prst="rect">
            <a:avLst/>
          </a:prstGeom>
          <a:noFill/>
        </p:spPr>
        <p:txBody>
          <a:bodyPr wrap="square">
            <a:spAutoFit/>
          </a:bodyPr>
          <a:lstStyle/>
          <a:p>
            <a:pPr>
              <a:defRPr sz="1700">
                <a:solidFill>
                  <a:srgbClr val="FFFFFF"/>
                </a:solidFill>
                <a:latin typeface="Calibri"/>
              </a:defRPr>
            </a:pPr>
            <a:r>
              <a:t>ORT is first-line for mild-moderate dehydration — give ondansetron first if the child is vomiting</a:t>
            </a:r>
          </a:p>
        </p:txBody>
      </p:sp>
      <p:sp>
        <p:nvSpPr>
          <p:cNvPr id="7" name="TextBox 6"/>
          <p:cNvSpPr txBox="1"/>
          <p:nvPr/>
        </p:nvSpPr>
        <p:spPr>
          <a:xfrm>
            <a:off x="731520" y="2514600"/>
            <a:ext cx="457200" cy="457200"/>
          </a:xfrm>
          <a:prstGeom prst="rect">
            <a:avLst/>
          </a:prstGeom>
          <a:noFill/>
        </p:spPr>
        <p:txBody>
          <a:bodyPr wrap="none">
            <a:spAutoFit/>
          </a:bodyPr>
          <a:lstStyle/>
          <a:p>
            <a:pPr>
              <a:defRPr sz="2200" b="1">
                <a:solidFill>
                  <a:srgbClr val="007B83"/>
                </a:solidFill>
                <a:latin typeface="Calibri"/>
              </a:defRPr>
            </a:pPr>
            <a:r>
              <a:t>2</a:t>
            </a:r>
          </a:p>
        </p:txBody>
      </p:sp>
      <p:sp>
        <p:nvSpPr>
          <p:cNvPr id="8" name="TextBox 7"/>
          <p:cNvSpPr txBox="1"/>
          <p:nvPr/>
        </p:nvSpPr>
        <p:spPr>
          <a:xfrm>
            <a:off x="1371600" y="2514600"/>
            <a:ext cx="10058400" cy="640080"/>
          </a:xfrm>
          <a:prstGeom prst="rect">
            <a:avLst/>
          </a:prstGeom>
          <a:noFill/>
        </p:spPr>
        <p:txBody>
          <a:bodyPr wrap="square">
            <a:spAutoFit/>
          </a:bodyPr>
          <a:lstStyle/>
          <a:p>
            <a:pPr>
              <a:defRPr sz="1700">
                <a:solidFill>
                  <a:srgbClr val="FFFFFF"/>
                </a:solidFill>
                <a:latin typeface="Calibri"/>
              </a:defRPr>
            </a:pPr>
            <a:r>
              <a:t>Syringe technique: 5-10 mL every 2-3 minutes = ~150 mL/hour — effective and painless</a:t>
            </a:r>
          </a:p>
        </p:txBody>
      </p:sp>
      <p:sp>
        <p:nvSpPr>
          <p:cNvPr id="9" name="TextBox 8"/>
          <p:cNvSpPr txBox="1"/>
          <p:nvPr/>
        </p:nvSpPr>
        <p:spPr>
          <a:xfrm>
            <a:off x="731520" y="3291839"/>
            <a:ext cx="457200" cy="457200"/>
          </a:xfrm>
          <a:prstGeom prst="rect">
            <a:avLst/>
          </a:prstGeom>
          <a:noFill/>
        </p:spPr>
        <p:txBody>
          <a:bodyPr wrap="none">
            <a:spAutoFit/>
          </a:bodyPr>
          <a:lstStyle/>
          <a:p>
            <a:pPr>
              <a:defRPr sz="2200" b="1">
                <a:solidFill>
                  <a:srgbClr val="007B83"/>
                </a:solidFill>
                <a:latin typeface="Calibri"/>
              </a:defRPr>
            </a:pPr>
            <a:r>
              <a:t>3</a:t>
            </a:r>
          </a:p>
        </p:txBody>
      </p:sp>
      <p:sp>
        <p:nvSpPr>
          <p:cNvPr id="10" name="TextBox 9"/>
          <p:cNvSpPr txBox="1"/>
          <p:nvPr/>
        </p:nvSpPr>
        <p:spPr>
          <a:xfrm>
            <a:off x="1371600" y="3291839"/>
            <a:ext cx="10058400" cy="640080"/>
          </a:xfrm>
          <a:prstGeom prst="rect">
            <a:avLst/>
          </a:prstGeom>
          <a:noFill/>
        </p:spPr>
        <p:txBody>
          <a:bodyPr wrap="square">
            <a:spAutoFit/>
          </a:bodyPr>
          <a:lstStyle/>
          <a:p>
            <a:pPr>
              <a:defRPr sz="1700">
                <a:solidFill>
                  <a:srgbClr val="FFFFFF"/>
                </a:solidFill>
                <a:latin typeface="Calibri"/>
              </a:defRPr>
            </a:pPr>
            <a:r>
              <a:t>Use isotonic maintenance fluids (D5NS) per 2018 AAP guidelines — hypotonic fluids cause iatrogenic hyponatremia</a:t>
            </a:r>
          </a:p>
        </p:txBody>
      </p:sp>
      <p:sp>
        <p:nvSpPr>
          <p:cNvPr id="11" name="TextBox 10"/>
          <p:cNvSpPr txBox="1"/>
          <p:nvPr/>
        </p:nvSpPr>
        <p:spPr>
          <a:xfrm>
            <a:off x="731520" y="4069079"/>
            <a:ext cx="457200" cy="457200"/>
          </a:xfrm>
          <a:prstGeom prst="rect">
            <a:avLst/>
          </a:prstGeom>
          <a:noFill/>
        </p:spPr>
        <p:txBody>
          <a:bodyPr wrap="none">
            <a:spAutoFit/>
          </a:bodyPr>
          <a:lstStyle/>
          <a:p>
            <a:pPr>
              <a:defRPr sz="2200" b="1">
                <a:solidFill>
                  <a:srgbClr val="007B83"/>
                </a:solidFill>
                <a:latin typeface="Calibri"/>
              </a:defRPr>
            </a:pPr>
            <a:r>
              <a:t>4</a:t>
            </a:r>
          </a:p>
        </p:txBody>
      </p:sp>
      <p:sp>
        <p:nvSpPr>
          <p:cNvPr id="12" name="TextBox 11"/>
          <p:cNvSpPr txBox="1"/>
          <p:nvPr/>
        </p:nvSpPr>
        <p:spPr>
          <a:xfrm>
            <a:off x="1371600" y="4069079"/>
            <a:ext cx="10058400" cy="640080"/>
          </a:xfrm>
          <a:prstGeom prst="rect">
            <a:avLst/>
          </a:prstGeom>
          <a:noFill/>
        </p:spPr>
        <p:txBody>
          <a:bodyPr wrap="square">
            <a:spAutoFit/>
          </a:bodyPr>
          <a:lstStyle/>
          <a:p>
            <a:pPr>
              <a:defRPr sz="1700">
                <a:solidFill>
                  <a:srgbClr val="FFFFFF"/>
                </a:solidFill>
                <a:latin typeface="Calibri"/>
              </a:defRPr>
            </a:pPr>
            <a:r>
              <a:t>Severe dehydration or shock: NS 20 mL/kg bolus, reassess, repeat as needed</a:t>
            </a:r>
          </a:p>
        </p:txBody>
      </p:sp>
      <p:sp>
        <p:nvSpPr>
          <p:cNvPr id="13" name="TextBox 12"/>
          <p:cNvSpPr txBox="1"/>
          <p:nvPr/>
        </p:nvSpPr>
        <p:spPr>
          <a:xfrm>
            <a:off x="731520" y="4846320"/>
            <a:ext cx="457200" cy="457200"/>
          </a:xfrm>
          <a:prstGeom prst="rect">
            <a:avLst/>
          </a:prstGeom>
          <a:noFill/>
        </p:spPr>
        <p:txBody>
          <a:bodyPr wrap="none">
            <a:spAutoFit/>
          </a:bodyPr>
          <a:lstStyle/>
          <a:p>
            <a:pPr>
              <a:defRPr sz="2200" b="1">
                <a:solidFill>
                  <a:srgbClr val="007B83"/>
                </a:solidFill>
                <a:latin typeface="Calibri"/>
              </a:defRPr>
            </a:pPr>
            <a:r>
              <a:t>5</a:t>
            </a:r>
          </a:p>
        </p:txBody>
      </p:sp>
      <p:sp>
        <p:nvSpPr>
          <p:cNvPr id="14" name="TextBox 13"/>
          <p:cNvSpPr txBox="1"/>
          <p:nvPr/>
        </p:nvSpPr>
        <p:spPr>
          <a:xfrm>
            <a:off x="1371600" y="4846320"/>
            <a:ext cx="10058400" cy="640080"/>
          </a:xfrm>
          <a:prstGeom prst="rect">
            <a:avLst/>
          </a:prstGeom>
          <a:noFill/>
        </p:spPr>
        <p:txBody>
          <a:bodyPr wrap="square">
            <a:spAutoFit/>
          </a:bodyPr>
          <a:lstStyle/>
          <a:p>
            <a:pPr>
              <a:defRPr sz="1700">
                <a:solidFill>
                  <a:srgbClr val="FFFFFF"/>
                </a:solidFill>
                <a:latin typeface="Calibri"/>
              </a:defRPr>
            </a:pPr>
            <a:r>
              <a:t>Always check glucose in lethargic, dehydrated children — hypoglycemia is common and treatable</a:t>
            </a:r>
          </a:p>
        </p:txBody>
      </p:sp>
      <p:sp>
        <p:nvSpPr>
          <p:cNvPr id="15" name="Rectangle 14"/>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Dehydration &amp; Rehydration</a:t>
            </a:r>
          </a:p>
        </p:txBody>
      </p:sp>
      <p:sp>
        <p:nvSpPr>
          <p:cNvPr id="17" name="TextBox 16"/>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References</a:t>
            </a:r>
          </a:p>
        </p:txBody>
      </p:sp>
      <p:sp>
        <p:nvSpPr>
          <p:cNvPr id="5" name="TextBox 4"/>
          <p:cNvSpPr txBox="1"/>
          <p:nvPr/>
        </p:nvSpPr>
        <p:spPr>
          <a:xfrm>
            <a:off x="731520" y="1280160"/>
            <a:ext cx="10515600" cy="4846320"/>
          </a:xfrm>
          <a:prstGeom prst="rect">
            <a:avLst/>
          </a:prstGeom>
          <a:noFill/>
        </p:spPr>
        <p:txBody>
          <a:bodyPr wrap="square">
            <a:spAutoFit/>
          </a:bodyPr>
          <a:lstStyle/>
          <a:p>
            <a:pPr>
              <a:spcAft>
                <a:spcPts val="400"/>
              </a:spcAft>
              <a:defRPr sz="1100">
                <a:solidFill>
                  <a:srgbClr val="3D4455"/>
                </a:solidFill>
                <a:latin typeface="Calibri"/>
              </a:defRPr>
            </a:pPr>
            <a:r>
              <a:t>1. Freedman SB, et al. Oral ondansetron for gastroenteritis in a pediatric emergency department. N Engl J Med. 2006;354(16):1698-1705.</a:t>
            </a:r>
          </a:p>
          <a:p>
            <a:pPr>
              <a:spcAft>
                <a:spcPts val="400"/>
              </a:spcAft>
              <a:defRPr sz="1100">
                <a:solidFill>
                  <a:srgbClr val="3D4455"/>
                </a:solidFill>
                <a:latin typeface="Calibri"/>
              </a:defRPr>
            </a:pPr>
            <a:r>
              <a:t>2. Feld LG, et al. Clinical practice guideline: maintenance intravenous fluids in children. Pediatrics. 2018;142(6):e20183083.</a:t>
            </a:r>
          </a:p>
          <a:p>
            <a:pPr>
              <a:spcAft>
                <a:spcPts val="400"/>
              </a:spcAft>
              <a:defRPr sz="1100">
                <a:solidFill>
                  <a:srgbClr val="3D4455"/>
                </a:solidFill>
                <a:latin typeface="Calibri"/>
              </a:defRPr>
            </a:pPr>
            <a:r>
              <a:t>3. Freedman SB, et al. Gastroenteritis therapies in developed countries: systematic review and meta-analysis. PLoS One. 2015;10(6):e0128754.</a:t>
            </a:r>
          </a:p>
          <a:p>
            <a:pPr>
              <a:spcAft>
                <a:spcPts val="400"/>
              </a:spcAft>
              <a:defRPr sz="1100">
                <a:solidFill>
                  <a:srgbClr val="3D4455"/>
                </a:solidFill>
                <a:latin typeface="Calibri"/>
              </a:defRPr>
            </a:pPr>
            <a:r>
              <a:t>4. Hartling L, et al. Oral versus intravenous rehydration for treating dehydration due to gastroenteritis in children. Cochrane Database Syst Rev. 2006;3:CD004390.</a:t>
            </a:r>
          </a:p>
          <a:p>
            <a:pPr>
              <a:spcAft>
                <a:spcPts val="400"/>
              </a:spcAft>
              <a:defRPr sz="1100">
                <a:solidFill>
                  <a:srgbClr val="3D4455"/>
                </a:solidFill>
                <a:latin typeface="Calibri"/>
              </a:defRPr>
            </a:pPr>
            <a:r>
              <a:t>5. Pringle K, et al. Comparing the accuracy of the three popular clinical dehydration scales in children with diarrhea. Int J Emerg Med. 2011;4:58.</a:t>
            </a:r>
          </a:p>
          <a:p>
            <a:pPr>
              <a:spcAft>
                <a:spcPts val="400"/>
              </a:spcAft>
              <a:defRPr sz="1100">
                <a:solidFill>
                  <a:srgbClr val="3D4455"/>
                </a:solidFill>
                <a:latin typeface="Calibri"/>
              </a:defRPr>
            </a:pPr>
            <a:r>
              <a:t>6. WHO/UNICEF. Clinical Management of Acute Diarrhoea. WHO/UNICEF Joint Statement; 2004.</a:t>
            </a:r>
          </a:p>
        </p:txBody>
      </p:sp>
      <p:sp>
        <p:nvSpPr>
          <p:cNvPr id="6" name="Rectangle 5"/>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Dehydration &amp; Rehydration</a:t>
            </a:r>
          </a:p>
        </p:txBody>
      </p:sp>
      <p:sp>
        <p:nvSpPr>
          <p:cNvPr id="8" name="TextBox 7"/>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0" y="2286000"/>
            <a:ext cx="8229600" cy="1371600"/>
          </a:xfrm>
          <a:prstGeom prst="rect">
            <a:avLst/>
          </a:prstGeom>
          <a:noFill/>
        </p:spPr>
        <p:txBody>
          <a:bodyPr wrap="none">
            <a:spAutoFit/>
          </a:bodyPr>
          <a:lstStyle/>
          <a:p>
            <a:pPr algn="ctr">
              <a:defRPr sz="3600" b="1">
                <a:solidFill>
                  <a:srgbClr val="FFFFFF"/>
                </a:solidFill>
                <a:latin typeface="Calibri"/>
              </a:defRPr>
            </a:pPr>
            <a:r>
              <a:t>Questions &amp; Discussion</a:t>
            </a:r>
          </a:p>
        </p:txBody>
      </p:sp>
      <p:sp>
        <p:nvSpPr>
          <p:cNvPr id="4" name="TextBox 3"/>
          <p:cNvSpPr txBox="1"/>
          <p:nvPr/>
        </p:nvSpPr>
        <p:spPr>
          <a:xfrm>
            <a:off x="1828800" y="3840480"/>
            <a:ext cx="8229600" cy="914400"/>
          </a:xfrm>
          <a:prstGeom prst="rect">
            <a:avLst/>
          </a:prstGeom>
          <a:noFill/>
        </p:spPr>
        <p:txBody>
          <a:bodyPr wrap="none">
            <a:spAutoFit/>
          </a:bodyPr>
          <a:lstStyle/>
          <a:p>
            <a:pPr algn="ctr">
              <a:defRPr sz="1600">
                <a:solidFill>
                  <a:srgbClr val="00A3AD"/>
                </a:solidFill>
                <a:latin typeface="Calibri"/>
              </a:defRPr>
            </a:pPr>
            <a:r>
              <a:t>PEM Fellow Teaching Library</a:t>
            </a:r>
          </a:p>
        </p:txBody>
      </p:sp>
      <p:sp>
        <p:nvSpPr>
          <p:cNvPr id="5" name="Rectangle 4"/>
          <p:cNvSpPr/>
          <p:nvPr/>
        </p:nvSpPr>
        <p:spPr>
          <a:xfrm>
            <a:off x="4572000" y="3657600"/>
            <a:ext cx="3017520" cy="36576"/>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