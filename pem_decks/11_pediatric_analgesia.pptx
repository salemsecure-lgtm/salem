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strong. The literature is clear that children are systematically undertreated for pain, particularly younger children, non-verbal children, and children of color. This is not acceptable. Frame the entire lecture around the principle that undertreating pain is an active failure, not a conservative approach.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right tool for the right age. Self-report is the gold standard when available (NRS for older children). For pre-verbal children, FLACC is the standard observational tool. For children with cognitive impairment, use the revised FLACC with parent input on individualized pain behaviors. Document the score, treat, then reassess.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framework should be internalized. The principle: layer your analgesia. Start with the foundation (non-pharmacologic + topical) and build up based on pain severity. The combination of ibuprofen + acetaminophen is as effective as ibuprofen + codeine for many painful conditions. Intranasal fentanyl is a game-changer — fast onset, no IV needed, bridge to definitive analgesia.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dosing quick-reference. Key pearls: Ibuprofen + acetaminophen together is a powerhouse — give both. Intranasal fentanyl using the MAD device is one of the most useful skills in PEM. Sub-dissociative ketamine (0.3 mg/kg IV over 15 min) provides excellent analgesia without full dissociation.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anesthesia is a growing field in PEM. The fascia iliaca block is the easiest to learn and most impactful — it provides excellent analgesia for femur fractures, which are among the most painful injuries in children. With ultrasound guidance, these blocks are safe and effective. If your fellowship program offers block training, prioritize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NOT that opioids are bad. The point is that multimodal analgesia reduces the NEED for opioids. When opioids are indicated, give them. Do not let fear of opioids cause undertreating severe pain. A child with a femur fracture and NRS 9 needs opioids — and a nerve block — and ibuprofen. Layer everything.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Child life specialists are invaluable. If your department has them, use them for every painful procedure. Distraction has Level 1 evidence for reducing procedural pain and distress. Sucrose for neonates is one of the most well-studied interventions in PEM — it works, it is safe, and it is easy. But these are adjuncts — do not use distraction INSTEAD of analgesia.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perfect case for demonstrating layered multimodal analgesia. The child arrives in severe pain with no IV — intranasal fentanyl is the bridge. Then add oral ibuprofen + acetaminophen as the foundation. Then consider hematoma block for focal analgesia. Finally, procedural sedation for the reduction. Each layer builds on the previous.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codeine warning is critical: CYP2D6 ultra-rapid metabolizers convert codeine to morphine at dangerous levels. Multiple pediatric deaths have occurred. Codeine should NOT be used in children. Tramadol carries similar concerns. The abdominal pain myth is the most harmful — multiple RCTs show analgesia does not impair surgical evaluation.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11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Pediatric Analgesia in the ED</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Multimodal Pain Management, Regional Anesthesia, and Opioid-Sparing Strategies</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Assess pain accurately in children across all developmental stages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Build a multimodal analgesia plan tailored to pain type and severity</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Perform common ED nerve blocks: femoral, fascia iliaca, digital, hematoma block</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Apply opioid-sparing strategies without undertreating pain</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Manage procedural pain and distress using non-pharmacologic and pharmacologic approaches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The Problem: Oligoanalgesia in Pediatric Emergency Medicine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Children receive less analgesia than adults for the same conditions — well-documented disparity</a:t>
            </a:r>
          </a:p>
          <a:p>
            <a:pPr>
              <a:spcBef>
                <a:spcPts val="400"/>
              </a:spcBef>
              <a:spcAft>
                <a:spcPts val="600"/>
              </a:spcAft>
              <a:defRPr sz="1600">
                <a:solidFill>
                  <a:srgbClr val="3D4455"/>
                </a:solidFill>
                <a:latin typeface="Calibri"/>
              </a:defRPr>
            </a:pPr>
            <a:r>
              <a:t>Barriers: fear of opioids in children, difficulty assessing pain, "they will cry anyway"</a:t>
            </a:r>
          </a:p>
          <a:p>
            <a:pPr>
              <a:spcBef>
                <a:spcPts val="400"/>
              </a:spcBef>
              <a:spcAft>
                <a:spcPts val="600"/>
              </a:spcAft>
              <a:defRPr sz="1600">
                <a:solidFill>
                  <a:srgbClr val="3D4455"/>
                </a:solidFill>
                <a:latin typeface="Calibri"/>
              </a:defRPr>
            </a:pPr>
            <a:r>
              <a:t>Pain is the most common reason children present to the ED</a:t>
            </a:r>
          </a:p>
          <a:p>
            <a:pPr>
              <a:spcBef>
                <a:spcPts val="400"/>
              </a:spcBef>
              <a:spcAft>
                <a:spcPts val="600"/>
              </a:spcAft>
              <a:defRPr sz="1600">
                <a:solidFill>
                  <a:srgbClr val="3D4455"/>
                </a:solidFill>
                <a:latin typeface="Calibri"/>
              </a:defRPr>
            </a:pPr>
            <a:r>
              <a:t>Untreated pain causes: physiologic stress, psychological trauma, prolonged ED stay</a:t>
            </a:r>
          </a:p>
          <a:p>
            <a:pPr>
              <a:spcBef>
                <a:spcPts val="400"/>
              </a:spcBef>
              <a:spcAft>
                <a:spcPts val="600"/>
              </a:spcAft>
              <a:defRPr sz="1600">
                <a:solidFill>
                  <a:srgbClr val="3D4455"/>
                </a:solidFill>
                <a:latin typeface="Calibri"/>
              </a:defRPr>
            </a:pPr>
            <a:r>
              <a:t>GOAL: treat pain early, effectively, and multimodally — then reassess</a:t>
            </a:r>
          </a:p>
          <a:p>
            <a:pPr lvl="1">
              <a:spcBef>
                <a:spcPts val="400"/>
              </a:spcBef>
              <a:spcAft>
                <a:spcPts val="600"/>
              </a:spcAft>
              <a:defRPr sz="1400">
                <a:solidFill>
                  <a:srgbClr val="8A92A3"/>
                </a:solidFill>
                <a:latin typeface="Calibri"/>
              </a:defRPr>
            </a:pPr>
            <a:r>
              <a:t>Oligoanalgesia is not conservative. It is harm.</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Age-Appropriate Pain Assessment Tools</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Age Group</a:t>
                      </a:r>
                    </a:p>
                  </a:txBody>
                  <a:tcPr>
                    <a:solidFill>
                      <a:srgbClr val="007B83"/>
                    </a:solidFill>
                  </a:tcPr>
                </a:tc>
                <a:tc>
                  <a:txBody>
                    <a:bodyPr/>
                    <a:lstStyle/>
                    <a:p>
                      <a:pPr algn="ctr">
                        <a:defRPr sz="1300" b="1">
                          <a:solidFill>
                            <a:srgbClr val="FFFFFF"/>
                          </a:solidFill>
                          <a:latin typeface="Calibri"/>
                        </a:defRPr>
                      </a:pPr>
                      <a:r>
                        <a:t>Tool</a:t>
                      </a:r>
                    </a:p>
                  </a:txBody>
                  <a:tcPr>
                    <a:solidFill>
                      <a:srgbClr val="007B83"/>
                    </a:solidFill>
                  </a:tcPr>
                </a:tc>
                <a:tc>
                  <a:txBody>
                    <a:bodyPr/>
                    <a:lstStyle/>
                    <a:p>
                      <a:pPr algn="ctr">
                        <a:defRPr sz="1300" b="1">
                          <a:solidFill>
                            <a:srgbClr val="FFFFFF"/>
                          </a:solidFill>
                          <a:latin typeface="Calibri"/>
                        </a:defRPr>
                      </a:pPr>
                      <a:r>
                        <a:t>Scale</a:t>
                      </a:r>
                    </a:p>
                  </a:txBody>
                  <a:tcPr>
                    <a:solidFill>
                      <a:srgbClr val="007B83"/>
                    </a:solidFill>
                  </a:tcPr>
                </a:tc>
                <a:tc>
                  <a:txBody>
                    <a:bodyPr/>
                    <a:lstStyle/>
                    <a:p>
                      <a:pPr algn="ctr">
                        <a:defRPr sz="1300" b="1">
                          <a:solidFill>
                            <a:srgbClr val="FFFFFF"/>
                          </a:solidFill>
                          <a:latin typeface="Calibri"/>
                        </a:defRPr>
                      </a:pPr>
                      <a:r>
                        <a:t>Key Points</a:t>
                      </a:r>
                    </a:p>
                  </a:txBody>
                  <a:tcPr>
                    <a:solidFill>
                      <a:srgbClr val="007B83"/>
                    </a:solidFill>
                  </a:tcPr>
                </a:tc>
              </a:tr>
              <a:tr h="457200">
                <a:tc>
                  <a:txBody>
                    <a:bodyPr/>
                    <a:lstStyle/>
                    <a:p>
                      <a:pPr algn="l">
                        <a:defRPr sz="1200">
                          <a:solidFill>
                            <a:srgbClr val="3D4455"/>
                          </a:solidFill>
                          <a:latin typeface="Calibri"/>
                        </a:defRPr>
                      </a:pPr>
                      <a:r>
                        <a:t>Neonates</a:t>
                      </a:r>
                    </a:p>
                  </a:txBody>
                  <a:tcPr>
                    <a:solidFill>
                      <a:srgbClr val="F5F6FA"/>
                    </a:solidFill>
                  </a:tcPr>
                </a:tc>
                <a:tc>
                  <a:txBody>
                    <a:bodyPr/>
                    <a:lstStyle/>
                    <a:p>
                      <a:pPr algn="l">
                        <a:defRPr sz="1200">
                          <a:solidFill>
                            <a:srgbClr val="3D4455"/>
                          </a:solidFill>
                          <a:latin typeface="Calibri"/>
                        </a:defRPr>
                      </a:pPr>
                      <a:r>
                        <a:t>NIPS (Neonatal Infant Pain Scale)</a:t>
                      </a:r>
                    </a:p>
                  </a:txBody>
                  <a:tcPr>
                    <a:solidFill>
                      <a:srgbClr val="F5F6FA"/>
                    </a:solidFill>
                  </a:tcPr>
                </a:tc>
                <a:tc>
                  <a:txBody>
                    <a:bodyPr/>
                    <a:lstStyle/>
                    <a:p>
                      <a:pPr algn="l">
                        <a:defRPr sz="1200">
                          <a:solidFill>
                            <a:srgbClr val="3D4455"/>
                          </a:solidFill>
                          <a:latin typeface="Calibri"/>
                        </a:defRPr>
                      </a:pPr>
                      <a:r>
                        <a:t>0-7</a:t>
                      </a:r>
                    </a:p>
                  </a:txBody>
                  <a:tcPr>
                    <a:solidFill>
                      <a:srgbClr val="F5F6FA"/>
                    </a:solidFill>
                  </a:tcPr>
                </a:tc>
                <a:tc>
                  <a:txBody>
                    <a:bodyPr/>
                    <a:lstStyle/>
                    <a:p>
                      <a:pPr algn="l">
                        <a:defRPr sz="1200">
                          <a:solidFill>
                            <a:srgbClr val="3D4455"/>
                          </a:solidFill>
                          <a:latin typeface="Calibri"/>
                        </a:defRPr>
                      </a:pPr>
                      <a:r>
                        <a:t>Facial expression, cry, breathing, arm/leg movement, alertness</a:t>
                      </a:r>
                    </a:p>
                  </a:txBody>
                  <a:tcPr>
                    <a:solidFill>
                      <a:srgbClr val="F5F6FA"/>
                    </a:solidFill>
                  </a:tcPr>
                </a:tc>
              </a:tr>
              <a:tr h="457200">
                <a:tc>
                  <a:txBody>
                    <a:bodyPr/>
                    <a:lstStyle/>
                    <a:p>
                      <a:pPr algn="l">
                        <a:defRPr sz="1200">
                          <a:solidFill>
                            <a:srgbClr val="3D4455"/>
                          </a:solidFill>
                          <a:latin typeface="Calibri"/>
                        </a:defRPr>
                      </a:pPr>
                      <a:r>
                        <a:t>0-3 years</a:t>
                      </a:r>
                    </a:p>
                  </a:txBody>
                  <a:tcPr>
                    <a:solidFill>
                      <a:srgbClr val="FFFFFF"/>
                    </a:solidFill>
                  </a:tcPr>
                </a:tc>
                <a:tc>
                  <a:txBody>
                    <a:bodyPr/>
                    <a:lstStyle/>
                    <a:p>
                      <a:pPr algn="l">
                        <a:defRPr sz="1200">
                          <a:solidFill>
                            <a:srgbClr val="3D4455"/>
                          </a:solidFill>
                          <a:latin typeface="Calibri"/>
                        </a:defRPr>
                      </a:pPr>
                      <a:r>
                        <a:t>FLACC</a:t>
                      </a:r>
                    </a:p>
                  </a:txBody>
                  <a:tcPr>
                    <a:solidFill>
                      <a:srgbClr val="FFFFFF"/>
                    </a:solidFill>
                  </a:tcPr>
                </a:tc>
                <a:tc>
                  <a:txBody>
                    <a:bodyPr/>
                    <a:lstStyle/>
                    <a:p>
                      <a:pPr algn="l">
                        <a:defRPr sz="1200">
                          <a:solidFill>
                            <a:srgbClr val="3D4455"/>
                          </a:solidFill>
                          <a:latin typeface="Calibri"/>
                        </a:defRPr>
                      </a:pPr>
                      <a:r>
                        <a:t>0-10</a:t>
                      </a:r>
                    </a:p>
                  </a:txBody>
                  <a:tcPr>
                    <a:solidFill>
                      <a:srgbClr val="FFFFFF"/>
                    </a:solidFill>
                  </a:tcPr>
                </a:tc>
                <a:tc>
                  <a:txBody>
                    <a:bodyPr/>
                    <a:lstStyle/>
                    <a:p>
                      <a:pPr algn="l">
                        <a:defRPr sz="1200">
                          <a:solidFill>
                            <a:srgbClr val="3D4455"/>
                          </a:solidFill>
                          <a:latin typeface="Calibri"/>
                        </a:defRPr>
                      </a:pPr>
                      <a:r>
                        <a:t>Face, Legs, Activity, Cry, Consolability — observational</a:t>
                      </a:r>
                    </a:p>
                  </a:txBody>
                  <a:tcPr>
                    <a:solidFill>
                      <a:srgbClr val="FFFFFF"/>
                    </a:solidFill>
                  </a:tcPr>
                </a:tc>
              </a:tr>
              <a:tr h="457200">
                <a:tc>
                  <a:txBody>
                    <a:bodyPr/>
                    <a:lstStyle/>
                    <a:p>
                      <a:pPr algn="l">
                        <a:defRPr sz="1200">
                          <a:solidFill>
                            <a:srgbClr val="3D4455"/>
                          </a:solidFill>
                          <a:latin typeface="Calibri"/>
                        </a:defRPr>
                      </a:pPr>
                      <a:r>
                        <a:t>3-7 years</a:t>
                      </a:r>
                    </a:p>
                  </a:txBody>
                  <a:tcPr>
                    <a:solidFill>
                      <a:srgbClr val="F5F6FA"/>
                    </a:solidFill>
                  </a:tcPr>
                </a:tc>
                <a:tc>
                  <a:txBody>
                    <a:bodyPr/>
                    <a:lstStyle/>
                    <a:p>
                      <a:pPr algn="l">
                        <a:defRPr sz="1200">
                          <a:solidFill>
                            <a:srgbClr val="3D4455"/>
                          </a:solidFill>
                          <a:latin typeface="Calibri"/>
                        </a:defRPr>
                      </a:pPr>
                      <a:r>
                        <a:t>Wong-Baker FACES</a:t>
                      </a:r>
                    </a:p>
                  </a:txBody>
                  <a:tcPr>
                    <a:solidFill>
                      <a:srgbClr val="F5F6FA"/>
                    </a:solidFill>
                  </a:tcPr>
                </a:tc>
                <a:tc>
                  <a:txBody>
                    <a:bodyPr/>
                    <a:lstStyle/>
                    <a:p>
                      <a:pPr algn="l">
                        <a:defRPr sz="1200">
                          <a:solidFill>
                            <a:srgbClr val="3D4455"/>
                          </a:solidFill>
                          <a:latin typeface="Calibri"/>
                        </a:defRPr>
                      </a:pPr>
                      <a:r>
                        <a:t>0-10</a:t>
                      </a:r>
                    </a:p>
                  </a:txBody>
                  <a:tcPr>
                    <a:solidFill>
                      <a:srgbClr val="F5F6FA"/>
                    </a:solidFill>
                  </a:tcPr>
                </a:tc>
                <a:tc>
                  <a:txBody>
                    <a:bodyPr/>
                    <a:lstStyle/>
                    <a:p>
                      <a:pPr algn="l">
                        <a:defRPr sz="1200">
                          <a:solidFill>
                            <a:srgbClr val="3D4455"/>
                          </a:solidFill>
                          <a:latin typeface="Calibri"/>
                        </a:defRPr>
                      </a:pPr>
                      <a:r>
                        <a:t>Point to the face that shows how you feel</a:t>
                      </a:r>
                    </a:p>
                  </a:txBody>
                  <a:tcPr>
                    <a:solidFill>
                      <a:srgbClr val="F5F6FA"/>
                    </a:solidFill>
                  </a:tcPr>
                </a:tc>
              </a:tr>
              <a:tr h="457200">
                <a:tc>
                  <a:txBody>
                    <a:bodyPr/>
                    <a:lstStyle/>
                    <a:p>
                      <a:pPr algn="l">
                        <a:defRPr sz="1200">
                          <a:solidFill>
                            <a:srgbClr val="3D4455"/>
                          </a:solidFill>
                          <a:latin typeface="Calibri"/>
                        </a:defRPr>
                      </a:pPr>
                      <a:r>
                        <a:t>7+ years</a:t>
                      </a:r>
                    </a:p>
                  </a:txBody>
                  <a:tcPr>
                    <a:solidFill>
                      <a:srgbClr val="FFFFFF"/>
                    </a:solidFill>
                  </a:tcPr>
                </a:tc>
                <a:tc>
                  <a:txBody>
                    <a:bodyPr/>
                    <a:lstStyle/>
                    <a:p>
                      <a:pPr algn="l">
                        <a:defRPr sz="1200">
                          <a:solidFill>
                            <a:srgbClr val="3D4455"/>
                          </a:solidFill>
                          <a:latin typeface="Calibri"/>
                        </a:defRPr>
                      </a:pPr>
                      <a:r>
                        <a:t>Numeric Rating Scale (NRS)</a:t>
                      </a:r>
                    </a:p>
                  </a:txBody>
                  <a:tcPr>
                    <a:solidFill>
                      <a:srgbClr val="FFFFFF"/>
                    </a:solidFill>
                  </a:tcPr>
                </a:tc>
                <a:tc>
                  <a:txBody>
                    <a:bodyPr/>
                    <a:lstStyle/>
                    <a:p>
                      <a:pPr algn="l">
                        <a:defRPr sz="1200">
                          <a:solidFill>
                            <a:srgbClr val="3D4455"/>
                          </a:solidFill>
                          <a:latin typeface="Calibri"/>
                        </a:defRPr>
                      </a:pPr>
                      <a:r>
                        <a:t>0-10</a:t>
                      </a:r>
                    </a:p>
                  </a:txBody>
                  <a:tcPr>
                    <a:solidFill>
                      <a:srgbClr val="FFFFFF"/>
                    </a:solidFill>
                  </a:tcPr>
                </a:tc>
                <a:tc>
                  <a:txBody>
                    <a:bodyPr/>
                    <a:lstStyle/>
                    <a:p>
                      <a:pPr algn="l">
                        <a:defRPr sz="1200">
                          <a:solidFill>
                            <a:srgbClr val="3D4455"/>
                          </a:solidFill>
                          <a:latin typeface="Calibri"/>
                        </a:defRPr>
                      </a:pPr>
                      <a:r>
                        <a:t>Self-report: "rate your pain 0 to 10"</a:t>
                      </a:r>
                    </a:p>
                  </a:txBody>
                  <a:tcPr>
                    <a:solidFill>
                      <a:srgbClr val="FFFFFF"/>
                    </a:solidFill>
                  </a:tcPr>
                </a:tc>
              </a:tr>
              <a:tr h="457200">
                <a:tc>
                  <a:txBody>
                    <a:bodyPr/>
                    <a:lstStyle/>
                    <a:p>
                      <a:pPr algn="l">
                        <a:defRPr sz="1200">
                          <a:solidFill>
                            <a:srgbClr val="3D4455"/>
                          </a:solidFill>
                          <a:latin typeface="Calibri"/>
                        </a:defRPr>
                      </a:pPr>
                      <a:r>
                        <a:t>Non-verbal/cognitive impairment</a:t>
                      </a:r>
                    </a:p>
                  </a:txBody>
                  <a:tcPr>
                    <a:solidFill>
                      <a:srgbClr val="F5F6FA"/>
                    </a:solidFill>
                  </a:tcPr>
                </a:tc>
                <a:tc>
                  <a:txBody>
                    <a:bodyPr/>
                    <a:lstStyle/>
                    <a:p>
                      <a:pPr algn="l">
                        <a:defRPr sz="1200">
                          <a:solidFill>
                            <a:srgbClr val="3D4455"/>
                          </a:solidFill>
                          <a:latin typeface="Calibri"/>
                        </a:defRPr>
                      </a:pPr>
                      <a:r>
                        <a:t>r-FLACC (revised)</a:t>
                      </a:r>
                    </a:p>
                  </a:txBody>
                  <a:tcPr>
                    <a:solidFill>
                      <a:srgbClr val="F5F6FA"/>
                    </a:solidFill>
                  </a:tcPr>
                </a:tc>
                <a:tc>
                  <a:txBody>
                    <a:bodyPr/>
                    <a:lstStyle/>
                    <a:p>
                      <a:pPr algn="l">
                        <a:defRPr sz="1200">
                          <a:solidFill>
                            <a:srgbClr val="3D4455"/>
                          </a:solidFill>
                          <a:latin typeface="Calibri"/>
                        </a:defRPr>
                      </a:pPr>
                      <a:r>
                        <a:t>0-10</a:t>
                      </a:r>
                    </a:p>
                  </a:txBody>
                  <a:tcPr>
                    <a:solidFill>
                      <a:srgbClr val="F5F6FA"/>
                    </a:solidFill>
                  </a:tcPr>
                </a:tc>
                <a:tc>
                  <a:txBody>
                    <a:bodyPr/>
                    <a:lstStyle/>
                    <a:p>
                      <a:pPr algn="l">
                        <a:defRPr sz="1200">
                          <a:solidFill>
                            <a:srgbClr val="3D4455"/>
                          </a:solidFill>
                          <a:latin typeface="Calibri"/>
                        </a:defRPr>
                      </a:pPr>
                      <a:r>
                        <a:t>Modified FLACC with individualized behaviors from caregivers</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Multimodal Analgesia Framework</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Step 1 — NON-PHARMACOLOGIC: Distraction, positioning, caregiver presence, child life, sucrose (neonates)</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Step 2 — TOPICAL/LOCAL: LET gel (lacerations), lidocaine cream (IV starts), buffered lidocaine injection</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Step 3 — ORAL NON-OPIOID: Ibuprofen 10 mg/kg + acetaminophen 15 mg/kg (best as combination)</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Step 4 — INTRANASAL: Fentanyl IN 1.5-2 mcg/kg (rapid onset, no IV needed)</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Step 5 — IV ANALGESIA: Ketorolac 0.5 mg/kg IV + morphine 0.1 mg/kg IV or ketamine 0.3 mg/kg IV</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Step 6 — REGIONAL ANESTHESIA: Nerve blocks (femoral, fascia iliaca, digital, etc.)</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Step 7 — PROCEDURAL SEDATION: For procedures requiring immobility and deeper analgesia</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Key Analgesic Dosing Reference</a:t>
            </a:r>
          </a:p>
        </p:txBody>
      </p:sp>
      <p:graphicFrame>
        <p:nvGraphicFramePr>
          <p:cNvPr id="5" name="Table 4"/>
          <p:cNvGraphicFramePr>
            <a:graphicFrameLocks noGrp="1"/>
          </p:cNvGraphicFramePr>
          <p:nvPr/>
        </p:nvGraphicFramePr>
        <p:xfrm>
          <a:off x="822960" y="1280160"/>
          <a:ext cx="10515600" cy="411480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57200">
                <a:tc>
                  <a:txBody>
                    <a:bodyPr/>
                    <a:lstStyle/>
                    <a:p>
                      <a:pPr algn="ctr">
                        <a:defRPr sz="1300" b="1">
                          <a:solidFill>
                            <a:srgbClr val="FFFFFF"/>
                          </a:solidFill>
                          <a:latin typeface="Calibri"/>
                        </a:defRPr>
                      </a:pPr>
                      <a:r>
                        <a:t>Drug</a:t>
                      </a:r>
                    </a:p>
                  </a:txBody>
                  <a:tcPr>
                    <a:solidFill>
                      <a:srgbClr val="007B83"/>
                    </a:solidFill>
                  </a:tcPr>
                </a:tc>
                <a:tc>
                  <a:txBody>
                    <a:bodyPr/>
                    <a:lstStyle/>
                    <a:p>
                      <a:pPr algn="ctr">
                        <a:defRPr sz="1300" b="1">
                          <a:solidFill>
                            <a:srgbClr val="FFFFFF"/>
                          </a:solidFill>
                          <a:latin typeface="Calibri"/>
                        </a:defRPr>
                      </a:pPr>
                      <a:r>
                        <a:t>Route</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Onset</a:t>
                      </a:r>
                    </a:p>
                  </a:txBody>
                  <a:tcPr>
                    <a:solidFill>
                      <a:srgbClr val="007B83"/>
                    </a:solidFill>
                  </a:tcPr>
                </a:tc>
                <a:tc>
                  <a:txBody>
                    <a:bodyPr/>
                    <a:lstStyle/>
                    <a:p>
                      <a:pPr algn="ctr">
                        <a:defRPr sz="1300" b="1">
                          <a:solidFill>
                            <a:srgbClr val="FFFFFF"/>
                          </a:solidFill>
                          <a:latin typeface="Calibri"/>
                        </a:defRPr>
                      </a:pPr>
                      <a:r>
                        <a:t>Duration</a:t>
                      </a:r>
                    </a:p>
                  </a:txBody>
                  <a:tcPr>
                    <a:solidFill>
                      <a:srgbClr val="007B83"/>
                    </a:solidFill>
                  </a:tcPr>
                </a:tc>
                <a:tc>
                  <a:txBody>
                    <a:bodyPr/>
                    <a:lstStyle/>
                    <a:p>
                      <a:pPr algn="ctr">
                        <a:defRPr sz="1300" b="1">
                          <a:solidFill>
                            <a:srgbClr val="FFFFFF"/>
                          </a:solidFill>
                          <a:latin typeface="Calibri"/>
                        </a:defRPr>
                      </a:pPr>
                      <a:r>
                        <a:t>Pearl</a:t>
                      </a:r>
                    </a:p>
                  </a:txBody>
                  <a:tcPr>
                    <a:solidFill>
                      <a:srgbClr val="007B83"/>
                    </a:solidFill>
                  </a:tcPr>
                </a:tc>
              </a:tr>
              <a:tr h="457200">
                <a:tc>
                  <a:txBody>
                    <a:bodyPr/>
                    <a:lstStyle/>
                    <a:p>
                      <a:pPr algn="l">
                        <a:defRPr sz="1200">
                          <a:solidFill>
                            <a:srgbClr val="3D4455"/>
                          </a:solidFill>
                          <a:latin typeface="Calibri"/>
                        </a:defRPr>
                      </a:pPr>
                      <a:r>
                        <a:t>Ibuprofen</a:t>
                      </a:r>
                    </a:p>
                  </a:txBody>
                  <a:tcPr>
                    <a:solidFill>
                      <a:srgbClr val="F5F6FA"/>
                    </a:solidFill>
                  </a:tcPr>
                </a:tc>
                <a:tc>
                  <a:txBody>
                    <a:bodyPr/>
                    <a:lstStyle/>
                    <a:p>
                      <a:pPr algn="l">
                        <a:defRPr sz="1200">
                          <a:solidFill>
                            <a:srgbClr val="3D4455"/>
                          </a:solidFill>
                          <a:latin typeface="Calibri"/>
                        </a:defRPr>
                      </a:pPr>
                      <a:r>
                        <a:t>PO</a:t>
                      </a:r>
                    </a:p>
                  </a:txBody>
                  <a:tcPr>
                    <a:solidFill>
                      <a:srgbClr val="F5F6FA"/>
                    </a:solidFill>
                  </a:tcPr>
                </a:tc>
                <a:tc>
                  <a:txBody>
                    <a:bodyPr/>
                    <a:lstStyle/>
                    <a:p>
                      <a:pPr algn="l">
                        <a:defRPr sz="1200">
                          <a:solidFill>
                            <a:srgbClr val="3D4455"/>
                          </a:solidFill>
                          <a:latin typeface="Calibri"/>
                        </a:defRPr>
                      </a:pPr>
                      <a:r>
                        <a:t>10 mg/kg (max 800)</a:t>
                      </a:r>
                    </a:p>
                  </a:txBody>
                  <a:tcPr>
                    <a:solidFill>
                      <a:srgbClr val="F5F6FA"/>
                    </a:solidFill>
                  </a:tcPr>
                </a:tc>
                <a:tc>
                  <a:txBody>
                    <a:bodyPr/>
                    <a:lstStyle/>
                    <a:p>
                      <a:pPr algn="l">
                        <a:defRPr sz="1200">
                          <a:solidFill>
                            <a:srgbClr val="3D4455"/>
                          </a:solidFill>
                          <a:latin typeface="Calibri"/>
                        </a:defRPr>
                      </a:pPr>
                      <a:r>
                        <a:t>30 min</a:t>
                      </a:r>
                    </a:p>
                  </a:txBody>
                  <a:tcPr>
                    <a:solidFill>
                      <a:srgbClr val="F5F6FA"/>
                    </a:solidFill>
                  </a:tcPr>
                </a:tc>
                <a:tc>
                  <a:txBody>
                    <a:bodyPr/>
                    <a:lstStyle/>
                    <a:p>
                      <a:pPr algn="l">
                        <a:defRPr sz="1200">
                          <a:solidFill>
                            <a:srgbClr val="3D4455"/>
                          </a:solidFill>
                          <a:latin typeface="Calibri"/>
                        </a:defRPr>
                      </a:pPr>
                      <a:r>
                        <a:t>6-8 h</a:t>
                      </a:r>
                    </a:p>
                  </a:txBody>
                  <a:tcPr>
                    <a:solidFill>
                      <a:srgbClr val="F5F6FA"/>
                    </a:solidFill>
                  </a:tcPr>
                </a:tc>
                <a:tc>
                  <a:txBody>
                    <a:bodyPr/>
                    <a:lstStyle/>
                    <a:p>
                      <a:pPr algn="l">
                        <a:defRPr sz="1200">
                          <a:solidFill>
                            <a:srgbClr val="3D4455"/>
                          </a:solidFill>
                          <a:latin typeface="Calibri"/>
                        </a:defRPr>
                      </a:pPr>
                      <a:r>
                        <a:t>Best oral analgesic for most ED pain</a:t>
                      </a:r>
                    </a:p>
                  </a:txBody>
                  <a:tcPr>
                    <a:solidFill>
                      <a:srgbClr val="F5F6FA"/>
                    </a:solidFill>
                  </a:tcPr>
                </a:tc>
              </a:tr>
              <a:tr h="457200">
                <a:tc>
                  <a:txBody>
                    <a:bodyPr/>
                    <a:lstStyle/>
                    <a:p>
                      <a:pPr algn="l">
                        <a:defRPr sz="1200">
                          <a:solidFill>
                            <a:srgbClr val="3D4455"/>
                          </a:solidFill>
                          <a:latin typeface="Calibri"/>
                        </a:defRPr>
                      </a:pPr>
                      <a:r>
                        <a:t>Acetaminophen</a:t>
                      </a:r>
                    </a:p>
                  </a:txBody>
                  <a:tcPr>
                    <a:solidFill>
                      <a:srgbClr val="FFFFFF"/>
                    </a:solidFill>
                  </a:tcPr>
                </a:tc>
                <a:tc>
                  <a:txBody>
                    <a:bodyPr/>
                    <a:lstStyle/>
                    <a:p>
                      <a:pPr algn="l">
                        <a:defRPr sz="1200">
                          <a:solidFill>
                            <a:srgbClr val="3D4455"/>
                          </a:solidFill>
                          <a:latin typeface="Calibri"/>
                        </a:defRPr>
                      </a:pPr>
                      <a:r>
                        <a:t>PO/PR</a:t>
                      </a:r>
                    </a:p>
                  </a:txBody>
                  <a:tcPr>
                    <a:solidFill>
                      <a:srgbClr val="FFFFFF"/>
                    </a:solidFill>
                  </a:tcPr>
                </a:tc>
                <a:tc>
                  <a:txBody>
                    <a:bodyPr/>
                    <a:lstStyle/>
                    <a:p>
                      <a:pPr algn="l">
                        <a:defRPr sz="1200">
                          <a:solidFill>
                            <a:srgbClr val="3D4455"/>
                          </a:solidFill>
                          <a:latin typeface="Calibri"/>
                        </a:defRPr>
                      </a:pPr>
                      <a:r>
                        <a:t>15 mg/kg (max 1g)</a:t>
                      </a:r>
                    </a:p>
                  </a:txBody>
                  <a:tcPr>
                    <a:solidFill>
                      <a:srgbClr val="FFFFFF"/>
                    </a:solidFill>
                  </a:tcPr>
                </a:tc>
                <a:tc>
                  <a:txBody>
                    <a:bodyPr/>
                    <a:lstStyle/>
                    <a:p>
                      <a:pPr algn="l">
                        <a:defRPr sz="1200">
                          <a:solidFill>
                            <a:srgbClr val="3D4455"/>
                          </a:solidFill>
                          <a:latin typeface="Calibri"/>
                        </a:defRPr>
                      </a:pPr>
                      <a:r>
                        <a:t>30-60 min</a:t>
                      </a:r>
                    </a:p>
                  </a:txBody>
                  <a:tcPr>
                    <a:solidFill>
                      <a:srgbClr val="FFFFFF"/>
                    </a:solidFill>
                  </a:tcPr>
                </a:tc>
                <a:tc>
                  <a:txBody>
                    <a:bodyPr/>
                    <a:lstStyle/>
                    <a:p>
                      <a:pPr algn="l">
                        <a:defRPr sz="1200">
                          <a:solidFill>
                            <a:srgbClr val="3D4455"/>
                          </a:solidFill>
                          <a:latin typeface="Calibri"/>
                        </a:defRPr>
                      </a:pPr>
                      <a:r>
                        <a:t>4-6 h</a:t>
                      </a:r>
                    </a:p>
                  </a:txBody>
                  <a:tcPr>
                    <a:solidFill>
                      <a:srgbClr val="FFFFFF"/>
                    </a:solidFill>
                  </a:tcPr>
                </a:tc>
                <a:tc>
                  <a:txBody>
                    <a:bodyPr/>
                    <a:lstStyle/>
                    <a:p>
                      <a:pPr algn="l">
                        <a:defRPr sz="1200">
                          <a:solidFill>
                            <a:srgbClr val="3D4455"/>
                          </a:solidFill>
                          <a:latin typeface="Calibri"/>
                        </a:defRPr>
                      </a:pPr>
                      <a:r>
                        <a:t>Combine with ibuprofen for synergy</a:t>
                      </a:r>
                    </a:p>
                  </a:txBody>
                  <a:tcPr>
                    <a:solidFill>
                      <a:srgbClr val="FFFFFF"/>
                    </a:solidFill>
                  </a:tcPr>
                </a:tc>
              </a:tr>
              <a:tr h="457200">
                <a:tc>
                  <a:txBody>
                    <a:bodyPr/>
                    <a:lstStyle/>
                    <a:p>
                      <a:pPr algn="l">
                        <a:defRPr sz="1200">
                          <a:solidFill>
                            <a:srgbClr val="3D4455"/>
                          </a:solidFill>
                          <a:latin typeface="Calibri"/>
                        </a:defRPr>
                      </a:pPr>
                      <a:r>
                        <a:t>Ketorolac</a:t>
                      </a:r>
                    </a:p>
                  </a:txBody>
                  <a:tcPr>
                    <a:solidFill>
                      <a:srgbClr val="F5F6FA"/>
                    </a:solidFill>
                  </a:tcPr>
                </a:tc>
                <a:tc>
                  <a:txBody>
                    <a:bodyPr/>
                    <a:lstStyle/>
                    <a:p>
                      <a:pPr algn="l">
                        <a:defRPr sz="1200">
                          <a:solidFill>
                            <a:srgbClr val="3D4455"/>
                          </a:solidFill>
                          <a:latin typeface="Calibri"/>
                        </a:defRPr>
                      </a:pPr>
                      <a:r>
                        <a:t>IV/IM</a:t>
                      </a:r>
                    </a:p>
                  </a:txBody>
                  <a:tcPr>
                    <a:solidFill>
                      <a:srgbClr val="F5F6FA"/>
                    </a:solidFill>
                  </a:tcPr>
                </a:tc>
                <a:tc>
                  <a:txBody>
                    <a:bodyPr/>
                    <a:lstStyle/>
                    <a:p>
                      <a:pPr algn="l">
                        <a:defRPr sz="1200">
                          <a:solidFill>
                            <a:srgbClr val="3D4455"/>
                          </a:solidFill>
                          <a:latin typeface="Calibri"/>
                        </a:defRPr>
                      </a:pPr>
                      <a:r>
                        <a:t>0.5 mg/kg (max 30)</a:t>
                      </a:r>
                    </a:p>
                  </a:txBody>
                  <a:tcPr>
                    <a:solidFill>
                      <a:srgbClr val="F5F6FA"/>
                    </a:solidFill>
                  </a:tcPr>
                </a:tc>
                <a:tc>
                  <a:txBody>
                    <a:bodyPr/>
                    <a:lstStyle/>
                    <a:p>
                      <a:pPr algn="l">
                        <a:defRPr sz="1200">
                          <a:solidFill>
                            <a:srgbClr val="3D4455"/>
                          </a:solidFill>
                          <a:latin typeface="Calibri"/>
                        </a:defRPr>
                      </a:pPr>
                      <a:r>
                        <a:t>15-30 min</a:t>
                      </a:r>
                    </a:p>
                  </a:txBody>
                  <a:tcPr>
                    <a:solidFill>
                      <a:srgbClr val="F5F6FA"/>
                    </a:solidFill>
                  </a:tcPr>
                </a:tc>
                <a:tc>
                  <a:txBody>
                    <a:bodyPr/>
                    <a:lstStyle/>
                    <a:p>
                      <a:pPr algn="l">
                        <a:defRPr sz="1200">
                          <a:solidFill>
                            <a:srgbClr val="3D4455"/>
                          </a:solidFill>
                          <a:latin typeface="Calibri"/>
                        </a:defRPr>
                      </a:pPr>
                      <a:r>
                        <a:t>6 h</a:t>
                      </a:r>
                    </a:p>
                  </a:txBody>
                  <a:tcPr>
                    <a:solidFill>
                      <a:srgbClr val="F5F6FA"/>
                    </a:solidFill>
                  </a:tcPr>
                </a:tc>
                <a:tc>
                  <a:txBody>
                    <a:bodyPr/>
                    <a:lstStyle/>
                    <a:p>
                      <a:pPr algn="l">
                        <a:defRPr sz="1200">
                          <a:solidFill>
                            <a:srgbClr val="3D4455"/>
                          </a:solidFill>
                          <a:latin typeface="Calibri"/>
                        </a:defRPr>
                      </a:pPr>
                      <a:r>
                        <a:t>IV NSAID; excellent for renal colic, MSK</a:t>
                      </a:r>
                    </a:p>
                  </a:txBody>
                  <a:tcPr>
                    <a:solidFill>
                      <a:srgbClr val="F5F6FA"/>
                    </a:solidFill>
                  </a:tcPr>
                </a:tc>
              </a:tr>
              <a:tr h="457200">
                <a:tc>
                  <a:txBody>
                    <a:bodyPr/>
                    <a:lstStyle/>
                    <a:p>
                      <a:pPr algn="l">
                        <a:defRPr sz="1200">
                          <a:solidFill>
                            <a:srgbClr val="3D4455"/>
                          </a:solidFill>
                          <a:latin typeface="Calibri"/>
                        </a:defRPr>
                      </a:pPr>
                      <a:r>
                        <a:t>Fentanyl</a:t>
                      </a:r>
                    </a:p>
                  </a:txBody>
                  <a:tcPr>
                    <a:solidFill>
                      <a:srgbClr val="FFFFFF"/>
                    </a:solidFill>
                  </a:tcPr>
                </a:tc>
                <a:tc>
                  <a:txBody>
                    <a:bodyPr/>
                    <a:lstStyle/>
                    <a:p>
                      <a:pPr algn="l">
                        <a:defRPr sz="1200">
                          <a:solidFill>
                            <a:srgbClr val="3D4455"/>
                          </a:solidFill>
                          <a:latin typeface="Calibri"/>
                        </a:defRPr>
                      </a:pPr>
                      <a:r>
                        <a:t>IN</a:t>
                      </a:r>
                    </a:p>
                  </a:txBody>
                  <a:tcPr>
                    <a:solidFill>
                      <a:srgbClr val="FFFFFF"/>
                    </a:solidFill>
                  </a:tcPr>
                </a:tc>
                <a:tc>
                  <a:txBody>
                    <a:bodyPr/>
                    <a:lstStyle/>
                    <a:p>
                      <a:pPr algn="l">
                        <a:defRPr sz="1200">
                          <a:solidFill>
                            <a:srgbClr val="3D4455"/>
                          </a:solidFill>
                          <a:latin typeface="Calibri"/>
                        </a:defRPr>
                      </a:pPr>
                      <a:r>
                        <a:t>1.5-2 mcg/kg (max 100)</a:t>
                      </a:r>
                    </a:p>
                  </a:txBody>
                  <a:tcPr>
                    <a:solidFill>
                      <a:srgbClr val="FFFFFF"/>
                    </a:solidFill>
                  </a:tcPr>
                </a:tc>
                <a:tc>
                  <a:txBody>
                    <a:bodyPr/>
                    <a:lstStyle/>
                    <a:p>
                      <a:pPr algn="l">
                        <a:defRPr sz="1200">
                          <a:solidFill>
                            <a:srgbClr val="3D4455"/>
                          </a:solidFill>
                          <a:latin typeface="Calibri"/>
                        </a:defRPr>
                      </a:pPr>
                      <a:r>
                        <a:t>5-10 min</a:t>
                      </a:r>
                    </a:p>
                  </a:txBody>
                  <a:tcPr>
                    <a:solidFill>
                      <a:srgbClr val="FFFFFF"/>
                    </a:solidFill>
                  </a:tcPr>
                </a:tc>
                <a:tc>
                  <a:txBody>
                    <a:bodyPr/>
                    <a:lstStyle/>
                    <a:p>
                      <a:pPr algn="l">
                        <a:defRPr sz="1200">
                          <a:solidFill>
                            <a:srgbClr val="3D4455"/>
                          </a:solidFill>
                          <a:latin typeface="Calibri"/>
                        </a:defRPr>
                      </a:pPr>
                      <a:r>
                        <a:t>30-60 min</a:t>
                      </a:r>
                    </a:p>
                  </a:txBody>
                  <a:tcPr>
                    <a:solidFill>
                      <a:srgbClr val="FFFFFF"/>
                    </a:solidFill>
                  </a:tcPr>
                </a:tc>
                <a:tc>
                  <a:txBody>
                    <a:bodyPr/>
                    <a:lstStyle/>
                    <a:p>
                      <a:pPr algn="l">
                        <a:defRPr sz="1200">
                          <a:solidFill>
                            <a:srgbClr val="3D4455"/>
                          </a:solidFill>
                          <a:latin typeface="Calibri"/>
                        </a:defRPr>
                      </a:pPr>
                      <a:r>
                        <a:t>Bridge analgesic; no IV needed</a:t>
                      </a:r>
                    </a:p>
                  </a:txBody>
                  <a:tcPr>
                    <a:solidFill>
                      <a:srgbClr val="FFFFFF"/>
                    </a:solidFill>
                  </a:tcPr>
                </a:tc>
              </a:tr>
              <a:tr h="457200">
                <a:tc>
                  <a:txBody>
                    <a:bodyPr/>
                    <a:lstStyle/>
                    <a:p>
                      <a:pPr algn="l">
                        <a:defRPr sz="1200">
                          <a:solidFill>
                            <a:srgbClr val="3D4455"/>
                          </a:solidFill>
                          <a:latin typeface="Calibri"/>
                        </a:defRPr>
                      </a:pPr>
                      <a:r>
                        <a:t>Morphine</a:t>
                      </a:r>
                    </a:p>
                  </a:txBody>
                  <a:tcPr>
                    <a:solidFill>
                      <a:srgbClr val="F5F6FA"/>
                    </a:solidFill>
                  </a:tcPr>
                </a:tc>
                <a:tc>
                  <a:txBody>
                    <a:bodyPr/>
                    <a:lstStyle/>
                    <a:p>
                      <a:pPr algn="l">
                        <a:defRPr sz="1200">
                          <a:solidFill>
                            <a:srgbClr val="3D4455"/>
                          </a:solidFill>
                          <a:latin typeface="Calibri"/>
                        </a:defRPr>
                      </a:pPr>
                      <a:r>
                        <a:t>IV</a:t>
                      </a:r>
                    </a:p>
                  </a:txBody>
                  <a:tcPr>
                    <a:solidFill>
                      <a:srgbClr val="F5F6FA"/>
                    </a:solidFill>
                  </a:tcPr>
                </a:tc>
                <a:tc>
                  <a:txBody>
                    <a:bodyPr/>
                    <a:lstStyle/>
                    <a:p>
                      <a:pPr algn="l">
                        <a:defRPr sz="1200">
                          <a:solidFill>
                            <a:srgbClr val="3D4455"/>
                          </a:solidFill>
                          <a:latin typeface="Calibri"/>
                        </a:defRPr>
                      </a:pPr>
                      <a:r>
                        <a:t>0.1 mg/kg (max 5)</a:t>
                      </a:r>
                    </a:p>
                  </a:txBody>
                  <a:tcPr>
                    <a:solidFill>
                      <a:srgbClr val="F5F6FA"/>
                    </a:solidFill>
                  </a:tcPr>
                </a:tc>
                <a:tc>
                  <a:txBody>
                    <a:bodyPr/>
                    <a:lstStyle/>
                    <a:p>
                      <a:pPr algn="l">
                        <a:defRPr sz="1200">
                          <a:solidFill>
                            <a:srgbClr val="3D4455"/>
                          </a:solidFill>
                          <a:latin typeface="Calibri"/>
                        </a:defRPr>
                      </a:pPr>
                      <a:r>
                        <a:t>5-10 min</a:t>
                      </a:r>
                    </a:p>
                  </a:txBody>
                  <a:tcPr>
                    <a:solidFill>
                      <a:srgbClr val="F5F6FA"/>
                    </a:solidFill>
                  </a:tcPr>
                </a:tc>
                <a:tc>
                  <a:txBody>
                    <a:bodyPr/>
                    <a:lstStyle/>
                    <a:p>
                      <a:pPr algn="l">
                        <a:defRPr sz="1200">
                          <a:solidFill>
                            <a:srgbClr val="3D4455"/>
                          </a:solidFill>
                          <a:latin typeface="Calibri"/>
                        </a:defRPr>
                      </a:pPr>
                      <a:r>
                        <a:t>3-4 h</a:t>
                      </a:r>
                    </a:p>
                  </a:txBody>
                  <a:tcPr>
                    <a:solidFill>
                      <a:srgbClr val="F5F6FA"/>
                    </a:solidFill>
                  </a:tcPr>
                </a:tc>
                <a:tc>
                  <a:txBody>
                    <a:bodyPr/>
                    <a:lstStyle/>
                    <a:p>
                      <a:pPr algn="l">
                        <a:defRPr sz="1200">
                          <a:solidFill>
                            <a:srgbClr val="3D4455"/>
                          </a:solidFill>
                          <a:latin typeface="Calibri"/>
                        </a:defRPr>
                      </a:pPr>
                      <a:r>
                        <a:t>Titrate q5-10min; watch for histamine release</a:t>
                      </a:r>
                    </a:p>
                  </a:txBody>
                  <a:tcPr>
                    <a:solidFill>
                      <a:srgbClr val="F5F6FA"/>
                    </a:solidFill>
                  </a:tcPr>
                </a:tc>
              </a:tr>
              <a:tr h="457200">
                <a:tc>
                  <a:txBody>
                    <a:bodyPr/>
                    <a:lstStyle/>
                    <a:p>
                      <a:pPr algn="l">
                        <a:defRPr sz="1200">
                          <a:solidFill>
                            <a:srgbClr val="3D4455"/>
                          </a:solidFill>
                          <a:latin typeface="Calibri"/>
                        </a:defRPr>
                      </a:pPr>
                      <a:r>
                        <a:t>Ketamine</a:t>
                      </a:r>
                    </a:p>
                  </a:txBody>
                  <a:tcPr>
                    <a:solidFill>
                      <a:srgbClr val="FFFFFF"/>
                    </a:solidFill>
                  </a:tcPr>
                </a:tc>
                <a:tc>
                  <a:txBody>
                    <a:bodyPr/>
                    <a:lstStyle/>
                    <a:p>
                      <a:pPr algn="l">
                        <a:defRPr sz="1200">
                          <a:solidFill>
                            <a:srgbClr val="3D4455"/>
                          </a:solidFill>
                          <a:latin typeface="Calibri"/>
                        </a:defRPr>
                      </a:pPr>
                      <a:r>
                        <a:t>IV subdissociative</a:t>
                      </a:r>
                    </a:p>
                  </a:txBody>
                  <a:tcPr>
                    <a:solidFill>
                      <a:srgbClr val="FFFFFF"/>
                    </a:solidFill>
                  </a:tcPr>
                </a:tc>
                <a:tc>
                  <a:txBody>
                    <a:bodyPr/>
                    <a:lstStyle/>
                    <a:p>
                      <a:pPr algn="l">
                        <a:defRPr sz="1200">
                          <a:solidFill>
                            <a:srgbClr val="3D4455"/>
                          </a:solidFill>
                          <a:latin typeface="Calibri"/>
                        </a:defRPr>
                      </a:pPr>
                      <a:r>
                        <a:t>0.3 mg/kg</a:t>
                      </a:r>
                    </a:p>
                  </a:txBody>
                  <a:tcPr>
                    <a:solidFill>
                      <a:srgbClr val="FFFFFF"/>
                    </a:solidFill>
                  </a:tcPr>
                </a:tc>
                <a:tc>
                  <a:txBody>
                    <a:bodyPr/>
                    <a:lstStyle/>
                    <a:p>
                      <a:pPr algn="l">
                        <a:defRPr sz="1200">
                          <a:solidFill>
                            <a:srgbClr val="3D4455"/>
                          </a:solidFill>
                          <a:latin typeface="Calibri"/>
                        </a:defRPr>
                      </a:pPr>
                      <a:r>
                        <a:t>1-2 min</a:t>
                      </a:r>
                    </a:p>
                  </a:txBody>
                  <a:tcPr>
                    <a:solidFill>
                      <a:srgbClr val="FFFFFF"/>
                    </a:solidFill>
                  </a:tcPr>
                </a:tc>
                <a:tc>
                  <a:txBody>
                    <a:bodyPr/>
                    <a:lstStyle/>
                    <a:p>
                      <a:pPr algn="l">
                        <a:defRPr sz="1200">
                          <a:solidFill>
                            <a:srgbClr val="3D4455"/>
                          </a:solidFill>
                          <a:latin typeface="Calibri"/>
                        </a:defRPr>
                      </a:pPr>
                      <a:r>
                        <a:t>15-20 min</a:t>
                      </a:r>
                    </a:p>
                  </a:txBody>
                  <a:tcPr>
                    <a:solidFill>
                      <a:srgbClr val="FFFFFF"/>
                    </a:solidFill>
                  </a:tcPr>
                </a:tc>
                <a:tc>
                  <a:txBody>
                    <a:bodyPr/>
                    <a:lstStyle/>
                    <a:p>
                      <a:pPr algn="l">
                        <a:defRPr sz="1200">
                          <a:solidFill>
                            <a:srgbClr val="3D4455"/>
                          </a:solidFill>
                          <a:latin typeface="Calibri"/>
                        </a:defRPr>
                      </a:pPr>
                      <a:r>
                        <a:t>Opioid-sparing; excellent for severe pain</a:t>
                      </a:r>
                    </a:p>
                  </a:txBody>
                  <a:tcPr>
                    <a:solidFill>
                      <a:srgbClr val="FFFFFF"/>
                    </a:solidFill>
                  </a:tcPr>
                </a:tc>
              </a:tr>
              <a:tr h="457200">
                <a:tc>
                  <a:txBody>
                    <a:bodyPr/>
                    <a:lstStyle/>
                    <a:p>
                      <a:pPr algn="l">
                        <a:defRPr sz="1200">
                          <a:solidFill>
                            <a:srgbClr val="3D4455"/>
                          </a:solidFill>
                          <a:latin typeface="Calibri"/>
                        </a:defRPr>
                      </a:pPr>
                      <a:r>
                        <a:t>Lidocaine 1%</a:t>
                      </a:r>
                    </a:p>
                  </a:txBody>
                  <a:tcPr>
                    <a:solidFill>
                      <a:srgbClr val="F5F6FA"/>
                    </a:solidFill>
                  </a:tcPr>
                </a:tc>
                <a:tc>
                  <a:txBody>
                    <a:bodyPr/>
                    <a:lstStyle/>
                    <a:p>
                      <a:pPr algn="l">
                        <a:defRPr sz="1200">
                          <a:solidFill>
                            <a:srgbClr val="3D4455"/>
                          </a:solidFill>
                          <a:latin typeface="Calibri"/>
                        </a:defRPr>
                      </a:pPr>
                      <a:r>
                        <a:t>Local</a:t>
                      </a:r>
                    </a:p>
                  </a:txBody>
                  <a:tcPr>
                    <a:solidFill>
                      <a:srgbClr val="F5F6FA"/>
                    </a:solidFill>
                  </a:tcPr>
                </a:tc>
                <a:tc>
                  <a:txBody>
                    <a:bodyPr/>
                    <a:lstStyle/>
                    <a:p>
                      <a:pPr algn="l">
                        <a:defRPr sz="1200">
                          <a:solidFill>
                            <a:srgbClr val="3D4455"/>
                          </a:solidFill>
                          <a:latin typeface="Calibri"/>
                        </a:defRPr>
                      </a:pPr>
                      <a:r>
                        <a:t>Max 4.5 mg/kg</a:t>
                      </a:r>
                    </a:p>
                  </a:txBody>
                  <a:tcPr>
                    <a:solidFill>
                      <a:srgbClr val="F5F6FA"/>
                    </a:solidFill>
                  </a:tcPr>
                </a:tc>
                <a:tc>
                  <a:txBody>
                    <a:bodyPr/>
                    <a:lstStyle/>
                    <a:p>
                      <a:pPr algn="l">
                        <a:defRPr sz="1200">
                          <a:solidFill>
                            <a:srgbClr val="3D4455"/>
                          </a:solidFill>
                          <a:latin typeface="Calibri"/>
                        </a:defRPr>
                      </a:pPr>
                      <a:r>
                        <a:t>Immediate</a:t>
                      </a:r>
                    </a:p>
                  </a:txBody>
                  <a:tcPr>
                    <a:solidFill>
                      <a:srgbClr val="F5F6FA"/>
                    </a:solidFill>
                  </a:tcPr>
                </a:tc>
                <a:tc>
                  <a:txBody>
                    <a:bodyPr/>
                    <a:lstStyle/>
                    <a:p>
                      <a:pPr algn="l">
                        <a:defRPr sz="1200">
                          <a:solidFill>
                            <a:srgbClr val="3D4455"/>
                          </a:solidFill>
                          <a:latin typeface="Calibri"/>
                        </a:defRPr>
                      </a:pPr>
                      <a:r>
                        <a:t>1-2 h</a:t>
                      </a:r>
                    </a:p>
                  </a:txBody>
                  <a:tcPr>
                    <a:solidFill>
                      <a:srgbClr val="F5F6FA"/>
                    </a:solidFill>
                  </a:tcPr>
                </a:tc>
                <a:tc>
                  <a:txBody>
                    <a:bodyPr/>
                    <a:lstStyle/>
                    <a:p>
                      <a:pPr algn="l">
                        <a:defRPr sz="1200">
                          <a:solidFill>
                            <a:srgbClr val="3D4455"/>
                          </a:solidFill>
                          <a:latin typeface="Calibri"/>
                        </a:defRPr>
                      </a:pPr>
                      <a:r>
                        <a:t>Buffer with bicarb 1:10 to reduce sting</a:t>
                      </a:r>
                    </a:p>
                  </a:txBody>
                  <a:tcPr>
                    <a:solidFill>
                      <a:srgbClr val="F5F6FA"/>
                    </a:solidFill>
                  </a:tcPr>
                </a:tc>
              </a:tr>
              <a:tr h="457200">
                <a:tc>
                  <a:txBody>
                    <a:bodyPr/>
                    <a:lstStyle/>
                    <a:p>
                      <a:pPr algn="l">
                        <a:defRPr sz="1200">
                          <a:solidFill>
                            <a:srgbClr val="3D4455"/>
                          </a:solidFill>
                          <a:latin typeface="Calibri"/>
                        </a:defRPr>
                      </a:pPr>
                      <a:r>
                        <a:t>LET gel</a:t>
                      </a:r>
                    </a:p>
                  </a:txBody>
                  <a:tcPr>
                    <a:solidFill>
                      <a:srgbClr val="FFFFFF"/>
                    </a:solidFill>
                  </a:tcPr>
                </a:tc>
                <a:tc>
                  <a:txBody>
                    <a:bodyPr/>
                    <a:lstStyle/>
                    <a:p>
                      <a:pPr algn="l">
                        <a:defRPr sz="1200">
                          <a:solidFill>
                            <a:srgbClr val="3D4455"/>
                          </a:solidFill>
                          <a:latin typeface="Calibri"/>
                        </a:defRPr>
                      </a:pPr>
                      <a:r>
                        <a:t>Topical</a:t>
                      </a:r>
                    </a:p>
                  </a:txBody>
                  <a:tcPr>
                    <a:solidFill>
                      <a:srgbClr val="FFFFFF"/>
                    </a:solidFill>
                  </a:tcPr>
                </a:tc>
                <a:tc>
                  <a:txBody>
                    <a:bodyPr/>
                    <a:lstStyle/>
                    <a:p>
                      <a:pPr algn="l">
                        <a:defRPr sz="1200">
                          <a:solidFill>
                            <a:srgbClr val="3D4455"/>
                          </a:solidFill>
                          <a:latin typeface="Calibri"/>
                        </a:defRPr>
                      </a:pPr>
                      <a:r>
                        <a:t>Apply to wound x 20-30 min</a:t>
                      </a:r>
                    </a:p>
                  </a:txBody>
                  <a:tcPr>
                    <a:solidFill>
                      <a:srgbClr val="FFFFFF"/>
                    </a:solidFill>
                  </a:tcPr>
                </a:tc>
                <a:tc>
                  <a:txBody>
                    <a:bodyPr/>
                    <a:lstStyle/>
                    <a:p>
                      <a:pPr algn="l">
                        <a:defRPr sz="1200">
                          <a:solidFill>
                            <a:srgbClr val="3D4455"/>
                          </a:solidFill>
                          <a:latin typeface="Calibri"/>
                        </a:defRPr>
                      </a:pPr>
                      <a:r>
                        <a:t>20-30 min</a:t>
                      </a:r>
                    </a:p>
                  </a:txBody>
                  <a:tcPr>
                    <a:solidFill>
                      <a:srgbClr val="FFFFFF"/>
                    </a:solidFill>
                  </a:tcPr>
                </a:tc>
                <a:tc>
                  <a:txBody>
                    <a:bodyPr/>
                    <a:lstStyle/>
                    <a:p>
                      <a:pPr algn="l">
                        <a:defRPr sz="1200">
                          <a:solidFill>
                            <a:srgbClr val="3D4455"/>
                          </a:solidFill>
                          <a:latin typeface="Calibri"/>
                        </a:defRPr>
                      </a:pPr>
                      <a:r>
                        <a:t>1-2 h</a:t>
                      </a:r>
                    </a:p>
                  </a:txBody>
                  <a:tcPr>
                    <a:solidFill>
                      <a:srgbClr val="FFFFFF"/>
                    </a:solidFill>
                  </a:tcPr>
                </a:tc>
                <a:tc>
                  <a:txBody>
                    <a:bodyPr/>
                    <a:lstStyle/>
                    <a:p>
                      <a:pPr algn="l">
                        <a:defRPr sz="1200">
                          <a:solidFill>
                            <a:srgbClr val="3D4455"/>
                          </a:solidFill>
                          <a:latin typeface="Calibri"/>
                        </a:defRPr>
                      </a:pPr>
                      <a:r>
                        <a:t>Lidocaine-epi-tetracaine; non-facial lacs</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Regional Anesthesia in the PED</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Nerve blocks are increasingly used in PEM — ultrasound guidance has made them safer and more accessible</a:t>
            </a:r>
          </a:p>
          <a:p>
            <a:pPr>
              <a:spcBef>
                <a:spcPts val="400"/>
              </a:spcBef>
              <a:spcAft>
                <a:spcPts val="600"/>
              </a:spcAft>
              <a:defRPr sz="1600">
                <a:solidFill>
                  <a:srgbClr val="3D4455"/>
                </a:solidFill>
                <a:latin typeface="Calibri"/>
              </a:defRPr>
            </a:pPr>
            <a:r>
              <a:t>Femoral nerve block: femur fractures — ultrasound-guided, landmark-based also effective</a:t>
            </a:r>
          </a:p>
          <a:p>
            <a:pPr>
              <a:spcBef>
                <a:spcPts val="400"/>
              </a:spcBef>
              <a:spcAft>
                <a:spcPts val="600"/>
              </a:spcAft>
              <a:defRPr sz="1600">
                <a:solidFill>
                  <a:srgbClr val="3D4455"/>
                </a:solidFill>
                <a:latin typeface="Calibri"/>
              </a:defRPr>
            </a:pPr>
            <a:r>
              <a:t>Fascia iliaca compartment block (FICB): femur and hip fractures — easier to perform than femoral</a:t>
            </a:r>
          </a:p>
          <a:p>
            <a:pPr>
              <a:spcBef>
                <a:spcPts val="400"/>
              </a:spcBef>
              <a:spcAft>
                <a:spcPts val="600"/>
              </a:spcAft>
              <a:defRPr sz="1600">
                <a:solidFill>
                  <a:srgbClr val="3D4455"/>
                </a:solidFill>
                <a:latin typeface="Calibri"/>
              </a:defRPr>
            </a:pPr>
            <a:r>
              <a:t>Digital nerve block: finger/toe lacerations, nailbed repairs, paronychia drainage</a:t>
            </a:r>
          </a:p>
          <a:p>
            <a:pPr>
              <a:spcBef>
                <a:spcPts val="400"/>
              </a:spcBef>
              <a:spcAft>
                <a:spcPts val="600"/>
              </a:spcAft>
              <a:defRPr sz="1600">
                <a:solidFill>
                  <a:srgbClr val="3D4455"/>
                </a:solidFill>
                <a:latin typeface="Calibri"/>
              </a:defRPr>
            </a:pPr>
            <a:r>
              <a:t>Hematoma block: distal radius fractures — inject lidocaine directly into fracture hematoma</a:t>
            </a:r>
          </a:p>
          <a:p>
            <a:pPr>
              <a:spcBef>
                <a:spcPts val="400"/>
              </a:spcBef>
              <a:spcAft>
                <a:spcPts val="600"/>
              </a:spcAft>
              <a:defRPr sz="1600">
                <a:solidFill>
                  <a:srgbClr val="3D4455"/>
                </a:solidFill>
                <a:latin typeface="Calibri"/>
              </a:defRPr>
            </a:pPr>
            <a:r>
              <a:t>Dental blocks: inferior alveolar, infraorbital — dental avulsions, lacerations</a:t>
            </a:r>
          </a:p>
          <a:p>
            <a:pPr>
              <a:spcBef>
                <a:spcPts val="400"/>
              </a:spcBef>
              <a:spcAft>
                <a:spcPts val="600"/>
              </a:spcAft>
              <a:defRPr sz="1600">
                <a:solidFill>
                  <a:srgbClr val="3D4455"/>
                </a:solidFill>
                <a:latin typeface="Calibri"/>
              </a:defRPr>
            </a:pPr>
            <a:r>
              <a:t>Serratus anterior block: rib fractures, chest tube placement (emerging)</a:t>
            </a:r>
          </a:p>
          <a:p>
            <a:pPr lvl="1">
              <a:spcBef>
                <a:spcPts val="400"/>
              </a:spcBef>
              <a:spcAft>
                <a:spcPts val="600"/>
              </a:spcAft>
              <a:defRPr sz="1400">
                <a:solidFill>
                  <a:srgbClr val="8A92A3"/>
                </a:solidFill>
                <a:latin typeface="Calibri"/>
              </a:defRPr>
            </a:pPr>
            <a:r>
              <a:t>Blocks dramatically reduce opioid requirements and improve patient/parent satisfaction</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Opioid-Sparing Strategies vs. When Opioids Are Needed</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OPIOID-SPARING APPROACH WORKS</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Mild-moderate pain (NRS 4-6)</a:t>
            </a:r>
          </a:p>
          <a:p>
            <a:pPr>
              <a:spcAft>
                <a:spcPts val="500"/>
              </a:spcAft>
              <a:defRPr sz="1400">
                <a:solidFill>
                  <a:srgbClr val="3D4455"/>
                </a:solidFill>
                <a:latin typeface="Calibri"/>
              </a:defRPr>
            </a:pPr>
            <a:r>
              <a:t>Ibuprofen + acetaminophen combination</a:t>
            </a:r>
          </a:p>
          <a:p>
            <a:pPr>
              <a:spcAft>
                <a:spcPts val="500"/>
              </a:spcAft>
              <a:defRPr sz="1400">
                <a:solidFill>
                  <a:srgbClr val="3D4455"/>
                </a:solidFill>
                <a:latin typeface="Calibri"/>
              </a:defRPr>
            </a:pPr>
            <a:r>
              <a:t>Fractures amenable to nerve block</a:t>
            </a:r>
          </a:p>
          <a:p>
            <a:pPr>
              <a:spcAft>
                <a:spcPts val="500"/>
              </a:spcAft>
              <a:defRPr sz="1400">
                <a:solidFill>
                  <a:srgbClr val="3D4455"/>
                </a:solidFill>
                <a:latin typeface="Calibri"/>
              </a:defRPr>
            </a:pPr>
            <a:r>
              <a:t>Lacerations with good local anesthesia</a:t>
            </a:r>
          </a:p>
          <a:p>
            <a:pPr>
              <a:spcAft>
                <a:spcPts val="500"/>
              </a:spcAft>
              <a:defRPr sz="1400">
                <a:solidFill>
                  <a:srgbClr val="3D4455"/>
                </a:solidFill>
                <a:latin typeface="Calibri"/>
              </a:defRPr>
            </a:pPr>
            <a:r>
              <a:t>Abdominal pain under evaluation</a:t>
            </a:r>
          </a:p>
          <a:p>
            <a:pPr>
              <a:spcAft>
                <a:spcPts val="500"/>
              </a:spcAft>
              <a:defRPr sz="1400">
                <a:solidFill>
                  <a:srgbClr val="3D4455"/>
                </a:solidFill>
                <a:latin typeface="Calibri"/>
              </a:defRPr>
            </a:pPr>
            <a:r>
              <a:t>Headache / migraine</a:t>
            </a:r>
          </a:p>
          <a:p>
            <a:pPr>
              <a:spcAft>
                <a:spcPts val="500"/>
              </a:spcAft>
              <a:defRPr sz="1400">
                <a:solidFill>
                  <a:srgbClr val="3D4455"/>
                </a:solidFill>
                <a:latin typeface="Calibri"/>
              </a:defRPr>
            </a:pPr>
            <a:r>
              <a:t>Post-procedural pain (most cases)</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OPIOIDS APPROPRIATE</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Severe pain (NRS 7-10) not controlled by non-opioids</a:t>
            </a:r>
          </a:p>
          <a:p>
            <a:pPr>
              <a:spcAft>
                <a:spcPts val="500"/>
              </a:spcAft>
              <a:defRPr sz="1400">
                <a:solidFill>
                  <a:srgbClr val="3D4455"/>
                </a:solidFill>
                <a:latin typeface="Calibri"/>
              </a:defRPr>
            </a:pPr>
            <a:r>
              <a:t>Sickle cell vaso-occlusive crisis</a:t>
            </a:r>
          </a:p>
          <a:p>
            <a:pPr>
              <a:spcAft>
                <a:spcPts val="500"/>
              </a:spcAft>
              <a:defRPr sz="1400">
                <a:solidFill>
                  <a:srgbClr val="3D4455"/>
                </a:solidFill>
                <a:latin typeface="Calibri"/>
              </a:defRPr>
            </a:pPr>
            <a:r>
              <a:t>Severe burns</a:t>
            </a:r>
          </a:p>
          <a:p>
            <a:pPr>
              <a:spcAft>
                <a:spcPts val="500"/>
              </a:spcAft>
              <a:defRPr sz="1400">
                <a:solidFill>
                  <a:srgbClr val="3D4455"/>
                </a:solidFill>
                <a:latin typeface="Calibri"/>
              </a:defRPr>
            </a:pPr>
            <a:r>
              <a:t>Multi-trauma</a:t>
            </a:r>
          </a:p>
          <a:p>
            <a:pPr>
              <a:spcAft>
                <a:spcPts val="500"/>
              </a:spcAft>
              <a:defRPr sz="1400">
                <a:solidFill>
                  <a:srgbClr val="3D4455"/>
                </a:solidFill>
                <a:latin typeface="Calibri"/>
              </a:defRPr>
            </a:pPr>
            <a:r>
              <a:t>Failed nerve block or nerve block not feasible</a:t>
            </a:r>
          </a:p>
          <a:p>
            <a:pPr>
              <a:spcAft>
                <a:spcPts val="500"/>
              </a:spcAft>
              <a:defRPr sz="1400">
                <a:solidFill>
                  <a:srgbClr val="3D4455"/>
                </a:solidFill>
                <a:latin typeface="Calibri"/>
              </a:defRPr>
            </a:pPr>
            <a:r>
              <a:t>Renal colic refractory to ketorolac</a:t>
            </a:r>
          </a:p>
          <a:p>
            <a:pPr>
              <a:spcAft>
                <a:spcPts val="500"/>
              </a:spcAft>
              <a:defRPr sz="1400">
                <a:solidFill>
                  <a:srgbClr val="3D4455"/>
                </a:solidFill>
                <a:latin typeface="Calibri"/>
              </a:defRPr>
            </a:pPr>
            <a:r>
              <a:t>Post-operative pain (per surgical team)</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Non-Pharmacologic Pain Management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Distraction: tablets, videos, bubbles, child life specialists — most effective non-pharmacologic tool</a:t>
            </a:r>
          </a:p>
          <a:p>
            <a:pPr>
              <a:spcBef>
                <a:spcPts val="400"/>
              </a:spcBef>
              <a:spcAft>
                <a:spcPts val="600"/>
              </a:spcAft>
              <a:defRPr sz="1600">
                <a:solidFill>
                  <a:srgbClr val="3D4455"/>
                </a:solidFill>
                <a:latin typeface="Calibri"/>
              </a:defRPr>
            </a:pPr>
            <a:r>
              <a:t>Positioning: upright for abdominal pain, elevation for extremity injuries</a:t>
            </a:r>
          </a:p>
          <a:p>
            <a:pPr>
              <a:spcBef>
                <a:spcPts val="400"/>
              </a:spcBef>
              <a:spcAft>
                <a:spcPts val="600"/>
              </a:spcAft>
              <a:defRPr sz="1600">
                <a:solidFill>
                  <a:srgbClr val="3D4455"/>
                </a:solidFill>
                <a:latin typeface="Calibri"/>
              </a:defRPr>
            </a:pPr>
            <a:r>
              <a:t>Caregiver presence and comfort: parents at bedside reduces distress significantly</a:t>
            </a:r>
          </a:p>
          <a:p>
            <a:pPr>
              <a:spcBef>
                <a:spcPts val="400"/>
              </a:spcBef>
              <a:spcAft>
                <a:spcPts val="600"/>
              </a:spcAft>
              <a:defRPr sz="1600">
                <a:solidFill>
                  <a:srgbClr val="3D4455"/>
                </a:solidFill>
                <a:latin typeface="Calibri"/>
              </a:defRPr>
            </a:pPr>
            <a:r>
              <a:t>Sucrose (24%) for neonates: 0.5-1 mL on pacifier 2 min before procedure — effective through 3-6 months</a:t>
            </a:r>
          </a:p>
          <a:p>
            <a:pPr>
              <a:spcBef>
                <a:spcPts val="400"/>
              </a:spcBef>
              <a:spcAft>
                <a:spcPts val="600"/>
              </a:spcAft>
              <a:defRPr sz="1600">
                <a:solidFill>
                  <a:srgbClr val="3D4455"/>
                </a:solidFill>
                <a:latin typeface="Calibri"/>
              </a:defRPr>
            </a:pPr>
            <a:r>
              <a:t>Comfort positioning: skin-to-skin (neonates), facilitated tucking, swaddling</a:t>
            </a:r>
          </a:p>
          <a:p>
            <a:pPr>
              <a:spcBef>
                <a:spcPts val="400"/>
              </a:spcBef>
              <a:spcAft>
                <a:spcPts val="600"/>
              </a:spcAft>
              <a:defRPr sz="1600">
                <a:solidFill>
                  <a:srgbClr val="3D4455"/>
                </a:solidFill>
                <a:latin typeface="Calibri"/>
              </a:defRPr>
            </a:pPr>
            <a:r>
              <a:t>Cold therapy: ice packs for sprains, strains, and musculoskeletal injury</a:t>
            </a:r>
          </a:p>
          <a:p>
            <a:pPr>
              <a:spcBef>
                <a:spcPts val="400"/>
              </a:spcBef>
              <a:spcAft>
                <a:spcPts val="600"/>
              </a:spcAft>
              <a:defRPr sz="1600">
                <a:solidFill>
                  <a:srgbClr val="3D4455"/>
                </a:solidFill>
                <a:latin typeface="Calibri"/>
              </a:defRPr>
            </a:pPr>
            <a:r>
              <a:t>Music therapy, virtual reality: emerging evidence for procedural pain in children</a:t>
            </a:r>
          </a:p>
          <a:p>
            <a:pPr lvl="1">
              <a:spcBef>
                <a:spcPts val="400"/>
              </a:spcBef>
              <a:spcAft>
                <a:spcPts val="600"/>
              </a:spcAft>
              <a:defRPr sz="1400">
                <a:solidFill>
                  <a:srgbClr val="8A92A3"/>
                </a:solidFill>
                <a:latin typeface="Calibri"/>
              </a:defRPr>
            </a:pPr>
            <a:r>
              <a:t>Non-pharmacologic methods are not a substitute for analgesia — they are an adjunct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6-Year-Old with Displaced Forearm Fracture</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6-year-old boy (22 kg) arrives by EMS with a displaced distal radius fracture after falling off monkey bars. He is crying, guarding the arm, and rates his pain 9/10. The arm is angulated and swollen. Parents are anxious. IV access has not yet been obtained.</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is your FIRST analgesic intervention? (Intranasal fentanyl 1.5 mcg/kg = 33 mcg via MAD device)</a:t>
            </a:r>
          </a:p>
          <a:p>
            <a:pPr>
              <a:spcAft>
                <a:spcPts val="600"/>
              </a:spcAft>
              <a:defRPr sz="1400" b="1">
                <a:solidFill>
                  <a:srgbClr val="007B83"/>
                </a:solidFill>
                <a:latin typeface="Calibri"/>
              </a:defRPr>
            </a:pPr>
            <a:r>
              <a:t>▸  What do you give while waiting for ortho? (Ibuprofen 220 mg PO + acetaminophen 330 mg PO)</a:t>
            </a:r>
          </a:p>
          <a:p>
            <a:pPr>
              <a:spcAft>
                <a:spcPts val="600"/>
              </a:spcAft>
              <a:defRPr sz="1400" b="1">
                <a:solidFill>
                  <a:srgbClr val="007B83"/>
                </a:solidFill>
                <a:latin typeface="Calibri"/>
              </a:defRPr>
            </a:pPr>
            <a:r>
              <a:t>▸  IV is placed — next? (Hematoma block with lidocaine into fracture site OR ketamine 0.3 mg/kg for analgesia)</a:t>
            </a:r>
          </a:p>
          <a:p>
            <a:pPr>
              <a:spcAft>
                <a:spcPts val="600"/>
              </a:spcAft>
              <a:defRPr sz="1400" b="1">
                <a:solidFill>
                  <a:srgbClr val="007B83"/>
                </a:solidFill>
                <a:latin typeface="Calibri"/>
              </a:defRPr>
            </a:pPr>
            <a:r>
              <a:t>▸  Reduction needed — sedation plan? (Ketamine IV 1.5 mg/kg + ondansetron + pre-med with midazolam)</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Analgesia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Waiting for IV access before treating pain — use IN fentanyl, oral meds, or topicals immediately</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Not reassessing pain after interventions — treat, score, re-treat if needed</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Using codeine in children — FDA boxed warning due to ultra-rapid metabolizer deaths</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Forgetting to buffer lidocaine — add 1 mL NaHCO3 per 9 mL lidocaine to dramatically reduce injection pain</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Withholding analgesia for abdominal pain pending surgical evaluation — evidence shows this does NOT mask surgical findings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Over-relying on oral opioids (oxycodone/hydrocodone) when non-opioids would suffice</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using topical anesthesia (LET gel) for lacerations — it should be applied at triage</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Treat pain early and reassess — oligoanalgesia in children is harm, not conservatism</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Intranasal fentanyl (1.5 mcg/kg via MAD) is the best bridge analgesic when there is no IV</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Ibuprofen + acetaminophen together is as effective as many opioid combinations</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Regional anesthesia (fascia iliaca, hematoma block) dramatically reduces opioid need</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Never use codeine in children — FDA black box warning for ultra-rapid metabolizer deaths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Fein JA, et al. Relief of pain and anxiety in pediatric patients in emergency medical systems. Pediatrics. 2012;130(5):e1391-1405.</a:t>
            </a:r>
          </a:p>
          <a:p>
            <a:pPr>
              <a:spcAft>
                <a:spcPts val="400"/>
              </a:spcAft>
              <a:defRPr sz="1100">
                <a:solidFill>
                  <a:srgbClr val="3D4455"/>
                </a:solidFill>
                <a:latin typeface="Calibri"/>
              </a:defRPr>
            </a:pPr>
            <a:r>
              <a:t>2. Poonai N, et al. Oral administration of morphine versus ibuprofen to manage postfracture pain in children: a randomized trial. CMAJ. 2014;186(18):1358-1363.</a:t>
            </a:r>
          </a:p>
          <a:p>
            <a:pPr>
              <a:spcAft>
                <a:spcPts val="400"/>
              </a:spcAft>
              <a:defRPr sz="1100">
                <a:solidFill>
                  <a:srgbClr val="3D4455"/>
                </a:solidFill>
                <a:latin typeface="Calibri"/>
              </a:defRPr>
            </a:pPr>
            <a:r>
              <a:t>3. Kendall JM, et al. Multicentre randomised controlled trial of nasal diamorphine for analgesia in children presenting to emergency departments with clinical fractures. BMJ. 2001;322(7281):261-265.</a:t>
            </a:r>
          </a:p>
          <a:p>
            <a:pPr>
              <a:spcAft>
                <a:spcPts val="400"/>
              </a:spcAft>
              <a:defRPr sz="1100">
                <a:solidFill>
                  <a:srgbClr val="3D4455"/>
                </a:solidFill>
                <a:latin typeface="Calibri"/>
              </a:defRPr>
            </a:pPr>
            <a:r>
              <a:t>4. Bhatt M, et al. Association between fasting status and adverse events in pediatric procedural sedation. JAMA Pediatr. 2018;172(7):678-685.</a:t>
            </a:r>
          </a:p>
          <a:p>
            <a:pPr>
              <a:spcAft>
                <a:spcPts val="400"/>
              </a:spcAft>
              <a:defRPr sz="1100">
                <a:solidFill>
                  <a:srgbClr val="3D4455"/>
                </a:solidFill>
                <a:latin typeface="Calibri"/>
              </a:defRPr>
            </a:pPr>
            <a:r>
              <a:t>5. American Academy of Pediatrics. Codeine: time to say "no." Pediatrics. 2016;138(4):e20162396.</a:t>
            </a:r>
          </a:p>
          <a:p>
            <a:pPr>
              <a:spcAft>
                <a:spcPts val="400"/>
              </a:spcAft>
              <a:defRPr sz="1100">
                <a:solidFill>
                  <a:srgbClr val="3D4455"/>
                </a:solidFill>
                <a:latin typeface="Calibri"/>
              </a:defRPr>
            </a:pPr>
            <a:r>
              <a:t>6. Suresh S, et al. Regional anesthesia for pediatric patients — an update. Curr Opin Anaesthesiol. 2014;27(5):556-563.</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Pediatric Analgesia</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