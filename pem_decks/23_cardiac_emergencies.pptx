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common PEM cardiac decision: is this SVT or sinus tachycardia? Sinus tachycardia has a cause (fever, pain, dehydration, anemia) and shows beat-to-beat variability. SVT has a fixed, very fast rate (typically &gt;220 in infants) and narrow QRS without variability. Getting this right prevents unnecessary treatment of sinus tachycardia and delayed treatment of SVT.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essential for the bedside decision. The MOST useful distinguishing features: 1) history of an identifiable cause (favors sinus tachycardia), 2) rate &gt;220 in infants (favors SVT), 3) abrupt onset/offset (favors SVT), 4) beat-to-beat variability on the monitor (present in sinus, absent in SVT).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Vagal maneuvers first for stable SVT. The ice-to-face technique (bag of ice water to face for 15-20 seconds) is most effective in infants — it triggers the diving reflex. For older children, bearing down (Valsalva) or blowing through a syringe works well. Adenosine must be given as a RAPID push followed by a RAPID saline flush — it has a 10-second half-life. Use the most proximal IV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Wide complex tachycardia in children is VT until proven otherwise. Do not give adenosine — it can precipitate cardiac arrest. The two exceptions: 1) known SVT with bundle branch block (previously documented), and 2) antidromic WPW (very specific scenario). When in doubt, treat as VT with amiodarone or cardioversion.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children, bradycardia with poor perfusion is almost always a pre-arrest rhythm. The #1 cause is HYPOXIA — oxygenate and ventilate first. If bradycardia persists despite adequate oxygenation, start CPR when HR &lt;60 with poor perfusion. Atropine is specifically for vagal bradycardia. Epinephrine is for all other symptomatic bradycardia.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Myocarditis is the more dangerous diagnosis — it can present as sudden cardiac death or fulminant heart failure. Any child with unexplained tachycardia, heart failure symptoms, or new arrhythmia after a viral illness should be evaluated for myocarditis. Pericarditis is usually self-limited but can progress to cardiac tamponade (Beck triad: hypotension, JVD, muffled heart sounds).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one of the highest-stakes neonatal emergencies. The key clinical scenario: a previously well neonate (day 2-7) who suddenly becomes gray, mottled, tachypneic, or cyanotic. If oxygen does not improve the cyanosis, think ductal-dependent cardiac lesion. Start PGE1 immediately — it reopens the ductus arteriosus and is life-saving. Prepare for possible apnea requiring intubation.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classic SVT-with-heart-failure presentation in infants. The infant has been in SVT for days (presented as poor feeding — the infant equivalent of "feeling unwell"). Prolonged SVT causes tachycardia-induced cardiomyopathy with dilated, poorly contracting ventricles. This is reversible once the SVT is terminated. Cardioversion is first-line for unstable SVT.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adenosine technique pitfall is very common. Adenosine works for about 10 seconds — if pushed slowly or through a distal IV, it is metabolized before reaching the heart. Use the most proximal IV, rapid push with a 3-way stopcock, followed immediately by a 10-20 mL NS flush. The WPW pearl is critical: post-conversion EKG may show a delta wave, and these patients should avoid digoxin, verapamil, and diltiazem.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2560320" cy="54864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463040" cy="502920"/>
          </a:xfrm>
          <a:prstGeom prst="round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DECK 23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0A3AD"/>
                </a:solidFill>
                <a:latin typeface="Calibri"/>
              </a:defRPr>
            </a:pPr>
            <a:r>
              <a:t>PEDIATRIC EMERGENCY MEDICINE  ·  FELLOW TEACHING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Pediatric Arrhythmias and Cardiac Emergencies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8A92A3"/>
                </a:solidFill>
                <a:latin typeface="Calibri"/>
              </a:defRPr>
            </a:pPr>
            <a:r>
              <a:t>SVT Management, PALS Arrhythmia Algorithms, and Acute Cardiac Presentations in the PED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126480"/>
            <a:ext cx="10515600" cy="1828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92A3"/>
                </a:solidFill>
                <a:latin typeface="Calibri"/>
              </a:defRPr>
            </a:pPr>
            <a:r>
              <a:t>PEM Fellow Teaching Library  ·  Fellowship-Grade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533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D4455"/>
                </a:solidFill>
                <a:latin typeface="Calibri"/>
              </a:defRPr>
            </a:pPr>
            <a:r>
              <a:t>Differentiate SVT from sinus tachycardia — the most common PEM arrhythmia decision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148840"/>
            <a:ext cx="411480" cy="411480"/>
          </a:xfrm>
          <a:prstGeom prst="ellipse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3055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D4455"/>
                </a:solidFill>
                <a:latin typeface="Calibri"/>
              </a:defRPr>
            </a:pPr>
            <a:r>
              <a:t>Execute acute SVT management: vagal maneuvers, adenosine, cardioversion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926080"/>
            <a:ext cx="411480" cy="411480"/>
          </a:xfrm>
          <a:prstGeom prst="ellipse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0779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D4455"/>
                </a:solidFill>
                <a:latin typeface="Calibri"/>
              </a:defRPr>
            </a:pPr>
            <a:r>
              <a:t>Recognize and manage life-threatening arrhythmias per PALS algorithms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703320"/>
            <a:ext cx="411480" cy="411480"/>
          </a:xfrm>
          <a:prstGeom prst="ellipse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8503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D4455"/>
                </a:solidFill>
                <a:latin typeface="Calibri"/>
              </a:defRPr>
            </a:pPr>
            <a:r>
              <a:t>Identify acute myocarditis, pericarditis, and heart failure in the PED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480560"/>
            <a:ext cx="411480" cy="411480"/>
          </a:xfrm>
          <a:prstGeom prst="ellipse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622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D4455"/>
                </a:solidFill>
                <a:latin typeface="Calibri"/>
              </a:defRPr>
            </a:pPr>
            <a:r>
              <a:t>Recognize ductal-dependent congenital heart disease in neonates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Cardiac Emergencies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Pediatric Cardiac Emergencies: What You Must Recognize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SVT is the most common symptomatic arrhythmia in children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Most pediatric cardiac arrests are from respiratory failure/shock — not primary cardiac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Critical diagnoses not to miss: ductal-dependent CHD, myocarditis, SVT with hemodynamic compromise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Age-specific normal heart rates: know them or you will misdiagnose sinus tachycardia as SVT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400">
                <a:solidFill>
                  <a:srgbClr val="8A92A3"/>
                </a:solidFill>
                <a:latin typeface="Calibri"/>
              </a:defRPr>
            </a:pPr>
            <a:r>
              <a:t>Infant: normal HR up to 180; toddler up to 150; school-age up to 130; adolescent up to 110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400">
                <a:solidFill>
                  <a:srgbClr val="8A92A3"/>
                </a:solidFill>
                <a:latin typeface="Calibri"/>
              </a:defRPr>
            </a:pPr>
            <a:r>
              <a:t>SVT is typically &gt;220 in infants, &gt;180 in children, with a NARROW QRS and NO beat-to-beat variability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Cardiac Emergencies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SVT vs. Sinus Tachycardia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28016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7B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SVT</a:t>
                      </a:r>
                    </a:p>
                  </a:txBody>
                  <a:tcPr>
                    <a:solidFill>
                      <a:srgbClr val="007B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Sinus Tachycardia</a:t>
                      </a:r>
                    </a:p>
                  </a:txBody>
                  <a:tcPr>
                    <a:solidFill>
                      <a:srgbClr val="007B8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Heart Rate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&gt;220 infant, &gt;180 child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Usually &lt;200 infant, &lt;180 child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Onset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Abrupt (paroxysmal)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Gradual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P waves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Absent or retrograde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Present, normal axis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Beat-to-beat variability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NO — fixed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YES — rate varies with activity/state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QRS width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Narrow (&lt;0.09s)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Narrow (&lt;0.09s)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Response to vagal maneuvers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May convert to sinus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Temporary slowing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History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Often well before sudden onset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D4455"/>
                          </a:solidFill>
                          <a:latin typeface="Calibri"/>
                        </a:defRPr>
                      </a:pPr>
                      <a:r>
                        <a:t>Precipitant: fever, pain, dehydration, anemia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Cardiac Emergencies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SVT Management Algorithm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502920"/>
          </a:xfrm>
          <a:prstGeom prst="round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1. STABLE (good perfusion, alert): Vagal maneuvers first — ice to face (infant) or Valsalva/bearing down (older child)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39112"/>
            <a:ext cx="5303520" cy="50292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2. If vagal fails: Adenosine 0.1 mg/kg rapid IV push (max 6 mg) → flush with 5-10 mL 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06624"/>
            <a:ext cx="5303520" cy="502920"/>
          </a:xfrm>
          <a:prstGeom prst="round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3. If first adenosine fails: Adenosine 0.2 mg/kg rapid IV push (max 12 mg) → flush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03520" cy="502920"/>
          </a:xfrm>
          <a:prstGeom prst="round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4. If adenosine fails: consider procainamide 15 mg/kg IV over 30-60 min OR amiodarone 5 mg/kg IV over 20-60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39112"/>
            <a:ext cx="5303520" cy="50292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5. UNSTABLE (poor perfusion, altered, shock): Synchronized cardioversion 0.5-1 J/kg → 2 J/kg if first fails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06624"/>
            <a:ext cx="5303520" cy="502920"/>
          </a:xfrm>
          <a:prstGeom prst="round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6. Post-conversion: 12-lead EKG to look for WPW (delta wave) or pre-excitation; cardiology consult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Cardiac Emergencies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Wide Complex Tachycardia in Children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Wide QRS tachycardia (&gt;0.09s) in children: assume VT until proven otherwise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VT is rare in children but is life-threatening — requires immediate intervention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Causes: myocarditis, long QT syndrome, hypertrophic cardiomyopathy, electrolyte abnormalities, drug toxicity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PALS algorithm for VT: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400">
                <a:solidFill>
                  <a:srgbClr val="8A92A3"/>
                </a:solidFill>
                <a:latin typeface="Calibri"/>
              </a:defRPr>
            </a:pPr>
            <a:r>
              <a:t>WITH PULSE: amiodarone 5 mg/kg IV over 20-60 min OR synchronized cardioversion 0.5-1 J/kg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400">
                <a:solidFill>
                  <a:srgbClr val="8A92A3"/>
                </a:solidFill>
                <a:latin typeface="Calibri"/>
              </a:defRPr>
            </a:pPr>
            <a:r>
              <a:t>PULSELESS: CPR + defibrillation 2 J/kg → 4 J/kg + epinephrine + amiodarone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Key: do NOT give adenosine for wide complex tachycardia — it can degenerate to VF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400">
                <a:solidFill>
                  <a:srgbClr val="8A92A3"/>
                </a:solidFill>
                <a:latin typeface="Calibri"/>
              </a:defRPr>
            </a:pPr>
            <a:r>
              <a:t>Exception: known SVT with aberrant conduction (confirmed by cardiology)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Cardiac Emergencies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Bradycardia: When to Worry and When to Treat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Sinus bradycardia: common, usually benign (athletes, sleep, vagal stimulation)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Pathologic bradycardia: signs of poor perfusion (altered mental status, hypotension, poor capillary refill)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Causes: hypoxia (#1 in children), hypothermia, increased ICP, drug toxicity, congenital heart block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PALS bradycardia algorithm: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400">
                <a:solidFill>
                  <a:srgbClr val="8A92A3"/>
                </a:solidFill>
                <a:latin typeface="Calibri"/>
              </a:defRPr>
            </a:pPr>
            <a:r>
              <a:t>IF poor perfusion: oxygenate → ventilate → CPR if HR &lt;60 with poor perfusion despite O2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400">
                <a:solidFill>
                  <a:srgbClr val="8A92A3"/>
                </a:solidFill>
                <a:latin typeface="Calibri"/>
              </a:defRPr>
            </a:pPr>
            <a:r>
              <a:t>Epinephrine 0.01 mg/kg IV/IO (1:10,000) for persistent symptomatic bradycardia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400">
                <a:solidFill>
                  <a:srgbClr val="8A92A3"/>
                </a:solidFill>
                <a:latin typeface="Calibri"/>
              </a:defRPr>
            </a:pPr>
            <a:r>
              <a:t>Atropine 0.02 mg/kg IV (min 0.1 mg, max 0.5 mg) — for vagal-mediated bradycardia only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400">
                <a:solidFill>
                  <a:srgbClr val="8A92A3"/>
                </a:solidFill>
                <a:latin typeface="Calibri"/>
              </a:defRPr>
            </a:pPr>
            <a:r>
              <a:t>Transcutaneous pacing if pharmacologic therapy fails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Cardiac Emergencies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Myocarditis vs. Pericarditis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48640"/>
          </a:xfrm>
          <a:prstGeom prst="round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MYOCARDITIS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Inflammation of the myocardium (usually viral: Coxsackie B, adenovirus, COVID)</a:t>
            </a:r>
          </a:p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Presents as: heart failure, chest pain, arrhythmia, or sudden cardiac death</a:t>
            </a:r>
          </a:p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Often preceded by viral illness 1-2 weeks prior</a:t>
            </a:r>
          </a:p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Exam: tachycardia, gallop rhythm, hepatomegaly, poor perfusion</a:t>
            </a:r>
          </a:p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EKG: low voltage, ST changes, arrhythmia</a:t>
            </a:r>
          </a:p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Labs: troponin elevated, BNP elevated</a:t>
            </a:r>
          </a:p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Treatment: supportive, inotropes (milrinone), IVIG controversial, ECMO if refractory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280160"/>
            <a:ext cx="27432" cy="4754880"/>
          </a:xfrm>
          <a:prstGeom prst="rect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303520" cy="54864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PERICARDITIS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Inflammation of the pericardium (viral, autoimmune, post-surgical)</a:t>
            </a:r>
          </a:p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Presents as: sharp chest pain worse with inspiration and lying flat, better sitting forward</a:t>
            </a:r>
          </a:p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Pericardial friction rub on auscultation (pathognomonic)</a:t>
            </a:r>
          </a:p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EKG: diffuse ST elevation with PR depression</a:t>
            </a:r>
          </a:p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Echo: pericardial effusion (assess for tamponade)</a:t>
            </a:r>
          </a:p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Labs: troponin may be mildly elevated, CRP elevated</a:t>
            </a:r>
          </a:p>
          <a:p>
            <a:pPr>
              <a:spcAft>
                <a:spcPts val="500"/>
              </a:spcAft>
              <a:defRPr sz="1400">
                <a:solidFill>
                  <a:srgbClr val="3D4455"/>
                </a:solidFill>
                <a:latin typeface="Calibri"/>
              </a:defRPr>
            </a:pPr>
            <a:r>
              <a:t>Treatment: NSAIDs + colchicine; watch for tamponade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Cardiac Emergencies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Neonatal Ductal-Dependent Cardiac Emergencies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Ductal-dependent lesions present when the ductus arteriosus closes (typically day 2-7 of life)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Ductal-dependent systemic flow: coarctation, critical AS, hypoplastic left heart, interrupted aortic arch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400">
                <a:solidFill>
                  <a:srgbClr val="8A92A3"/>
                </a:solidFill>
                <a:latin typeface="Calibri"/>
              </a:defRPr>
            </a:pPr>
            <a:r>
              <a:t>Present with: cardiogenic shock, gray/mottled, poor pulses, metabolic acidosis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Ductal-dependent pulmonary flow: critical PS, pulmonary atresia, tricuspid atresia, TOF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400">
                <a:solidFill>
                  <a:srgbClr val="8A92A3"/>
                </a:solidFill>
                <a:latin typeface="Calibri"/>
              </a:defRPr>
            </a:pPr>
            <a:r>
              <a:t>Present with: profound cyanosis unresponsive to supplemental O2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EMERGENCY TREATMENT: Prostaglandin E1 (PGE1) 0.05-0.1 mcg/kg/min IV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600">
                <a:solidFill>
                  <a:srgbClr val="3D4455"/>
                </a:solidFill>
                <a:latin typeface="Calibri"/>
              </a:defRPr>
            </a:pPr>
            <a:r>
              <a:t>PGE1 side effects: apnea (30-40%), hypotension, fever — have intubation equipment ready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400">
                <a:solidFill>
                  <a:srgbClr val="8A92A3"/>
                </a:solidFill>
                <a:latin typeface="Calibri"/>
              </a:defRPr>
            </a:pPr>
            <a:r>
              <a:t>Any cyanotic neonate unresponsive to oxygen + any neonate with unexplained shock → start PGE1 and call cardiology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Cardiac Emergencies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7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"/>
            <a:ext cx="1645920" cy="457200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CLINICAL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828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6-Week-Old with Rapid Breathing and Poor Feeding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09728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500">
                <a:solidFill>
                  <a:srgbClr val="3D4455"/>
                </a:solidFill>
                <a:latin typeface="Calibri"/>
              </a:defRPr>
            </a:pPr>
            <a:r>
              <a:t>A 6-week-old infant is brought in for poor feeding and rapid breathing for 2 days. Born full-term, previously well. On exam: tachypneic (RR 65), tachycardic (HR 240, very regular), mottled, cool extremities, hepatomegaly 3cm below costal margin, CRT 4 seconds. SpO2 95%. Monitor shows narrow complex tachycardia at 240 bpm with no variability.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7B83"/>
                </a:solidFill>
                <a:latin typeface="Calibri"/>
              </a:defRPr>
            </a:pPr>
            <a:r>
              <a:t>▸  Diagnosis? (SVT with heart failure — the rate of 240 with no variability and narrow QRS = SVT)</a:t>
            </a:r>
          </a:p>
          <a:p>
            <a:pPr>
              <a:spcAft>
                <a:spcPts val="600"/>
              </a:spcAft>
              <a:defRPr sz="1400" b="1">
                <a:solidFill>
                  <a:srgbClr val="007B83"/>
                </a:solidFill>
                <a:latin typeface="Calibri"/>
              </a:defRPr>
            </a:pPr>
            <a:r>
              <a:t>▸  Is this child stable or unstable? (UNSTABLE — signs of heart failure and shock)</a:t>
            </a:r>
          </a:p>
          <a:p>
            <a:pPr>
              <a:spcAft>
                <a:spcPts val="600"/>
              </a:spcAft>
              <a:defRPr sz="1400" b="1">
                <a:solidFill>
                  <a:srgbClr val="007B83"/>
                </a:solidFill>
                <a:latin typeface="Calibri"/>
              </a:defRPr>
            </a:pPr>
            <a:r>
              <a:t>▸  Management? (Synchronized cardioversion 0.5 J/kg first; alternatively ice to face for vagal maneuver)</a:t>
            </a:r>
          </a:p>
          <a:p>
            <a:pPr>
              <a:spcAft>
                <a:spcPts val="600"/>
              </a:spcAft>
              <a:defRPr sz="1400" b="1">
                <a:solidFill>
                  <a:srgbClr val="007B83"/>
                </a:solidFill>
                <a:latin typeface="Calibri"/>
              </a:defRPr>
            </a:pPr>
            <a:r>
              <a:t>▸  After conversion: 12-lead EKG, echo, cardiology consult, monitor for recurrence</a:t>
            </a:r>
          </a:p>
          <a:p>
            <a:pPr>
              <a:spcAft>
                <a:spcPts val="600"/>
              </a:spcAft>
              <a:defRPr sz="1400" b="1">
                <a:solidFill>
                  <a:srgbClr val="007B83"/>
                </a:solidFill>
                <a:latin typeface="Calibri"/>
              </a:defRPr>
            </a:pPr>
            <a:r>
              <a:t>▸  Why did this infant develop heart failure? (Prolonged SVT → tachycardia-induced cardiomyopathy)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Cardiac Emergencies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Cardiac Emergency Pitfalls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457200" cy="457200"/>
          </a:xfrm>
          <a:prstGeom prst="roundRect">
            <a:avLst/>
          </a:prstGeom>
          <a:solidFill>
            <a:srgbClr val="FD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E84D4D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455"/>
                </a:solidFill>
                <a:latin typeface="Calibri"/>
              </a:defRPr>
            </a:pPr>
            <a:r>
              <a:t>Misdiagnosing sinus tachycardia as SVT — look for an underlying cause (fever, dehydration, pain)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93391"/>
            <a:ext cx="457200" cy="457200"/>
          </a:xfrm>
          <a:prstGeom prst="roundRect">
            <a:avLst/>
          </a:prstGeom>
          <a:solidFill>
            <a:srgbClr val="FD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E84D4D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93391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455"/>
                </a:solidFill>
                <a:latin typeface="Calibri"/>
              </a:defRPr>
            </a:pPr>
            <a:r>
              <a:t>Slow adenosine push — adenosine MUST be given as a rapid push with rapid saline flush; it has a 10-second half-life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06624"/>
            <a:ext cx="457200" cy="457200"/>
          </a:xfrm>
          <a:prstGeom prst="roundRect">
            <a:avLst/>
          </a:prstGeom>
          <a:solidFill>
            <a:srgbClr val="FD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E84D4D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0662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455"/>
                </a:solidFill>
                <a:latin typeface="Calibri"/>
              </a:defRPr>
            </a:pPr>
            <a:r>
              <a:t>Giving adenosine for wide complex tachycardia — treat as VT with amiodarone or cardioversion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19856"/>
            <a:ext cx="457200" cy="457200"/>
          </a:xfrm>
          <a:prstGeom prst="roundRect">
            <a:avLst/>
          </a:prstGeom>
          <a:solidFill>
            <a:srgbClr val="FD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E84D4D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1985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455"/>
                </a:solidFill>
                <a:latin typeface="Calibri"/>
              </a:defRPr>
            </a:pPr>
            <a:r>
              <a:t>Missing myocarditis in a child with "viral illness" + unexplained tachycardia or heart failure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33087"/>
            <a:ext cx="457200" cy="457200"/>
          </a:xfrm>
          <a:prstGeom prst="roundRect">
            <a:avLst/>
          </a:prstGeom>
          <a:solidFill>
            <a:srgbClr val="FD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E84D4D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33087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455"/>
                </a:solidFill>
                <a:latin typeface="Calibri"/>
              </a:defRPr>
            </a:pPr>
            <a:r>
              <a:t>Not starting PGE1 in a cyanotic neonate unresponsive to O2 — do not wait for echo confirmation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46320"/>
            <a:ext cx="457200" cy="457200"/>
          </a:xfrm>
          <a:prstGeom prst="roundRect">
            <a:avLst/>
          </a:prstGeom>
          <a:solidFill>
            <a:srgbClr val="FD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E84D4D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46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455"/>
                </a:solidFill>
                <a:latin typeface="Calibri"/>
              </a:defRPr>
            </a:pPr>
            <a:r>
              <a:t>Missing WPW on post-conversion EKG — delta wave indicates pre-excitation; avoid AV nodal blockers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559552"/>
            <a:ext cx="457200" cy="457200"/>
          </a:xfrm>
          <a:prstGeom prst="roundRect">
            <a:avLst/>
          </a:prstGeom>
          <a:solidFill>
            <a:srgbClr val="FD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E84D4D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5595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455"/>
                </a:solidFill>
                <a:latin typeface="Calibri"/>
              </a:defRPr>
            </a:pPr>
            <a:r>
              <a:t>Not checking electrolytes (K, Ca, Mg) in any arrhythmia — correct before or with antiarrhythmics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Cardiac Emergencies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B83"/>
                </a:solidFill>
                <a:latin typeface="Calibri"/>
              </a:defRPr>
            </a:pPr>
            <a:r>
              <a:t>TAKE-HOME MESSAGES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743200" cy="36576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B8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  <a:r>
              <a:t>SVT vs. sinus tachycardia: SVT = fixed rate &gt;220 (infant), no variability, no P waves; sinus = gradual onset, has a 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B8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14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  <a:r>
              <a:t>SVT treatment: vagal maneuvers → adenosine 0.1 mg/kg rapid push → cardioversion if unstable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B8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918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  <a:r>
              <a:t>Wide complex tachycardia = VT until proven otherwise — do NOT give adenosine; treat with amiodarone or cardioversion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69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B8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6907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  <a:r>
              <a:t>Cyanotic neonate unresponsive to O2 → start PGE1 (0.05-0.1 mcg/kg/min) and call cardiology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B83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46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  <a:r>
              <a:t>Myocarditis: think of it in any child with unexplained tachycardia, heart failure, or arrhythmia after a viral illness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Cardiac Emergencies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D4455"/>
                </a:solidFill>
                <a:latin typeface="Calibri"/>
              </a:defRPr>
            </a:pPr>
            <a:r>
              <a:t>1. de Caen AR, et al. Part 12: Pediatric Advanced Life Support: 2015 AHA Guidelines Update. Circulation. 2015;132(18 Suppl 2):S526-542.</a:t>
            </a:r>
          </a:p>
          <a:p>
            <a:pPr>
              <a:spcAft>
                <a:spcPts val="400"/>
              </a:spcAft>
              <a:defRPr sz="1100">
                <a:solidFill>
                  <a:srgbClr val="3D4455"/>
                </a:solidFill>
                <a:latin typeface="Calibri"/>
              </a:defRPr>
            </a:pPr>
            <a:r>
              <a:t>2. Doniger SJ, Sharieff GQ. Pediatric dysrhythmias. Pediatr Clin North Am. 2006;53(1):85-105.</a:t>
            </a:r>
          </a:p>
          <a:p>
            <a:pPr>
              <a:spcAft>
                <a:spcPts val="400"/>
              </a:spcAft>
              <a:defRPr sz="1100">
                <a:solidFill>
                  <a:srgbClr val="3D4455"/>
                </a:solidFill>
                <a:latin typeface="Calibri"/>
              </a:defRPr>
            </a:pPr>
            <a:r>
              <a:t>3. Sachdeva R, et al. Use of adenosine in young patients with supraventricular tachycardia. Pediatr Emerg Care. 2021;37(1):47-51.</a:t>
            </a:r>
          </a:p>
          <a:p>
            <a:pPr>
              <a:spcAft>
                <a:spcPts val="400"/>
              </a:spcAft>
              <a:defRPr sz="1100">
                <a:solidFill>
                  <a:srgbClr val="3D4455"/>
                </a:solidFill>
                <a:latin typeface="Calibri"/>
              </a:defRPr>
            </a:pPr>
            <a:r>
              <a:t>4. Law YM, et al. Diagnosis and management of myocarditis in children: a scientific statement from the AHA. Circulation. 2021;144(6):e123-e135.</a:t>
            </a:r>
          </a:p>
          <a:p>
            <a:pPr>
              <a:spcAft>
                <a:spcPts val="400"/>
              </a:spcAft>
              <a:defRPr sz="1100">
                <a:solidFill>
                  <a:srgbClr val="3D4455"/>
                </a:solidFill>
                <a:latin typeface="Calibri"/>
              </a:defRPr>
            </a:pPr>
            <a:r>
              <a:t>5. Kemper AR, et al. Strategies for implementing screening for critical congenital heart disease. Pediatrics. 2011;128(5):e1259-e1267.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8AB4C8"/>
                </a:solidFill>
                <a:latin typeface="Calibri"/>
              </a:defRPr>
            </a:pPr>
            <a:r>
              <a:t>PEM Fellow Teaching Library  |  Cardiac Emergencies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AB4C8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A3AD"/>
                </a:solidFill>
                <a:latin typeface="Calibri"/>
              </a:defRPr>
            </a:pPr>
            <a:r>
              <a:t>PEM Fellow Teaching Library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017520" cy="36576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