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notesMaster" Target="notesMasters/notesMaster1.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 the talk around risk stratification. Most calls to poison control for children involve non-toxic exposures. But the subset of dangerous ingestions requires rapid identification and treatment. Poison Control should be your partner in every toxicology case — call them early.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5 toxidromes must be memorized. The key distinguishing features: anticholinergic = DRY + hot + dilated pupils + delirium. Cholinergic = WET + everything leaking (SLUDGE). Sympathomimetic = hot + diaphoretic + agitated + dilated. Opioid = pinpoint pupils + respiratory depression. Sedative-hypnotic = CNS depression without specific pupil or autonomic changes.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list must be memorized for boards and for practice. The calcium channel blocker and sulfonylurea ingestions are the most dangerous because they can be completely asymptomatic initially and then cause sudden cardiovascular collapse or hypoglycemia hours later. Extended observation is mandatory.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main message: activated charcoal is useful but has a narrow window (best within 1 hour). Most children present to the ED well after this window, making charcoal less effective. It is contraindicated if the airway is not protected or if there is a risk of aspiration. Whole bowel irrigation is reserved for specific situations.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antidote table should be posted in your resus bay. Key points: NAC is most effective within 8 hours but still beneficial up to 24 hours after acetaminophen ingestion. Naloxone has a shorter half-life than most opioids — plan for re-dosing or infusion. Sodium bicarbonate for TCAs targets the QRS width, not the pH. High-dose insulin therapy for CCB poisoning is the most important recent advance.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Acetaminophen toxicity is insidious because the child may look well in Phase I and Phase II while liver damage is progressing. The 4-hour level and nomogram are the decision tools. If the level plots above the treatment line, start NAC. If the time of ingestion is unknown, start NAC and get the level. In adolescent intentional overdoses, always check an APAP level regardless of what they say they took.</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approach is completely different based on intent. The toddler who tasted something gets a Poison Control call and observation. The adolescent who took a handful of pills gets an aggressive workup including levels that do not depend on history (APAP, ASA) plus an EKG. APAP and salicylate levels are mandatory in ALL intentional ingestions because patients often do not accurately report what they took.</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classic boards question. Sulfonylurea ingestion in a toddler can cause delayed, prolonged, and recurrent hypoglycemia lasting up to 72 hours. A normal glucose at presentation does NOT rule out danger. These children must be admitted for glucose monitoring. Octreotide (somatostatin analog) inhibits insulin release and is the specific treatment for sulfonylurea-induced hypoglycemia.</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pitfall on this list has led to patient harm. The sulfonylurea discharge is the most commonly tested. The APAP/ASA level in intentional ingestion is the most commonly missed step. The flumazenil warning is critical: in TCA co-ingestion, flumazenil removes benzodiazepine protection against TCA-induced seizures, which can be fatal.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834640"/>
            <a:ext cx="2560320" cy="54864"/>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280160"/>
            <a:ext cx="1463040" cy="502920"/>
          </a:xfrm>
          <a:prstGeom prst="round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560"/>
              </a:lnSpc>
              <a:spcBef>
                <a:spcPts val="0"/>
              </a:spcBef>
              <a:spcAft>
                <a:spcPts val="0"/>
              </a:spcAft>
              <a:defRPr sz="1300" b="1" i="0">
                <a:solidFill>
                  <a:srgbClr val="FFFFFF"/>
                </a:solidFill>
                <a:latin typeface="Calibri"/>
              </a:defRPr>
            </a:pPr>
            <a:r>
              <a:t>DECK 21 / 30</a:t>
            </a:r>
          </a:p>
        </p:txBody>
      </p:sp>
      <p:sp>
        <p:nvSpPr>
          <p:cNvPr id="5" name="TextBox 4"/>
          <p:cNvSpPr txBox="1"/>
          <p:nvPr/>
        </p:nvSpPr>
        <p:spPr>
          <a:xfrm>
            <a:off x="731520" y="1965960"/>
            <a:ext cx="9144000" cy="457200"/>
          </a:xfrm>
          <a:prstGeom prst="rect">
            <a:avLst/>
          </a:prstGeom>
          <a:noFill/>
        </p:spPr>
        <p:txBody>
          <a:bodyPr wrap="none">
            <a:spAutoFit/>
          </a:bodyPr>
          <a:lstStyle/>
          <a:p>
            <a:pPr algn="l">
              <a:defRPr sz="1100" b="1">
                <a:solidFill>
                  <a:srgbClr val="00A3AD"/>
                </a:solidFill>
                <a:latin typeface="Calibri"/>
              </a:defRPr>
            </a:pPr>
            <a:r>
              <a:t>PEDIATRIC EMERGENCY MEDICINE  ·  FELLOW TEACHING LIBRARY</a:t>
            </a:r>
          </a:p>
        </p:txBody>
      </p:sp>
      <p:sp>
        <p:nvSpPr>
          <p:cNvPr id="6" name="TextBox 5"/>
          <p:cNvSpPr txBox="1"/>
          <p:nvPr/>
        </p:nvSpPr>
        <p:spPr>
          <a:xfrm>
            <a:off x="731520" y="3200400"/>
            <a:ext cx="10058400" cy="1828800"/>
          </a:xfrm>
          <a:prstGeom prst="rect">
            <a:avLst/>
          </a:prstGeom>
          <a:noFill/>
        </p:spPr>
        <p:txBody>
          <a:bodyPr wrap="square">
            <a:spAutoFit/>
          </a:bodyPr>
          <a:lstStyle/>
          <a:p>
            <a:pPr algn="l">
              <a:defRPr sz="3800" b="1">
                <a:solidFill>
                  <a:srgbClr val="FFFFFF"/>
                </a:solidFill>
                <a:latin typeface="Calibri"/>
              </a:defRPr>
            </a:pPr>
            <a:r>
              <a:t>Toxicology and Common Pediatric Poisonings</a:t>
            </a:r>
          </a:p>
        </p:txBody>
      </p:sp>
      <p:sp>
        <p:nvSpPr>
          <p:cNvPr id="7" name="TextBox 6"/>
          <p:cNvSpPr txBox="1"/>
          <p:nvPr/>
        </p:nvSpPr>
        <p:spPr>
          <a:xfrm>
            <a:off x="731520" y="4937760"/>
            <a:ext cx="9144000" cy="731520"/>
          </a:xfrm>
          <a:prstGeom prst="rect">
            <a:avLst/>
          </a:prstGeom>
          <a:noFill/>
        </p:spPr>
        <p:txBody>
          <a:bodyPr wrap="square">
            <a:spAutoFit/>
          </a:bodyPr>
          <a:lstStyle/>
          <a:p>
            <a:pPr algn="l">
              <a:defRPr sz="1600">
                <a:solidFill>
                  <a:srgbClr val="8A92A3"/>
                </a:solidFill>
                <a:latin typeface="Calibri"/>
              </a:defRPr>
            </a:pPr>
            <a:r>
              <a:t>Toxidromes, Lethal Ingestions, Decontamination, and Antidote Therapy</a:t>
            </a:r>
          </a:p>
        </p:txBody>
      </p:sp>
      <p:sp>
        <p:nvSpPr>
          <p:cNvPr id="8" name="Rectangle 7"/>
          <p:cNvSpPr/>
          <p:nvPr/>
        </p:nvSpPr>
        <p:spPr>
          <a:xfrm>
            <a:off x="731520" y="6126480"/>
            <a:ext cx="10515600" cy="18288"/>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6263640"/>
            <a:ext cx="10058400" cy="365760"/>
          </a:xfrm>
          <a:prstGeom prst="rect">
            <a:avLst/>
          </a:prstGeom>
          <a:noFill/>
        </p:spPr>
        <p:txBody>
          <a:bodyPr wrap="none">
            <a:spAutoFit/>
          </a:bodyPr>
          <a:lstStyle/>
          <a:p>
            <a:pPr>
              <a:defRPr sz="1000">
                <a:solidFill>
                  <a:srgbClr val="8A92A3"/>
                </a:solidFill>
                <a:latin typeface="Calibri"/>
              </a:defRPr>
            </a:pPr>
            <a:r>
              <a:t>PEM Fellow Teaching Library  ·  Fellowship-Grade Education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
            <a:ext cx="9144000" cy="640080"/>
          </a:xfrm>
          <a:prstGeom prst="rect">
            <a:avLst/>
          </a:prstGeom>
          <a:noFill/>
        </p:spPr>
        <p:txBody>
          <a:bodyPr wrap="square">
            <a:spAutoFit/>
          </a:bodyPr>
          <a:lstStyle/>
          <a:p>
            <a:pPr algn="l">
              <a:lnSpc>
                <a:spcPts val="3360"/>
              </a:lnSpc>
              <a:spcBef>
                <a:spcPts val="0"/>
              </a:spcBef>
              <a:spcAft>
                <a:spcPts val="0"/>
              </a:spcAft>
              <a:defRPr sz="2800" b="1" i="0">
                <a:solidFill>
                  <a:srgbClr val="FFFFFF"/>
                </a:solidFill>
                <a:latin typeface="Calibri"/>
              </a:defRPr>
            </a:pPr>
            <a:r>
              <a:t>Learning Objectives</a:t>
            </a:r>
          </a:p>
        </p:txBody>
      </p:sp>
      <p:sp>
        <p:nvSpPr>
          <p:cNvPr id="5" name="Oval 4"/>
          <p:cNvSpPr/>
          <p:nvPr/>
        </p:nvSpPr>
        <p:spPr>
          <a:xfrm>
            <a:off x="731520" y="1371600"/>
            <a:ext cx="411480" cy="411480"/>
          </a:xfrm>
          <a:prstGeom prst="ellipse">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1" i="0">
                <a:solidFill>
                  <a:srgbClr val="FFFFFF"/>
                </a:solidFill>
                <a:latin typeface="Calibri"/>
              </a:defRPr>
            </a:pPr>
            <a:r>
              <a:t>1</a:t>
            </a:r>
          </a:p>
        </p:txBody>
      </p:sp>
      <p:sp>
        <p:nvSpPr>
          <p:cNvPr id="6" name="TextBox 5"/>
          <p:cNvSpPr txBox="1"/>
          <p:nvPr/>
        </p:nvSpPr>
        <p:spPr>
          <a:xfrm>
            <a:off x="1371600" y="1353312"/>
            <a:ext cx="9601200" cy="548640"/>
          </a:xfrm>
          <a:prstGeom prst="rect">
            <a:avLst/>
          </a:prstGeom>
          <a:noFill/>
        </p:spPr>
        <p:txBody>
          <a:bodyPr wrap="square">
            <a:spAutoFit/>
          </a:bodyPr>
          <a:lstStyle/>
          <a:p>
            <a:pPr>
              <a:defRPr sz="1600">
                <a:solidFill>
                  <a:srgbClr val="3D4455"/>
                </a:solidFill>
                <a:latin typeface="Calibri"/>
              </a:defRPr>
            </a:pPr>
            <a:r>
              <a:t>Recognize the 5 classic toxidromes and their clinical features</a:t>
            </a:r>
          </a:p>
        </p:txBody>
      </p:sp>
      <p:sp>
        <p:nvSpPr>
          <p:cNvPr id="7" name="Oval 6"/>
          <p:cNvSpPr/>
          <p:nvPr/>
        </p:nvSpPr>
        <p:spPr>
          <a:xfrm>
            <a:off x="731520" y="2148840"/>
            <a:ext cx="411480" cy="411480"/>
          </a:xfrm>
          <a:prstGeom prst="ellipse">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1" i="0">
                <a:solidFill>
                  <a:srgbClr val="FFFFFF"/>
                </a:solidFill>
                <a:latin typeface="Calibri"/>
              </a:defRPr>
            </a:pPr>
            <a:r>
              <a:t>2</a:t>
            </a:r>
          </a:p>
        </p:txBody>
      </p:sp>
      <p:sp>
        <p:nvSpPr>
          <p:cNvPr id="8" name="TextBox 7"/>
          <p:cNvSpPr txBox="1"/>
          <p:nvPr/>
        </p:nvSpPr>
        <p:spPr>
          <a:xfrm>
            <a:off x="1371600" y="2130552"/>
            <a:ext cx="9601200" cy="548640"/>
          </a:xfrm>
          <a:prstGeom prst="rect">
            <a:avLst/>
          </a:prstGeom>
          <a:noFill/>
        </p:spPr>
        <p:txBody>
          <a:bodyPr wrap="square">
            <a:spAutoFit/>
          </a:bodyPr>
          <a:lstStyle/>
          <a:p>
            <a:pPr>
              <a:defRPr sz="1600">
                <a:solidFill>
                  <a:srgbClr val="3D4455"/>
                </a:solidFill>
                <a:latin typeface="Calibri"/>
              </a:defRPr>
            </a:pPr>
            <a:r>
              <a:t>Identify the "one pill can kill" medications in toddlers</a:t>
            </a:r>
          </a:p>
        </p:txBody>
      </p:sp>
      <p:sp>
        <p:nvSpPr>
          <p:cNvPr id="9" name="Oval 8"/>
          <p:cNvSpPr/>
          <p:nvPr/>
        </p:nvSpPr>
        <p:spPr>
          <a:xfrm>
            <a:off x="731520" y="2926080"/>
            <a:ext cx="411480" cy="411480"/>
          </a:xfrm>
          <a:prstGeom prst="ellipse">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1" i="0">
                <a:solidFill>
                  <a:srgbClr val="FFFFFF"/>
                </a:solidFill>
                <a:latin typeface="Calibri"/>
              </a:defRPr>
            </a:pPr>
            <a:r>
              <a:t>3</a:t>
            </a:r>
          </a:p>
        </p:txBody>
      </p:sp>
      <p:sp>
        <p:nvSpPr>
          <p:cNvPr id="10" name="TextBox 9"/>
          <p:cNvSpPr txBox="1"/>
          <p:nvPr/>
        </p:nvSpPr>
        <p:spPr>
          <a:xfrm>
            <a:off x="1371600" y="2907792"/>
            <a:ext cx="9601200" cy="548640"/>
          </a:xfrm>
          <a:prstGeom prst="rect">
            <a:avLst/>
          </a:prstGeom>
          <a:noFill/>
        </p:spPr>
        <p:txBody>
          <a:bodyPr wrap="square">
            <a:spAutoFit/>
          </a:bodyPr>
          <a:lstStyle/>
          <a:p>
            <a:pPr>
              <a:defRPr sz="1600">
                <a:solidFill>
                  <a:srgbClr val="3D4455"/>
                </a:solidFill>
                <a:latin typeface="Calibri"/>
              </a:defRPr>
            </a:pPr>
            <a:r>
              <a:t>Execute GI decontamination decisions: when activated charcoal is and is not appropriate</a:t>
            </a:r>
          </a:p>
        </p:txBody>
      </p:sp>
      <p:sp>
        <p:nvSpPr>
          <p:cNvPr id="11" name="Oval 10"/>
          <p:cNvSpPr/>
          <p:nvPr/>
        </p:nvSpPr>
        <p:spPr>
          <a:xfrm>
            <a:off x="731520" y="3703320"/>
            <a:ext cx="411480" cy="411480"/>
          </a:xfrm>
          <a:prstGeom prst="ellipse">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1" i="0">
                <a:solidFill>
                  <a:srgbClr val="FFFFFF"/>
                </a:solidFill>
                <a:latin typeface="Calibri"/>
              </a:defRPr>
            </a:pPr>
            <a:r>
              <a:t>4</a:t>
            </a:r>
          </a:p>
        </p:txBody>
      </p:sp>
      <p:sp>
        <p:nvSpPr>
          <p:cNvPr id="12" name="TextBox 11"/>
          <p:cNvSpPr txBox="1"/>
          <p:nvPr/>
        </p:nvSpPr>
        <p:spPr>
          <a:xfrm>
            <a:off x="1371600" y="3685032"/>
            <a:ext cx="9601200" cy="548640"/>
          </a:xfrm>
          <a:prstGeom prst="rect">
            <a:avLst/>
          </a:prstGeom>
          <a:noFill/>
        </p:spPr>
        <p:txBody>
          <a:bodyPr wrap="square">
            <a:spAutoFit/>
          </a:bodyPr>
          <a:lstStyle/>
          <a:p>
            <a:pPr>
              <a:defRPr sz="1600">
                <a:solidFill>
                  <a:srgbClr val="3D4455"/>
                </a:solidFill>
                <a:latin typeface="Calibri"/>
              </a:defRPr>
            </a:pPr>
            <a:r>
              <a:t>Know key antidotes and their dosing for the most common pediatric poisonings</a:t>
            </a:r>
          </a:p>
        </p:txBody>
      </p:sp>
      <p:sp>
        <p:nvSpPr>
          <p:cNvPr id="13" name="Oval 12"/>
          <p:cNvSpPr/>
          <p:nvPr/>
        </p:nvSpPr>
        <p:spPr>
          <a:xfrm>
            <a:off x="731520" y="4480560"/>
            <a:ext cx="411480" cy="411480"/>
          </a:xfrm>
          <a:prstGeom prst="ellipse">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1" i="0">
                <a:solidFill>
                  <a:srgbClr val="FFFFFF"/>
                </a:solidFill>
                <a:latin typeface="Calibri"/>
              </a:defRPr>
            </a:pPr>
            <a:r>
              <a:t>5</a:t>
            </a:r>
          </a:p>
        </p:txBody>
      </p:sp>
      <p:sp>
        <p:nvSpPr>
          <p:cNvPr id="14" name="TextBox 13"/>
          <p:cNvSpPr txBox="1"/>
          <p:nvPr/>
        </p:nvSpPr>
        <p:spPr>
          <a:xfrm>
            <a:off x="1371600" y="4462272"/>
            <a:ext cx="9601200" cy="548640"/>
          </a:xfrm>
          <a:prstGeom prst="rect">
            <a:avLst/>
          </a:prstGeom>
          <a:noFill/>
        </p:spPr>
        <p:txBody>
          <a:bodyPr wrap="square">
            <a:spAutoFit/>
          </a:bodyPr>
          <a:lstStyle/>
          <a:p>
            <a:pPr>
              <a:defRPr sz="1600">
                <a:solidFill>
                  <a:srgbClr val="3D4455"/>
                </a:solidFill>
                <a:latin typeface="Calibri"/>
              </a:defRPr>
            </a:pPr>
            <a:r>
              <a:t>Manage acetaminophen, salicylate, and iron poisoning — the most common serious ingestions</a:t>
            </a:r>
          </a:p>
        </p:txBody>
      </p:sp>
      <p:sp>
        <p:nvSpPr>
          <p:cNvPr id="15" name="Rectangle 14"/>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Pediatric Toxicology</a:t>
            </a:r>
          </a:p>
        </p:txBody>
      </p:sp>
      <p:sp>
        <p:nvSpPr>
          <p:cNvPr id="17" name="TextBox 16"/>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1005840"/>
            <a:ext cx="2286000" cy="45720"/>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Pediatric Poisoning: The PEM Landscape</a:t>
            </a:r>
          </a:p>
        </p:txBody>
      </p:sp>
      <p:sp>
        <p:nvSpPr>
          <p:cNvPr id="6" name="TextBox 5"/>
          <p:cNvSpPr txBox="1"/>
          <p:nvPr/>
        </p:nvSpPr>
        <p:spPr>
          <a:xfrm>
            <a:off x="731520" y="1371600"/>
            <a:ext cx="10515600" cy="4754880"/>
          </a:xfrm>
          <a:prstGeom prst="rect">
            <a:avLst/>
          </a:prstGeom>
          <a:noFill/>
        </p:spPr>
        <p:txBody>
          <a:bodyPr wrap="square">
            <a:spAutoFit/>
          </a:bodyPr>
          <a:lstStyle/>
          <a:p>
            <a:pPr>
              <a:spcBef>
                <a:spcPts val="400"/>
              </a:spcBef>
              <a:spcAft>
                <a:spcPts val="600"/>
              </a:spcAft>
              <a:defRPr sz="1600">
                <a:solidFill>
                  <a:srgbClr val="3D4455"/>
                </a:solidFill>
                <a:latin typeface="Calibri"/>
              </a:defRPr>
            </a:pPr>
            <a:r>
              <a:t>Poisoning accounts for &gt;1 million calls to US Poison Control for children &lt;6 years annually</a:t>
            </a:r>
          </a:p>
          <a:p>
            <a:pPr>
              <a:spcBef>
                <a:spcPts val="400"/>
              </a:spcBef>
              <a:spcAft>
                <a:spcPts val="600"/>
              </a:spcAft>
              <a:defRPr sz="1600">
                <a:solidFill>
                  <a:srgbClr val="3D4455"/>
                </a:solidFill>
                <a:latin typeface="Calibri"/>
              </a:defRPr>
            </a:pPr>
            <a:r>
              <a:t>Peak age: 1-3 years (exploratory ingestions) — "the hand-to-mouth phase"</a:t>
            </a:r>
          </a:p>
          <a:p>
            <a:pPr>
              <a:spcBef>
                <a:spcPts val="400"/>
              </a:spcBef>
              <a:spcAft>
                <a:spcPts val="600"/>
              </a:spcAft>
              <a:defRPr sz="1600">
                <a:solidFill>
                  <a:srgbClr val="3D4455"/>
                </a:solidFill>
                <a:latin typeface="Calibri"/>
              </a:defRPr>
            </a:pPr>
            <a:r>
              <a:t>Second peak: adolescents (intentional ingestions — suicide attempts, recreational)</a:t>
            </a:r>
          </a:p>
          <a:p>
            <a:pPr>
              <a:spcBef>
                <a:spcPts val="400"/>
              </a:spcBef>
              <a:spcAft>
                <a:spcPts val="600"/>
              </a:spcAft>
              <a:defRPr sz="1600">
                <a:solidFill>
                  <a:srgbClr val="3D4455"/>
                </a:solidFill>
                <a:latin typeface="Calibri"/>
              </a:defRPr>
            </a:pPr>
            <a:r>
              <a:t>Most pediatric ingestions are non-toxic or minimally toxic — but some are lethal</a:t>
            </a:r>
          </a:p>
          <a:p>
            <a:pPr>
              <a:spcBef>
                <a:spcPts val="400"/>
              </a:spcBef>
              <a:spcAft>
                <a:spcPts val="600"/>
              </a:spcAft>
              <a:defRPr sz="1600">
                <a:solidFill>
                  <a:srgbClr val="3D4455"/>
                </a:solidFill>
                <a:latin typeface="Calibri"/>
              </a:defRPr>
            </a:pPr>
            <a:r>
              <a:t>The PEM role: risk-stratify rapidly, identify the dangerous ingestions, and treat aggressively</a:t>
            </a:r>
          </a:p>
          <a:p>
            <a:pPr lvl="1">
              <a:spcBef>
                <a:spcPts val="400"/>
              </a:spcBef>
              <a:spcAft>
                <a:spcPts val="600"/>
              </a:spcAft>
              <a:defRPr sz="1400">
                <a:solidFill>
                  <a:srgbClr val="8A92A3"/>
                </a:solidFill>
                <a:latin typeface="Calibri"/>
              </a:defRPr>
            </a:pPr>
            <a:r>
              <a:t>Call Poison Control (1-800-222-1222) early — they are an invaluable resource for real-time guidance</a:t>
            </a:r>
          </a:p>
        </p:txBody>
      </p:sp>
      <p:sp>
        <p:nvSpPr>
          <p:cNvPr id="7" name="Rectangle 6"/>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Pediatric Toxicology</a:t>
            </a:r>
          </a:p>
        </p:txBody>
      </p:sp>
      <p:sp>
        <p:nvSpPr>
          <p:cNvPr id="9" name="TextBox 8"/>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The 5 Classic Toxidromes</a:t>
            </a:r>
          </a:p>
        </p:txBody>
      </p:sp>
      <p:graphicFrame>
        <p:nvGraphicFramePr>
          <p:cNvPr id="5" name="Table 4"/>
          <p:cNvGraphicFramePr>
            <a:graphicFrameLocks noGrp="1"/>
          </p:cNvGraphicFramePr>
          <p:nvPr/>
        </p:nvGraphicFramePr>
        <p:xfrm>
          <a:off x="822960" y="1280160"/>
          <a:ext cx="10515600" cy="2743200"/>
        </p:xfrm>
        <a:graphic>
          <a:graphicData uri="http://schemas.openxmlformats.org/drawingml/2006/table">
            <a:tbl>
              <a:tblPr firstRow="1" bandRow="1">
                <a:tableStyleId>{5C22544A-7EE6-4342-B048-85BDC9FD1C3A}</a:tableStyleId>
              </a:tblPr>
              <a:tblGrid>
                <a:gridCol w="1752600"/>
                <a:gridCol w="1752600"/>
                <a:gridCol w="1752600"/>
                <a:gridCol w="1752600"/>
                <a:gridCol w="1752600"/>
                <a:gridCol w="1752600"/>
              </a:tblGrid>
              <a:tr h="457200">
                <a:tc>
                  <a:txBody>
                    <a:bodyPr/>
                    <a:lstStyle/>
                    <a:p>
                      <a:pPr algn="ctr">
                        <a:defRPr sz="1300" b="1">
                          <a:solidFill>
                            <a:srgbClr val="FFFFFF"/>
                          </a:solidFill>
                          <a:latin typeface="Calibri"/>
                        </a:defRPr>
                      </a:pPr>
                      <a:r>
                        <a:t>Toxidrome</a:t>
                      </a:r>
                    </a:p>
                  </a:txBody>
                  <a:tcPr>
                    <a:solidFill>
                      <a:srgbClr val="007B83"/>
                    </a:solidFill>
                  </a:tcPr>
                </a:tc>
                <a:tc>
                  <a:txBody>
                    <a:bodyPr/>
                    <a:lstStyle/>
                    <a:p>
                      <a:pPr algn="ctr">
                        <a:defRPr sz="1300" b="1">
                          <a:solidFill>
                            <a:srgbClr val="FFFFFF"/>
                          </a:solidFill>
                          <a:latin typeface="Calibri"/>
                        </a:defRPr>
                      </a:pPr>
                      <a:r>
                        <a:t>Vitals</a:t>
                      </a:r>
                    </a:p>
                  </a:txBody>
                  <a:tcPr>
                    <a:solidFill>
                      <a:srgbClr val="007B83"/>
                    </a:solidFill>
                  </a:tcPr>
                </a:tc>
                <a:tc>
                  <a:txBody>
                    <a:bodyPr/>
                    <a:lstStyle/>
                    <a:p>
                      <a:pPr algn="ctr">
                        <a:defRPr sz="1300" b="1">
                          <a:solidFill>
                            <a:srgbClr val="FFFFFF"/>
                          </a:solidFill>
                          <a:latin typeface="Calibri"/>
                        </a:defRPr>
                      </a:pPr>
                      <a:r>
                        <a:t>Pupils</a:t>
                      </a:r>
                    </a:p>
                  </a:txBody>
                  <a:tcPr>
                    <a:solidFill>
                      <a:srgbClr val="007B83"/>
                    </a:solidFill>
                  </a:tcPr>
                </a:tc>
                <a:tc>
                  <a:txBody>
                    <a:bodyPr/>
                    <a:lstStyle/>
                    <a:p>
                      <a:pPr algn="ctr">
                        <a:defRPr sz="1300" b="1">
                          <a:solidFill>
                            <a:srgbClr val="FFFFFF"/>
                          </a:solidFill>
                          <a:latin typeface="Calibri"/>
                        </a:defRPr>
                      </a:pPr>
                      <a:r>
                        <a:t>Skin</a:t>
                      </a:r>
                    </a:p>
                  </a:txBody>
                  <a:tcPr>
                    <a:solidFill>
                      <a:srgbClr val="007B83"/>
                    </a:solidFill>
                  </a:tcPr>
                </a:tc>
                <a:tc>
                  <a:txBody>
                    <a:bodyPr/>
                    <a:lstStyle/>
                    <a:p>
                      <a:pPr algn="ctr">
                        <a:defRPr sz="1300" b="1">
                          <a:solidFill>
                            <a:srgbClr val="FFFFFF"/>
                          </a:solidFill>
                          <a:latin typeface="Calibri"/>
                        </a:defRPr>
                      </a:pPr>
                      <a:r>
                        <a:t>Other</a:t>
                      </a:r>
                    </a:p>
                  </a:txBody>
                  <a:tcPr>
                    <a:solidFill>
                      <a:srgbClr val="007B83"/>
                    </a:solidFill>
                  </a:tcPr>
                </a:tc>
                <a:tc>
                  <a:txBody>
                    <a:bodyPr/>
                    <a:lstStyle/>
                    <a:p>
                      <a:pPr algn="ctr">
                        <a:defRPr sz="1300" b="1">
                          <a:solidFill>
                            <a:srgbClr val="FFFFFF"/>
                          </a:solidFill>
                          <a:latin typeface="Calibri"/>
                        </a:defRPr>
                      </a:pPr>
                      <a:r>
                        <a:t>Common Agents</a:t>
                      </a:r>
                    </a:p>
                  </a:txBody>
                  <a:tcPr>
                    <a:solidFill>
                      <a:srgbClr val="007B83"/>
                    </a:solidFill>
                  </a:tcPr>
                </a:tc>
              </a:tr>
              <a:tr h="457200">
                <a:tc>
                  <a:txBody>
                    <a:bodyPr/>
                    <a:lstStyle/>
                    <a:p>
                      <a:pPr algn="l">
                        <a:defRPr sz="1200">
                          <a:solidFill>
                            <a:srgbClr val="3D4455"/>
                          </a:solidFill>
                          <a:latin typeface="Calibri"/>
                        </a:defRPr>
                      </a:pPr>
                      <a:r>
                        <a:t>Anticholinergic</a:t>
                      </a:r>
                    </a:p>
                  </a:txBody>
                  <a:tcPr>
                    <a:solidFill>
                      <a:srgbClr val="F5F6FA"/>
                    </a:solidFill>
                  </a:tcPr>
                </a:tc>
                <a:tc>
                  <a:txBody>
                    <a:bodyPr/>
                    <a:lstStyle/>
                    <a:p>
                      <a:pPr algn="l">
                        <a:defRPr sz="1200">
                          <a:solidFill>
                            <a:srgbClr val="3D4455"/>
                          </a:solidFill>
                          <a:latin typeface="Calibri"/>
                        </a:defRPr>
                      </a:pPr>
                      <a:r>
                        <a:t>↑HR, ↑T, ↑BP</a:t>
                      </a:r>
                    </a:p>
                  </a:txBody>
                  <a:tcPr>
                    <a:solidFill>
                      <a:srgbClr val="F5F6FA"/>
                    </a:solidFill>
                  </a:tcPr>
                </a:tc>
                <a:tc>
                  <a:txBody>
                    <a:bodyPr/>
                    <a:lstStyle/>
                    <a:p>
                      <a:pPr algn="l">
                        <a:defRPr sz="1200">
                          <a:solidFill>
                            <a:srgbClr val="3D4455"/>
                          </a:solidFill>
                          <a:latin typeface="Calibri"/>
                        </a:defRPr>
                      </a:pPr>
                      <a:r>
                        <a:t>Dilated (mydriasis)</a:t>
                      </a:r>
                    </a:p>
                  </a:txBody>
                  <a:tcPr>
                    <a:solidFill>
                      <a:srgbClr val="F5F6FA"/>
                    </a:solidFill>
                  </a:tcPr>
                </a:tc>
                <a:tc>
                  <a:txBody>
                    <a:bodyPr/>
                    <a:lstStyle/>
                    <a:p>
                      <a:pPr algn="l">
                        <a:defRPr sz="1200">
                          <a:solidFill>
                            <a:srgbClr val="3D4455"/>
                          </a:solidFill>
                          <a:latin typeface="Calibri"/>
                        </a:defRPr>
                      </a:pPr>
                      <a:r>
                        <a:t>Dry, flushed, hot</a:t>
                      </a:r>
                    </a:p>
                  </a:txBody>
                  <a:tcPr>
                    <a:solidFill>
                      <a:srgbClr val="F5F6FA"/>
                    </a:solidFill>
                  </a:tcPr>
                </a:tc>
                <a:tc>
                  <a:txBody>
                    <a:bodyPr/>
                    <a:lstStyle/>
                    <a:p>
                      <a:pPr algn="l">
                        <a:defRPr sz="1200">
                          <a:solidFill>
                            <a:srgbClr val="3D4455"/>
                          </a:solidFill>
                          <a:latin typeface="Calibri"/>
                        </a:defRPr>
                      </a:pPr>
                      <a:r>
                        <a:t>Delirium, urinary retention, ileus</a:t>
                      </a:r>
                    </a:p>
                  </a:txBody>
                  <a:tcPr>
                    <a:solidFill>
                      <a:srgbClr val="F5F6FA"/>
                    </a:solidFill>
                  </a:tcPr>
                </a:tc>
                <a:tc>
                  <a:txBody>
                    <a:bodyPr/>
                    <a:lstStyle/>
                    <a:p>
                      <a:pPr algn="l">
                        <a:defRPr sz="1200">
                          <a:solidFill>
                            <a:srgbClr val="3D4455"/>
                          </a:solidFill>
                          <a:latin typeface="Calibri"/>
                        </a:defRPr>
                      </a:pPr>
                      <a:r>
                        <a:t>Diphenhydramine, atropine, jimsonweed, TCAs</a:t>
                      </a:r>
                    </a:p>
                  </a:txBody>
                  <a:tcPr>
                    <a:solidFill>
                      <a:srgbClr val="F5F6FA"/>
                    </a:solidFill>
                  </a:tcPr>
                </a:tc>
              </a:tr>
              <a:tr h="457200">
                <a:tc>
                  <a:txBody>
                    <a:bodyPr/>
                    <a:lstStyle/>
                    <a:p>
                      <a:pPr algn="l">
                        <a:defRPr sz="1200">
                          <a:solidFill>
                            <a:srgbClr val="3D4455"/>
                          </a:solidFill>
                          <a:latin typeface="Calibri"/>
                        </a:defRPr>
                      </a:pPr>
                      <a:r>
                        <a:t>Cholinergic</a:t>
                      </a:r>
                    </a:p>
                  </a:txBody>
                  <a:tcPr>
                    <a:solidFill>
                      <a:srgbClr val="FFFFFF"/>
                    </a:solidFill>
                  </a:tcPr>
                </a:tc>
                <a:tc>
                  <a:txBody>
                    <a:bodyPr/>
                    <a:lstStyle/>
                    <a:p>
                      <a:pPr algn="l">
                        <a:defRPr sz="1200">
                          <a:solidFill>
                            <a:srgbClr val="3D4455"/>
                          </a:solidFill>
                          <a:latin typeface="Calibri"/>
                        </a:defRPr>
                      </a:pPr>
                      <a:r>
                        <a:t>↓HR (or ↑), ↓BP</a:t>
                      </a:r>
                    </a:p>
                  </a:txBody>
                  <a:tcPr>
                    <a:solidFill>
                      <a:srgbClr val="FFFFFF"/>
                    </a:solidFill>
                  </a:tcPr>
                </a:tc>
                <a:tc>
                  <a:txBody>
                    <a:bodyPr/>
                    <a:lstStyle/>
                    <a:p>
                      <a:pPr algn="l">
                        <a:defRPr sz="1200">
                          <a:solidFill>
                            <a:srgbClr val="3D4455"/>
                          </a:solidFill>
                          <a:latin typeface="Calibri"/>
                        </a:defRPr>
                      </a:pPr>
                      <a:r>
                        <a:t>Constricted (miosis)</a:t>
                      </a:r>
                    </a:p>
                  </a:txBody>
                  <a:tcPr>
                    <a:solidFill>
                      <a:srgbClr val="FFFFFF"/>
                    </a:solidFill>
                  </a:tcPr>
                </a:tc>
                <a:tc>
                  <a:txBody>
                    <a:bodyPr/>
                    <a:lstStyle/>
                    <a:p>
                      <a:pPr algn="l">
                        <a:defRPr sz="1200">
                          <a:solidFill>
                            <a:srgbClr val="3D4455"/>
                          </a:solidFill>
                          <a:latin typeface="Calibri"/>
                        </a:defRPr>
                      </a:pPr>
                      <a:r>
                        <a:t>Diaphoretic</a:t>
                      </a:r>
                    </a:p>
                  </a:txBody>
                  <a:tcPr>
                    <a:solidFill>
                      <a:srgbClr val="FFFFFF"/>
                    </a:solidFill>
                  </a:tcPr>
                </a:tc>
                <a:tc>
                  <a:txBody>
                    <a:bodyPr/>
                    <a:lstStyle/>
                    <a:p>
                      <a:pPr algn="l">
                        <a:defRPr sz="1200">
                          <a:solidFill>
                            <a:srgbClr val="3D4455"/>
                          </a:solidFill>
                          <a:latin typeface="Calibri"/>
                        </a:defRPr>
                      </a:pPr>
                      <a:r>
                        <a:t>SLUDGE/DUMBELS</a:t>
                      </a:r>
                    </a:p>
                  </a:txBody>
                  <a:tcPr>
                    <a:solidFill>
                      <a:srgbClr val="FFFFFF"/>
                    </a:solidFill>
                  </a:tcPr>
                </a:tc>
                <a:tc>
                  <a:txBody>
                    <a:bodyPr/>
                    <a:lstStyle/>
                    <a:p>
                      <a:pPr algn="l">
                        <a:defRPr sz="1200">
                          <a:solidFill>
                            <a:srgbClr val="3D4455"/>
                          </a:solidFill>
                          <a:latin typeface="Calibri"/>
                        </a:defRPr>
                      </a:pPr>
                      <a:r>
                        <a:t>Organophosphates, carbamates, nerve agents</a:t>
                      </a:r>
                    </a:p>
                  </a:txBody>
                  <a:tcPr>
                    <a:solidFill>
                      <a:srgbClr val="FFFFFF"/>
                    </a:solidFill>
                  </a:tcPr>
                </a:tc>
              </a:tr>
              <a:tr h="457200">
                <a:tc>
                  <a:txBody>
                    <a:bodyPr/>
                    <a:lstStyle/>
                    <a:p>
                      <a:pPr algn="l">
                        <a:defRPr sz="1200">
                          <a:solidFill>
                            <a:srgbClr val="3D4455"/>
                          </a:solidFill>
                          <a:latin typeface="Calibri"/>
                        </a:defRPr>
                      </a:pPr>
                      <a:r>
                        <a:t>Sympathomimetic</a:t>
                      </a:r>
                    </a:p>
                  </a:txBody>
                  <a:tcPr>
                    <a:solidFill>
                      <a:srgbClr val="F5F6FA"/>
                    </a:solidFill>
                  </a:tcPr>
                </a:tc>
                <a:tc>
                  <a:txBody>
                    <a:bodyPr/>
                    <a:lstStyle/>
                    <a:p>
                      <a:pPr algn="l">
                        <a:defRPr sz="1200">
                          <a:solidFill>
                            <a:srgbClr val="3D4455"/>
                          </a:solidFill>
                          <a:latin typeface="Calibri"/>
                        </a:defRPr>
                      </a:pPr>
                      <a:r>
                        <a:t>↑HR, ↑BP, ↑T</a:t>
                      </a:r>
                    </a:p>
                  </a:txBody>
                  <a:tcPr>
                    <a:solidFill>
                      <a:srgbClr val="F5F6FA"/>
                    </a:solidFill>
                  </a:tcPr>
                </a:tc>
                <a:tc>
                  <a:txBody>
                    <a:bodyPr/>
                    <a:lstStyle/>
                    <a:p>
                      <a:pPr algn="l">
                        <a:defRPr sz="1200">
                          <a:solidFill>
                            <a:srgbClr val="3D4455"/>
                          </a:solidFill>
                          <a:latin typeface="Calibri"/>
                        </a:defRPr>
                      </a:pPr>
                      <a:r>
                        <a:t>Dilated</a:t>
                      </a:r>
                    </a:p>
                  </a:txBody>
                  <a:tcPr>
                    <a:solidFill>
                      <a:srgbClr val="F5F6FA"/>
                    </a:solidFill>
                  </a:tcPr>
                </a:tc>
                <a:tc>
                  <a:txBody>
                    <a:bodyPr/>
                    <a:lstStyle/>
                    <a:p>
                      <a:pPr algn="l">
                        <a:defRPr sz="1200">
                          <a:solidFill>
                            <a:srgbClr val="3D4455"/>
                          </a:solidFill>
                          <a:latin typeface="Calibri"/>
                        </a:defRPr>
                      </a:pPr>
                      <a:r>
                        <a:t>Diaphoretic</a:t>
                      </a:r>
                    </a:p>
                  </a:txBody>
                  <a:tcPr>
                    <a:solidFill>
                      <a:srgbClr val="F5F6FA"/>
                    </a:solidFill>
                  </a:tcPr>
                </a:tc>
                <a:tc>
                  <a:txBody>
                    <a:bodyPr/>
                    <a:lstStyle/>
                    <a:p>
                      <a:pPr algn="l">
                        <a:defRPr sz="1200">
                          <a:solidFill>
                            <a:srgbClr val="3D4455"/>
                          </a:solidFill>
                          <a:latin typeface="Calibri"/>
                        </a:defRPr>
                      </a:pPr>
                      <a:r>
                        <a:t>Agitation, seizures</a:t>
                      </a:r>
                    </a:p>
                  </a:txBody>
                  <a:tcPr>
                    <a:solidFill>
                      <a:srgbClr val="F5F6FA"/>
                    </a:solidFill>
                  </a:tcPr>
                </a:tc>
                <a:tc>
                  <a:txBody>
                    <a:bodyPr/>
                    <a:lstStyle/>
                    <a:p>
                      <a:pPr algn="l">
                        <a:defRPr sz="1200">
                          <a:solidFill>
                            <a:srgbClr val="3D4455"/>
                          </a:solidFill>
                          <a:latin typeface="Calibri"/>
                        </a:defRPr>
                      </a:pPr>
                      <a:r>
                        <a:t>Cocaine, amphetamines, pseudoephedrine</a:t>
                      </a:r>
                    </a:p>
                  </a:txBody>
                  <a:tcPr>
                    <a:solidFill>
                      <a:srgbClr val="F5F6FA"/>
                    </a:solidFill>
                  </a:tcPr>
                </a:tc>
              </a:tr>
              <a:tr h="457200">
                <a:tc>
                  <a:txBody>
                    <a:bodyPr/>
                    <a:lstStyle/>
                    <a:p>
                      <a:pPr algn="l">
                        <a:defRPr sz="1200">
                          <a:solidFill>
                            <a:srgbClr val="3D4455"/>
                          </a:solidFill>
                          <a:latin typeface="Calibri"/>
                        </a:defRPr>
                      </a:pPr>
                      <a:r>
                        <a:t>Opioid</a:t>
                      </a:r>
                    </a:p>
                  </a:txBody>
                  <a:tcPr>
                    <a:solidFill>
                      <a:srgbClr val="FFFFFF"/>
                    </a:solidFill>
                  </a:tcPr>
                </a:tc>
                <a:tc>
                  <a:txBody>
                    <a:bodyPr/>
                    <a:lstStyle/>
                    <a:p>
                      <a:pPr algn="l">
                        <a:defRPr sz="1200">
                          <a:solidFill>
                            <a:srgbClr val="3D4455"/>
                          </a:solidFill>
                          <a:latin typeface="Calibri"/>
                        </a:defRPr>
                      </a:pPr>
                      <a:r>
                        <a:t>↓HR, ↓BP, ↓RR</a:t>
                      </a:r>
                    </a:p>
                  </a:txBody>
                  <a:tcPr>
                    <a:solidFill>
                      <a:srgbClr val="FFFFFF"/>
                    </a:solidFill>
                  </a:tcPr>
                </a:tc>
                <a:tc>
                  <a:txBody>
                    <a:bodyPr/>
                    <a:lstStyle/>
                    <a:p>
                      <a:pPr algn="l">
                        <a:defRPr sz="1200">
                          <a:solidFill>
                            <a:srgbClr val="3D4455"/>
                          </a:solidFill>
                          <a:latin typeface="Calibri"/>
                        </a:defRPr>
                      </a:pPr>
                      <a:r>
                        <a:t>Pinpoint</a:t>
                      </a:r>
                    </a:p>
                  </a:txBody>
                  <a:tcPr>
                    <a:solidFill>
                      <a:srgbClr val="FFFFFF"/>
                    </a:solidFill>
                  </a:tcPr>
                </a:tc>
                <a:tc>
                  <a:txBody>
                    <a:bodyPr/>
                    <a:lstStyle/>
                    <a:p>
                      <a:pPr algn="l">
                        <a:defRPr sz="1200">
                          <a:solidFill>
                            <a:srgbClr val="3D4455"/>
                          </a:solidFill>
                          <a:latin typeface="Calibri"/>
                        </a:defRPr>
                      </a:pPr>
                      <a:r>
                        <a:t>Normal/cool</a:t>
                      </a:r>
                    </a:p>
                  </a:txBody>
                  <a:tcPr>
                    <a:solidFill>
                      <a:srgbClr val="FFFFFF"/>
                    </a:solidFill>
                  </a:tcPr>
                </a:tc>
                <a:tc>
                  <a:txBody>
                    <a:bodyPr/>
                    <a:lstStyle/>
                    <a:p>
                      <a:pPr algn="l">
                        <a:defRPr sz="1200">
                          <a:solidFill>
                            <a:srgbClr val="3D4455"/>
                          </a:solidFill>
                          <a:latin typeface="Calibri"/>
                        </a:defRPr>
                      </a:pPr>
                      <a:r>
                        <a:t>CNS depression, apnea</a:t>
                      </a:r>
                    </a:p>
                  </a:txBody>
                  <a:tcPr>
                    <a:solidFill>
                      <a:srgbClr val="FFFFFF"/>
                    </a:solidFill>
                  </a:tcPr>
                </a:tc>
                <a:tc>
                  <a:txBody>
                    <a:bodyPr/>
                    <a:lstStyle/>
                    <a:p>
                      <a:pPr algn="l">
                        <a:defRPr sz="1200">
                          <a:solidFill>
                            <a:srgbClr val="3D4455"/>
                          </a:solidFill>
                          <a:latin typeface="Calibri"/>
                        </a:defRPr>
                      </a:pPr>
                      <a:r>
                        <a:t>Morphine, fentanyl, heroin, methadone</a:t>
                      </a:r>
                    </a:p>
                  </a:txBody>
                  <a:tcPr>
                    <a:solidFill>
                      <a:srgbClr val="FFFFFF"/>
                    </a:solidFill>
                  </a:tcPr>
                </a:tc>
              </a:tr>
              <a:tr h="457200">
                <a:tc>
                  <a:txBody>
                    <a:bodyPr/>
                    <a:lstStyle/>
                    <a:p>
                      <a:pPr algn="l">
                        <a:defRPr sz="1200">
                          <a:solidFill>
                            <a:srgbClr val="3D4455"/>
                          </a:solidFill>
                          <a:latin typeface="Calibri"/>
                        </a:defRPr>
                      </a:pPr>
                      <a:r>
                        <a:t>Sedative-Hypnotic</a:t>
                      </a:r>
                    </a:p>
                  </a:txBody>
                  <a:tcPr>
                    <a:solidFill>
                      <a:srgbClr val="F5F6FA"/>
                    </a:solidFill>
                  </a:tcPr>
                </a:tc>
                <a:tc>
                  <a:txBody>
                    <a:bodyPr/>
                    <a:lstStyle/>
                    <a:p>
                      <a:pPr algn="l">
                        <a:defRPr sz="1200">
                          <a:solidFill>
                            <a:srgbClr val="3D4455"/>
                          </a:solidFill>
                          <a:latin typeface="Calibri"/>
                        </a:defRPr>
                      </a:pPr>
                      <a:r>
                        <a:t>↓HR, ↓BP, ↓RR</a:t>
                      </a:r>
                    </a:p>
                  </a:txBody>
                  <a:tcPr>
                    <a:solidFill>
                      <a:srgbClr val="F5F6FA"/>
                    </a:solidFill>
                  </a:tcPr>
                </a:tc>
                <a:tc>
                  <a:txBody>
                    <a:bodyPr/>
                    <a:lstStyle/>
                    <a:p>
                      <a:pPr algn="l">
                        <a:defRPr sz="1200">
                          <a:solidFill>
                            <a:srgbClr val="3D4455"/>
                          </a:solidFill>
                          <a:latin typeface="Calibri"/>
                        </a:defRPr>
                      </a:pPr>
                      <a:r>
                        <a:t>Variable</a:t>
                      </a:r>
                    </a:p>
                  </a:txBody>
                  <a:tcPr>
                    <a:solidFill>
                      <a:srgbClr val="F5F6FA"/>
                    </a:solidFill>
                  </a:tcPr>
                </a:tc>
                <a:tc>
                  <a:txBody>
                    <a:bodyPr/>
                    <a:lstStyle/>
                    <a:p>
                      <a:pPr algn="l">
                        <a:defRPr sz="1200">
                          <a:solidFill>
                            <a:srgbClr val="3D4455"/>
                          </a:solidFill>
                          <a:latin typeface="Calibri"/>
                        </a:defRPr>
                      </a:pPr>
                      <a:r>
                        <a:t>Normal</a:t>
                      </a:r>
                    </a:p>
                  </a:txBody>
                  <a:tcPr>
                    <a:solidFill>
                      <a:srgbClr val="F5F6FA"/>
                    </a:solidFill>
                  </a:tcPr>
                </a:tc>
                <a:tc>
                  <a:txBody>
                    <a:bodyPr/>
                    <a:lstStyle/>
                    <a:p>
                      <a:pPr algn="l">
                        <a:defRPr sz="1200">
                          <a:solidFill>
                            <a:srgbClr val="3D4455"/>
                          </a:solidFill>
                          <a:latin typeface="Calibri"/>
                        </a:defRPr>
                      </a:pPr>
                      <a:r>
                        <a:t>CNS depression, ataxia</a:t>
                      </a:r>
                    </a:p>
                  </a:txBody>
                  <a:tcPr>
                    <a:solidFill>
                      <a:srgbClr val="F5F6FA"/>
                    </a:solidFill>
                  </a:tcPr>
                </a:tc>
                <a:tc>
                  <a:txBody>
                    <a:bodyPr/>
                    <a:lstStyle/>
                    <a:p>
                      <a:pPr algn="l">
                        <a:defRPr sz="1200">
                          <a:solidFill>
                            <a:srgbClr val="3D4455"/>
                          </a:solidFill>
                          <a:latin typeface="Calibri"/>
                        </a:defRPr>
                      </a:pPr>
                      <a:r>
                        <a:t>Benzodiazepines, barbiturates, ethanol</a:t>
                      </a:r>
                    </a:p>
                  </a:txBody>
                  <a:tcPr>
                    <a:solidFill>
                      <a:srgbClr val="F5F6FA"/>
                    </a:solidFill>
                  </a:tcPr>
                </a:tc>
              </a:tr>
            </a:tbl>
          </a:graphicData>
        </a:graphic>
      </p:graphicFrame>
      <p:sp>
        <p:nvSpPr>
          <p:cNvPr id="6" name="Rectangle 5"/>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Pediatric Toxicology</a:t>
            </a:r>
          </a:p>
        </p:txBody>
      </p:sp>
      <p:sp>
        <p:nvSpPr>
          <p:cNvPr id="8" name="TextBox 7"/>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1005840"/>
            <a:ext cx="2286000" cy="45720"/>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"One Pill Can Kill" — Lethal Ingestions in Toddlers</a:t>
            </a:r>
          </a:p>
        </p:txBody>
      </p:sp>
      <p:sp>
        <p:nvSpPr>
          <p:cNvPr id="6" name="TextBox 5"/>
          <p:cNvSpPr txBox="1"/>
          <p:nvPr/>
        </p:nvSpPr>
        <p:spPr>
          <a:xfrm>
            <a:off x="731520" y="1371600"/>
            <a:ext cx="10515600" cy="4754880"/>
          </a:xfrm>
          <a:prstGeom prst="rect">
            <a:avLst/>
          </a:prstGeom>
          <a:noFill/>
        </p:spPr>
        <p:txBody>
          <a:bodyPr wrap="square">
            <a:spAutoFit/>
          </a:bodyPr>
          <a:lstStyle/>
          <a:p>
            <a:pPr>
              <a:spcBef>
                <a:spcPts val="400"/>
              </a:spcBef>
              <a:spcAft>
                <a:spcPts val="600"/>
              </a:spcAft>
              <a:defRPr sz="1600">
                <a:solidFill>
                  <a:srgbClr val="3D4455"/>
                </a:solidFill>
                <a:latin typeface="Calibri"/>
              </a:defRPr>
            </a:pPr>
            <a:r>
              <a:t>These medications can be fatal with a single pill/dose in a small child:</a:t>
            </a:r>
          </a:p>
          <a:p>
            <a:pPr lvl="1">
              <a:spcBef>
                <a:spcPts val="400"/>
              </a:spcBef>
              <a:spcAft>
                <a:spcPts val="600"/>
              </a:spcAft>
              <a:defRPr sz="1400">
                <a:solidFill>
                  <a:srgbClr val="8A92A3"/>
                </a:solidFill>
                <a:latin typeface="Calibri"/>
              </a:defRPr>
            </a:pPr>
            <a:r>
              <a:t>Calcium channel blockers (especially verapamil, diltiazem): hypotension, bradycardia, cardiac arrest</a:t>
            </a:r>
          </a:p>
          <a:p>
            <a:pPr lvl="1">
              <a:spcBef>
                <a:spcPts val="400"/>
              </a:spcBef>
              <a:spcAft>
                <a:spcPts val="600"/>
              </a:spcAft>
              <a:defRPr sz="1400">
                <a:solidFill>
                  <a:srgbClr val="8A92A3"/>
                </a:solidFill>
                <a:latin typeface="Calibri"/>
              </a:defRPr>
            </a:pPr>
            <a:r>
              <a:t>Beta-blockers (especially propranolol): bradycardia, hypotension, seizures, hypoglycemia</a:t>
            </a:r>
          </a:p>
          <a:p>
            <a:pPr lvl="1">
              <a:spcBef>
                <a:spcPts val="400"/>
              </a:spcBef>
              <a:spcAft>
                <a:spcPts val="600"/>
              </a:spcAft>
              <a:defRPr sz="1400">
                <a:solidFill>
                  <a:srgbClr val="8A92A3"/>
                </a:solidFill>
                <a:latin typeface="Calibri"/>
              </a:defRPr>
            </a:pPr>
            <a:r>
              <a:t>Sulfonylureas (glyburide, glipizide): profound, prolonged hypoglycemia lasting 24-72 hours</a:t>
            </a:r>
          </a:p>
          <a:p>
            <a:pPr lvl="1">
              <a:spcBef>
                <a:spcPts val="400"/>
              </a:spcBef>
              <a:spcAft>
                <a:spcPts val="600"/>
              </a:spcAft>
              <a:defRPr sz="1400">
                <a:solidFill>
                  <a:srgbClr val="8A92A3"/>
                </a:solidFill>
                <a:latin typeface="Calibri"/>
              </a:defRPr>
            </a:pPr>
            <a:r>
              <a:t>Opioids (methadone, buprenorphine patches): respiratory depression, apnea</a:t>
            </a:r>
          </a:p>
          <a:p>
            <a:pPr lvl="1">
              <a:spcBef>
                <a:spcPts val="400"/>
              </a:spcBef>
              <a:spcAft>
                <a:spcPts val="600"/>
              </a:spcAft>
              <a:defRPr sz="1400">
                <a:solidFill>
                  <a:srgbClr val="8A92A3"/>
                </a:solidFill>
                <a:latin typeface="Calibri"/>
              </a:defRPr>
            </a:pPr>
            <a:r>
              <a:t>Tricyclic antidepressants: seizures, wide QRS, cardiac arrest</a:t>
            </a:r>
          </a:p>
          <a:p>
            <a:pPr lvl="1">
              <a:spcBef>
                <a:spcPts val="400"/>
              </a:spcBef>
              <a:spcAft>
                <a:spcPts val="600"/>
              </a:spcAft>
              <a:defRPr sz="1400">
                <a:solidFill>
                  <a:srgbClr val="8A92A3"/>
                </a:solidFill>
                <a:latin typeface="Calibri"/>
              </a:defRPr>
            </a:pPr>
            <a:r>
              <a:t>Clonidine: bradycardia, hypotension, CNS depression, apnea</a:t>
            </a:r>
          </a:p>
          <a:p>
            <a:pPr lvl="1">
              <a:spcBef>
                <a:spcPts val="400"/>
              </a:spcBef>
              <a:spcAft>
                <a:spcPts val="600"/>
              </a:spcAft>
              <a:defRPr sz="1400">
                <a:solidFill>
                  <a:srgbClr val="8A92A3"/>
                </a:solidFill>
                <a:latin typeface="Calibri"/>
              </a:defRPr>
            </a:pPr>
            <a:r>
              <a:t>Camphor, chloroquine, theophylline: seizures, cardiac toxicity</a:t>
            </a:r>
          </a:p>
          <a:p>
            <a:pPr>
              <a:spcBef>
                <a:spcPts val="400"/>
              </a:spcBef>
              <a:spcAft>
                <a:spcPts val="600"/>
              </a:spcAft>
              <a:defRPr sz="1600">
                <a:solidFill>
                  <a:srgbClr val="3D4455"/>
                </a:solidFill>
                <a:latin typeface="Calibri"/>
              </a:defRPr>
            </a:pPr>
            <a:r>
              <a:t>These children need prolonged observation (6-24 hours minimum) even if asymptomatic at presentation</a:t>
            </a:r>
          </a:p>
        </p:txBody>
      </p:sp>
      <p:sp>
        <p:nvSpPr>
          <p:cNvPr id="7" name="Rectangle 6"/>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Pediatric Toxicology</a:t>
            </a:r>
          </a:p>
        </p:txBody>
      </p:sp>
      <p:sp>
        <p:nvSpPr>
          <p:cNvPr id="9" name="TextBox 8"/>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GI Decontamination Decision Framework</a:t>
            </a:r>
          </a:p>
        </p:txBody>
      </p:sp>
      <p:sp>
        <p:nvSpPr>
          <p:cNvPr id="5" name="Rounded Rectangle 4"/>
          <p:cNvSpPr/>
          <p:nvPr/>
        </p:nvSpPr>
        <p:spPr>
          <a:xfrm>
            <a:off x="457200" y="1371600"/>
            <a:ext cx="5303520" cy="502920"/>
          </a:xfrm>
          <a:prstGeom prst="round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439"/>
              </a:lnSpc>
              <a:spcBef>
                <a:spcPts val="0"/>
              </a:spcBef>
              <a:spcAft>
                <a:spcPts val="0"/>
              </a:spcAft>
              <a:defRPr sz="1200" b="1" i="0">
                <a:solidFill>
                  <a:srgbClr val="FFFFFF"/>
                </a:solidFill>
                <a:latin typeface="Calibri"/>
              </a:defRPr>
            </a:pPr>
            <a:r>
              <a:t>1. ACTIVATED CHARCOAL (AC): Consider if toxic ingestion &lt;1-2 hours ago AND substance binds to charcoal AND airway is protected</a:t>
            </a:r>
          </a:p>
        </p:txBody>
      </p:sp>
      <p:sp>
        <p:nvSpPr>
          <p:cNvPr id="6" name="Rounded Rectangle 5"/>
          <p:cNvSpPr/>
          <p:nvPr/>
        </p:nvSpPr>
        <p:spPr>
          <a:xfrm>
            <a:off x="457200" y="2039112"/>
            <a:ext cx="5303520" cy="502920"/>
          </a:xfrm>
          <a:prstGeom prst="round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439"/>
              </a:lnSpc>
              <a:spcBef>
                <a:spcPts val="0"/>
              </a:spcBef>
              <a:spcAft>
                <a:spcPts val="0"/>
              </a:spcAft>
              <a:defRPr sz="1200" b="1" i="0">
                <a:solidFill>
                  <a:srgbClr val="FFFFFF"/>
                </a:solidFill>
                <a:latin typeface="Calibri"/>
              </a:defRPr>
            </a:pPr>
            <a:r>
              <a:t>2. AC dose: 1 g/kg (max 50g) PO or via NG tube; mix with cola or juice for palatability</a:t>
            </a:r>
          </a:p>
        </p:txBody>
      </p:sp>
      <p:sp>
        <p:nvSpPr>
          <p:cNvPr id="7" name="Rounded Rectangle 6"/>
          <p:cNvSpPr/>
          <p:nvPr/>
        </p:nvSpPr>
        <p:spPr>
          <a:xfrm>
            <a:off x="457200" y="2706624"/>
            <a:ext cx="5303520" cy="502920"/>
          </a:xfrm>
          <a:prstGeom prst="round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439"/>
              </a:lnSpc>
              <a:spcBef>
                <a:spcPts val="0"/>
              </a:spcBef>
              <a:spcAft>
                <a:spcPts val="0"/>
              </a:spcAft>
              <a:defRPr sz="1200" b="1" i="0">
                <a:solidFill>
                  <a:srgbClr val="FFFFFF"/>
                </a:solidFill>
                <a:latin typeface="Calibri"/>
              </a:defRPr>
            </a:pPr>
            <a:r>
              <a:t>3. AC does NOT bind: iron, lithium, alcohols, acids/alkalis, potassium, heavy metals</a:t>
            </a:r>
          </a:p>
        </p:txBody>
      </p:sp>
      <p:sp>
        <p:nvSpPr>
          <p:cNvPr id="8" name="Rounded Rectangle 7"/>
          <p:cNvSpPr/>
          <p:nvPr/>
        </p:nvSpPr>
        <p:spPr>
          <a:xfrm>
            <a:off x="6309360" y="1371600"/>
            <a:ext cx="5303520" cy="502920"/>
          </a:xfrm>
          <a:prstGeom prst="round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439"/>
              </a:lnSpc>
              <a:spcBef>
                <a:spcPts val="0"/>
              </a:spcBef>
              <a:spcAft>
                <a:spcPts val="0"/>
              </a:spcAft>
              <a:defRPr sz="1200" b="1" i="0">
                <a:solidFill>
                  <a:srgbClr val="FFFFFF"/>
                </a:solidFill>
                <a:latin typeface="Calibri"/>
              </a:defRPr>
            </a:pPr>
            <a:r>
              <a:t>4. WHOLE BOWEL IRRIGATION: For sustained-release pills, iron, body packers — GoLYTELY 500 mL/hr (child) or 1-2 L/hr (adolescent)</a:t>
            </a:r>
          </a:p>
        </p:txBody>
      </p:sp>
      <p:sp>
        <p:nvSpPr>
          <p:cNvPr id="9" name="Rounded Rectangle 8"/>
          <p:cNvSpPr/>
          <p:nvPr/>
        </p:nvSpPr>
        <p:spPr>
          <a:xfrm>
            <a:off x="6309360" y="2039112"/>
            <a:ext cx="5303520" cy="502920"/>
          </a:xfrm>
          <a:prstGeom prst="round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439"/>
              </a:lnSpc>
              <a:spcBef>
                <a:spcPts val="0"/>
              </a:spcBef>
              <a:spcAft>
                <a:spcPts val="0"/>
              </a:spcAft>
              <a:defRPr sz="1200" b="1" i="0">
                <a:solidFill>
                  <a:srgbClr val="FFFFFF"/>
                </a:solidFill>
                <a:latin typeface="Calibri"/>
              </a:defRPr>
            </a:pPr>
            <a:r>
              <a:t>5. GASTRIC LAVAGE: Rarely indicated; only for massive life-threatening ingestion &lt;1 hour ago</a:t>
            </a:r>
          </a:p>
        </p:txBody>
      </p:sp>
      <p:sp>
        <p:nvSpPr>
          <p:cNvPr id="10" name="Rounded Rectangle 9"/>
          <p:cNvSpPr/>
          <p:nvPr/>
        </p:nvSpPr>
        <p:spPr>
          <a:xfrm>
            <a:off x="6309360" y="2706624"/>
            <a:ext cx="5303520" cy="502920"/>
          </a:xfrm>
          <a:prstGeom prst="round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439"/>
              </a:lnSpc>
              <a:spcBef>
                <a:spcPts val="0"/>
              </a:spcBef>
              <a:spcAft>
                <a:spcPts val="0"/>
              </a:spcAft>
              <a:defRPr sz="1200" b="1" i="0">
                <a:solidFill>
                  <a:srgbClr val="FFFFFF"/>
                </a:solidFill>
                <a:latin typeface="Calibri"/>
              </a:defRPr>
            </a:pPr>
            <a:r>
              <a:t>6. SYRUP OF IPECAC: NEVER — no longer recommended in any setting</a:t>
            </a:r>
          </a:p>
        </p:txBody>
      </p:sp>
      <p:sp>
        <p:nvSpPr>
          <p:cNvPr id="11" name="Rectangle 10"/>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Pediatric Toxicology</a:t>
            </a:r>
          </a:p>
        </p:txBody>
      </p:sp>
      <p:sp>
        <p:nvSpPr>
          <p:cNvPr id="13" name="TextBox 12"/>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Key Antidotes Quick Reference</a:t>
            </a:r>
          </a:p>
        </p:txBody>
      </p:sp>
      <p:graphicFrame>
        <p:nvGraphicFramePr>
          <p:cNvPr id="5" name="Table 4"/>
          <p:cNvGraphicFramePr>
            <a:graphicFrameLocks noGrp="1"/>
          </p:cNvGraphicFramePr>
          <p:nvPr/>
        </p:nvGraphicFramePr>
        <p:xfrm>
          <a:off x="822960" y="1280160"/>
          <a:ext cx="10515600" cy="4114800"/>
        </p:xfrm>
        <a:graphic>
          <a:graphicData uri="http://schemas.openxmlformats.org/drawingml/2006/table">
            <a:tbl>
              <a:tblPr firstRow="1" bandRow="1">
                <a:tableStyleId>{5C22544A-7EE6-4342-B048-85BDC9FD1C3A}</a:tableStyleId>
              </a:tblPr>
              <a:tblGrid>
                <a:gridCol w="2628900"/>
                <a:gridCol w="2628900"/>
                <a:gridCol w="2628900"/>
                <a:gridCol w="2628900"/>
              </a:tblGrid>
              <a:tr h="457200">
                <a:tc>
                  <a:txBody>
                    <a:bodyPr/>
                    <a:lstStyle/>
                    <a:p>
                      <a:pPr algn="ctr">
                        <a:defRPr sz="1300" b="1">
                          <a:solidFill>
                            <a:srgbClr val="FFFFFF"/>
                          </a:solidFill>
                          <a:latin typeface="Calibri"/>
                        </a:defRPr>
                      </a:pPr>
                      <a:r>
                        <a:t>Poison</a:t>
                      </a:r>
                    </a:p>
                  </a:txBody>
                  <a:tcPr>
                    <a:solidFill>
                      <a:srgbClr val="007B83"/>
                    </a:solidFill>
                  </a:tcPr>
                </a:tc>
                <a:tc>
                  <a:txBody>
                    <a:bodyPr/>
                    <a:lstStyle/>
                    <a:p>
                      <a:pPr algn="ctr">
                        <a:defRPr sz="1300" b="1">
                          <a:solidFill>
                            <a:srgbClr val="FFFFFF"/>
                          </a:solidFill>
                          <a:latin typeface="Calibri"/>
                        </a:defRPr>
                      </a:pPr>
                      <a:r>
                        <a:t>Antidote</a:t>
                      </a:r>
                    </a:p>
                  </a:txBody>
                  <a:tcPr>
                    <a:solidFill>
                      <a:srgbClr val="007B83"/>
                    </a:solidFill>
                  </a:tcPr>
                </a:tc>
                <a:tc>
                  <a:txBody>
                    <a:bodyPr/>
                    <a:lstStyle/>
                    <a:p>
                      <a:pPr algn="ctr">
                        <a:defRPr sz="1300" b="1">
                          <a:solidFill>
                            <a:srgbClr val="FFFFFF"/>
                          </a:solidFill>
                          <a:latin typeface="Calibri"/>
                        </a:defRPr>
                      </a:pPr>
                      <a:r>
                        <a:t>Dose</a:t>
                      </a:r>
                    </a:p>
                  </a:txBody>
                  <a:tcPr>
                    <a:solidFill>
                      <a:srgbClr val="007B83"/>
                    </a:solidFill>
                  </a:tcPr>
                </a:tc>
                <a:tc>
                  <a:txBody>
                    <a:bodyPr/>
                    <a:lstStyle/>
                    <a:p>
                      <a:pPr algn="ctr">
                        <a:defRPr sz="1300" b="1">
                          <a:solidFill>
                            <a:srgbClr val="FFFFFF"/>
                          </a:solidFill>
                          <a:latin typeface="Calibri"/>
                        </a:defRPr>
                      </a:pPr>
                      <a:r>
                        <a:t>Key Notes</a:t>
                      </a:r>
                    </a:p>
                  </a:txBody>
                  <a:tcPr>
                    <a:solidFill>
                      <a:srgbClr val="007B83"/>
                    </a:solidFill>
                  </a:tcPr>
                </a:tc>
              </a:tr>
              <a:tr h="457200">
                <a:tc>
                  <a:txBody>
                    <a:bodyPr/>
                    <a:lstStyle/>
                    <a:p>
                      <a:pPr algn="l">
                        <a:defRPr sz="1200">
                          <a:solidFill>
                            <a:srgbClr val="3D4455"/>
                          </a:solidFill>
                          <a:latin typeface="Calibri"/>
                        </a:defRPr>
                      </a:pPr>
                      <a:r>
                        <a:t>Acetaminophen</a:t>
                      </a:r>
                    </a:p>
                  </a:txBody>
                  <a:tcPr>
                    <a:solidFill>
                      <a:srgbClr val="F5F6FA"/>
                    </a:solidFill>
                  </a:tcPr>
                </a:tc>
                <a:tc>
                  <a:txBody>
                    <a:bodyPr/>
                    <a:lstStyle/>
                    <a:p>
                      <a:pPr algn="l">
                        <a:defRPr sz="1200">
                          <a:solidFill>
                            <a:srgbClr val="3D4455"/>
                          </a:solidFill>
                          <a:latin typeface="Calibri"/>
                        </a:defRPr>
                      </a:pPr>
                      <a:r>
                        <a:t>N-acetylcysteine (NAC)</a:t>
                      </a:r>
                    </a:p>
                  </a:txBody>
                  <a:tcPr>
                    <a:solidFill>
                      <a:srgbClr val="F5F6FA"/>
                    </a:solidFill>
                  </a:tcPr>
                </a:tc>
                <a:tc>
                  <a:txBody>
                    <a:bodyPr/>
                    <a:lstStyle/>
                    <a:p>
                      <a:pPr algn="l">
                        <a:defRPr sz="1200">
                          <a:solidFill>
                            <a:srgbClr val="3D4455"/>
                          </a:solidFill>
                          <a:latin typeface="Calibri"/>
                        </a:defRPr>
                      </a:pPr>
                      <a:r>
                        <a:t>PO: 140 mg/kg load then 70 mg/kg q4h × 17; IV: 150→50→100 mg/kg</a:t>
                      </a:r>
                    </a:p>
                  </a:txBody>
                  <a:tcPr>
                    <a:solidFill>
                      <a:srgbClr val="F5F6FA"/>
                    </a:solidFill>
                  </a:tcPr>
                </a:tc>
                <a:tc>
                  <a:txBody>
                    <a:bodyPr/>
                    <a:lstStyle/>
                    <a:p>
                      <a:pPr algn="l">
                        <a:defRPr sz="1200">
                          <a:solidFill>
                            <a:srgbClr val="3D4455"/>
                          </a:solidFill>
                          <a:latin typeface="Calibri"/>
                        </a:defRPr>
                      </a:pPr>
                      <a:r>
                        <a:t>Start within 8h if possible; use Rumack-Matthew nomogram</a:t>
                      </a:r>
                    </a:p>
                  </a:txBody>
                  <a:tcPr>
                    <a:solidFill>
                      <a:srgbClr val="F5F6FA"/>
                    </a:solidFill>
                  </a:tcPr>
                </a:tc>
              </a:tr>
              <a:tr h="457200">
                <a:tc>
                  <a:txBody>
                    <a:bodyPr/>
                    <a:lstStyle/>
                    <a:p>
                      <a:pPr algn="l">
                        <a:defRPr sz="1200">
                          <a:solidFill>
                            <a:srgbClr val="3D4455"/>
                          </a:solidFill>
                          <a:latin typeface="Calibri"/>
                        </a:defRPr>
                      </a:pPr>
                      <a:r>
                        <a:t>Opioids</a:t>
                      </a:r>
                    </a:p>
                  </a:txBody>
                  <a:tcPr>
                    <a:solidFill>
                      <a:srgbClr val="FFFFFF"/>
                    </a:solidFill>
                  </a:tcPr>
                </a:tc>
                <a:tc>
                  <a:txBody>
                    <a:bodyPr/>
                    <a:lstStyle/>
                    <a:p>
                      <a:pPr algn="l">
                        <a:defRPr sz="1200">
                          <a:solidFill>
                            <a:srgbClr val="3D4455"/>
                          </a:solidFill>
                          <a:latin typeface="Calibri"/>
                        </a:defRPr>
                      </a:pPr>
                      <a:r>
                        <a:t>Naloxone</a:t>
                      </a:r>
                    </a:p>
                  </a:txBody>
                  <a:tcPr>
                    <a:solidFill>
                      <a:srgbClr val="FFFFFF"/>
                    </a:solidFill>
                  </a:tcPr>
                </a:tc>
                <a:tc>
                  <a:txBody>
                    <a:bodyPr/>
                    <a:lstStyle/>
                    <a:p>
                      <a:pPr algn="l">
                        <a:defRPr sz="1200">
                          <a:solidFill>
                            <a:srgbClr val="3D4455"/>
                          </a:solidFill>
                          <a:latin typeface="Calibri"/>
                        </a:defRPr>
                      </a:pPr>
                      <a:r>
                        <a:t>0.1 mg/kg IV/IM/IN (max 2 mg); repeat q2-3 min</a:t>
                      </a:r>
                    </a:p>
                  </a:txBody>
                  <a:tcPr>
                    <a:solidFill>
                      <a:srgbClr val="FFFFFF"/>
                    </a:solidFill>
                  </a:tcPr>
                </a:tc>
                <a:tc>
                  <a:txBody>
                    <a:bodyPr/>
                    <a:lstStyle/>
                    <a:p>
                      <a:pPr algn="l">
                        <a:defRPr sz="1200">
                          <a:solidFill>
                            <a:srgbClr val="3D4455"/>
                          </a:solidFill>
                          <a:latin typeface="Calibri"/>
                        </a:defRPr>
                      </a:pPr>
                      <a:r>
                        <a:t>Short half-life — may need repeat doses or infusion</a:t>
                      </a:r>
                    </a:p>
                  </a:txBody>
                  <a:tcPr>
                    <a:solidFill>
                      <a:srgbClr val="FFFFFF"/>
                    </a:solidFill>
                  </a:tcPr>
                </a:tc>
              </a:tr>
              <a:tr h="457200">
                <a:tc>
                  <a:txBody>
                    <a:bodyPr/>
                    <a:lstStyle/>
                    <a:p>
                      <a:pPr algn="l">
                        <a:defRPr sz="1200">
                          <a:solidFill>
                            <a:srgbClr val="3D4455"/>
                          </a:solidFill>
                          <a:latin typeface="Calibri"/>
                        </a:defRPr>
                      </a:pPr>
                      <a:r>
                        <a:t>Benzodiazepines</a:t>
                      </a:r>
                    </a:p>
                  </a:txBody>
                  <a:tcPr>
                    <a:solidFill>
                      <a:srgbClr val="F5F6FA"/>
                    </a:solidFill>
                  </a:tcPr>
                </a:tc>
                <a:tc>
                  <a:txBody>
                    <a:bodyPr/>
                    <a:lstStyle/>
                    <a:p>
                      <a:pPr algn="l">
                        <a:defRPr sz="1200">
                          <a:solidFill>
                            <a:srgbClr val="3D4455"/>
                          </a:solidFill>
                          <a:latin typeface="Calibri"/>
                        </a:defRPr>
                      </a:pPr>
                      <a:r>
                        <a:t>Flumazenil</a:t>
                      </a:r>
                    </a:p>
                  </a:txBody>
                  <a:tcPr>
                    <a:solidFill>
                      <a:srgbClr val="F5F6FA"/>
                    </a:solidFill>
                  </a:tcPr>
                </a:tc>
                <a:tc>
                  <a:txBody>
                    <a:bodyPr/>
                    <a:lstStyle/>
                    <a:p>
                      <a:pPr algn="l">
                        <a:defRPr sz="1200">
                          <a:solidFill>
                            <a:srgbClr val="3D4455"/>
                          </a:solidFill>
                          <a:latin typeface="Calibri"/>
                        </a:defRPr>
                      </a:pPr>
                      <a:r>
                        <a:t>0.01 mg/kg IV (max 0.2 mg); repeat q1 min</a:t>
                      </a:r>
                    </a:p>
                  </a:txBody>
                  <a:tcPr>
                    <a:solidFill>
                      <a:srgbClr val="F5F6FA"/>
                    </a:solidFill>
                  </a:tcPr>
                </a:tc>
                <a:tc>
                  <a:txBody>
                    <a:bodyPr/>
                    <a:lstStyle/>
                    <a:p>
                      <a:pPr algn="l">
                        <a:defRPr sz="1200">
                          <a:solidFill>
                            <a:srgbClr val="3D4455"/>
                          </a:solidFill>
                          <a:latin typeface="Calibri"/>
                        </a:defRPr>
                      </a:pPr>
                      <a:r>
                        <a:t>CAUTION in chronic benzo use or TCA co-ingestion (seizure risk)</a:t>
                      </a:r>
                    </a:p>
                  </a:txBody>
                  <a:tcPr>
                    <a:solidFill>
                      <a:srgbClr val="F5F6FA"/>
                    </a:solidFill>
                  </a:tcPr>
                </a:tc>
              </a:tr>
              <a:tr h="457200">
                <a:tc>
                  <a:txBody>
                    <a:bodyPr/>
                    <a:lstStyle/>
                    <a:p>
                      <a:pPr algn="l">
                        <a:defRPr sz="1200">
                          <a:solidFill>
                            <a:srgbClr val="3D4455"/>
                          </a:solidFill>
                          <a:latin typeface="Calibri"/>
                        </a:defRPr>
                      </a:pPr>
                      <a:r>
                        <a:t>Organophosphates</a:t>
                      </a:r>
                    </a:p>
                  </a:txBody>
                  <a:tcPr>
                    <a:solidFill>
                      <a:srgbClr val="FFFFFF"/>
                    </a:solidFill>
                  </a:tcPr>
                </a:tc>
                <a:tc>
                  <a:txBody>
                    <a:bodyPr/>
                    <a:lstStyle/>
                    <a:p>
                      <a:pPr algn="l">
                        <a:defRPr sz="1200">
                          <a:solidFill>
                            <a:srgbClr val="3D4455"/>
                          </a:solidFill>
                          <a:latin typeface="Calibri"/>
                        </a:defRPr>
                      </a:pPr>
                      <a:r>
                        <a:t>Atropine + Pralidoxime</a:t>
                      </a:r>
                    </a:p>
                  </a:txBody>
                  <a:tcPr>
                    <a:solidFill>
                      <a:srgbClr val="FFFFFF"/>
                    </a:solidFill>
                  </a:tcPr>
                </a:tc>
                <a:tc>
                  <a:txBody>
                    <a:bodyPr/>
                    <a:lstStyle/>
                    <a:p>
                      <a:pPr algn="l">
                        <a:defRPr sz="1200">
                          <a:solidFill>
                            <a:srgbClr val="3D4455"/>
                          </a:solidFill>
                          <a:latin typeface="Calibri"/>
                        </a:defRPr>
                      </a:pPr>
                      <a:r>
                        <a:t>Atropine 0.05 mg/kg IV; 2-PAM 25-50 mg/kg IV</a:t>
                      </a:r>
                    </a:p>
                  </a:txBody>
                  <a:tcPr>
                    <a:solidFill>
                      <a:srgbClr val="FFFFFF"/>
                    </a:solidFill>
                  </a:tcPr>
                </a:tc>
                <a:tc>
                  <a:txBody>
                    <a:bodyPr/>
                    <a:lstStyle/>
                    <a:p>
                      <a:pPr algn="l">
                        <a:defRPr sz="1200">
                          <a:solidFill>
                            <a:srgbClr val="3D4455"/>
                          </a:solidFill>
                          <a:latin typeface="Calibri"/>
                        </a:defRPr>
                      </a:pPr>
                      <a:r>
                        <a:t>Atropine until drying of secretions; pralidoxime within 24h</a:t>
                      </a:r>
                    </a:p>
                  </a:txBody>
                  <a:tcPr>
                    <a:solidFill>
                      <a:srgbClr val="FFFFFF"/>
                    </a:solidFill>
                  </a:tcPr>
                </a:tc>
              </a:tr>
              <a:tr h="457200">
                <a:tc>
                  <a:txBody>
                    <a:bodyPr/>
                    <a:lstStyle/>
                    <a:p>
                      <a:pPr algn="l">
                        <a:defRPr sz="1200">
                          <a:solidFill>
                            <a:srgbClr val="3D4455"/>
                          </a:solidFill>
                          <a:latin typeface="Calibri"/>
                        </a:defRPr>
                      </a:pPr>
                      <a:r>
                        <a:t>Iron</a:t>
                      </a:r>
                    </a:p>
                  </a:txBody>
                  <a:tcPr>
                    <a:solidFill>
                      <a:srgbClr val="F5F6FA"/>
                    </a:solidFill>
                  </a:tcPr>
                </a:tc>
                <a:tc>
                  <a:txBody>
                    <a:bodyPr/>
                    <a:lstStyle/>
                    <a:p>
                      <a:pPr algn="l">
                        <a:defRPr sz="1200">
                          <a:solidFill>
                            <a:srgbClr val="3D4455"/>
                          </a:solidFill>
                          <a:latin typeface="Calibri"/>
                        </a:defRPr>
                      </a:pPr>
                      <a:r>
                        <a:t>Deferoxamine</a:t>
                      </a:r>
                    </a:p>
                  </a:txBody>
                  <a:tcPr>
                    <a:solidFill>
                      <a:srgbClr val="F5F6FA"/>
                    </a:solidFill>
                  </a:tcPr>
                </a:tc>
                <a:tc>
                  <a:txBody>
                    <a:bodyPr/>
                    <a:lstStyle/>
                    <a:p>
                      <a:pPr algn="l">
                        <a:defRPr sz="1200">
                          <a:solidFill>
                            <a:srgbClr val="3D4455"/>
                          </a:solidFill>
                          <a:latin typeface="Calibri"/>
                        </a:defRPr>
                      </a:pPr>
                      <a:r>
                        <a:t>15 mg/kg/hr IV continuous (max 6g/day)</a:t>
                      </a:r>
                    </a:p>
                  </a:txBody>
                  <a:tcPr>
                    <a:solidFill>
                      <a:srgbClr val="F5F6FA"/>
                    </a:solidFill>
                  </a:tcPr>
                </a:tc>
                <a:tc>
                  <a:txBody>
                    <a:bodyPr/>
                    <a:lstStyle/>
                    <a:p>
                      <a:pPr algn="l">
                        <a:defRPr sz="1200">
                          <a:solidFill>
                            <a:srgbClr val="3D4455"/>
                          </a:solidFill>
                          <a:latin typeface="Calibri"/>
                        </a:defRPr>
                      </a:pPr>
                      <a:r>
                        <a:t>Indicated for peak iron &gt;500, shock, metabolic acidosis</a:t>
                      </a:r>
                    </a:p>
                  </a:txBody>
                  <a:tcPr>
                    <a:solidFill>
                      <a:srgbClr val="F5F6FA"/>
                    </a:solidFill>
                  </a:tcPr>
                </a:tc>
              </a:tr>
              <a:tr h="457200">
                <a:tc>
                  <a:txBody>
                    <a:bodyPr/>
                    <a:lstStyle/>
                    <a:p>
                      <a:pPr algn="l">
                        <a:defRPr sz="1200">
                          <a:solidFill>
                            <a:srgbClr val="3D4455"/>
                          </a:solidFill>
                          <a:latin typeface="Calibri"/>
                        </a:defRPr>
                      </a:pPr>
                      <a:r>
                        <a:t>TCAs</a:t>
                      </a:r>
                    </a:p>
                  </a:txBody>
                  <a:tcPr>
                    <a:solidFill>
                      <a:srgbClr val="FFFFFF"/>
                    </a:solidFill>
                  </a:tcPr>
                </a:tc>
                <a:tc>
                  <a:txBody>
                    <a:bodyPr/>
                    <a:lstStyle/>
                    <a:p>
                      <a:pPr algn="l">
                        <a:defRPr sz="1200">
                          <a:solidFill>
                            <a:srgbClr val="3D4455"/>
                          </a:solidFill>
                          <a:latin typeface="Calibri"/>
                        </a:defRPr>
                      </a:pPr>
                      <a:r>
                        <a:t>Sodium bicarbonate</a:t>
                      </a:r>
                    </a:p>
                  </a:txBody>
                  <a:tcPr>
                    <a:solidFill>
                      <a:srgbClr val="FFFFFF"/>
                    </a:solidFill>
                  </a:tcPr>
                </a:tc>
                <a:tc>
                  <a:txBody>
                    <a:bodyPr/>
                    <a:lstStyle/>
                    <a:p>
                      <a:pPr algn="l">
                        <a:defRPr sz="1200">
                          <a:solidFill>
                            <a:srgbClr val="3D4455"/>
                          </a:solidFill>
                          <a:latin typeface="Calibri"/>
                        </a:defRPr>
                      </a:pPr>
                      <a:r>
                        <a:t>1-2 mEq/kg IV bolus</a:t>
                      </a:r>
                    </a:p>
                  </a:txBody>
                  <a:tcPr>
                    <a:solidFill>
                      <a:srgbClr val="FFFFFF"/>
                    </a:solidFill>
                  </a:tcPr>
                </a:tc>
                <a:tc>
                  <a:txBody>
                    <a:bodyPr/>
                    <a:lstStyle/>
                    <a:p>
                      <a:pPr algn="l">
                        <a:defRPr sz="1200">
                          <a:solidFill>
                            <a:srgbClr val="3D4455"/>
                          </a:solidFill>
                          <a:latin typeface="Calibri"/>
                        </a:defRPr>
                      </a:pPr>
                      <a:r>
                        <a:t>For QRS &gt;100ms; target serum pH 7.45-7.55</a:t>
                      </a:r>
                    </a:p>
                  </a:txBody>
                  <a:tcPr>
                    <a:solidFill>
                      <a:srgbClr val="FFFFFF"/>
                    </a:solidFill>
                  </a:tcPr>
                </a:tc>
              </a:tr>
              <a:tr h="457200">
                <a:tc>
                  <a:txBody>
                    <a:bodyPr/>
                    <a:lstStyle/>
                    <a:p>
                      <a:pPr algn="l">
                        <a:defRPr sz="1200">
                          <a:solidFill>
                            <a:srgbClr val="3D4455"/>
                          </a:solidFill>
                          <a:latin typeface="Calibri"/>
                        </a:defRPr>
                      </a:pPr>
                      <a:r>
                        <a:t>Beta-blockers</a:t>
                      </a:r>
                    </a:p>
                  </a:txBody>
                  <a:tcPr>
                    <a:solidFill>
                      <a:srgbClr val="F5F6FA"/>
                    </a:solidFill>
                  </a:tcPr>
                </a:tc>
                <a:tc>
                  <a:txBody>
                    <a:bodyPr/>
                    <a:lstStyle/>
                    <a:p>
                      <a:pPr algn="l">
                        <a:defRPr sz="1200">
                          <a:solidFill>
                            <a:srgbClr val="3D4455"/>
                          </a:solidFill>
                          <a:latin typeface="Calibri"/>
                        </a:defRPr>
                      </a:pPr>
                      <a:r>
                        <a:t>Glucagon</a:t>
                      </a:r>
                    </a:p>
                  </a:txBody>
                  <a:tcPr>
                    <a:solidFill>
                      <a:srgbClr val="F5F6FA"/>
                    </a:solidFill>
                  </a:tcPr>
                </a:tc>
                <a:tc>
                  <a:txBody>
                    <a:bodyPr/>
                    <a:lstStyle/>
                    <a:p>
                      <a:pPr algn="l">
                        <a:defRPr sz="1200">
                          <a:solidFill>
                            <a:srgbClr val="3D4455"/>
                          </a:solidFill>
                          <a:latin typeface="Calibri"/>
                        </a:defRPr>
                      </a:pPr>
                      <a:r>
                        <a:t>0.05-0.1 mg/kg IV (max 5 mg)</a:t>
                      </a:r>
                    </a:p>
                  </a:txBody>
                  <a:tcPr>
                    <a:solidFill>
                      <a:srgbClr val="F5F6FA"/>
                    </a:solidFill>
                  </a:tcPr>
                </a:tc>
                <a:tc>
                  <a:txBody>
                    <a:bodyPr/>
                    <a:lstStyle/>
                    <a:p>
                      <a:pPr algn="l">
                        <a:defRPr sz="1200">
                          <a:solidFill>
                            <a:srgbClr val="3D4455"/>
                          </a:solidFill>
                          <a:latin typeface="Calibri"/>
                        </a:defRPr>
                      </a:pPr>
                      <a:r>
                        <a:t>Followed by infusion; also high-dose insulin therapy</a:t>
                      </a:r>
                    </a:p>
                  </a:txBody>
                  <a:tcPr>
                    <a:solidFill>
                      <a:srgbClr val="F5F6FA"/>
                    </a:solidFill>
                  </a:tcPr>
                </a:tc>
              </a:tr>
              <a:tr h="457200">
                <a:tc>
                  <a:txBody>
                    <a:bodyPr/>
                    <a:lstStyle/>
                    <a:p>
                      <a:pPr algn="l">
                        <a:defRPr sz="1200">
                          <a:solidFill>
                            <a:srgbClr val="3D4455"/>
                          </a:solidFill>
                          <a:latin typeface="Calibri"/>
                        </a:defRPr>
                      </a:pPr>
                      <a:r>
                        <a:t>Ca-channel blockers</a:t>
                      </a:r>
                    </a:p>
                  </a:txBody>
                  <a:tcPr>
                    <a:solidFill>
                      <a:srgbClr val="FFFFFF"/>
                    </a:solidFill>
                  </a:tcPr>
                </a:tc>
                <a:tc>
                  <a:txBody>
                    <a:bodyPr/>
                    <a:lstStyle/>
                    <a:p>
                      <a:pPr algn="l">
                        <a:defRPr sz="1200">
                          <a:solidFill>
                            <a:srgbClr val="3D4455"/>
                          </a:solidFill>
                          <a:latin typeface="Calibri"/>
                        </a:defRPr>
                      </a:pPr>
                      <a:r>
                        <a:t>Calcium + high-dose insulin</a:t>
                      </a:r>
                    </a:p>
                  </a:txBody>
                  <a:tcPr>
                    <a:solidFill>
                      <a:srgbClr val="FFFFFF"/>
                    </a:solidFill>
                  </a:tcPr>
                </a:tc>
                <a:tc>
                  <a:txBody>
                    <a:bodyPr/>
                    <a:lstStyle/>
                    <a:p>
                      <a:pPr algn="l">
                        <a:defRPr sz="1200">
                          <a:solidFill>
                            <a:srgbClr val="3D4455"/>
                          </a:solidFill>
                          <a:latin typeface="Calibri"/>
                        </a:defRPr>
                      </a:pPr>
                      <a:r>
                        <a:t>CaCl2 20 mg/kg IV; Insulin 1 U/kg bolus → 1 U/kg/hr</a:t>
                      </a:r>
                    </a:p>
                  </a:txBody>
                  <a:tcPr>
                    <a:solidFill>
                      <a:srgbClr val="FFFFFF"/>
                    </a:solidFill>
                  </a:tcPr>
                </a:tc>
                <a:tc>
                  <a:txBody>
                    <a:bodyPr/>
                    <a:lstStyle/>
                    <a:p>
                      <a:pPr algn="l">
                        <a:defRPr sz="1200">
                          <a:solidFill>
                            <a:srgbClr val="3D4455"/>
                          </a:solidFill>
                          <a:latin typeface="Calibri"/>
                        </a:defRPr>
                      </a:pPr>
                      <a:r>
                        <a:t>High-dose insulin-euglycemia therapy is first-line for CCB</a:t>
                      </a:r>
                    </a:p>
                  </a:txBody>
                  <a:tcPr>
                    <a:solidFill>
                      <a:srgbClr val="FFFFFF"/>
                    </a:solidFill>
                  </a:tcPr>
                </a:tc>
              </a:tr>
            </a:tbl>
          </a:graphicData>
        </a:graphic>
      </p:graphicFrame>
      <p:sp>
        <p:nvSpPr>
          <p:cNvPr id="6" name="Rectangle 5"/>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Pediatric Toxicology</a:t>
            </a:r>
          </a:p>
        </p:txBody>
      </p:sp>
      <p:sp>
        <p:nvSpPr>
          <p:cNvPr id="8" name="TextBox 7"/>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1005840"/>
            <a:ext cx="2286000" cy="45720"/>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Acetaminophen: The Most Common Serious Ingestion</a:t>
            </a:r>
          </a:p>
        </p:txBody>
      </p:sp>
      <p:sp>
        <p:nvSpPr>
          <p:cNvPr id="6" name="TextBox 5"/>
          <p:cNvSpPr txBox="1"/>
          <p:nvPr/>
        </p:nvSpPr>
        <p:spPr>
          <a:xfrm>
            <a:off x="731520" y="1371600"/>
            <a:ext cx="10515600" cy="4754880"/>
          </a:xfrm>
          <a:prstGeom prst="rect">
            <a:avLst/>
          </a:prstGeom>
          <a:noFill/>
        </p:spPr>
        <p:txBody>
          <a:bodyPr wrap="square">
            <a:spAutoFit/>
          </a:bodyPr>
          <a:lstStyle/>
          <a:p>
            <a:pPr>
              <a:spcBef>
                <a:spcPts val="400"/>
              </a:spcBef>
              <a:spcAft>
                <a:spcPts val="600"/>
              </a:spcAft>
              <a:defRPr sz="1600">
                <a:solidFill>
                  <a:srgbClr val="3D4455"/>
                </a:solidFill>
                <a:latin typeface="Calibri"/>
              </a:defRPr>
            </a:pPr>
            <a:r>
              <a:t>Most common cause of acute liver failure in the US (pediatric and adult)</a:t>
            </a:r>
          </a:p>
          <a:p>
            <a:pPr>
              <a:spcBef>
                <a:spcPts val="400"/>
              </a:spcBef>
              <a:spcAft>
                <a:spcPts val="600"/>
              </a:spcAft>
              <a:defRPr sz="1600">
                <a:solidFill>
                  <a:srgbClr val="3D4455"/>
                </a:solidFill>
                <a:latin typeface="Calibri"/>
              </a:defRPr>
            </a:pPr>
            <a:r>
              <a:t>Toxic dose: &gt;150 mg/kg in a single ingestion</a:t>
            </a:r>
          </a:p>
          <a:p>
            <a:pPr>
              <a:spcBef>
                <a:spcPts val="400"/>
              </a:spcBef>
              <a:spcAft>
                <a:spcPts val="600"/>
              </a:spcAft>
              <a:defRPr sz="1600">
                <a:solidFill>
                  <a:srgbClr val="3D4455"/>
                </a:solidFill>
                <a:latin typeface="Calibri"/>
              </a:defRPr>
            </a:pPr>
            <a:r>
              <a:t>Phases: I (0-24h: nausea, vomiting), II (24-72h: clinical improvement but rising LFTs), III (72-96h: hepatic failure), IV (recovery or death)</a:t>
            </a:r>
          </a:p>
          <a:p>
            <a:pPr>
              <a:spcBef>
                <a:spcPts val="400"/>
              </a:spcBef>
              <a:spcAft>
                <a:spcPts val="600"/>
              </a:spcAft>
              <a:defRPr sz="1600">
                <a:solidFill>
                  <a:srgbClr val="3D4455"/>
                </a:solidFill>
                <a:latin typeface="Calibri"/>
              </a:defRPr>
            </a:pPr>
            <a:r>
              <a:t>Rumack-Matthew nomogram: plot APAP level at 4+ hours post-ingestion against time — determines need for NAC</a:t>
            </a:r>
          </a:p>
          <a:p>
            <a:pPr>
              <a:spcBef>
                <a:spcPts val="400"/>
              </a:spcBef>
              <a:spcAft>
                <a:spcPts val="600"/>
              </a:spcAft>
              <a:defRPr sz="1600">
                <a:solidFill>
                  <a:srgbClr val="3D4455"/>
                </a:solidFill>
                <a:latin typeface="Calibri"/>
              </a:defRPr>
            </a:pPr>
            <a:r>
              <a:t>NAC protocol (IV): 150 mg/kg over 1h → 50 mg/kg over 4h → 100 mg/kg over 16h</a:t>
            </a:r>
          </a:p>
          <a:p>
            <a:pPr>
              <a:spcBef>
                <a:spcPts val="400"/>
              </a:spcBef>
              <a:spcAft>
                <a:spcPts val="600"/>
              </a:spcAft>
              <a:defRPr sz="1600">
                <a:solidFill>
                  <a:srgbClr val="3D4455"/>
                </a:solidFill>
                <a:latin typeface="Calibri"/>
              </a:defRPr>
            </a:pPr>
            <a:r>
              <a:t>Start NAC within 8 hours for best outcomes — but it is STILL beneficial up to 24+ hours</a:t>
            </a:r>
          </a:p>
          <a:p>
            <a:pPr lvl="1">
              <a:spcBef>
                <a:spcPts val="400"/>
              </a:spcBef>
              <a:spcAft>
                <a:spcPts val="600"/>
              </a:spcAft>
              <a:defRPr sz="1400">
                <a:solidFill>
                  <a:srgbClr val="8A92A3"/>
                </a:solidFill>
                <a:latin typeface="Calibri"/>
              </a:defRPr>
            </a:pPr>
            <a:r>
              <a:t>Get a 4-hour APAP level for ALL intentional ingestions and any child with possible acetaminophen exposure</a:t>
            </a:r>
          </a:p>
        </p:txBody>
      </p:sp>
      <p:sp>
        <p:nvSpPr>
          <p:cNvPr id="7" name="Rectangle 6"/>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Pediatric Toxicology</a:t>
            </a:r>
          </a:p>
        </p:txBody>
      </p:sp>
      <p:sp>
        <p:nvSpPr>
          <p:cNvPr id="9" name="TextBox 8"/>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Intentional vs. Accidental Ingestion Approach</a:t>
            </a:r>
          </a:p>
        </p:txBody>
      </p:sp>
      <p:sp>
        <p:nvSpPr>
          <p:cNvPr id="5" name="Rounded Rectangle 4"/>
          <p:cNvSpPr/>
          <p:nvPr/>
        </p:nvSpPr>
        <p:spPr>
          <a:xfrm>
            <a:off x="457200" y="1280160"/>
            <a:ext cx="5303520" cy="548640"/>
          </a:xfrm>
          <a:prstGeom prst="round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1" i="0">
                <a:solidFill>
                  <a:srgbClr val="FFFFFF"/>
                </a:solidFill>
                <a:latin typeface="Calibri"/>
              </a:defRPr>
            </a:pPr>
            <a:r>
              <a:t>ACCIDENTAL (Toddler)</a:t>
            </a:r>
          </a:p>
        </p:txBody>
      </p:sp>
      <p:sp>
        <p:nvSpPr>
          <p:cNvPr id="6" name="TextBox 5"/>
          <p:cNvSpPr txBox="1"/>
          <p:nvPr/>
        </p:nvSpPr>
        <p:spPr>
          <a:xfrm>
            <a:off x="640080" y="2011680"/>
            <a:ext cx="4937760" cy="4114800"/>
          </a:xfrm>
          <a:prstGeom prst="rect">
            <a:avLst/>
          </a:prstGeom>
          <a:noFill/>
        </p:spPr>
        <p:txBody>
          <a:bodyPr wrap="square">
            <a:spAutoFit/>
          </a:bodyPr>
          <a:lstStyle/>
          <a:p>
            <a:pPr>
              <a:spcAft>
                <a:spcPts val="500"/>
              </a:spcAft>
              <a:defRPr sz="1400">
                <a:solidFill>
                  <a:srgbClr val="3D4455"/>
                </a:solidFill>
                <a:latin typeface="Calibri"/>
              </a:defRPr>
            </a:pPr>
            <a:r>
              <a:t>Usually single substance</a:t>
            </a:r>
          </a:p>
          <a:p>
            <a:pPr>
              <a:spcAft>
                <a:spcPts val="500"/>
              </a:spcAft>
              <a:defRPr sz="1400">
                <a:solidFill>
                  <a:srgbClr val="3D4455"/>
                </a:solidFill>
                <a:latin typeface="Calibri"/>
              </a:defRPr>
            </a:pPr>
            <a:r>
              <a:t>Small amount (exploratory taste)</a:t>
            </a:r>
          </a:p>
          <a:p>
            <a:pPr>
              <a:spcAft>
                <a:spcPts val="500"/>
              </a:spcAft>
              <a:defRPr sz="1400">
                <a:solidFill>
                  <a:srgbClr val="3D4455"/>
                </a:solidFill>
                <a:latin typeface="Calibri"/>
              </a:defRPr>
            </a:pPr>
            <a:r>
              <a:t>Call Poison Control for risk assessment</a:t>
            </a:r>
          </a:p>
          <a:p>
            <a:pPr>
              <a:spcAft>
                <a:spcPts val="500"/>
              </a:spcAft>
              <a:defRPr sz="1400">
                <a:solidFill>
                  <a:srgbClr val="3D4455"/>
                </a:solidFill>
                <a:latin typeface="Calibri"/>
              </a:defRPr>
            </a:pPr>
            <a:r>
              <a:t>Many are non-toxic — observe and discharge</a:t>
            </a:r>
          </a:p>
          <a:p>
            <a:pPr>
              <a:spcAft>
                <a:spcPts val="500"/>
              </a:spcAft>
              <a:defRPr sz="1400">
                <a:solidFill>
                  <a:srgbClr val="3D4455"/>
                </a:solidFill>
                <a:latin typeface="Calibri"/>
              </a:defRPr>
            </a:pPr>
            <a:r>
              <a:t>Exception: "one pill can kill" drugs — always observe 6-24h</a:t>
            </a:r>
          </a:p>
          <a:p>
            <a:pPr>
              <a:spcAft>
                <a:spcPts val="500"/>
              </a:spcAft>
              <a:defRPr sz="1400">
                <a:solidFill>
                  <a:srgbClr val="3D4455"/>
                </a:solidFill>
                <a:latin typeface="Calibri"/>
              </a:defRPr>
            </a:pPr>
            <a:r>
              <a:t>Focus: identify the substance, estimate amount, observe</a:t>
            </a:r>
          </a:p>
        </p:txBody>
      </p:sp>
      <p:sp>
        <p:nvSpPr>
          <p:cNvPr id="7" name="Rectangle 6"/>
          <p:cNvSpPr/>
          <p:nvPr/>
        </p:nvSpPr>
        <p:spPr>
          <a:xfrm>
            <a:off x="5989320" y="1280160"/>
            <a:ext cx="27432" cy="4754880"/>
          </a:xfrm>
          <a:prstGeom prst="rect">
            <a:avLst/>
          </a:prstGeom>
          <a:solidFill>
            <a:srgbClr val="E0E4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309360" y="1280160"/>
            <a:ext cx="5303520" cy="548640"/>
          </a:xfrm>
          <a:prstGeom prst="roundRect">
            <a:avLst/>
          </a:prstGeom>
          <a:solidFill>
            <a:srgbClr val="E84D4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1" i="0">
                <a:solidFill>
                  <a:srgbClr val="FFFFFF"/>
                </a:solidFill>
                <a:latin typeface="Calibri"/>
              </a:defRPr>
            </a:pPr>
            <a:r>
              <a:t>INTENTIONAL (Adolescent)</a:t>
            </a:r>
          </a:p>
        </p:txBody>
      </p:sp>
      <p:sp>
        <p:nvSpPr>
          <p:cNvPr id="9" name="TextBox 8"/>
          <p:cNvSpPr txBox="1"/>
          <p:nvPr/>
        </p:nvSpPr>
        <p:spPr>
          <a:xfrm>
            <a:off x="6492240" y="2011680"/>
            <a:ext cx="4937760" cy="4114800"/>
          </a:xfrm>
          <a:prstGeom prst="rect">
            <a:avLst/>
          </a:prstGeom>
          <a:noFill/>
        </p:spPr>
        <p:txBody>
          <a:bodyPr wrap="square">
            <a:spAutoFit/>
          </a:bodyPr>
          <a:lstStyle/>
          <a:p>
            <a:pPr>
              <a:spcAft>
                <a:spcPts val="500"/>
              </a:spcAft>
              <a:defRPr sz="1400">
                <a:solidFill>
                  <a:srgbClr val="3D4455"/>
                </a:solidFill>
                <a:latin typeface="Calibri"/>
              </a:defRPr>
            </a:pPr>
            <a:r>
              <a:t>Often polysubstance ingestion — assume the worst</a:t>
            </a:r>
          </a:p>
          <a:p>
            <a:pPr>
              <a:spcAft>
                <a:spcPts val="500"/>
              </a:spcAft>
              <a:defRPr sz="1400">
                <a:solidFill>
                  <a:srgbClr val="3D4455"/>
                </a:solidFill>
                <a:latin typeface="Calibri"/>
              </a:defRPr>
            </a:pPr>
            <a:r>
              <a:t>May minimize or lie about what was taken</a:t>
            </a:r>
          </a:p>
          <a:p>
            <a:pPr>
              <a:spcAft>
                <a:spcPts val="500"/>
              </a:spcAft>
              <a:defRPr sz="1400">
                <a:solidFill>
                  <a:srgbClr val="3D4455"/>
                </a:solidFill>
                <a:latin typeface="Calibri"/>
              </a:defRPr>
            </a:pPr>
            <a:r>
              <a:t>Always check: APAP level, salicylate level, EKG, BMP</a:t>
            </a:r>
          </a:p>
          <a:p>
            <a:pPr>
              <a:spcAft>
                <a:spcPts val="500"/>
              </a:spcAft>
              <a:defRPr sz="1400">
                <a:solidFill>
                  <a:srgbClr val="3D4455"/>
                </a:solidFill>
                <a:latin typeface="Calibri"/>
              </a:defRPr>
            </a:pPr>
            <a:r>
              <a:t>Always get a urine drug screen</a:t>
            </a:r>
          </a:p>
          <a:p>
            <a:pPr>
              <a:spcAft>
                <a:spcPts val="500"/>
              </a:spcAft>
              <a:defRPr sz="1400">
                <a:solidFill>
                  <a:srgbClr val="3D4455"/>
                </a:solidFill>
                <a:latin typeface="Calibri"/>
              </a:defRPr>
            </a:pPr>
            <a:r>
              <a:t>Psychiatric evaluation mandatory before discharge</a:t>
            </a:r>
          </a:p>
          <a:p>
            <a:pPr>
              <a:spcAft>
                <a:spcPts val="500"/>
              </a:spcAft>
              <a:defRPr sz="1400">
                <a:solidFill>
                  <a:srgbClr val="3D4455"/>
                </a:solidFill>
                <a:latin typeface="Calibri"/>
              </a:defRPr>
            </a:pPr>
            <a:r>
              <a:t>Focus: stabilize, rule out dangerous co-ingestions, psych consult</a:t>
            </a:r>
          </a:p>
        </p:txBody>
      </p:sp>
      <p:sp>
        <p:nvSpPr>
          <p:cNvPr id="10" name="Rectangle 9"/>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Pediatric Toxicology</a:t>
            </a:r>
          </a:p>
        </p:txBody>
      </p:sp>
      <p:sp>
        <p:nvSpPr>
          <p:cNvPr id="12" name="TextBox 11"/>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712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28600"/>
            <a:ext cx="1645920" cy="457200"/>
          </a:xfrm>
          <a:prstGeom prst="roundRect">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439"/>
              </a:lnSpc>
              <a:spcBef>
                <a:spcPts val="0"/>
              </a:spcBef>
              <a:spcAft>
                <a:spcPts val="0"/>
              </a:spcAft>
              <a:defRPr sz="1200" b="1" i="0">
                <a:solidFill>
                  <a:srgbClr val="FFFFFF"/>
                </a:solidFill>
                <a:latin typeface="Calibri"/>
              </a:defRPr>
            </a:pPr>
            <a:r>
              <a:t>CLINICAL CASE</a:t>
            </a:r>
          </a:p>
        </p:txBody>
      </p:sp>
      <p:sp>
        <p:nvSpPr>
          <p:cNvPr id="5" name="TextBox 4"/>
          <p:cNvSpPr txBox="1"/>
          <p:nvPr/>
        </p:nvSpPr>
        <p:spPr>
          <a:xfrm>
            <a:off x="2651760" y="182880"/>
            <a:ext cx="8686800" cy="640080"/>
          </a:xfrm>
          <a:prstGeom prst="rect">
            <a:avLst/>
          </a:prstGeom>
          <a:noFill/>
        </p:spPr>
        <p:txBody>
          <a:bodyPr wrap="square">
            <a:spAutoFit/>
          </a:bodyPr>
          <a:lstStyle/>
          <a:p>
            <a:pPr algn="l">
              <a:lnSpc>
                <a:spcPts val="2879"/>
              </a:lnSpc>
              <a:spcBef>
                <a:spcPts val="0"/>
              </a:spcBef>
              <a:spcAft>
                <a:spcPts val="0"/>
              </a:spcAft>
              <a:defRPr sz="2400" b="1" i="0">
                <a:solidFill>
                  <a:srgbClr val="FFFFFF"/>
                </a:solidFill>
                <a:latin typeface="Calibri"/>
              </a:defRPr>
            </a:pPr>
            <a:r>
              <a:t>2-Year-Old Found with Grandmother's Pill Bottle</a:t>
            </a:r>
          </a:p>
        </p:txBody>
      </p:sp>
      <p:sp>
        <p:nvSpPr>
          <p:cNvPr id="6" name="Rounded Rectangle 5"/>
          <p:cNvSpPr/>
          <p:nvPr/>
        </p:nvSpPr>
        <p:spPr>
          <a:xfrm>
            <a:off x="548640" y="1280160"/>
            <a:ext cx="10972800" cy="2560320"/>
          </a:xfrm>
          <a:prstGeom prst="roundRect">
            <a:avLst/>
          </a:prstGeom>
          <a:solidFill>
            <a:srgbClr val="FFFFFF"/>
          </a:solidFill>
          <a:ln w="19050">
            <a:solidFill>
              <a:srgbClr val="E0E4EB"/>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182880"/>
          <a:lstStyle/>
          <a:p>
            <a:pPr algn="ctr">
              <a:defRPr sz="1500">
                <a:solidFill>
                  <a:srgbClr val="3D4455"/>
                </a:solidFill>
                <a:latin typeface="Calibri"/>
              </a:defRPr>
            </a:pPr>
            <a:r>
              <a:t>A 2-year-old boy (12 kg) is brought in after his mother found him playing with his grandmother's glyburide (5 mg pills). She thinks he may have swallowed 1-2 pills. He looks well, is playful, and vital signs are normal. Point-of-care glucose is 85 mg/dL.</a:t>
            </a:r>
          </a:p>
        </p:txBody>
      </p:sp>
      <p:sp>
        <p:nvSpPr>
          <p:cNvPr id="7" name="TextBox 6"/>
          <p:cNvSpPr txBox="1"/>
          <p:nvPr/>
        </p:nvSpPr>
        <p:spPr>
          <a:xfrm>
            <a:off x="731520" y="4114800"/>
            <a:ext cx="10515600" cy="2011680"/>
          </a:xfrm>
          <a:prstGeom prst="rect">
            <a:avLst/>
          </a:prstGeom>
          <a:noFill/>
        </p:spPr>
        <p:txBody>
          <a:bodyPr wrap="square">
            <a:spAutoFit/>
          </a:bodyPr>
          <a:lstStyle/>
          <a:p>
            <a:pPr>
              <a:spcAft>
                <a:spcPts val="600"/>
              </a:spcAft>
              <a:defRPr sz="1400" b="1">
                <a:solidFill>
                  <a:srgbClr val="007B83"/>
                </a:solidFill>
                <a:latin typeface="Calibri"/>
              </a:defRPr>
            </a:pPr>
            <a:r>
              <a:t>▸  Is this a "one pill can kill" scenario? (YES — sulfonylureas cause prolonged hypoglycemia)</a:t>
            </a:r>
          </a:p>
          <a:p>
            <a:pPr>
              <a:spcAft>
                <a:spcPts val="600"/>
              </a:spcAft>
              <a:defRPr sz="1400" b="1">
                <a:solidFill>
                  <a:srgbClr val="007B83"/>
                </a:solidFill>
                <a:latin typeface="Calibri"/>
              </a:defRPr>
            </a:pPr>
            <a:r>
              <a:t>▸  Current glucose is normal — safe to discharge? (ABSOLUTELY NOT — hypoglycemia may be delayed 2-8 hours)</a:t>
            </a:r>
          </a:p>
          <a:p>
            <a:pPr>
              <a:spcAft>
                <a:spcPts val="600"/>
              </a:spcAft>
              <a:defRPr sz="1400" b="1">
                <a:solidFill>
                  <a:srgbClr val="007B83"/>
                </a:solidFill>
                <a:latin typeface="Calibri"/>
              </a:defRPr>
            </a:pPr>
            <a:r>
              <a:t>▸  Management? (Dextrose-containing IV fluids, glucose monitoring q1h for 24 hours, admission)</a:t>
            </a:r>
          </a:p>
          <a:p>
            <a:pPr>
              <a:spcAft>
                <a:spcPts val="600"/>
              </a:spcAft>
              <a:defRPr sz="1400" b="1">
                <a:solidFill>
                  <a:srgbClr val="007B83"/>
                </a:solidFill>
                <a:latin typeface="Calibri"/>
              </a:defRPr>
            </a:pPr>
            <a:r>
              <a:t>▸  If glucose drops &lt;60: D10W 5 mL/kg IV bolus; consider octreotide 1-2 mcg/kg SC q6h</a:t>
            </a:r>
          </a:p>
          <a:p>
            <a:pPr>
              <a:spcAft>
                <a:spcPts val="600"/>
              </a:spcAft>
              <a:defRPr sz="1400" b="1">
                <a:solidFill>
                  <a:srgbClr val="007B83"/>
                </a:solidFill>
                <a:latin typeface="Calibri"/>
              </a:defRPr>
            </a:pPr>
            <a:r>
              <a:t>▸  This child needs 24-hour admission for glucose monitoring even if he never becomes hypoglycemic</a:t>
            </a:r>
          </a:p>
        </p:txBody>
      </p:sp>
      <p:sp>
        <p:nvSpPr>
          <p:cNvPr id="8" name="Rectangle 7"/>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Pediatric Toxicology</a:t>
            </a:r>
          </a:p>
        </p:txBody>
      </p:sp>
      <p:sp>
        <p:nvSpPr>
          <p:cNvPr id="10" name="TextBox 9"/>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E8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Pediatric Toxicology Pitfalls</a:t>
            </a:r>
          </a:p>
        </p:txBody>
      </p:sp>
      <p:sp>
        <p:nvSpPr>
          <p:cNvPr id="5" name="Rounded Rectangle 4"/>
          <p:cNvSpPr/>
          <p:nvPr/>
        </p:nvSpPr>
        <p:spPr>
          <a:xfrm>
            <a:off x="457200" y="1280160"/>
            <a:ext cx="457200" cy="457200"/>
          </a:xfrm>
          <a:prstGeom prst="roundRect">
            <a:avLst/>
          </a:prstGeom>
          <a:solidFill>
            <a:srgbClr val="FDEB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0" i="0">
                <a:solidFill>
                  <a:srgbClr val="E84D4D"/>
                </a:solidFill>
                <a:latin typeface="Calibri"/>
              </a:defRPr>
            </a:pPr>
            <a:r>
              <a:t>⚠</a:t>
            </a:r>
          </a:p>
        </p:txBody>
      </p:sp>
      <p:sp>
        <p:nvSpPr>
          <p:cNvPr id="6" name="TextBox 5"/>
          <p:cNvSpPr txBox="1"/>
          <p:nvPr/>
        </p:nvSpPr>
        <p:spPr>
          <a:xfrm>
            <a:off x="1097280" y="1280160"/>
            <a:ext cx="10515600" cy="548640"/>
          </a:xfrm>
          <a:prstGeom prst="rect">
            <a:avLst/>
          </a:prstGeom>
          <a:noFill/>
        </p:spPr>
        <p:txBody>
          <a:bodyPr wrap="square">
            <a:spAutoFit/>
          </a:bodyPr>
          <a:lstStyle/>
          <a:p>
            <a:pPr>
              <a:defRPr sz="1500">
                <a:solidFill>
                  <a:srgbClr val="3D4455"/>
                </a:solidFill>
                <a:latin typeface="Calibri"/>
              </a:defRPr>
            </a:pPr>
            <a:r>
              <a:t>Discharging a toddler with a normal glucose after sulfonylurea ingestion — hypoglycemia can be delayed hours</a:t>
            </a:r>
          </a:p>
        </p:txBody>
      </p:sp>
      <p:sp>
        <p:nvSpPr>
          <p:cNvPr id="7" name="Rounded Rectangle 6"/>
          <p:cNvSpPr/>
          <p:nvPr/>
        </p:nvSpPr>
        <p:spPr>
          <a:xfrm>
            <a:off x="457200" y="1993391"/>
            <a:ext cx="457200" cy="457200"/>
          </a:xfrm>
          <a:prstGeom prst="roundRect">
            <a:avLst/>
          </a:prstGeom>
          <a:solidFill>
            <a:srgbClr val="FDEB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0" i="0">
                <a:solidFill>
                  <a:srgbClr val="E84D4D"/>
                </a:solidFill>
                <a:latin typeface="Calibri"/>
              </a:defRPr>
            </a:pPr>
            <a:r>
              <a:t>⚠</a:t>
            </a:r>
          </a:p>
        </p:txBody>
      </p:sp>
      <p:sp>
        <p:nvSpPr>
          <p:cNvPr id="8" name="TextBox 7"/>
          <p:cNvSpPr txBox="1"/>
          <p:nvPr/>
        </p:nvSpPr>
        <p:spPr>
          <a:xfrm>
            <a:off x="1097280" y="1993391"/>
            <a:ext cx="10515600" cy="548640"/>
          </a:xfrm>
          <a:prstGeom prst="rect">
            <a:avLst/>
          </a:prstGeom>
          <a:noFill/>
        </p:spPr>
        <p:txBody>
          <a:bodyPr wrap="square">
            <a:spAutoFit/>
          </a:bodyPr>
          <a:lstStyle/>
          <a:p>
            <a:pPr>
              <a:defRPr sz="1500">
                <a:solidFill>
                  <a:srgbClr val="3D4455"/>
                </a:solidFill>
                <a:latin typeface="Calibri"/>
              </a:defRPr>
            </a:pPr>
            <a:r>
              <a:t>Not checking APAP and ASA levels in intentional adolescent ingestions — always check regardless of history</a:t>
            </a:r>
          </a:p>
        </p:txBody>
      </p:sp>
      <p:sp>
        <p:nvSpPr>
          <p:cNvPr id="9" name="Rounded Rectangle 8"/>
          <p:cNvSpPr/>
          <p:nvPr/>
        </p:nvSpPr>
        <p:spPr>
          <a:xfrm>
            <a:off x="457200" y="2706624"/>
            <a:ext cx="457200" cy="457200"/>
          </a:xfrm>
          <a:prstGeom prst="roundRect">
            <a:avLst/>
          </a:prstGeom>
          <a:solidFill>
            <a:srgbClr val="FDEB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0" i="0">
                <a:solidFill>
                  <a:srgbClr val="E84D4D"/>
                </a:solidFill>
                <a:latin typeface="Calibri"/>
              </a:defRPr>
            </a:pPr>
            <a:r>
              <a:t>⚠</a:t>
            </a:r>
          </a:p>
        </p:txBody>
      </p:sp>
      <p:sp>
        <p:nvSpPr>
          <p:cNvPr id="10" name="TextBox 9"/>
          <p:cNvSpPr txBox="1"/>
          <p:nvPr/>
        </p:nvSpPr>
        <p:spPr>
          <a:xfrm>
            <a:off x="1097280" y="2706624"/>
            <a:ext cx="10515600" cy="548640"/>
          </a:xfrm>
          <a:prstGeom prst="rect">
            <a:avLst/>
          </a:prstGeom>
          <a:noFill/>
        </p:spPr>
        <p:txBody>
          <a:bodyPr wrap="square">
            <a:spAutoFit/>
          </a:bodyPr>
          <a:lstStyle/>
          <a:p>
            <a:pPr>
              <a:defRPr sz="1500">
                <a:solidFill>
                  <a:srgbClr val="3D4455"/>
                </a:solidFill>
                <a:latin typeface="Calibri"/>
              </a:defRPr>
            </a:pPr>
            <a:r>
              <a:t>Giving flumazenil to a patient who chronically uses benzodiazepines or co-ingested TCAs → seizures</a:t>
            </a:r>
          </a:p>
        </p:txBody>
      </p:sp>
      <p:sp>
        <p:nvSpPr>
          <p:cNvPr id="11" name="Rounded Rectangle 10"/>
          <p:cNvSpPr/>
          <p:nvPr/>
        </p:nvSpPr>
        <p:spPr>
          <a:xfrm>
            <a:off x="457200" y="3419856"/>
            <a:ext cx="457200" cy="457200"/>
          </a:xfrm>
          <a:prstGeom prst="roundRect">
            <a:avLst/>
          </a:prstGeom>
          <a:solidFill>
            <a:srgbClr val="FDEB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0" i="0">
                <a:solidFill>
                  <a:srgbClr val="E84D4D"/>
                </a:solidFill>
                <a:latin typeface="Calibri"/>
              </a:defRPr>
            </a:pPr>
            <a:r>
              <a:t>⚠</a:t>
            </a:r>
          </a:p>
        </p:txBody>
      </p:sp>
      <p:sp>
        <p:nvSpPr>
          <p:cNvPr id="12" name="TextBox 11"/>
          <p:cNvSpPr txBox="1"/>
          <p:nvPr/>
        </p:nvSpPr>
        <p:spPr>
          <a:xfrm>
            <a:off x="1097280" y="3419856"/>
            <a:ext cx="10515600" cy="548640"/>
          </a:xfrm>
          <a:prstGeom prst="rect">
            <a:avLst/>
          </a:prstGeom>
          <a:noFill/>
        </p:spPr>
        <p:txBody>
          <a:bodyPr wrap="square">
            <a:spAutoFit/>
          </a:bodyPr>
          <a:lstStyle/>
          <a:p>
            <a:pPr>
              <a:defRPr sz="1500">
                <a:solidFill>
                  <a:srgbClr val="3D4455"/>
                </a:solidFill>
                <a:latin typeface="Calibri"/>
              </a:defRPr>
            </a:pPr>
            <a:r>
              <a:t>Missing co-ingestions — adolescents rarely take just one thing; always assume polysubstance</a:t>
            </a:r>
          </a:p>
        </p:txBody>
      </p:sp>
      <p:sp>
        <p:nvSpPr>
          <p:cNvPr id="13" name="Rounded Rectangle 12"/>
          <p:cNvSpPr/>
          <p:nvPr/>
        </p:nvSpPr>
        <p:spPr>
          <a:xfrm>
            <a:off x="457200" y="4133087"/>
            <a:ext cx="457200" cy="457200"/>
          </a:xfrm>
          <a:prstGeom prst="roundRect">
            <a:avLst/>
          </a:prstGeom>
          <a:solidFill>
            <a:srgbClr val="FDEB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0" i="0">
                <a:solidFill>
                  <a:srgbClr val="E84D4D"/>
                </a:solidFill>
                <a:latin typeface="Calibri"/>
              </a:defRPr>
            </a:pPr>
            <a:r>
              <a:t>⚠</a:t>
            </a:r>
          </a:p>
        </p:txBody>
      </p:sp>
      <p:sp>
        <p:nvSpPr>
          <p:cNvPr id="14" name="TextBox 13"/>
          <p:cNvSpPr txBox="1"/>
          <p:nvPr/>
        </p:nvSpPr>
        <p:spPr>
          <a:xfrm>
            <a:off x="1097280" y="4133087"/>
            <a:ext cx="10515600" cy="548640"/>
          </a:xfrm>
          <a:prstGeom prst="rect">
            <a:avLst/>
          </a:prstGeom>
          <a:noFill/>
        </p:spPr>
        <p:txBody>
          <a:bodyPr wrap="square">
            <a:spAutoFit/>
          </a:bodyPr>
          <a:lstStyle/>
          <a:p>
            <a:pPr>
              <a:defRPr sz="1500">
                <a:solidFill>
                  <a:srgbClr val="3D4455"/>
                </a:solidFill>
                <a:latin typeface="Calibri"/>
              </a:defRPr>
            </a:pPr>
            <a:r>
              <a:t>Relying on urine drug screens — they miss many dangerous substances and have poor sensitivity</a:t>
            </a:r>
          </a:p>
        </p:txBody>
      </p:sp>
      <p:sp>
        <p:nvSpPr>
          <p:cNvPr id="15" name="Rounded Rectangle 14"/>
          <p:cNvSpPr/>
          <p:nvPr/>
        </p:nvSpPr>
        <p:spPr>
          <a:xfrm>
            <a:off x="457200" y="4846320"/>
            <a:ext cx="457200" cy="457200"/>
          </a:xfrm>
          <a:prstGeom prst="roundRect">
            <a:avLst/>
          </a:prstGeom>
          <a:solidFill>
            <a:srgbClr val="FDEB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0" i="0">
                <a:solidFill>
                  <a:srgbClr val="E84D4D"/>
                </a:solidFill>
                <a:latin typeface="Calibri"/>
              </a:defRPr>
            </a:pPr>
            <a:r>
              <a:t>⚠</a:t>
            </a:r>
          </a:p>
        </p:txBody>
      </p:sp>
      <p:sp>
        <p:nvSpPr>
          <p:cNvPr id="16" name="TextBox 15"/>
          <p:cNvSpPr txBox="1"/>
          <p:nvPr/>
        </p:nvSpPr>
        <p:spPr>
          <a:xfrm>
            <a:off x="1097280" y="4846320"/>
            <a:ext cx="10515600" cy="548640"/>
          </a:xfrm>
          <a:prstGeom prst="rect">
            <a:avLst/>
          </a:prstGeom>
          <a:noFill/>
        </p:spPr>
        <p:txBody>
          <a:bodyPr wrap="square">
            <a:spAutoFit/>
          </a:bodyPr>
          <a:lstStyle/>
          <a:p>
            <a:pPr>
              <a:defRPr sz="1500">
                <a:solidFill>
                  <a:srgbClr val="3D4455"/>
                </a:solidFill>
                <a:latin typeface="Calibri"/>
              </a:defRPr>
            </a:pPr>
            <a:r>
              <a:t>Forgetting to get an EKG in any unknown or intentional ingestion — QRS and QTc guide management</a:t>
            </a:r>
          </a:p>
        </p:txBody>
      </p:sp>
      <p:sp>
        <p:nvSpPr>
          <p:cNvPr id="17" name="Rounded Rectangle 16"/>
          <p:cNvSpPr/>
          <p:nvPr/>
        </p:nvSpPr>
        <p:spPr>
          <a:xfrm>
            <a:off x="457200" y="5559552"/>
            <a:ext cx="457200" cy="457200"/>
          </a:xfrm>
          <a:prstGeom prst="roundRect">
            <a:avLst/>
          </a:prstGeom>
          <a:solidFill>
            <a:srgbClr val="FDEB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0" i="0">
                <a:solidFill>
                  <a:srgbClr val="E84D4D"/>
                </a:solidFill>
                <a:latin typeface="Calibri"/>
              </a:defRPr>
            </a:pPr>
            <a:r>
              <a:t>⚠</a:t>
            </a:r>
          </a:p>
        </p:txBody>
      </p:sp>
      <p:sp>
        <p:nvSpPr>
          <p:cNvPr id="18" name="TextBox 17"/>
          <p:cNvSpPr txBox="1"/>
          <p:nvPr/>
        </p:nvSpPr>
        <p:spPr>
          <a:xfrm>
            <a:off x="1097280" y="5559552"/>
            <a:ext cx="10515600" cy="548640"/>
          </a:xfrm>
          <a:prstGeom prst="rect">
            <a:avLst/>
          </a:prstGeom>
          <a:noFill/>
        </p:spPr>
        <p:txBody>
          <a:bodyPr wrap="square">
            <a:spAutoFit/>
          </a:bodyPr>
          <a:lstStyle/>
          <a:p>
            <a:pPr>
              <a:defRPr sz="1500">
                <a:solidFill>
                  <a:srgbClr val="3D4455"/>
                </a:solidFill>
                <a:latin typeface="Calibri"/>
              </a:defRPr>
            </a:pPr>
            <a:r>
              <a:t>Not calling Poison Control — they provide expert, real-time guidance specific to the exposure</a:t>
            </a:r>
          </a:p>
        </p:txBody>
      </p:sp>
      <p:sp>
        <p:nvSpPr>
          <p:cNvPr id="19" name="Rectangle 18"/>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Pediatric Toxicology</a:t>
            </a:r>
          </a:p>
        </p:txBody>
      </p:sp>
      <p:sp>
        <p:nvSpPr>
          <p:cNvPr id="21" name="TextBox 20"/>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731520"/>
            <a:ext cx="10058400" cy="457200"/>
          </a:xfrm>
          <a:prstGeom prst="rect">
            <a:avLst/>
          </a:prstGeom>
          <a:noFill/>
        </p:spPr>
        <p:txBody>
          <a:bodyPr wrap="none">
            <a:spAutoFit/>
          </a:bodyPr>
          <a:lstStyle/>
          <a:p>
            <a:pPr>
              <a:defRPr sz="1400" b="1">
                <a:solidFill>
                  <a:srgbClr val="007B83"/>
                </a:solidFill>
                <a:latin typeface="Calibri"/>
              </a:defRPr>
            </a:pPr>
            <a:r>
              <a:t>TAKE-HOME MESSAGES</a:t>
            </a:r>
          </a:p>
        </p:txBody>
      </p:sp>
      <p:sp>
        <p:nvSpPr>
          <p:cNvPr id="4" name="Rectangle 3"/>
          <p:cNvSpPr/>
          <p:nvPr/>
        </p:nvSpPr>
        <p:spPr>
          <a:xfrm>
            <a:off x="731520" y="1371600"/>
            <a:ext cx="2743200" cy="36576"/>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737360"/>
            <a:ext cx="457200" cy="457200"/>
          </a:xfrm>
          <a:prstGeom prst="rect">
            <a:avLst/>
          </a:prstGeom>
          <a:noFill/>
        </p:spPr>
        <p:txBody>
          <a:bodyPr wrap="none">
            <a:spAutoFit/>
          </a:bodyPr>
          <a:lstStyle/>
          <a:p>
            <a:pPr>
              <a:defRPr sz="2200" b="1">
                <a:solidFill>
                  <a:srgbClr val="007B83"/>
                </a:solidFill>
                <a:latin typeface="Calibri"/>
              </a:defRPr>
            </a:pPr>
            <a:r>
              <a:t>1</a:t>
            </a:r>
          </a:p>
        </p:txBody>
      </p:sp>
      <p:sp>
        <p:nvSpPr>
          <p:cNvPr id="6" name="TextBox 5"/>
          <p:cNvSpPr txBox="1"/>
          <p:nvPr/>
        </p:nvSpPr>
        <p:spPr>
          <a:xfrm>
            <a:off x="1371600" y="1737360"/>
            <a:ext cx="10058400" cy="640080"/>
          </a:xfrm>
          <a:prstGeom prst="rect">
            <a:avLst/>
          </a:prstGeom>
          <a:noFill/>
        </p:spPr>
        <p:txBody>
          <a:bodyPr wrap="square">
            <a:spAutoFit/>
          </a:bodyPr>
          <a:lstStyle/>
          <a:p>
            <a:pPr>
              <a:defRPr sz="1700">
                <a:solidFill>
                  <a:srgbClr val="FFFFFF"/>
                </a:solidFill>
                <a:latin typeface="Calibri"/>
              </a:defRPr>
            </a:pPr>
            <a:r>
              <a:t>Know the 5 toxidromes cold — they guide your differential and treatment before labs return</a:t>
            </a:r>
          </a:p>
        </p:txBody>
      </p:sp>
      <p:sp>
        <p:nvSpPr>
          <p:cNvPr id="7" name="TextBox 6"/>
          <p:cNvSpPr txBox="1"/>
          <p:nvPr/>
        </p:nvSpPr>
        <p:spPr>
          <a:xfrm>
            <a:off x="731520" y="2514600"/>
            <a:ext cx="457200" cy="457200"/>
          </a:xfrm>
          <a:prstGeom prst="rect">
            <a:avLst/>
          </a:prstGeom>
          <a:noFill/>
        </p:spPr>
        <p:txBody>
          <a:bodyPr wrap="none">
            <a:spAutoFit/>
          </a:bodyPr>
          <a:lstStyle/>
          <a:p>
            <a:pPr>
              <a:defRPr sz="2200" b="1">
                <a:solidFill>
                  <a:srgbClr val="007B83"/>
                </a:solidFill>
                <a:latin typeface="Calibri"/>
              </a:defRPr>
            </a:pPr>
            <a:r>
              <a:t>2</a:t>
            </a:r>
          </a:p>
        </p:txBody>
      </p:sp>
      <p:sp>
        <p:nvSpPr>
          <p:cNvPr id="8" name="TextBox 7"/>
          <p:cNvSpPr txBox="1"/>
          <p:nvPr/>
        </p:nvSpPr>
        <p:spPr>
          <a:xfrm>
            <a:off x="1371600" y="2514600"/>
            <a:ext cx="10058400" cy="640080"/>
          </a:xfrm>
          <a:prstGeom prst="rect">
            <a:avLst/>
          </a:prstGeom>
          <a:noFill/>
        </p:spPr>
        <p:txBody>
          <a:bodyPr wrap="square">
            <a:spAutoFit/>
          </a:bodyPr>
          <a:lstStyle/>
          <a:p>
            <a:pPr>
              <a:defRPr sz="1700">
                <a:solidFill>
                  <a:srgbClr val="FFFFFF"/>
                </a:solidFill>
                <a:latin typeface="Calibri"/>
              </a:defRPr>
            </a:pPr>
            <a:r>
              <a:t>"One pill can kill" in toddlers: CCBs, beta-blockers, sulfonylureas, opioids, TCAs, clonidine</a:t>
            </a:r>
          </a:p>
        </p:txBody>
      </p:sp>
      <p:sp>
        <p:nvSpPr>
          <p:cNvPr id="9" name="TextBox 8"/>
          <p:cNvSpPr txBox="1"/>
          <p:nvPr/>
        </p:nvSpPr>
        <p:spPr>
          <a:xfrm>
            <a:off x="731520" y="3291839"/>
            <a:ext cx="457200" cy="457200"/>
          </a:xfrm>
          <a:prstGeom prst="rect">
            <a:avLst/>
          </a:prstGeom>
          <a:noFill/>
        </p:spPr>
        <p:txBody>
          <a:bodyPr wrap="none">
            <a:spAutoFit/>
          </a:bodyPr>
          <a:lstStyle/>
          <a:p>
            <a:pPr>
              <a:defRPr sz="2200" b="1">
                <a:solidFill>
                  <a:srgbClr val="007B83"/>
                </a:solidFill>
                <a:latin typeface="Calibri"/>
              </a:defRPr>
            </a:pPr>
            <a:r>
              <a:t>3</a:t>
            </a:r>
          </a:p>
        </p:txBody>
      </p:sp>
      <p:sp>
        <p:nvSpPr>
          <p:cNvPr id="10" name="TextBox 9"/>
          <p:cNvSpPr txBox="1"/>
          <p:nvPr/>
        </p:nvSpPr>
        <p:spPr>
          <a:xfrm>
            <a:off x="1371600" y="3291839"/>
            <a:ext cx="10058400" cy="640080"/>
          </a:xfrm>
          <a:prstGeom prst="rect">
            <a:avLst/>
          </a:prstGeom>
          <a:noFill/>
        </p:spPr>
        <p:txBody>
          <a:bodyPr wrap="square">
            <a:spAutoFit/>
          </a:bodyPr>
          <a:lstStyle/>
          <a:p>
            <a:pPr>
              <a:defRPr sz="1700">
                <a:solidFill>
                  <a:srgbClr val="FFFFFF"/>
                </a:solidFill>
                <a:latin typeface="Calibri"/>
              </a:defRPr>
            </a:pPr>
            <a:r>
              <a:t>Check APAP level, salicylate level, and EKG in ALL intentional ingestions regardless of reported history</a:t>
            </a:r>
          </a:p>
        </p:txBody>
      </p:sp>
      <p:sp>
        <p:nvSpPr>
          <p:cNvPr id="11" name="TextBox 10"/>
          <p:cNvSpPr txBox="1"/>
          <p:nvPr/>
        </p:nvSpPr>
        <p:spPr>
          <a:xfrm>
            <a:off x="731520" y="4069079"/>
            <a:ext cx="457200" cy="457200"/>
          </a:xfrm>
          <a:prstGeom prst="rect">
            <a:avLst/>
          </a:prstGeom>
          <a:noFill/>
        </p:spPr>
        <p:txBody>
          <a:bodyPr wrap="none">
            <a:spAutoFit/>
          </a:bodyPr>
          <a:lstStyle/>
          <a:p>
            <a:pPr>
              <a:defRPr sz="2200" b="1">
                <a:solidFill>
                  <a:srgbClr val="007B83"/>
                </a:solidFill>
                <a:latin typeface="Calibri"/>
              </a:defRPr>
            </a:pPr>
            <a:r>
              <a:t>4</a:t>
            </a:r>
          </a:p>
        </p:txBody>
      </p:sp>
      <p:sp>
        <p:nvSpPr>
          <p:cNvPr id="12" name="TextBox 11"/>
          <p:cNvSpPr txBox="1"/>
          <p:nvPr/>
        </p:nvSpPr>
        <p:spPr>
          <a:xfrm>
            <a:off x="1371600" y="4069079"/>
            <a:ext cx="10058400" cy="640080"/>
          </a:xfrm>
          <a:prstGeom prst="rect">
            <a:avLst/>
          </a:prstGeom>
          <a:noFill/>
        </p:spPr>
        <p:txBody>
          <a:bodyPr wrap="square">
            <a:spAutoFit/>
          </a:bodyPr>
          <a:lstStyle/>
          <a:p>
            <a:pPr>
              <a:defRPr sz="1700">
                <a:solidFill>
                  <a:srgbClr val="FFFFFF"/>
                </a:solidFill>
                <a:latin typeface="Calibri"/>
              </a:defRPr>
            </a:pPr>
            <a:r>
              <a:t>Sulfonylurea ingestion requires 24-hour glucose monitoring and admission even if initially normoglycemic</a:t>
            </a:r>
          </a:p>
        </p:txBody>
      </p:sp>
      <p:sp>
        <p:nvSpPr>
          <p:cNvPr id="13" name="TextBox 12"/>
          <p:cNvSpPr txBox="1"/>
          <p:nvPr/>
        </p:nvSpPr>
        <p:spPr>
          <a:xfrm>
            <a:off x="731520" y="4846320"/>
            <a:ext cx="457200" cy="457200"/>
          </a:xfrm>
          <a:prstGeom prst="rect">
            <a:avLst/>
          </a:prstGeom>
          <a:noFill/>
        </p:spPr>
        <p:txBody>
          <a:bodyPr wrap="none">
            <a:spAutoFit/>
          </a:bodyPr>
          <a:lstStyle/>
          <a:p>
            <a:pPr>
              <a:defRPr sz="2200" b="1">
                <a:solidFill>
                  <a:srgbClr val="007B83"/>
                </a:solidFill>
                <a:latin typeface="Calibri"/>
              </a:defRPr>
            </a:pPr>
            <a:r>
              <a:t>5</a:t>
            </a:r>
          </a:p>
        </p:txBody>
      </p:sp>
      <p:sp>
        <p:nvSpPr>
          <p:cNvPr id="14" name="TextBox 13"/>
          <p:cNvSpPr txBox="1"/>
          <p:nvPr/>
        </p:nvSpPr>
        <p:spPr>
          <a:xfrm>
            <a:off x="1371600" y="4846320"/>
            <a:ext cx="10058400" cy="640080"/>
          </a:xfrm>
          <a:prstGeom prst="rect">
            <a:avLst/>
          </a:prstGeom>
          <a:noFill/>
        </p:spPr>
        <p:txBody>
          <a:bodyPr wrap="square">
            <a:spAutoFit/>
          </a:bodyPr>
          <a:lstStyle/>
          <a:p>
            <a:pPr>
              <a:defRPr sz="1700">
                <a:solidFill>
                  <a:srgbClr val="FFFFFF"/>
                </a:solidFill>
                <a:latin typeface="Calibri"/>
              </a:defRPr>
            </a:pPr>
            <a:r>
              <a:t>Call Poison Control (1-800-222-1222) early and often — they are your real-time toxicology consultants</a:t>
            </a:r>
          </a:p>
        </p:txBody>
      </p:sp>
      <p:sp>
        <p:nvSpPr>
          <p:cNvPr id="15" name="Rectangle 14"/>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Pediatric Toxicology</a:t>
            </a:r>
          </a:p>
        </p:txBody>
      </p:sp>
      <p:sp>
        <p:nvSpPr>
          <p:cNvPr id="17" name="TextBox 16"/>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References</a:t>
            </a:r>
          </a:p>
        </p:txBody>
      </p:sp>
      <p:sp>
        <p:nvSpPr>
          <p:cNvPr id="5" name="TextBox 4"/>
          <p:cNvSpPr txBox="1"/>
          <p:nvPr/>
        </p:nvSpPr>
        <p:spPr>
          <a:xfrm>
            <a:off x="731520" y="1280160"/>
            <a:ext cx="10515600" cy="4846320"/>
          </a:xfrm>
          <a:prstGeom prst="rect">
            <a:avLst/>
          </a:prstGeom>
          <a:noFill/>
        </p:spPr>
        <p:txBody>
          <a:bodyPr wrap="square">
            <a:spAutoFit/>
          </a:bodyPr>
          <a:lstStyle/>
          <a:p>
            <a:pPr>
              <a:spcAft>
                <a:spcPts val="400"/>
              </a:spcAft>
              <a:defRPr sz="1100">
                <a:solidFill>
                  <a:srgbClr val="3D4455"/>
                </a:solidFill>
                <a:latin typeface="Calibri"/>
              </a:defRPr>
            </a:pPr>
            <a:r>
              <a:t>1. Mowry JB, et al. 2021 Annual Report of the National Poison Data System (NPDS). Clin Toxicol. 2022;60(12):1381-1643.</a:t>
            </a:r>
          </a:p>
          <a:p>
            <a:pPr>
              <a:spcAft>
                <a:spcPts val="400"/>
              </a:spcAft>
              <a:defRPr sz="1100">
                <a:solidFill>
                  <a:srgbClr val="3D4455"/>
                </a:solidFill>
                <a:latin typeface="Calibri"/>
              </a:defRPr>
            </a:pPr>
            <a:r>
              <a:t>2. Liebelt EL, et al. Clinical predictors of insulin response in sulfonylurea poisoning. J Toxicol Clin Toxicol. 2000;38(2):127-133.</a:t>
            </a:r>
          </a:p>
          <a:p>
            <a:pPr>
              <a:spcAft>
                <a:spcPts val="400"/>
              </a:spcAft>
              <a:defRPr sz="1100">
                <a:solidFill>
                  <a:srgbClr val="3D4455"/>
                </a:solidFill>
                <a:latin typeface="Calibri"/>
              </a:defRPr>
            </a:pPr>
            <a:r>
              <a:t>3. Brok J, et al. Interventions for paracetamol (acetaminophen) overdose. Cochrane Database Syst Rev. 2006;2:CD003328.</a:t>
            </a:r>
          </a:p>
          <a:p>
            <a:pPr>
              <a:spcAft>
                <a:spcPts val="400"/>
              </a:spcAft>
              <a:defRPr sz="1100">
                <a:solidFill>
                  <a:srgbClr val="3D4455"/>
                </a:solidFill>
                <a:latin typeface="Calibri"/>
              </a:defRPr>
            </a:pPr>
            <a:r>
              <a:t>4. Hoffman RS, et al. Goldfrank's Toxicologic Emergencies. 11th ed. McGraw-Hill; 2019.</a:t>
            </a:r>
          </a:p>
          <a:p>
            <a:pPr>
              <a:spcAft>
                <a:spcPts val="400"/>
              </a:spcAft>
              <a:defRPr sz="1100">
                <a:solidFill>
                  <a:srgbClr val="3D4455"/>
                </a:solidFill>
                <a:latin typeface="Calibri"/>
              </a:defRPr>
            </a:pPr>
            <a:r>
              <a:t>5. American Academy of Clinical Toxicology/European Association of Poisons Centres. Position paper: single-dose activated charcoal. Clin Toxicol. 2005;43(2):61-87.</a:t>
            </a:r>
          </a:p>
        </p:txBody>
      </p:sp>
      <p:sp>
        <p:nvSpPr>
          <p:cNvPr id="6" name="Rectangle 5"/>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Pediatric Toxicology</a:t>
            </a:r>
          </a:p>
        </p:txBody>
      </p:sp>
      <p:sp>
        <p:nvSpPr>
          <p:cNvPr id="8" name="TextBox 7"/>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828800" y="2286000"/>
            <a:ext cx="8229600" cy="1371600"/>
          </a:xfrm>
          <a:prstGeom prst="rect">
            <a:avLst/>
          </a:prstGeom>
          <a:noFill/>
        </p:spPr>
        <p:txBody>
          <a:bodyPr wrap="none">
            <a:spAutoFit/>
          </a:bodyPr>
          <a:lstStyle/>
          <a:p>
            <a:pPr algn="ctr">
              <a:defRPr sz="3600" b="1">
                <a:solidFill>
                  <a:srgbClr val="FFFFFF"/>
                </a:solidFill>
                <a:latin typeface="Calibri"/>
              </a:defRPr>
            </a:pPr>
            <a:r>
              <a:t>Questions &amp; Discussion</a:t>
            </a:r>
          </a:p>
        </p:txBody>
      </p:sp>
      <p:sp>
        <p:nvSpPr>
          <p:cNvPr id="4" name="TextBox 3"/>
          <p:cNvSpPr txBox="1"/>
          <p:nvPr/>
        </p:nvSpPr>
        <p:spPr>
          <a:xfrm>
            <a:off x="1828800" y="3840480"/>
            <a:ext cx="8229600" cy="914400"/>
          </a:xfrm>
          <a:prstGeom prst="rect">
            <a:avLst/>
          </a:prstGeom>
          <a:noFill/>
        </p:spPr>
        <p:txBody>
          <a:bodyPr wrap="none">
            <a:spAutoFit/>
          </a:bodyPr>
          <a:lstStyle/>
          <a:p>
            <a:pPr algn="ctr">
              <a:defRPr sz="1600">
                <a:solidFill>
                  <a:srgbClr val="00A3AD"/>
                </a:solidFill>
                <a:latin typeface="Calibri"/>
              </a:defRPr>
            </a:pPr>
            <a:r>
              <a:t>PEM Fellow Teaching Library</a:t>
            </a:r>
          </a:p>
        </p:txBody>
      </p:sp>
      <p:sp>
        <p:nvSpPr>
          <p:cNvPr id="5" name="Rectangle 4"/>
          <p:cNvSpPr/>
          <p:nvPr/>
        </p:nvSpPr>
        <p:spPr>
          <a:xfrm>
            <a:off x="4572000" y="3657600"/>
            <a:ext cx="3017520" cy="36576"/>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