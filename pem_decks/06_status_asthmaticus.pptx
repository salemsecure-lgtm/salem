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status asthmaticus as a true emergency. The children who die from asthma are often those with known severe disease who present late or have poor medication compliance. Ask about prior intubations — this single history item identifies your highest-risk patients.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 5-7 = mild, 8-11 = moderate, 12-15 = severe. This score helps standardize assessment and communication. Note that a "quiet chest" with minimal wheezing and severe retractions is worse than loud wheezing — it means air movement is critically reduced. Always score before AND after treatments to track response.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roadmap. Steps 1-3 should happen rapidly in the first 30-60 minutes for severe presentations. Magnesium is underused — give it early in severe asthma. Terbutaline requires ICU-level monitoring. Ketamine is an excellent bronchodilator and provides dissociative sedation for NIV. Intubation is truly last resort.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Dexamethasone is now preferred over prednisone/prednisolone for most asthma exacerbations — better compliance, less vomiting, 1-2 doses equivalent to 5-day course. Magnesium causes vasodilation so monitor BP during infusion. Terbutaline requires continuous cardiac monitoring and can cause troponin elevation and lactic acidosis — these are expected, not reasons to stop.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pearl saves lives. Fellows sometimes interpret improvement in wheezing as clinical improvement. If wheezing decreases but the child is still in distress with retractions and poor air entry, they are getting WORSE, not better. The silent chest means air is not moving.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should make your audience appropriately fearful of intubating asthmatics. The physiology of positive pressure ventilation with severe air trapping is deadly — increased intrathoracic pressure reduces venous return and can cause cardiovascular collapse. If the patient suddenly deteriorates after intubation, disconnect from the vent and allow full exhalation, then consider DOPE mnemonic.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decision framework helps at the 60-minute mark. A child who has received continuous albuterol, ipratropium x3, steroids, and magnesium and is still in severe distress needs IV terbutaline or ketamine. Do not keep repeating the same treatments hoping for improvement. Escalate early and consult PICU.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case in real-time. The key teaching: a PAS of 14 means this child is in extremis. Standard therapy is unlikely to be enough. Give magnesium early, start terbutaline early, and call PICU early. The somnolence at the end is the most critical red flag — the child is tiring out and heading toward respiratory failure.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Steroid delay is the most common and most impactful error. Steroids take 4-6 hours for full effect — the earlier you give them, the sooner they work. Inadequate albuterol dosing is also very common — continuous nebulization at 0.5 mg/kg/hr is standard for severe asthma. And always reconsider the diagnosis if asthma treatment is not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06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Status Asthmaticus</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Severity Assessment, Stepwise Escalation, and ICU-Level Management in the ED</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Classify asthma severity using the Pediatric Asthma Score (PAS)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Execute stepwise management: albuterol, ipratropium, steroids, magnesium</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Know when and how to escalate: IV terbutaline, ketamine, NIV</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Understand the risks of intubation in severe asthma</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Identify complications: pneumothorax, pneumomediastinum</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Status Asthmaticus: Defining the Emergency</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Definition: severe asthma exacerbation that does not respond to standard bronchodilator therapy</a:t>
            </a:r>
          </a:p>
          <a:p>
            <a:pPr>
              <a:spcBef>
                <a:spcPts val="400"/>
              </a:spcBef>
              <a:spcAft>
                <a:spcPts val="600"/>
              </a:spcAft>
              <a:defRPr sz="1600">
                <a:solidFill>
                  <a:srgbClr val="3D4455"/>
                </a:solidFill>
                <a:latin typeface="Calibri"/>
              </a:defRPr>
            </a:pPr>
            <a:r>
              <a:t>Asthma affects ~6 million US children; ED visits &gt;1.7 million/year</a:t>
            </a:r>
          </a:p>
          <a:p>
            <a:pPr>
              <a:spcBef>
                <a:spcPts val="400"/>
              </a:spcBef>
              <a:spcAft>
                <a:spcPts val="600"/>
              </a:spcAft>
              <a:defRPr sz="1600">
                <a:solidFill>
                  <a:srgbClr val="3D4455"/>
                </a:solidFill>
                <a:latin typeface="Calibri"/>
              </a:defRPr>
            </a:pPr>
            <a:r>
              <a:t>Asthma deaths in children: ~150/year in the US — most are preventable</a:t>
            </a:r>
          </a:p>
          <a:p>
            <a:pPr>
              <a:spcBef>
                <a:spcPts val="400"/>
              </a:spcBef>
              <a:spcAft>
                <a:spcPts val="600"/>
              </a:spcAft>
              <a:defRPr sz="1600">
                <a:solidFill>
                  <a:srgbClr val="3D4455"/>
                </a:solidFill>
                <a:latin typeface="Calibri"/>
              </a:defRPr>
            </a:pPr>
            <a:r>
              <a:t>Risk factors for fatal asthma: prior ICU admission, prior intubation, recent ED visit, poor compliance</a:t>
            </a:r>
          </a:p>
          <a:p>
            <a:pPr lvl="1">
              <a:spcBef>
                <a:spcPts val="400"/>
              </a:spcBef>
              <a:spcAft>
                <a:spcPts val="600"/>
              </a:spcAft>
              <a:defRPr sz="1400">
                <a:solidFill>
                  <a:srgbClr val="8A92A3"/>
                </a:solidFill>
                <a:latin typeface="Calibri"/>
              </a:defRPr>
            </a:pPr>
            <a:r>
              <a:t>The child who has been intubated before for asthma is your highest-risk patient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Asthma Score (PAS)</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Component</a:t>
                      </a:r>
                    </a:p>
                  </a:txBody>
                  <a:tcPr>
                    <a:solidFill>
                      <a:srgbClr val="007B83"/>
                    </a:solidFill>
                  </a:tcPr>
                </a:tc>
                <a:tc>
                  <a:txBody>
                    <a:bodyPr/>
                    <a:lstStyle/>
                    <a:p>
                      <a:pPr algn="ctr">
                        <a:defRPr sz="1300" b="1">
                          <a:solidFill>
                            <a:srgbClr val="FFFFFF"/>
                          </a:solidFill>
                          <a:latin typeface="Calibri"/>
                        </a:defRPr>
                      </a:pPr>
                      <a:r>
                        <a:t>Score 1 (Mild)</a:t>
                      </a:r>
                    </a:p>
                  </a:txBody>
                  <a:tcPr>
                    <a:solidFill>
                      <a:srgbClr val="007B83"/>
                    </a:solidFill>
                  </a:tcPr>
                </a:tc>
                <a:tc>
                  <a:txBody>
                    <a:bodyPr/>
                    <a:lstStyle/>
                    <a:p>
                      <a:pPr algn="ctr">
                        <a:defRPr sz="1300" b="1">
                          <a:solidFill>
                            <a:srgbClr val="FFFFFF"/>
                          </a:solidFill>
                          <a:latin typeface="Calibri"/>
                        </a:defRPr>
                      </a:pPr>
                      <a:r>
                        <a:t>Score 2 (Moderate)</a:t>
                      </a:r>
                    </a:p>
                  </a:txBody>
                  <a:tcPr>
                    <a:solidFill>
                      <a:srgbClr val="007B83"/>
                    </a:solidFill>
                  </a:tcPr>
                </a:tc>
                <a:tc>
                  <a:txBody>
                    <a:bodyPr/>
                    <a:lstStyle/>
                    <a:p>
                      <a:pPr algn="ctr">
                        <a:defRPr sz="1300" b="1">
                          <a:solidFill>
                            <a:srgbClr val="FFFFFF"/>
                          </a:solidFill>
                          <a:latin typeface="Calibri"/>
                        </a:defRPr>
                      </a:pPr>
                      <a:r>
                        <a:t>Score 3 (Severe)</a:t>
                      </a:r>
                    </a:p>
                  </a:txBody>
                  <a:tcPr>
                    <a:solidFill>
                      <a:srgbClr val="007B83"/>
                    </a:solidFill>
                  </a:tcPr>
                </a:tc>
              </a:tr>
              <a:tr h="457200">
                <a:tc>
                  <a:txBody>
                    <a:bodyPr/>
                    <a:lstStyle/>
                    <a:p>
                      <a:pPr algn="l">
                        <a:defRPr sz="1200">
                          <a:solidFill>
                            <a:srgbClr val="3D4455"/>
                          </a:solidFill>
                          <a:latin typeface="Calibri"/>
                        </a:defRPr>
                      </a:pPr>
                      <a:r>
                        <a:t>Respiratory Rate</a:t>
                      </a:r>
                    </a:p>
                  </a:txBody>
                  <a:tcPr>
                    <a:solidFill>
                      <a:srgbClr val="F5F6FA"/>
                    </a:solidFill>
                  </a:tcPr>
                </a:tc>
                <a:tc>
                  <a:txBody>
                    <a:bodyPr/>
                    <a:lstStyle/>
                    <a:p>
                      <a:pPr algn="l">
                        <a:defRPr sz="1200">
                          <a:solidFill>
                            <a:srgbClr val="3D4455"/>
                          </a:solidFill>
                          <a:latin typeface="Calibri"/>
                        </a:defRPr>
                      </a:pPr>
                      <a:r>
                        <a:t>Normal for age</a:t>
                      </a:r>
                    </a:p>
                  </a:txBody>
                  <a:tcPr>
                    <a:solidFill>
                      <a:srgbClr val="F5F6FA"/>
                    </a:solidFill>
                  </a:tcPr>
                </a:tc>
                <a:tc>
                  <a:txBody>
                    <a:bodyPr/>
                    <a:lstStyle/>
                    <a:p>
                      <a:pPr algn="l">
                        <a:defRPr sz="1200">
                          <a:solidFill>
                            <a:srgbClr val="3D4455"/>
                          </a:solidFill>
                          <a:latin typeface="Calibri"/>
                        </a:defRPr>
                      </a:pPr>
                      <a:r>
                        <a:t>Elevated for age</a:t>
                      </a:r>
                    </a:p>
                  </a:txBody>
                  <a:tcPr>
                    <a:solidFill>
                      <a:srgbClr val="F5F6FA"/>
                    </a:solidFill>
                  </a:tcPr>
                </a:tc>
                <a:tc>
                  <a:txBody>
                    <a:bodyPr/>
                    <a:lstStyle/>
                    <a:p>
                      <a:pPr algn="l">
                        <a:defRPr sz="1200">
                          <a:solidFill>
                            <a:srgbClr val="3D4455"/>
                          </a:solidFill>
                          <a:latin typeface="Calibri"/>
                        </a:defRPr>
                      </a:pPr>
                      <a:r>
                        <a:t>&gt;50 (2-5y), &gt;40 (6-12y), &gt;30 (&gt;12y)</a:t>
                      </a:r>
                    </a:p>
                  </a:txBody>
                  <a:tcPr>
                    <a:solidFill>
                      <a:srgbClr val="F5F6FA"/>
                    </a:solidFill>
                  </a:tcPr>
                </a:tc>
              </a:tr>
              <a:tr h="457200">
                <a:tc>
                  <a:txBody>
                    <a:bodyPr/>
                    <a:lstStyle/>
                    <a:p>
                      <a:pPr algn="l">
                        <a:defRPr sz="1200">
                          <a:solidFill>
                            <a:srgbClr val="3D4455"/>
                          </a:solidFill>
                          <a:latin typeface="Calibri"/>
                        </a:defRPr>
                      </a:pPr>
                      <a:r>
                        <a:t>O2 Saturation</a:t>
                      </a:r>
                    </a:p>
                  </a:txBody>
                  <a:tcPr>
                    <a:solidFill>
                      <a:srgbClr val="FFFFFF"/>
                    </a:solidFill>
                  </a:tcPr>
                </a:tc>
                <a:tc>
                  <a:txBody>
                    <a:bodyPr/>
                    <a:lstStyle/>
                    <a:p>
                      <a:pPr algn="l">
                        <a:defRPr sz="1200">
                          <a:solidFill>
                            <a:srgbClr val="3D4455"/>
                          </a:solidFill>
                          <a:latin typeface="Calibri"/>
                        </a:defRPr>
                      </a:pPr>
                      <a:r>
                        <a:t>&gt;95%</a:t>
                      </a:r>
                    </a:p>
                  </a:txBody>
                  <a:tcPr>
                    <a:solidFill>
                      <a:srgbClr val="FFFFFF"/>
                    </a:solidFill>
                  </a:tcPr>
                </a:tc>
                <a:tc>
                  <a:txBody>
                    <a:bodyPr/>
                    <a:lstStyle/>
                    <a:p>
                      <a:pPr algn="l">
                        <a:defRPr sz="1200">
                          <a:solidFill>
                            <a:srgbClr val="3D4455"/>
                          </a:solidFill>
                          <a:latin typeface="Calibri"/>
                        </a:defRPr>
                      </a:pPr>
                      <a:r>
                        <a:t>90-95%</a:t>
                      </a:r>
                    </a:p>
                  </a:txBody>
                  <a:tcPr>
                    <a:solidFill>
                      <a:srgbClr val="FFFFFF"/>
                    </a:solidFill>
                  </a:tcPr>
                </a:tc>
                <a:tc>
                  <a:txBody>
                    <a:bodyPr/>
                    <a:lstStyle/>
                    <a:p>
                      <a:pPr algn="l">
                        <a:defRPr sz="1200">
                          <a:solidFill>
                            <a:srgbClr val="3D4455"/>
                          </a:solidFill>
                          <a:latin typeface="Calibri"/>
                        </a:defRPr>
                      </a:pPr>
                      <a:r>
                        <a:t>&lt;90%</a:t>
                      </a:r>
                    </a:p>
                  </a:txBody>
                  <a:tcPr>
                    <a:solidFill>
                      <a:srgbClr val="FFFFFF"/>
                    </a:solidFill>
                  </a:tcPr>
                </a:tc>
              </a:tr>
              <a:tr h="457200">
                <a:tc>
                  <a:txBody>
                    <a:bodyPr/>
                    <a:lstStyle/>
                    <a:p>
                      <a:pPr algn="l">
                        <a:defRPr sz="1200">
                          <a:solidFill>
                            <a:srgbClr val="3D4455"/>
                          </a:solidFill>
                          <a:latin typeface="Calibri"/>
                        </a:defRPr>
                      </a:pPr>
                      <a:r>
                        <a:t>Auscultation</a:t>
                      </a:r>
                    </a:p>
                  </a:txBody>
                  <a:tcPr>
                    <a:solidFill>
                      <a:srgbClr val="F5F6FA"/>
                    </a:solidFill>
                  </a:tcPr>
                </a:tc>
                <a:tc>
                  <a:txBody>
                    <a:bodyPr/>
                    <a:lstStyle/>
                    <a:p>
                      <a:pPr algn="l">
                        <a:defRPr sz="1200">
                          <a:solidFill>
                            <a:srgbClr val="3D4455"/>
                          </a:solidFill>
                          <a:latin typeface="Calibri"/>
                        </a:defRPr>
                      </a:pPr>
                      <a:r>
                        <a:t>End-expiratory wheeze only</a:t>
                      </a:r>
                    </a:p>
                  </a:txBody>
                  <a:tcPr>
                    <a:solidFill>
                      <a:srgbClr val="F5F6FA"/>
                    </a:solidFill>
                  </a:tcPr>
                </a:tc>
                <a:tc>
                  <a:txBody>
                    <a:bodyPr/>
                    <a:lstStyle/>
                    <a:p>
                      <a:pPr algn="l">
                        <a:defRPr sz="1200">
                          <a:solidFill>
                            <a:srgbClr val="3D4455"/>
                          </a:solidFill>
                          <a:latin typeface="Calibri"/>
                        </a:defRPr>
                      </a:pPr>
                      <a:r>
                        <a:t>Expiratory wheeze throughout</a:t>
                      </a:r>
                    </a:p>
                  </a:txBody>
                  <a:tcPr>
                    <a:solidFill>
                      <a:srgbClr val="F5F6FA"/>
                    </a:solidFill>
                  </a:tcPr>
                </a:tc>
                <a:tc>
                  <a:txBody>
                    <a:bodyPr/>
                    <a:lstStyle/>
                    <a:p>
                      <a:pPr algn="l">
                        <a:defRPr sz="1200">
                          <a:solidFill>
                            <a:srgbClr val="3D4455"/>
                          </a:solidFill>
                          <a:latin typeface="Calibri"/>
                        </a:defRPr>
                      </a:pPr>
                      <a:r>
                        <a:t>Inspiratory &amp; expiratory wheeze / diminished</a:t>
                      </a:r>
                    </a:p>
                  </a:txBody>
                  <a:tcPr>
                    <a:solidFill>
                      <a:srgbClr val="F5F6FA"/>
                    </a:solidFill>
                  </a:tcPr>
                </a:tc>
              </a:tr>
              <a:tr h="457200">
                <a:tc>
                  <a:txBody>
                    <a:bodyPr/>
                    <a:lstStyle/>
                    <a:p>
                      <a:pPr algn="l">
                        <a:defRPr sz="1200">
                          <a:solidFill>
                            <a:srgbClr val="3D4455"/>
                          </a:solidFill>
                          <a:latin typeface="Calibri"/>
                        </a:defRPr>
                      </a:pPr>
                      <a:r>
                        <a:t>Retractions</a:t>
                      </a:r>
                    </a:p>
                  </a:txBody>
                  <a:tcPr>
                    <a:solidFill>
                      <a:srgbClr val="FFFFFF"/>
                    </a:solidFill>
                  </a:tcPr>
                </a:tc>
                <a:tc>
                  <a:txBody>
                    <a:bodyPr/>
                    <a:lstStyle/>
                    <a:p>
                      <a:pPr algn="l">
                        <a:defRPr sz="1200">
                          <a:solidFill>
                            <a:srgbClr val="3D4455"/>
                          </a:solidFill>
                          <a:latin typeface="Calibri"/>
                        </a:defRPr>
                      </a:pPr>
                      <a:r>
                        <a:t>None or mild intercostal</a:t>
                      </a:r>
                    </a:p>
                  </a:txBody>
                  <a:tcPr>
                    <a:solidFill>
                      <a:srgbClr val="FFFFFF"/>
                    </a:solidFill>
                  </a:tcPr>
                </a:tc>
                <a:tc>
                  <a:txBody>
                    <a:bodyPr/>
                    <a:lstStyle/>
                    <a:p>
                      <a:pPr algn="l">
                        <a:defRPr sz="1200">
                          <a:solidFill>
                            <a:srgbClr val="3D4455"/>
                          </a:solidFill>
                          <a:latin typeface="Calibri"/>
                        </a:defRPr>
                      </a:pPr>
                      <a:r>
                        <a:t>Intercostal + substernal</a:t>
                      </a:r>
                    </a:p>
                  </a:txBody>
                  <a:tcPr>
                    <a:solidFill>
                      <a:srgbClr val="FFFFFF"/>
                    </a:solidFill>
                  </a:tcPr>
                </a:tc>
                <a:tc>
                  <a:txBody>
                    <a:bodyPr/>
                    <a:lstStyle/>
                    <a:p>
                      <a:pPr algn="l">
                        <a:defRPr sz="1200">
                          <a:solidFill>
                            <a:srgbClr val="3D4455"/>
                          </a:solidFill>
                          <a:latin typeface="Calibri"/>
                        </a:defRPr>
                      </a:pPr>
                      <a:r>
                        <a:t>Severe with nasal flaring</a:t>
                      </a:r>
                    </a:p>
                  </a:txBody>
                  <a:tcPr>
                    <a:solidFill>
                      <a:srgbClr val="FFFFFF"/>
                    </a:solidFill>
                  </a:tcPr>
                </a:tc>
              </a:tr>
              <a:tr h="457200">
                <a:tc>
                  <a:txBody>
                    <a:bodyPr/>
                    <a:lstStyle/>
                    <a:p>
                      <a:pPr algn="l">
                        <a:defRPr sz="1200">
                          <a:solidFill>
                            <a:srgbClr val="3D4455"/>
                          </a:solidFill>
                          <a:latin typeface="Calibri"/>
                        </a:defRPr>
                      </a:pPr>
                      <a:r>
                        <a:t>Dyspnea</a:t>
                      </a:r>
                    </a:p>
                  </a:txBody>
                  <a:tcPr>
                    <a:solidFill>
                      <a:srgbClr val="F5F6FA"/>
                    </a:solidFill>
                  </a:tcPr>
                </a:tc>
                <a:tc>
                  <a:txBody>
                    <a:bodyPr/>
                    <a:lstStyle/>
                    <a:p>
                      <a:pPr algn="l">
                        <a:defRPr sz="1200">
                          <a:solidFill>
                            <a:srgbClr val="3D4455"/>
                          </a:solidFill>
                          <a:latin typeface="Calibri"/>
                        </a:defRPr>
                      </a:pPr>
                      <a:r>
                        <a:t>Speaks in sentences</a:t>
                      </a:r>
                    </a:p>
                  </a:txBody>
                  <a:tcPr>
                    <a:solidFill>
                      <a:srgbClr val="F5F6FA"/>
                    </a:solidFill>
                  </a:tcPr>
                </a:tc>
                <a:tc>
                  <a:txBody>
                    <a:bodyPr/>
                    <a:lstStyle/>
                    <a:p>
                      <a:pPr algn="l">
                        <a:defRPr sz="1200">
                          <a:solidFill>
                            <a:srgbClr val="3D4455"/>
                          </a:solidFill>
                          <a:latin typeface="Calibri"/>
                        </a:defRPr>
                      </a:pPr>
                      <a:r>
                        <a:t>Speaks in phrases</a:t>
                      </a:r>
                    </a:p>
                  </a:txBody>
                  <a:tcPr>
                    <a:solidFill>
                      <a:srgbClr val="F5F6FA"/>
                    </a:solidFill>
                  </a:tcPr>
                </a:tc>
                <a:tc>
                  <a:txBody>
                    <a:bodyPr/>
                    <a:lstStyle/>
                    <a:p>
                      <a:pPr algn="l">
                        <a:defRPr sz="1200">
                          <a:solidFill>
                            <a:srgbClr val="3D4455"/>
                          </a:solidFill>
                          <a:latin typeface="Calibri"/>
                        </a:defRPr>
                      </a:pPr>
                      <a:r>
                        <a:t>Speaks in words / unable to speak</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Stepwise Management of Status Asthmaticus</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Step 1: Continuous albuterol 0.5 mg/kg/hr (max 20 mg/hr) + ipratropium 0.5 mg q20min x3</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Step 2: Systemic steroids — dexamethasone 0.6 mg/kg (max 16 mg) OR methylpred 2 mg/kg</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Step 3: Magnesium sulfate 50 mg/kg IV over 20 min (max 2g)</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Step 4: IV terbutaline 10 mcg/kg load → 0.2-0.4 mcg/kg/min infusion</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Step 5: Ketamine 0.5-2 mg/kg IV bolus → 0.5-2 mg/kg/hr infusion</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Step 6: NIV (BiPAP) or heliox if available</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Step 7: Intubation — LAST RESORT (most dangerous intubation in PEM)</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Key Drug Dosing in Status Asthmaticus</a:t>
            </a:r>
          </a:p>
        </p:txBody>
      </p:sp>
      <p:graphicFrame>
        <p:nvGraphicFramePr>
          <p:cNvPr id="5" name="Table 4"/>
          <p:cNvGraphicFramePr>
            <a:graphicFrameLocks noGrp="1"/>
          </p:cNvGraphicFramePr>
          <p:nvPr/>
        </p:nvGraphicFramePr>
        <p:xfrm>
          <a:off x="822960" y="1280160"/>
          <a:ext cx="10515600" cy="41148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Drug</a:t>
                      </a:r>
                    </a:p>
                  </a:txBody>
                  <a:tcPr>
                    <a:solidFill>
                      <a:srgbClr val="007B83"/>
                    </a:solidFill>
                  </a:tcPr>
                </a:tc>
                <a:tc>
                  <a:txBody>
                    <a:bodyPr/>
                    <a:lstStyle/>
                    <a:p>
                      <a:pPr algn="ctr">
                        <a:defRPr sz="1300" b="1">
                          <a:solidFill>
                            <a:srgbClr val="FFFFFF"/>
                          </a:solidFill>
                          <a:latin typeface="Calibri"/>
                        </a:defRPr>
                      </a:pPr>
                      <a:r>
                        <a:t>Route</a:t>
                      </a:r>
                    </a:p>
                  </a:txBody>
                  <a:tcPr>
                    <a:solidFill>
                      <a:srgbClr val="007B83"/>
                    </a:solidFill>
                  </a:tcPr>
                </a:tc>
                <a:tc>
                  <a:txBody>
                    <a:bodyPr/>
                    <a:lstStyle/>
                    <a:p>
                      <a:pPr algn="ctr">
                        <a:defRPr sz="1300" b="1">
                          <a:solidFill>
                            <a:srgbClr val="FFFFFF"/>
                          </a:solidFill>
                          <a:latin typeface="Calibri"/>
                        </a:defRPr>
                      </a:pPr>
                      <a:r>
                        <a:t>Dose</a:t>
                      </a:r>
                    </a:p>
                  </a:txBody>
                  <a:tcPr>
                    <a:solidFill>
                      <a:srgbClr val="007B83"/>
                    </a:solidFill>
                  </a:tcPr>
                </a:tc>
                <a:tc>
                  <a:txBody>
                    <a:bodyPr/>
                    <a:lstStyle/>
                    <a:p>
                      <a:pPr algn="ctr">
                        <a:defRPr sz="1300" b="1">
                          <a:solidFill>
                            <a:srgbClr val="FFFFFF"/>
                          </a:solidFill>
                          <a:latin typeface="Calibri"/>
                        </a:defRPr>
                      </a:pPr>
                      <a:r>
                        <a:t>Frequency</a:t>
                      </a:r>
                    </a:p>
                  </a:txBody>
                  <a:tcPr>
                    <a:solidFill>
                      <a:srgbClr val="007B83"/>
                    </a:solidFill>
                  </a:tcPr>
                </a:tc>
                <a:tc>
                  <a:txBody>
                    <a:bodyPr/>
                    <a:lstStyle/>
                    <a:p>
                      <a:pPr algn="ctr">
                        <a:defRPr sz="1300" b="1">
                          <a:solidFill>
                            <a:srgbClr val="FFFFFF"/>
                          </a:solidFill>
                          <a:latin typeface="Calibri"/>
                        </a:defRPr>
                      </a:pPr>
                      <a:r>
                        <a:t>Notes</a:t>
                      </a:r>
                    </a:p>
                  </a:txBody>
                  <a:tcPr>
                    <a:solidFill>
                      <a:srgbClr val="007B83"/>
                    </a:solidFill>
                  </a:tcPr>
                </a:tc>
              </a:tr>
              <a:tr h="457200">
                <a:tc>
                  <a:txBody>
                    <a:bodyPr/>
                    <a:lstStyle/>
                    <a:p>
                      <a:pPr algn="l">
                        <a:defRPr sz="1200">
                          <a:solidFill>
                            <a:srgbClr val="3D4455"/>
                          </a:solidFill>
                          <a:latin typeface="Calibri"/>
                        </a:defRPr>
                      </a:pPr>
                      <a:r>
                        <a:t>Albuterol</a:t>
                      </a:r>
                    </a:p>
                  </a:txBody>
                  <a:tcPr>
                    <a:solidFill>
                      <a:srgbClr val="F5F6FA"/>
                    </a:solidFill>
                  </a:tcPr>
                </a:tc>
                <a:tc>
                  <a:txBody>
                    <a:bodyPr/>
                    <a:lstStyle/>
                    <a:p>
                      <a:pPr algn="l">
                        <a:defRPr sz="1200">
                          <a:solidFill>
                            <a:srgbClr val="3D4455"/>
                          </a:solidFill>
                          <a:latin typeface="Calibri"/>
                        </a:defRPr>
                      </a:pPr>
                      <a:r>
                        <a:t>Neb continuous</a:t>
                      </a:r>
                    </a:p>
                  </a:txBody>
                  <a:tcPr>
                    <a:solidFill>
                      <a:srgbClr val="F5F6FA"/>
                    </a:solidFill>
                  </a:tcPr>
                </a:tc>
                <a:tc>
                  <a:txBody>
                    <a:bodyPr/>
                    <a:lstStyle/>
                    <a:p>
                      <a:pPr algn="l">
                        <a:defRPr sz="1200">
                          <a:solidFill>
                            <a:srgbClr val="3D4455"/>
                          </a:solidFill>
                          <a:latin typeface="Calibri"/>
                        </a:defRPr>
                      </a:pPr>
                      <a:r>
                        <a:t>0.5 mg/kg/hr (max 20 mg/hr)</a:t>
                      </a:r>
                    </a:p>
                  </a:txBody>
                  <a:tcPr>
                    <a:solidFill>
                      <a:srgbClr val="F5F6FA"/>
                    </a:solidFill>
                  </a:tcPr>
                </a:tc>
                <a:tc>
                  <a:txBody>
                    <a:bodyPr/>
                    <a:lstStyle/>
                    <a:p>
                      <a:pPr algn="l">
                        <a:defRPr sz="1200">
                          <a:solidFill>
                            <a:srgbClr val="3D4455"/>
                          </a:solidFill>
                          <a:latin typeface="Calibri"/>
                        </a:defRPr>
                      </a:pPr>
                      <a:r>
                        <a:t>Continuous</a:t>
                      </a:r>
                    </a:p>
                  </a:txBody>
                  <a:tcPr>
                    <a:solidFill>
                      <a:srgbClr val="F5F6FA"/>
                    </a:solidFill>
                  </a:tcPr>
                </a:tc>
                <a:tc>
                  <a:txBody>
                    <a:bodyPr/>
                    <a:lstStyle/>
                    <a:p>
                      <a:pPr algn="l">
                        <a:defRPr sz="1200">
                          <a:solidFill>
                            <a:srgbClr val="3D4455"/>
                          </a:solidFill>
                          <a:latin typeface="Calibri"/>
                        </a:defRPr>
                      </a:pPr>
                      <a:r>
                        <a:t>Monitor HR, K+, tremor</a:t>
                      </a:r>
                    </a:p>
                  </a:txBody>
                  <a:tcPr>
                    <a:solidFill>
                      <a:srgbClr val="F5F6FA"/>
                    </a:solidFill>
                  </a:tcPr>
                </a:tc>
              </a:tr>
              <a:tr h="457200">
                <a:tc>
                  <a:txBody>
                    <a:bodyPr/>
                    <a:lstStyle/>
                    <a:p>
                      <a:pPr algn="l">
                        <a:defRPr sz="1200">
                          <a:solidFill>
                            <a:srgbClr val="3D4455"/>
                          </a:solidFill>
                          <a:latin typeface="Calibri"/>
                        </a:defRPr>
                      </a:pPr>
                      <a:r>
                        <a:t>Ipratropium</a:t>
                      </a:r>
                    </a:p>
                  </a:txBody>
                  <a:tcPr>
                    <a:solidFill>
                      <a:srgbClr val="FFFFFF"/>
                    </a:solidFill>
                  </a:tcPr>
                </a:tc>
                <a:tc>
                  <a:txBody>
                    <a:bodyPr/>
                    <a:lstStyle/>
                    <a:p>
                      <a:pPr algn="l">
                        <a:defRPr sz="1200">
                          <a:solidFill>
                            <a:srgbClr val="3D4455"/>
                          </a:solidFill>
                          <a:latin typeface="Calibri"/>
                        </a:defRPr>
                      </a:pPr>
                      <a:r>
                        <a:t>Neb</a:t>
                      </a:r>
                    </a:p>
                  </a:txBody>
                  <a:tcPr>
                    <a:solidFill>
                      <a:srgbClr val="FFFFFF"/>
                    </a:solidFill>
                  </a:tcPr>
                </a:tc>
                <a:tc>
                  <a:txBody>
                    <a:bodyPr/>
                    <a:lstStyle/>
                    <a:p>
                      <a:pPr algn="l">
                        <a:defRPr sz="1200">
                          <a:solidFill>
                            <a:srgbClr val="3D4455"/>
                          </a:solidFill>
                          <a:latin typeface="Calibri"/>
                        </a:defRPr>
                      </a:pPr>
                      <a:r>
                        <a:t>0.5 mg (250 mcg if &lt;5y)</a:t>
                      </a:r>
                    </a:p>
                  </a:txBody>
                  <a:tcPr>
                    <a:solidFill>
                      <a:srgbClr val="FFFFFF"/>
                    </a:solidFill>
                  </a:tcPr>
                </a:tc>
                <a:tc>
                  <a:txBody>
                    <a:bodyPr/>
                    <a:lstStyle/>
                    <a:p>
                      <a:pPr algn="l">
                        <a:defRPr sz="1200">
                          <a:solidFill>
                            <a:srgbClr val="3D4455"/>
                          </a:solidFill>
                          <a:latin typeface="Calibri"/>
                        </a:defRPr>
                      </a:pPr>
                      <a:r>
                        <a:t>q20min x 3 doses</a:t>
                      </a:r>
                    </a:p>
                  </a:txBody>
                  <a:tcPr>
                    <a:solidFill>
                      <a:srgbClr val="FFFFFF"/>
                    </a:solidFill>
                  </a:tcPr>
                </a:tc>
                <a:tc>
                  <a:txBody>
                    <a:bodyPr/>
                    <a:lstStyle/>
                    <a:p>
                      <a:pPr algn="l">
                        <a:defRPr sz="1200">
                          <a:solidFill>
                            <a:srgbClr val="3D4455"/>
                          </a:solidFill>
                          <a:latin typeface="Calibri"/>
                        </a:defRPr>
                      </a:pPr>
                      <a:r>
                        <a:t>Only useful in first hour</a:t>
                      </a:r>
                    </a:p>
                  </a:txBody>
                  <a:tcPr>
                    <a:solidFill>
                      <a:srgbClr val="FFFFFF"/>
                    </a:solidFill>
                  </a:tcPr>
                </a:tc>
              </a:tr>
              <a:tr h="457200">
                <a:tc>
                  <a:txBody>
                    <a:bodyPr/>
                    <a:lstStyle/>
                    <a:p>
                      <a:pPr algn="l">
                        <a:defRPr sz="1200">
                          <a:solidFill>
                            <a:srgbClr val="3D4455"/>
                          </a:solidFill>
                          <a:latin typeface="Calibri"/>
                        </a:defRPr>
                      </a:pPr>
                      <a:r>
                        <a:t>Dexamethasone</a:t>
                      </a:r>
                    </a:p>
                  </a:txBody>
                  <a:tcPr>
                    <a:solidFill>
                      <a:srgbClr val="F5F6FA"/>
                    </a:solidFill>
                  </a:tcPr>
                </a:tc>
                <a:tc>
                  <a:txBody>
                    <a:bodyPr/>
                    <a:lstStyle/>
                    <a:p>
                      <a:pPr algn="l">
                        <a:defRPr sz="1200">
                          <a:solidFill>
                            <a:srgbClr val="3D4455"/>
                          </a:solidFill>
                          <a:latin typeface="Calibri"/>
                        </a:defRPr>
                      </a:pPr>
                      <a:r>
                        <a:t>PO/IV</a:t>
                      </a:r>
                    </a:p>
                  </a:txBody>
                  <a:tcPr>
                    <a:solidFill>
                      <a:srgbClr val="F5F6FA"/>
                    </a:solidFill>
                  </a:tcPr>
                </a:tc>
                <a:tc>
                  <a:txBody>
                    <a:bodyPr/>
                    <a:lstStyle/>
                    <a:p>
                      <a:pPr algn="l">
                        <a:defRPr sz="1200">
                          <a:solidFill>
                            <a:srgbClr val="3D4455"/>
                          </a:solidFill>
                          <a:latin typeface="Calibri"/>
                        </a:defRPr>
                      </a:pPr>
                      <a:r>
                        <a:t>0.6 mg/kg (max 16 mg)</a:t>
                      </a:r>
                    </a:p>
                  </a:txBody>
                  <a:tcPr>
                    <a:solidFill>
                      <a:srgbClr val="F5F6FA"/>
                    </a:solidFill>
                  </a:tcPr>
                </a:tc>
                <a:tc>
                  <a:txBody>
                    <a:bodyPr/>
                    <a:lstStyle/>
                    <a:p>
                      <a:pPr algn="l">
                        <a:defRPr sz="1200">
                          <a:solidFill>
                            <a:srgbClr val="3D4455"/>
                          </a:solidFill>
                          <a:latin typeface="Calibri"/>
                        </a:defRPr>
                      </a:pPr>
                      <a:r>
                        <a:t>Once or x2 days</a:t>
                      </a:r>
                    </a:p>
                  </a:txBody>
                  <a:tcPr>
                    <a:solidFill>
                      <a:srgbClr val="F5F6FA"/>
                    </a:solidFill>
                  </a:tcPr>
                </a:tc>
                <a:tc>
                  <a:txBody>
                    <a:bodyPr/>
                    <a:lstStyle/>
                    <a:p>
                      <a:pPr algn="l">
                        <a:defRPr sz="1200">
                          <a:solidFill>
                            <a:srgbClr val="3D4455"/>
                          </a:solidFill>
                          <a:latin typeface="Calibri"/>
                        </a:defRPr>
                      </a:pPr>
                      <a:r>
                        <a:t>Equal to 5-day pred course</a:t>
                      </a:r>
                    </a:p>
                  </a:txBody>
                  <a:tcPr>
                    <a:solidFill>
                      <a:srgbClr val="F5F6FA"/>
                    </a:solidFill>
                  </a:tcPr>
                </a:tc>
              </a:tr>
              <a:tr h="457200">
                <a:tc>
                  <a:txBody>
                    <a:bodyPr/>
                    <a:lstStyle/>
                    <a:p>
                      <a:pPr algn="l">
                        <a:defRPr sz="1200">
                          <a:solidFill>
                            <a:srgbClr val="3D4455"/>
                          </a:solidFill>
                          <a:latin typeface="Calibri"/>
                        </a:defRPr>
                      </a:pPr>
                      <a:r>
                        <a:t>Methylprednisolone</a:t>
                      </a:r>
                    </a:p>
                  </a:txBody>
                  <a:tcPr>
                    <a:solidFill>
                      <a:srgbClr val="FFFFFF"/>
                    </a:solidFill>
                  </a:tcPr>
                </a:tc>
                <a:tc>
                  <a:txBody>
                    <a:bodyPr/>
                    <a:lstStyle/>
                    <a:p>
                      <a:pPr algn="l">
                        <a:defRPr sz="1200">
                          <a:solidFill>
                            <a:srgbClr val="3D4455"/>
                          </a:solidFill>
                          <a:latin typeface="Calibri"/>
                        </a:defRPr>
                      </a:pPr>
                      <a:r>
                        <a:t>IV</a:t>
                      </a:r>
                    </a:p>
                  </a:txBody>
                  <a:tcPr>
                    <a:solidFill>
                      <a:srgbClr val="FFFFFF"/>
                    </a:solidFill>
                  </a:tcPr>
                </a:tc>
                <a:tc>
                  <a:txBody>
                    <a:bodyPr/>
                    <a:lstStyle/>
                    <a:p>
                      <a:pPr algn="l">
                        <a:defRPr sz="1200">
                          <a:solidFill>
                            <a:srgbClr val="3D4455"/>
                          </a:solidFill>
                          <a:latin typeface="Calibri"/>
                        </a:defRPr>
                      </a:pPr>
                      <a:r>
                        <a:t>2 mg/kg load, then 1 mg/kg q6h</a:t>
                      </a:r>
                    </a:p>
                  </a:txBody>
                  <a:tcPr>
                    <a:solidFill>
                      <a:srgbClr val="FFFFFF"/>
                    </a:solidFill>
                  </a:tcPr>
                </a:tc>
                <a:tc>
                  <a:txBody>
                    <a:bodyPr/>
                    <a:lstStyle/>
                    <a:p>
                      <a:pPr algn="l">
                        <a:defRPr sz="1200">
                          <a:solidFill>
                            <a:srgbClr val="3D4455"/>
                          </a:solidFill>
                          <a:latin typeface="Calibri"/>
                        </a:defRPr>
                      </a:pPr>
                      <a:r>
                        <a:t>q6h</a:t>
                      </a:r>
                    </a:p>
                  </a:txBody>
                  <a:tcPr>
                    <a:solidFill>
                      <a:srgbClr val="FFFFFF"/>
                    </a:solidFill>
                  </a:tcPr>
                </a:tc>
                <a:tc>
                  <a:txBody>
                    <a:bodyPr/>
                    <a:lstStyle/>
                    <a:p>
                      <a:pPr algn="l">
                        <a:defRPr sz="1200">
                          <a:solidFill>
                            <a:srgbClr val="3D4455"/>
                          </a:solidFill>
                          <a:latin typeface="Calibri"/>
                        </a:defRPr>
                      </a:pPr>
                      <a:r>
                        <a:t>For admitted/severe</a:t>
                      </a:r>
                    </a:p>
                  </a:txBody>
                  <a:tcPr>
                    <a:solidFill>
                      <a:srgbClr val="FFFFFF"/>
                    </a:solidFill>
                  </a:tcPr>
                </a:tc>
              </a:tr>
              <a:tr h="457200">
                <a:tc>
                  <a:txBody>
                    <a:bodyPr/>
                    <a:lstStyle/>
                    <a:p>
                      <a:pPr algn="l">
                        <a:defRPr sz="1200">
                          <a:solidFill>
                            <a:srgbClr val="3D4455"/>
                          </a:solidFill>
                          <a:latin typeface="Calibri"/>
                        </a:defRPr>
                      </a:pPr>
                      <a:r>
                        <a:t>Magnesium sulfate</a:t>
                      </a:r>
                    </a:p>
                  </a:txBody>
                  <a:tcPr>
                    <a:solidFill>
                      <a:srgbClr val="F5F6FA"/>
                    </a:solidFill>
                  </a:tcPr>
                </a:tc>
                <a:tc>
                  <a:txBody>
                    <a:bodyPr/>
                    <a:lstStyle/>
                    <a:p>
                      <a:pPr algn="l">
                        <a:defRPr sz="1200">
                          <a:solidFill>
                            <a:srgbClr val="3D4455"/>
                          </a:solidFill>
                          <a:latin typeface="Calibri"/>
                        </a:defRPr>
                      </a:pPr>
                      <a:r>
                        <a:t>IV</a:t>
                      </a:r>
                    </a:p>
                  </a:txBody>
                  <a:tcPr>
                    <a:solidFill>
                      <a:srgbClr val="F5F6FA"/>
                    </a:solidFill>
                  </a:tcPr>
                </a:tc>
                <a:tc>
                  <a:txBody>
                    <a:bodyPr/>
                    <a:lstStyle/>
                    <a:p>
                      <a:pPr algn="l">
                        <a:defRPr sz="1200">
                          <a:solidFill>
                            <a:srgbClr val="3D4455"/>
                          </a:solidFill>
                          <a:latin typeface="Calibri"/>
                        </a:defRPr>
                      </a:pPr>
                      <a:r>
                        <a:t>50 mg/kg (max 2g)</a:t>
                      </a:r>
                    </a:p>
                  </a:txBody>
                  <a:tcPr>
                    <a:solidFill>
                      <a:srgbClr val="F5F6FA"/>
                    </a:solidFill>
                  </a:tcPr>
                </a:tc>
                <a:tc>
                  <a:txBody>
                    <a:bodyPr/>
                    <a:lstStyle/>
                    <a:p>
                      <a:pPr algn="l">
                        <a:defRPr sz="1200">
                          <a:solidFill>
                            <a:srgbClr val="3D4455"/>
                          </a:solidFill>
                          <a:latin typeface="Calibri"/>
                        </a:defRPr>
                      </a:pPr>
                      <a:r>
                        <a:t>Over 20 min</a:t>
                      </a:r>
                    </a:p>
                  </a:txBody>
                  <a:tcPr>
                    <a:solidFill>
                      <a:srgbClr val="F5F6FA"/>
                    </a:solidFill>
                  </a:tcPr>
                </a:tc>
                <a:tc>
                  <a:txBody>
                    <a:bodyPr/>
                    <a:lstStyle/>
                    <a:p>
                      <a:pPr algn="l">
                        <a:defRPr sz="1200">
                          <a:solidFill>
                            <a:srgbClr val="3D4455"/>
                          </a:solidFill>
                          <a:latin typeface="Calibri"/>
                        </a:defRPr>
                      </a:pPr>
                      <a:r>
                        <a:t>Monitor BP, hypotension risk</a:t>
                      </a:r>
                    </a:p>
                  </a:txBody>
                  <a:tcPr>
                    <a:solidFill>
                      <a:srgbClr val="F5F6FA"/>
                    </a:solidFill>
                  </a:tcPr>
                </a:tc>
              </a:tr>
              <a:tr h="457200">
                <a:tc>
                  <a:txBody>
                    <a:bodyPr/>
                    <a:lstStyle/>
                    <a:p>
                      <a:pPr algn="l">
                        <a:defRPr sz="1200">
                          <a:solidFill>
                            <a:srgbClr val="3D4455"/>
                          </a:solidFill>
                          <a:latin typeface="Calibri"/>
                        </a:defRPr>
                      </a:pPr>
                      <a:r>
                        <a:t>Terbutaline</a:t>
                      </a:r>
                    </a:p>
                  </a:txBody>
                  <a:tcPr>
                    <a:solidFill>
                      <a:srgbClr val="FFFFFF"/>
                    </a:solidFill>
                  </a:tcPr>
                </a:tc>
                <a:tc>
                  <a:txBody>
                    <a:bodyPr/>
                    <a:lstStyle/>
                    <a:p>
                      <a:pPr algn="l">
                        <a:defRPr sz="1200">
                          <a:solidFill>
                            <a:srgbClr val="3D4455"/>
                          </a:solidFill>
                          <a:latin typeface="Calibri"/>
                        </a:defRPr>
                      </a:pPr>
                      <a:r>
                        <a:t>IV</a:t>
                      </a:r>
                    </a:p>
                  </a:txBody>
                  <a:tcPr>
                    <a:solidFill>
                      <a:srgbClr val="FFFFFF"/>
                    </a:solidFill>
                  </a:tcPr>
                </a:tc>
                <a:tc>
                  <a:txBody>
                    <a:bodyPr/>
                    <a:lstStyle/>
                    <a:p>
                      <a:pPr algn="l">
                        <a:defRPr sz="1200">
                          <a:solidFill>
                            <a:srgbClr val="3D4455"/>
                          </a:solidFill>
                          <a:latin typeface="Calibri"/>
                        </a:defRPr>
                      </a:pPr>
                      <a:r>
                        <a:t>10 mcg/kg load → 0.2-0.4 mcg/kg/min</a:t>
                      </a:r>
                    </a:p>
                  </a:txBody>
                  <a:tcPr>
                    <a:solidFill>
                      <a:srgbClr val="FFFFFF"/>
                    </a:solidFill>
                  </a:tcPr>
                </a:tc>
                <a:tc>
                  <a:txBody>
                    <a:bodyPr/>
                    <a:lstStyle/>
                    <a:p>
                      <a:pPr algn="l">
                        <a:defRPr sz="1200">
                          <a:solidFill>
                            <a:srgbClr val="3D4455"/>
                          </a:solidFill>
                          <a:latin typeface="Calibri"/>
                        </a:defRPr>
                      </a:pPr>
                      <a:r>
                        <a:t>Continuous</a:t>
                      </a:r>
                    </a:p>
                  </a:txBody>
                  <a:tcPr>
                    <a:solidFill>
                      <a:srgbClr val="FFFFFF"/>
                    </a:solidFill>
                  </a:tcPr>
                </a:tc>
                <a:tc>
                  <a:txBody>
                    <a:bodyPr/>
                    <a:lstStyle/>
                    <a:p>
                      <a:pPr algn="l">
                        <a:defRPr sz="1200">
                          <a:solidFill>
                            <a:srgbClr val="3D4455"/>
                          </a:solidFill>
                          <a:latin typeface="Calibri"/>
                        </a:defRPr>
                      </a:pPr>
                      <a:r>
                        <a:t>Cardiac monitoring; check troponin</a:t>
                      </a:r>
                    </a:p>
                  </a:txBody>
                  <a:tcPr>
                    <a:solidFill>
                      <a:srgbClr val="FFFFFF"/>
                    </a:solidFill>
                  </a:tcPr>
                </a:tc>
              </a:tr>
              <a:tr h="457200">
                <a:tc>
                  <a:txBody>
                    <a:bodyPr/>
                    <a:lstStyle/>
                    <a:p>
                      <a:pPr algn="l">
                        <a:defRPr sz="1200">
                          <a:solidFill>
                            <a:srgbClr val="3D4455"/>
                          </a:solidFill>
                          <a:latin typeface="Calibri"/>
                        </a:defRPr>
                      </a:pPr>
                      <a:r>
                        <a:t>Ketamine</a:t>
                      </a:r>
                    </a:p>
                  </a:txBody>
                  <a:tcPr>
                    <a:solidFill>
                      <a:srgbClr val="F5F6FA"/>
                    </a:solidFill>
                  </a:tcPr>
                </a:tc>
                <a:tc>
                  <a:txBody>
                    <a:bodyPr/>
                    <a:lstStyle/>
                    <a:p>
                      <a:pPr algn="l">
                        <a:defRPr sz="1200">
                          <a:solidFill>
                            <a:srgbClr val="3D4455"/>
                          </a:solidFill>
                          <a:latin typeface="Calibri"/>
                        </a:defRPr>
                      </a:pPr>
                      <a:r>
                        <a:t>IV</a:t>
                      </a:r>
                    </a:p>
                  </a:txBody>
                  <a:tcPr>
                    <a:solidFill>
                      <a:srgbClr val="F5F6FA"/>
                    </a:solidFill>
                  </a:tcPr>
                </a:tc>
                <a:tc>
                  <a:txBody>
                    <a:bodyPr/>
                    <a:lstStyle/>
                    <a:p>
                      <a:pPr algn="l">
                        <a:defRPr sz="1200">
                          <a:solidFill>
                            <a:srgbClr val="3D4455"/>
                          </a:solidFill>
                          <a:latin typeface="Calibri"/>
                        </a:defRPr>
                      </a:pPr>
                      <a:r>
                        <a:t>0.5-2 mg/kg bolus, 0.5-2 mg/kg/hr</a:t>
                      </a:r>
                    </a:p>
                  </a:txBody>
                  <a:tcPr>
                    <a:solidFill>
                      <a:srgbClr val="F5F6FA"/>
                    </a:solidFill>
                  </a:tcPr>
                </a:tc>
                <a:tc>
                  <a:txBody>
                    <a:bodyPr/>
                    <a:lstStyle/>
                    <a:p>
                      <a:pPr algn="l">
                        <a:defRPr sz="1200">
                          <a:solidFill>
                            <a:srgbClr val="3D4455"/>
                          </a:solidFill>
                          <a:latin typeface="Calibri"/>
                        </a:defRPr>
                      </a:pPr>
                      <a:r>
                        <a:t>Continuous</a:t>
                      </a:r>
                    </a:p>
                  </a:txBody>
                  <a:tcPr>
                    <a:solidFill>
                      <a:srgbClr val="F5F6FA"/>
                    </a:solidFill>
                  </a:tcPr>
                </a:tc>
                <a:tc>
                  <a:txBody>
                    <a:bodyPr/>
                    <a:lstStyle/>
                    <a:p>
                      <a:pPr algn="l">
                        <a:defRPr sz="1200">
                          <a:solidFill>
                            <a:srgbClr val="3D4455"/>
                          </a:solidFill>
                          <a:latin typeface="Calibri"/>
                        </a:defRPr>
                      </a:pPr>
                      <a:r>
                        <a:t>Bronchodilator + sedation</a:t>
                      </a:r>
                    </a:p>
                  </a:txBody>
                  <a:tcPr>
                    <a:solidFill>
                      <a:srgbClr val="F5F6FA"/>
                    </a:solidFill>
                  </a:tcPr>
                </a:tc>
              </a:tr>
              <a:tr h="457200">
                <a:tc>
                  <a:txBody>
                    <a:bodyPr/>
                    <a:lstStyle/>
                    <a:p>
                      <a:pPr algn="l">
                        <a:defRPr sz="1200">
                          <a:solidFill>
                            <a:srgbClr val="3D4455"/>
                          </a:solidFill>
                          <a:latin typeface="Calibri"/>
                        </a:defRPr>
                      </a:pPr>
                      <a:r>
                        <a:t>Epinephrine</a:t>
                      </a:r>
                    </a:p>
                  </a:txBody>
                  <a:tcPr>
                    <a:solidFill>
                      <a:srgbClr val="FFFFFF"/>
                    </a:solidFill>
                  </a:tcPr>
                </a:tc>
                <a:tc>
                  <a:txBody>
                    <a:bodyPr/>
                    <a:lstStyle/>
                    <a:p>
                      <a:pPr algn="l">
                        <a:defRPr sz="1200">
                          <a:solidFill>
                            <a:srgbClr val="3D4455"/>
                          </a:solidFill>
                          <a:latin typeface="Calibri"/>
                        </a:defRPr>
                      </a:pPr>
                      <a:r>
                        <a:t>IM</a:t>
                      </a:r>
                    </a:p>
                  </a:txBody>
                  <a:tcPr>
                    <a:solidFill>
                      <a:srgbClr val="FFFFFF"/>
                    </a:solidFill>
                  </a:tcPr>
                </a:tc>
                <a:tc>
                  <a:txBody>
                    <a:bodyPr/>
                    <a:lstStyle/>
                    <a:p>
                      <a:pPr algn="l">
                        <a:defRPr sz="1200">
                          <a:solidFill>
                            <a:srgbClr val="3D4455"/>
                          </a:solidFill>
                          <a:latin typeface="Calibri"/>
                        </a:defRPr>
                      </a:pPr>
                      <a:r>
                        <a:t>0.01 mg/kg (1:1000, max 0.3 mg)</a:t>
                      </a:r>
                    </a:p>
                  </a:txBody>
                  <a:tcPr>
                    <a:solidFill>
                      <a:srgbClr val="FFFFFF"/>
                    </a:solidFill>
                  </a:tcPr>
                </a:tc>
                <a:tc>
                  <a:txBody>
                    <a:bodyPr/>
                    <a:lstStyle/>
                    <a:p>
                      <a:pPr algn="l">
                        <a:defRPr sz="1200">
                          <a:solidFill>
                            <a:srgbClr val="3D4455"/>
                          </a:solidFill>
                          <a:latin typeface="Calibri"/>
                        </a:defRPr>
                      </a:pPr>
                      <a:r>
                        <a:t>q15-20 min</a:t>
                      </a:r>
                    </a:p>
                  </a:txBody>
                  <a:tcPr>
                    <a:solidFill>
                      <a:srgbClr val="FFFFFF"/>
                    </a:solidFill>
                  </a:tcPr>
                </a:tc>
                <a:tc>
                  <a:txBody>
                    <a:bodyPr/>
                    <a:lstStyle/>
                    <a:p>
                      <a:pPr algn="l">
                        <a:defRPr sz="1200">
                          <a:solidFill>
                            <a:srgbClr val="3D4455"/>
                          </a:solidFill>
                          <a:latin typeface="Calibri"/>
                        </a:defRPr>
                      </a:pPr>
                      <a:r>
                        <a:t>Bridge while setting up nebs</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CLINICAL PEARL</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The silent chest is the most dangerous chest.</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A child with severe asthma who has NO wheezing on auscultation has critically reduced air movement. This is worse than loud wheezing. Do not be falsely reassured by the absence of wheezing in a child with respiratory distress.</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Intubation in Asthma: The Most Dangerous Intubation</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Intubation in status asthmaticus carries high mortality — avoid if at all possible</a:t>
            </a:r>
          </a:p>
          <a:p>
            <a:pPr>
              <a:spcBef>
                <a:spcPts val="400"/>
              </a:spcBef>
              <a:spcAft>
                <a:spcPts val="600"/>
              </a:spcAft>
              <a:defRPr sz="1600">
                <a:solidFill>
                  <a:srgbClr val="3D4455"/>
                </a:solidFill>
                <a:latin typeface="Calibri"/>
              </a:defRPr>
            </a:pPr>
            <a:r>
              <a:t>Reasons: severe dynamic hyperinflation, air trapping, high airway pressures</a:t>
            </a:r>
          </a:p>
          <a:p>
            <a:pPr>
              <a:spcBef>
                <a:spcPts val="400"/>
              </a:spcBef>
              <a:spcAft>
                <a:spcPts val="600"/>
              </a:spcAft>
              <a:defRPr sz="1600">
                <a:solidFill>
                  <a:srgbClr val="3D4455"/>
                </a:solidFill>
                <a:latin typeface="Calibri"/>
              </a:defRPr>
            </a:pPr>
            <a:r>
              <a:t>Post-intubation: risk of hemodynamic collapse from auto-PEEP and decreased venous return</a:t>
            </a:r>
          </a:p>
          <a:p>
            <a:pPr>
              <a:spcBef>
                <a:spcPts val="400"/>
              </a:spcBef>
              <a:spcAft>
                <a:spcPts val="600"/>
              </a:spcAft>
              <a:defRPr sz="1600">
                <a:solidFill>
                  <a:srgbClr val="3D4455"/>
                </a:solidFill>
                <a:latin typeface="Calibri"/>
              </a:defRPr>
            </a:pPr>
            <a:r>
              <a:t>If must intubate: ketamine induction (bronchodilator), rocuronium paralysis</a:t>
            </a:r>
          </a:p>
          <a:p>
            <a:pPr>
              <a:spcBef>
                <a:spcPts val="400"/>
              </a:spcBef>
              <a:spcAft>
                <a:spcPts val="600"/>
              </a:spcAft>
              <a:defRPr sz="1600">
                <a:solidFill>
                  <a:srgbClr val="3D4455"/>
                </a:solidFill>
                <a:latin typeface="Calibri"/>
              </a:defRPr>
            </a:pPr>
            <a:r>
              <a:t>Ventilator strategy: low RR (10-14), long expiratory time (I:E 1:4-1:5)</a:t>
            </a:r>
          </a:p>
          <a:p>
            <a:pPr>
              <a:spcBef>
                <a:spcPts val="400"/>
              </a:spcBef>
              <a:spcAft>
                <a:spcPts val="600"/>
              </a:spcAft>
              <a:defRPr sz="1600">
                <a:solidFill>
                  <a:srgbClr val="3D4455"/>
                </a:solidFill>
                <a:latin typeface="Calibri"/>
              </a:defRPr>
            </a:pPr>
            <a:r>
              <a:t>Permissive hypercapnia: accept pCO2 60-80; target pH &gt;7.20</a:t>
            </a:r>
          </a:p>
          <a:p>
            <a:pPr>
              <a:spcBef>
                <a:spcPts val="400"/>
              </a:spcBef>
              <a:spcAft>
                <a:spcPts val="600"/>
              </a:spcAft>
              <a:defRPr sz="1600">
                <a:solidFill>
                  <a:srgbClr val="3D4455"/>
                </a:solidFill>
                <a:latin typeface="Calibri"/>
              </a:defRPr>
            </a:pPr>
            <a:r>
              <a:t>Disconnect and manually decompress if sudden deterioration (DOPE: Displacement, Obstruction, Pneumothorax, Equipment)</a:t>
            </a:r>
          </a:p>
          <a:p>
            <a:pPr lvl="1">
              <a:spcBef>
                <a:spcPts val="400"/>
              </a:spcBef>
              <a:spcAft>
                <a:spcPts val="600"/>
              </a:spcAft>
              <a:defRPr sz="1400">
                <a:solidFill>
                  <a:srgbClr val="8A92A3"/>
                </a:solidFill>
                <a:latin typeface="Calibri"/>
              </a:defRPr>
            </a:pPr>
            <a:r>
              <a:t>Have a chest tube tray at bedside — pneumothorax risk is high</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Treatment Working vs Time to Escalate</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IMPROVING (Continue Current Rx)</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PAS score decreasing</a:t>
            </a:r>
          </a:p>
          <a:p>
            <a:pPr>
              <a:spcAft>
                <a:spcPts val="500"/>
              </a:spcAft>
              <a:defRPr sz="1400">
                <a:solidFill>
                  <a:srgbClr val="3D4455"/>
                </a:solidFill>
                <a:latin typeface="Calibri"/>
              </a:defRPr>
            </a:pPr>
            <a:r>
              <a:t>Work of breathing improving</a:t>
            </a:r>
          </a:p>
          <a:p>
            <a:pPr>
              <a:spcAft>
                <a:spcPts val="500"/>
              </a:spcAft>
              <a:defRPr sz="1400">
                <a:solidFill>
                  <a:srgbClr val="3D4455"/>
                </a:solidFill>
                <a:latin typeface="Calibri"/>
              </a:defRPr>
            </a:pPr>
            <a:r>
              <a:t>Air entry increasing</a:t>
            </a:r>
          </a:p>
          <a:p>
            <a:pPr>
              <a:spcAft>
                <a:spcPts val="500"/>
              </a:spcAft>
              <a:defRPr sz="1400">
                <a:solidFill>
                  <a:srgbClr val="3D4455"/>
                </a:solidFill>
                <a:latin typeface="Calibri"/>
              </a:defRPr>
            </a:pPr>
            <a:r>
              <a:t>Wheezing present but with good air movement</a:t>
            </a:r>
          </a:p>
          <a:p>
            <a:pPr>
              <a:spcAft>
                <a:spcPts val="500"/>
              </a:spcAft>
              <a:defRPr sz="1400">
                <a:solidFill>
                  <a:srgbClr val="3D4455"/>
                </a:solidFill>
                <a:latin typeface="Calibri"/>
              </a:defRPr>
            </a:pPr>
            <a:r>
              <a:t>SpO2 improving or stable ≥94%</a:t>
            </a:r>
          </a:p>
          <a:p>
            <a:pPr>
              <a:spcAft>
                <a:spcPts val="500"/>
              </a:spcAft>
              <a:defRPr sz="1400">
                <a:solidFill>
                  <a:srgbClr val="3D4455"/>
                </a:solidFill>
                <a:latin typeface="Calibri"/>
              </a:defRPr>
            </a:pPr>
            <a:r>
              <a:t>Child able to speak, more interactive</a:t>
            </a:r>
          </a:p>
          <a:p>
            <a:pPr>
              <a:spcAft>
                <a:spcPts val="500"/>
              </a:spcAft>
              <a:defRPr sz="1400">
                <a:solidFill>
                  <a:srgbClr val="3D4455"/>
                </a:solidFill>
                <a:latin typeface="Calibri"/>
              </a:defRPr>
            </a:pPr>
            <a:r>
              <a:t>Can wean continuous albuterol to intermittent</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NOT IMPROVING (Escalate NOW)</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PAS score unchanged or increasing after 1 hour</a:t>
            </a:r>
          </a:p>
          <a:p>
            <a:pPr>
              <a:spcAft>
                <a:spcPts val="500"/>
              </a:spcAft>
              <a:defRPr sz="1400">
                <a:solidFill>
                  <a:srgbClr val="3D4455"/>
                </a:solidFill>
                <a:latin typeface="Calibri"/>
              </a:defRPr>
            </a:pPr>
            <a:r>
              <a:t>Silent chest or decreasing air movement</a:t>
            </a:r>
          </a:p>
          <a:p>
            <a:pPr>
              <a:spcAft>
                <a:spcPts val="500"/>
              </a:spcAft>
              <a:defRPr sz="1400">
                <a:solidFill>
                  <a:srgbClr val="3D4455"/>
                </a:solidFill>
                <a:latin typeface="Calibri"/>
              </a:defRPr>
            </a:pPr>
            <a:r>
              <a:t>Altered mental status or exhaustion</a:t>
            </a:r>
          </a:p>
          <a:p>
            <a:pPr>
              <a:spcAft>
                <a:spcPts val="500"/>
              </a:spcAft>
              <a:defRPr sz="1400">
                <a:solidFill>
                  <a:srgbClr val="3D4455"/>
                </a:solidFill>
                <a:latin typeface="Calibri"/>
              </a:defRPr>
            </a:pPr>
            <a:r>
              <a:t>SpO2 declining despite treatment</a:t>
            </a:r>
          </a:p>
          <a:p>
            <a:pPr>
              <a:spcAft>
                <a:spcPts val="500"/>
              </a:spcAft>
              <a:defRPr sz="1400">
                <a:solidFill>
                  <a:srgbClr val="3D4455"/>
                </a:solidFill>
                <a:latin typeface="Calibri"/>
              </a:defRPr>
            </a:pPr>
            <a:r>
              <a:t>Rising CO2 on VBG (respiratory acidosis)</a:t>
            </a:r>
          </a:p>
          <a:p>
            <a:pPr>
              <a:spcAft>
                <a:spcPts val="500"/>
              </a:spcAft>
              <a:defRPr sz="1400">
                <a:solidFill>
                  <a:srgbClr val="3D4455"/>
                </a:solidFill>
                <a:latin typeface="Calibri"/>
              </a:defRPr>
            </a:pPr>
            <a:r>
              <a:t>Unable to tolerate nebulizer</a:t>
            </a:r>
          </a:p>
          <a:p>
            <a:pPr>
              <a:spcAft>
                <a:spcPts val="500"/>
              </a:spcAft>
              <a:defRPr sz="1400">
                <a:solidFill>
                  <a:srgbClr val="3D4455"/>
                </a:solidFill>
                <a:latin typeface="Calibri"/>
              </a:defRPr>
            </a:pPr>
            <a:r>
              <a:t>Requiring FiO2 &gt;0.5 to maintain SpO2</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7-Year-Old Not Responding to Nebulizers</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7-year-old boy (28 kg) with known severe persistent asthma presents with acute exacerbation x6 hours. Already received 2 albuterol nebs from EMS. On arrival: sitting upright, speaking in single words, audible wheezing, severe intercostal and subcostal retractions, SpO2 89% on room air. HR 155, RR 38. PAS score: 14/15. Started on continuous albuterol + ipratropium + IV dexamethasone.</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After 30 minutes: PAS still 13, SpO2 92% on 6L NC — next steps?</a:t>
            </a:r>
          </a:p>
          <a:p>
            <a:pPr>
              <a:spcAft>
                <a:spcPts val="600"/>
              </a:spcAft>
              <a:defRPr sz="1400" b="1">
                <a:solidFill>
                  <a:srgbClr val="007B83"/>
                </a:solidFill>
                <a:latin typeface="Calibri"/>
              </a:defRPr>
            </a:pPr>
            <a:r>
              <a:t>▸  Magnesium sulfate: 50 mg/kg = 1400 mg IV over 20 minutes</a:t>
            </a:r>
          </a:p>
          <a:p>
            <a:pPr>
              <a:spcAft>
                <a:spcPts val="600"/>
              </a:spcAft>
              <a:defRPr sz="1400" b="1">
                <a:solidFill>
                  <a:srgbClr val="007B83"/>
                </a:solidFill>
                <a:latin typeface="Calibri"/>
              </a:defRPr>
            </a:pPr>
            <a:r>
              <a:t>▸  After magnesium, still PAS 12 — now what? (Start IV terbutaline, call PICU)</a:t>
            </a:r>
          </a:p>
          <a:p>
            <a:pPr>
              <a:spcAft>
                <a:spcPts val="600"/>
              </a:spcAft>
              <a:defRPr sz="1400" b="1">
                <a:solidFill>
                  <a:srgbClr val="007B83"/>
                </a:solidFill>
                <a:latin typeface="Calibri"/>
              </a:defRPr>
            </a:pPr>
            <a:r>
              <a:t>▸  The child becomes somnolent — what are you worried about? (Respiratory failure, fatigue, rising CO2)</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Status Asthmaticus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Delayed systemic steroids — give within 15 minutes of recognition of severe asthma</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Inadequate albuterol dosing — intermittent nebs are insufficient for severe exacerbation</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Premature intubation — exhaust all medical options first; intubation itself is dangerous</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Not giving magnesium early — it is safe and effective; give at step 3, not as last resort</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Missing pneumothorax or pneumomediastinum — get CXR if sudden deterioration</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Discharging too early — must demonstrate sustained improvement off continuous nebs</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addressing trigger: was this actually anaphylaxis? Foreign body? Cardiac wheeze?</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Use the Pediatric Asthma Score to guide treatment and track response objectively</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Give steroids (dexamethasone 0.6 mg/kg) within 15 minutes of recognizing severe asthma</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Magnesium sulfate (50 mg/kg IV) should be given early in severe exacerbations, not as a last resort</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Intubation in status asthmaticus is the MOST DANGEROUS intubation — exhaust all alternatives first</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The silent chest = critical: it means NO air movement, not improvement</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Expert Panel Report 3: Guidelines for the Diagnosis and Management of Asthma. NIH/NHLBI, 2007.</a:t>
            </a:r>
          </a:p>
          <a:p>
            <a:pPr>
              <a:spcAft>
                <a:spcPts val="400"/>
              </a:spcAft>
              <a:defRPr sz="1100">
                <a:solidFill>
                  <a:srgbClr val="3D4455"/>
                </a:solidFill>
                <a:latin typeface="Calibri"/>
              </a:defRPr>
            </a:pPr>
            <a:r>
              <a:t>2. Global Initiative for Asthma (GINA). Global Strategy for Asthma Management and Prevention, 2023.</a:t>
            </a:r>
          </a:p>
          <a:p>
            <a:pPr>
              <a:spcAft>
                <a:spcPts val="400"/>
              </a:spcAft>
              <a:defRPr sz="1100">
                <a:solidFill>
                  <a:srgbClr val="3D4455"/>
                </a:solidFill>
                <a:latin typeface="Calibri"/>
              </a:defRPr>
            </a:pPr>
            <a:r>
              <a:t>3. Keeney GE, et al. Dexamethasone for acute asthma exacerbations in children: a meta-analysis. Pediatrics. 2014;133(3):493-499.</a:t>
            </a:r>
          </a:p>
          <a:p>
            <a:pPr>
              <a:spcAft>
                <a:spcPts val="400"/>
              </a:spcAft>
              <a:defRPr sz="1100">
                <a:solidFill>
                  <a:srgbClr val="3D4455"/>
                </a:solidFill>
                <a:latin typeface="Calibri"/>
              </a:defRPr>
            </a:pPr>
            <a:r>
              <a:t>4. Griffiths B, Kew KM. Intravenous magnesium sulfate for treating children with acute asthma in the emergency department. Cochrane Database Syst Rev. 2016;4:CD011050.</a:t>
            </a:r>
          </a:p>
          <a:p>
            <a:pPr>
              <a:spcAft>
                <a:spcPts val="400"/>
              </a:spcAft>
              <a:defRPr sz="1100">
                <a:solidFill>
                  <a:srgbClr val="3D4455"/>
                </a:solidFill>
                <a:latin typeface="Calibri"/>
              </a:defRPr>
            </a:pPr>
            <a:r>
              <a:t>5. Carroll CL, Zucker AR. The increased cost of complications in children with status asthmaticus. Pediatr Pulmonol. 2007;42(10):914-919.</a:t>
            </a:r>
          </a:p>
          <a:p>
            <a:pPr>
              <a:spcAft>
                <a:spcPts val="400"/>
              </a:spcAft>
              <a:defRPr sz="1100">
                <a:solidFill>
                  <a:srgbClr val="3D4455"/>
                </a:solidFill>
                <a:latin typeface="Calibri"/>
              </a:defRPr>
            </a:pPr>
            <a:r>
              <a:t>6. Nievas IF, Anand KJS. Severe acute asthma exacerbation in children: a stepwise approach for escalating therapy. J Pediatr Pharmacol Ther. 2013;18(2):88-104.</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Asthmaticus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