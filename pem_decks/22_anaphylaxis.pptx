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message: epinephrine early saves lives. Studies consistently show that the primary risk factor for fatal anaphylaxis is delayed administration of epinephrine. Antihistamines treat symptoms (urticaria, pruritus) but do NOT reverse airway edema, bronchospasm, or hypotension. Steroids may reduce biphasic reactions but have no role in acute treatment.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ONE of these three criteria = anaphylaxis. Key point: skin findings are NOT required. Up to 20% of anaphylaxis presents WITHOUT skin involvement. Isolated GI symptoms (vomiting, abdominal pain) after allergen exposure with one other organ system = anaphylaxis. Do not wait for the "classic" presentation of hives + wheeze + hypotension — give epinephrine based on these criteria.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epinephrine-centered. Antihistamines and steroids are step 6, not step 1. The IM route (anterolateral thigh) provides faster absorption than subcutaneous. Repeat dosing every 5-15 minutes is safe and necessary for refractory anaphylaxis. If three IM doses fail, transition to IV epinephrine infusion with close hemodynamic monitoring.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pearl addresses the most common barrier to epinephrine administration: fear. Physicians and nurses hesitate to give epinephrine because of concerns about cardiac side effects. But epinephrine at the IM dose of 0.01 mg/kg is remarkably safe. The risk of withholding it in true anaphylaxis is death. Give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distinction: anaphylaxis involves MULTIPLE organ systems after allergen exposure. Isolated urticaria (even severe) is NOT anaphylaxis and does not require epinephrine. Vasovagal syncope is the most common mimic — differentiated by bradycardia (vs. tachycardia in anaphylaxis) and lack of urticaria/angioedema.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biphasic reaction risk drives the observation period. The evidence base for the optimal observation time is limited, but most experts recommend 4-6 hours minimum. Severe anaphylaxis (requiring multiple epinephrine doses, intubation, or vasopressors) warrants longer observation or admission. Every patient discharged after anaphylaxis needs an EpiPen prescription and an action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demonstrates the most common error: treating anaphylaxis with antihistamines first. The parent did what many parents and some physicians do — reach for diphenhydramine. But diphenhydramine does not treat bronchospasm, laryngeal edema, or hypotension. Epinephrine does. Use this case to reinforce the epinephrine-first message.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pitfalls is a common, documented error. The subcutaneous route was previously taught but provides slower and lower drug levels than IM. The EpiPen prescription at discharge is medico-legally and clinically essential — it allows treatment of future episodes before reaching the 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22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Anaphylaxis and Allergic Emergencies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Rapid Recognition, Epinephrine-First Approach, and Biphasic Reaction Management</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anaphylaxis using NIAID/FAAN diagnostic criteria — not just "classic" presentations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Administer IM epinephrine immediately — the only first-line treatment for anaphylaxis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Manage refractory anaphylaxis with IV epinephrine, fluids, and vasopressors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Understand the risk of biphasic reactions and apply appropriate observation periods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Differentiate anaphylaxis from common mimics in children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Anaphylaxis: The Most Time-Critical Allergic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Anaphylaxis = a severe, potentially fatal, systemic allergic reaction</a:t>
            </a:r>
          </a:p>
          <a:p>
            <a:pPr>
              <a:spcBef>
                <a:spcPts val="400"/>
              </a:spcBef>
              <a:spcAft>
                <a:spcPts val="600"/>
              </a:spcAft>
              <a:defRPr sz="1600">
                <a:solidFill>
                  <a:srgbClr val="3D4455"/>
                </a:solidFill>
                <a:latin typeface="Calibri"/>
              </a:defRPr>
            </a:pPr>
            <a:r>
              <a:t>Incidence in children: rising — estimated 1-2% lifetime prevalence</a:t>
            </a:r>
          </a:p>
          <a:p>
            <a:pPr>
              <a:spcBef>
                <a:spcPts val="400"/>
              </a:spcBef>
              <a:spcAft>
                <a:spcPts val="600"/>
              </a:spcAft>
              <a:defRPr sz="1600">
                <a:solidFill>
                  <a:srgbClr val="3D4455"/>
                </a:solidFill>
                <a:latin typeface="Calibri"/>
              </a:defRPr>
            </a:pPr>
            <a:r>
              <a:t>Most common triggers in children: food (peanuts, tree nuts, milk, egg), insect stings, medications</a:t>
            </a:r>
          </a:p>
          <a:p>
            <a:pPr>
              <a:spcBef>
                <a:spcPts val="400"/>
              </a:spcBef>
              <a:spcAft>
                <a:spcPts val="600"/>
              </a:spcAft>
              <a:defRPr sz="1600">
                <a:solidFill>
                  <a:srgbClr val="3D4455"/>
                </a:solidFill>
                <a:latin typeface="Calibri"/>
              </a:defRPr>
            </a:pPr>
            <a:r>
              <a:t>Death from anaphylaxis is almost always from DELAYED or WITHHELD epinephrine</a:t>
            </a:r>
          </a:p>
          <a:p>
            <a:pPr>
              <a:spcBef>
                <a:spcPts val="400"/>
              </a:spcBef>
              <a:spcAft>
                <a:spcPts val="600"/>
              </a:spcAft>
              <a:defRPr sz="1600">
                <a:solidFill>
                  <a:srgbClr val="3D4455"/>
                </a:solidFill>
                <a:latin typeface="Calibri"/>
              </a:defRPr>
            </a:pPr>
            <a:r>
              <a:t>Epinephrine is the ONLY first-line treatment — antihistamines and steroids are adjuncts, not replacements</a:t>
            </a:r>
          </a:p>
          <a:p>
            <a:pPr lvl="1">
              <a:spcBef>
                <a:spcPts val="400"/>
              </a:spcBef>
              <a:spcAft>
                <a:spcPts val="600"/>
              </a:spcAft>
              <a:defRPr sz="1400">
                <a:solidFill>
                  <a:srgbClr val="8A92A3"/>
                </a:solidFill>
                <a:latin typeface="Calibri"/>
              </a:defRPr>
            </a:pPr>
            <a:r>
              <a:t>The biggest error in anaphylaxis management: not giving epinephrine early enough</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NIAID/FAAN Diagnostic Criteria for Anaphylaxis</a:t>
            </a:r>
          </a:p>
        </p:txBody>
      </p:sp>
      <p:graphicFrame>
        <p:nvGraphicFramePr>
          <p:cNvPr id="5" name="Table 4"/>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Criterion</a:t>
                      </a:r>
                    </a:p>
                  </a:txBody>
                  <a:tcPr>
                    <a:solidFill>
                      <a:srgbClr val="007B83"/>
                    </a:solidFill>
                  </a:tcPr>
                </a:tc>
                <a:tc>
                  <a:txBody>
                    <a:bodyPr/>
                    <a:lstStyle/>
                    <a:p>
                      <a:pPr algn="ctr">
                        <a:defRPr sz="1300" b="1">
                          <a:solidFill>
                            <a:srgbClr val="FFFFFF"/>
                          </a:solidFill>
                          <a:latin typeface="Calibri"/>
                        </a:defRPr>
                      </a:pPr>
                      <a:r>
                        <a:t>Details</a:t>
                      </a:r>
                    </a:p>
                  </a:txBody>
                  <a:tcPr>
                    <a:solidFill>
                      <a:srgbClr val="007B83"/>
                    </a:solidFill>
                  </a:tcPr>
                </a:tc>
                <a:tc>
                  <a:txBody>
                    <a:bodyPr/>
                    <a:lstStyle/>
                    <a:p>
                      <a:pPr algn="ctr">
                        <a:defRPr sz="1300" b="1">
                          <a:solidFill>
                            <a:srgbClr val="FFFFFF"/>
                          </a:solidFill>
                          <a:latin typeface="Calibri"/>
                        </a:defRPr>
                      </a:pPr>
                      <a:r>
                        <a:t>Examples</a:t>
                      </a:r>
                    </a:p>
                  </a:txBody>
                  <a:tcPr>
                    <a:solidFill>
                      <a:srgbClr val="007B83"/>
                    </a:solidFill>
                  </a:tcPr>
                </a:tc>
              </a:tr>
              <a:tr h="457200">
                <a:tc>
                  <a:txBody>
                    <a:bodyPr/>
                    <a:lstStyle/>
                    <a:p>
                      <a:pPr algn="l">
                        <a:defRPr sz="1200">
                          <a:solidFill>
                            <a:srgbClr val="3D4455"/>
                          </a:solidFill>
                          <a:latin typeface="Calibri"/>
                        </a:defRPr>
                      </a:pPr>
                      <a:r>
                        <a:t>Criterion 1</a:t>
                      </a:r>
                    </a:p>
                  </a:txBody>
                  <a:tcPr>
                    <a:solidFill>
                      <a:srgbClr val="F5F6FA"/>
                    </a:solidFill>
                  </a:tcPr>
                </a:tc>
                <a:tc>
                  <a:txBody>
                    <a:bodyPr/>
                    <a:lstStyle/>
                    <a:p>
                      <a:pPr algn="l">
                        <a:defRPr sz="1200">
                          <a:solidFill>
                            <a:srgbClr val="3D4455"/>
                          </a:solidFill>
                          <a:latin typeface="Calibri"/>
                        </a:defRPr>
                      </a:pPr>
                      <a:r>
                        <a:t>Skin/mucosal involvement + respiratory compromise OR hypotension</a:t>
                      </a:r>
                    </a:p>
                  </a:txBody>
                  <a:tcPr>
                    <a:solidFill>
                      <a:srgbClr val="F5F6FA"/>
                    </a:solidFill>
                  </a:tcPr>
                </a:tc>
                <a:tc>
                  <a:txBody>
                    <a:bodyPr/>
                    <a:lstStyle/>
                    <a:p>
                      <a:pPr algn="l">
                        <a:defRPr sz="1200">
                          <a:solidFill>
                            <a:srgbClr val="3D4455"/>
                          </a:solidFill>
                          <a:latin typeface="Calibri"/>
                        </a:defRPr>
                      </a:pPr>
                      <a:r>
                        <a:t>Urticaria + wheezing; angioedema + stridor; hives + syncope</a:t>
                      </a:r>
                    </a:p>
                  </a:txBody>
                  <a:tcPr>
                    <a:solidFill>
                      <a:srgbClr val="F5F6FA"/>
                    </a:solidFill>
                  </a:tcPr>
                </a:tc>
              </a:tr>
              <a:tr h="457200">
                <a:tc>
                  <a:txBody>
                    <a:bodyPr/>
                    <a:lstStyle/>
                    <a:p>
                      <a:pPr algn="l">
                        <a:defRPr sz="1200">
                          <a:solidFill>
                            <a:srgbClr val="3D4455"/>
                          </a:solidFill>
                          <a:latin typeface="Calibri"/>
                        </a:defRPr>
                      </a:pPr>
                      <a:r>
                        <a:t>Criterion 2</a:t>
                      </a:r>
                    </a:p>
                  </a:txBody>
                  <a:tcPr>
                    <a:solidFill>
                      <a:srgbClr val="FFFFFF"/>
                    </a:solidFill>
                  </a:tcPr>
                </a:tc>
                <a:tc>
                  <a:txBody>
                    <a:bodyPr/>
                    <a:lstStyle/>
                    <a:p>
                      <a:pPr algn="l">
                        <a:defRPr sz="1200">
                          <a:solidFill>
                            <a:srgbClr val="3D4455"/>
                          </a:solidFill>
                          <a:latin typeface="Calibri"/>
                        </a:defRPr>
                      </a:pPr>
                      <a:r>
                        <a:t>≥2 organ systems after LIKELY allergen exposure: skin, respiratory, GI, cardiovascular</a:t>
                      </a:r>
                    </a:p>
                  </a:txBody>
                  <a:tcPr>
                    <a:solidFill>
                      <a:srgbClr val="FFFFFF"/>
                    </a:solidFill>
                  </a:tcPr>
                </a:tc>
                <a:tc>
                  <a:txBody>
                    <a:bodyPr/>
                    <a:lstStyle/>
                    <a:p>
                      <a:pPr algn="l">
                        <a:defRPr sz="1200">
                          <a:solidFill>
                            <a:srgbClr val="3D4455"/>
                          </a:solidFill>
                          <a:latin typeface="Calibri"/>
                        </a:defRPr>
                      </a:pPr>
                      <a:r>
                        <a:t>Hives + vomiting; lip swelling + wheeze; flushing + abdominal pain</a:t>
                      </a:r>
                    </a:p>
                  </a:txBody>
                  <a:tcPr>
                    <a:solidFill>
                      <a:srgbClr val="FFFFFF"/>
                    </a:solidFill>
                  </a:tcPr>
                </a:tc>
              </a:tr>
              <a:tr h="457200">
                <a:tc>
                  <a:txBody>
                    <a:bodyPr/>
                    <a:lstStyle/>
                    <a:p>
                      <a:pPr algn="l">
                        <a:defRPr sz="1200">
                          <a:solidFill>
                            <a:srgbClr val="3D4455"/>
                          </a:solidFill>
                          <a:latin typeface="Calibri"/>
                        </a:defRPr>
                      </a:pPr>
                      <a:r>
                        <a:t>Criterion 3</a:t>
                      </a:r>
                    </a:p>
                  </a:txBody>
                  <a:tcPr>
                    <a:solidFill>
                      <a:srgbClr val="F5F6FA"/>
                    </a:solidFill>
                  </a:tcPr>
                </a:tc>
                <a:tc>
                  <a:txBody>
                    <a:bodyPr/>
                    <a:lstStyle/>
                    <a:p>
                      <a:pPr algn="l">
                        <a:defRPr sz="1200">
                          <a:solidFill>
                            <a:srgbClr val="3D4455"/>
                          </a:solidFill>
                          <a:latin typeface="Calibri"/>
                        </a:defRPr>
                      </a:pPr>
                      <a:r>
                        <a:t>Hypotension after exposure to KNOWN allergen</a:t>
                      </a:r>
                    </a:p>
                  </a:txBody>
                  <a:tcPr>
                    <a:solidFill>
                      <a:srgbClr val="F5F6FA"/>
                    </a:solidFill>
                  </a:tcPr>
                </a:tc>
                <a:tc>
                  <a:txBody>
                    <a:bodyPr/>
                    <a:lstStyle/>
                    <a:p>
                      <a:pPr algn="l">
                        <a:defRPr sz="1200">
                          <a:solidFill>
                            <a:srgbClr val="3D4455"/>
                          </a:solidFill>
                          <a:latin typeface="Calibri"/>
                        </a:defRPr>
                      </a:pPr>
                      <a:r>
                        <a:t>Peanut-allergic child develops hypotension after peanut exposure</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Anaphylaxis Management Protocol</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STEP 1: EPINEPHRINE IM 0.01 mg/kg (1:1000; max 0.3 mg child, 0.5 mg adult) — anterolateral thigh</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STEP 2: Position — supine with legs elevated (unless vomiting or in respiratory distress → position of comfort)</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STEP 3: High-flow O2, IV access × 2, cardiac monitor, prepare for airway management</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STEP 4: NS 20 mL/kg IV bolus for hypotension — repeat as needed</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STEP 5: Repeat IM epinephrine every 5-15 minutes if symptoms not improving (max 3 doses)</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STEP 6: Adjuncts — diphenhydramine 1 mg/kg IV, ranitidine 1 mg/kg IV, dexamethasone 0.6 mg/kg IV</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STEP 7: If refractory → IV epinephrine infusion 0.1-1 mcg/kg/min; consider glucagon if on beta-blockers</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There is NO contraindication to epinephrine in anaphylaxis.</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Not age, not cardiac disease, not beta-blocker use, not pregnancy. The risk of NOT giving epinephrine always exceeds the risk of giving it. The dose is 0.01 mg/kg IM (1:1000) to the anterolateral thigh. If you diagnose anaphylaxis, give epinephrine.</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Anaphylaxis vs. Common Mimics</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ANAPHYLAXIS (Give Epinephrine)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Rapid onset after allergen exposure</a:t>
            </a:r>
          </a:p>
          <a:p>
            <a:pPr>
              <a:spcAft>
                <a:spcPts val="500"/>
              </a:spcAft>
              <a:defRPr sz="1400">
                <a:solidFill>
                  <a:srgbClr val="3D4455"/>
                </a:solidFill>
                <a:latin typeface="Calibri"/>
              </a:defRPr>
            </a:pPr>
            <a:r>
              <a:t>Multiple organ systems involved</a:t>
            </a:r>
          </a:p>
          <a:p>
            <a:pPr>
              <a:spcAft>
                <a:spcPts val="500"/>
              </a:spcAft>
              <a:defRPr sz="1400">
                <a:solidFill>
                  <a:srgbClr val="3D4455"/>
                </a:solidFill>
                <a:latin typeface="Calibri"/>
              </a:defRPr>
            </a:pPr>
            <a:r>
              <a:t>Urticaria/angioedema + respiratory or cardiovascular symptoms</a:t>
            </a:r>
          </a:p>
          <a:p>
            <a:pPr>
              <a:spcAft>
                <a:spcPts val="500"/>
              </a:spcAft>
              <a:defRPr sz="1400">
                <a:solidFill>
                  <a:srgbClr val="3D4455"/>
                </a:solidFill>
                <a:latin typeface="Calibri"/>
              </a:defRPr>
            </a:pPr>
            <a:r>
              <a:t>Stridor, hoarseness, tongue/lip swelling</a:t>
            </a:r>
          </a:p>
          <a:p>
            <a:pPr>
              <a:spcAft>
                <a:spcPts val="500"/>
              </a:spcAft>
              <a:defRPr sz="1400">
                <a:solidFill>
                  <a:srgbClr val="3D4455"/>
                </a:solidFill>
                <a:latin typeface="Calibri"/>
              </a:defRPr>
            </a:pPr>
            <a:r>
              <a:t>Wheezing, dyspnea, bronchospasm</a:t>
            </a:r>
          </a:p>
          <a:p>
            <a:pPr>
              <a:spcAft>
                <a:spcPts val="500"/>
              </a:spcAft>
              <a:defRPr sz="1400">
                <a:solidFill>
                  <a:srgbClr val="3D4455"/>
                </a:solidFill>
                <a:latin typeface="Calibri"/>
              </a:defRPr>
            </a:pPr>
            <a:r>
              <a:t>Hypotension, tachycardia, syncope</a:t>
            </a:r>
          </a:p>
          <a:p>
            <a:pPr>
              <a:spcAft>
                <a:spcPts val="500"/>
              </a:spcAft>
              <a:defRPr sz="1400">
                <a:solidFill>
                  <a:srgbClr val="3D4455"/>
                </a:solidFill>
                <a:latin typeface="Calibri"/>
              </a:defRPr>
            </a:pPr>
            <a:r>
              <a:t>Abdominal pain, vomiting with other symptoms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NOT ANAPHYLAXIS (Different Treatment)</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Acute urticaria alone (no respiratory/CV involvement) → antihistamines</a:t>
            </a:r>
          </a:p>
          <a:p>
            <a:pPr>
              <a:spcAft>
                <a:spcPts val="500"/>
              </a:spcAft>
              <a:defRPr sz="1400">
                <a:solidFill>
                  <a:srgbClr val="3D4455"/>
                </a:solidFill>
                <a:latin typeface="Calibri"/>
              </a:defRPr>
            </a:pPr>
            <a:r>
              <a:t>Vasovagal syncope (bradycardia, pallor, no urticaria) → supine, IV fluids</a:t>
            </a:r>
          </a:p>
          <a:p>
            <a:pPr>
              <a:spcAft>
                <a:spcPts val="500"/>
              </a:spcAft>
              <a:defRPr sz="1400">
                <a:solidFill>
                  <a:srgbClr val="3D4455"/>
                </a:solidFill>
                <a:latin typeface="Calibri"/>
              </a:defRPr>
            </a:pPr>
            <a:r>
              <a:t>Panic attack (hyperventilation, tingling, no urticaria) → reassurance</a:t>
            </a:r>
          </a:p>
          <a:p>
            <a:pPr>
              <a:spcAft>
                <a:spcPts val="500"/>
              </a:spcAft>
              <a:defRPr sz="1400">
                <a:solidFill>
                  <a:srgbClr val="3D4455"/>
                </a:solidFill>
                <a:latin typeface="Calibri"/>
              </a:defRPr>
            </a:pPr>
            <a:r>
              <a:t>Asthma exacerbation (wheezing without skin/GI/CV) → albuterol/steroids</a:t>
            </a:r>
          </a:p>
          <a:p>
            <a:pPr>
              <a:spcAft>
                <a:spcPts val="500"/>
              </a:spcAft>
              <a:defRPr sz="1400">
                <a:solidFill>
                  <a:srgbClr val="3D4455"/>
                </a:solidFill>
                <a:latin typeface="Calibri"/>
              </a:defRPr>
            </a:pPr>
            <a:r>
              <a:t>Hereditary angioedema (angioedema without urticaria) → C1-INH concentrate</a:t>
            </a:r>
          </a:p>
          <a:p>
            <a:pPr>
              <a:spcAft>
                <a:spcPts val="500"/>
              </a:spcAft>
              <a:defRPr sz="1400">
                <a:solidFill>
                  <a:srgbClr val="3D4455"/>
                </a:solidFill>
                <a:latin typeface="Calibri"/>
              </a:defRPr>
            </a:pPr>
            <a:r>
              <a:t>Scombroid (histamine fish poisoning) → antihistamines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Biphasic Anaphylaxis and Observation Period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Biphasic reaction: recurrence of symptoms 1-72 hours after initial resolution (without re-exposure)</a:t>
            </a:r>
          </a:p>
          <a:p>
            <a:pPr>
              <a:spcBef>
                <a:spcPts val="400"/>
              </a:spcBef>
              <a:spcAft>
                <a:spcPts val="600"/>
              </a:spcAft>
              <a:defRPr sz="1600">
                <a:solidFill>
                  <a:srgbClr val="3D4455"/>
                </a:solidFill>
                <a:latin typeface="Calibri"/>
              </a:defRPr>
            </a:pPr>
            <a:r>
              <a:t>Incidence: 1-20% depending on definition and study</a:t>
            </a:r>
          </a:p>
          <a:p>
            <a:pPr>
              <a:spcBef>
                <a:spcPts val="400"/>
              </a:spcBef>
              <a:spcAft>
                <a:spcPts val="600"/>
              </a:spcAft>
              <a:defRPr sz="1600">
                <a:solidFill>
                  <a:srgbClr val="3D4455"/>
                </a:solidFill>
                <a:latin typeface="Calibri"/>
              </a:defRPr>
            </a:pPr>
            <a:r>
              <a:t>Risk factors: severe initial reaction, delayed epinephrine, prior biphasic reaction</a:t>
            </a:r>
          </a:p>
          <a:p>
            <a:pPr>
              <a:spcBef>
                <a:spcPts val="400"/>
              </a:spcBef>
              <a:spcAft>
                <a:spcPts val="600"/>
              </a:spcAft>
              <a:defRPr sz="1600">
                <a:solidFill>
                  <a:srgbClr val="3D4455"/>
                </a:solidFill>
                <a:latin typeface="Calibri"/>
              </a:defRPr>
            </a:pPr>
            <a:r>
              <a:t>Most biphasic reactions occur within 8-12 hours of initial reaction</a:t>
            </a:r>
          </a:p>
          <a:p>
            <a:pPr>
              <a:spcBef>
                <a:spcPts val="400"/>
              </a:spcBef>
              <a:spcAft>
                <a:spcPts val="600"/>
              </a:spcAft>
              <a:defRPr sz="1600">
                <a:solidFill>
                  <a:srgbClr val="3D4455"/>
                </a:solidFill>
                <a:latin typeface="Calibri"/>
              </a:defRPr>
            </a:pPr>
            <a:r>
              <a:t>Recommended observation: minimum 4-6 hours for mild-moderate anaphylaxis; 12-24 hours for severe</a:t>
            </a:r>
          </a:p>
          <a:p>
            <a:pPr>
              <a:spcBef>
                <a:spcPts val="400"/>
              </a:spcBef>
              <a:spcAft>
                <a:spcPts val="600"/>
              </a:spcAft>
              <a:defRPr sz="1600">
                <a:solidFill>
                  <a:srgbClr val="3D4455"/>
                </a:solidFill>
                <a:latin typeface="Calibri"/>
              </a:defRPr>
            </a:pPr>
            <a:r>
              <a:t>Discharge with: EpiPen prescription, allergy referral, anaphylaxis action plan, return precautions</a:t>
            </a:r>
          </a:p>
          <a:p>
            <a:pPr lvl="1">
              <a:spcBef>
                <a:spcPts val="400"/>
              </a:spcBef>
              <a:spcAft>
                <a:spcPts val="600"/>
              </a:spcAft>
              <a:defRPr sz="1400">
                <a:solidFill>
                  <a:srgbClr val="8A92A3"/>
                </a:solidFill>
                <a:latin typeface="Calibri"/>
              </a:defRPr>
            </a:pPr>
            <a:r>
              <a:t>Every patient who receives epinephrine for anaphylaxis should be observed for at least 4 hours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5-Year-Old with Facial Swelling After Eating Cashews</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5-year-old girl (20 kg) with known peanut allergy ate a cookie at a birthday party. Within 10 minutes she developed lip swelling, hives on her trunk, and then started coughing and wheezing. Parent gave diphenhydramine at home and brought her to the ED. On arrival: anxious, diffuse urticaria, audible wheeze, lip and tongue edema, SpO2 94%, HR 140, BP 80/50.</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anaphylaxis? (YES — skin + respiratory + cardiovascular involvement, known allergen exposure)</a:t>
            </a:r>
          </a:p>
          <a:p>
            <a:pPr>
              <a:spcAft>
                <a:spcPts val="600"/>
              </a:spcAft>
              <a:defRPr sz="1400" b="1">
                <a:solidFill>
                  <a:srgbClr val="007B83"/>
                </a:solidFill>
                <a:latin typeface="Calibri"/>
              </a:defRPr>
            </a:pPr>
            <a:r>
              <a:t>▸  First treatment? (Epinephrine 0.01 mg/kg = 0.2 mg IM to anterolateral thigh — NOT diphenhydramine)</a:t>
            </a:r>
          </a:p>
          <a:p>
            <a:pPr>
              <a:spcAft>
                <a:spcPts val="600"/>
              </a:spcAft>
              <a:defRPr sz="1400" b="1">
                <a:solidFill>
                  <a:srgbClr val="007B83"/>
                </a:solidFill>
                <a:latin typeface="Calibri"/>
              </a:defRPr>
            </a:pPr>
            <a:r>
              <a:t>▸  Additional? (O2, NS 20 mL/kg bolus for hypotension, albuterol for wheezing, repeat epi in 5-15 min if no improvement)</a:t>
            </a:r>
          </a:p>
          <a:p>
            <a:pPr>
              <a:spcAft>
                <a:spcPts val="600"/>
              </a:spcAft>
              <a:defRPr sz="1400" b="1">
                <a:solidFill>
                  <a:srgbClr val="007B83"/>
                </a:solidFill>
                <a:latin typeface="Calibri"/>
              </a:defRPr>
            </a:pPr>
            <a:r>
              <a:t>▸  Parent gave only diphenhydramine — what is the teaching point? (Epinephrine first, always; antihistamines do not treat anaphylaxis)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Anaphylaxis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Giving antihistamines instead of epinephrine as first treatment — epinephrine is ALWAYS first</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Using subcutaneous instead of IM route — IM anterolateral thigh provides faster, higher peak levels</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repeating epinephrine when symptoms persist — can repeat every 5-15 minutes, up to 3 IM doses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Discharging without EpiPen prescription — every anaphylaxis patient needs an auto-injector at discharge</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Too-short observation period — minimum 4 hours; longer for severe reactions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Missing anaphylaxis without skin findings — 20% of anaphylaxis has NO urticaria or angioedema</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referring to allergy/immunology — these patients need formal evaluation and an anaphylaxis action plan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Epinephrine IM (0.01 mg/kg, max 0.3 mg child) is the ONLY first-line treatment for anaphylaxis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There is NO contraindication to epinephrine in anaphylaxis — the risk of withholding it is death</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Antihistamines and steroids are adjuncts, NOT replacements for epinephrine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Observe minimum 4-6 hours after anaphylaxis; discharge with EpiPen + allergy referral + action plan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Up to 20% of anaphylaxis presents WITHOUT skin findings — use NIAID criteria, not "classic" presentation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Sampson HA, et al. Second symposium on the definition and management of anaphylaxis: summary report. J Allergy Clin Immunol. 2006;117(2):391-397.</a:t>
            </a:r>
          </a:p>
          <a:p>
            <a:pPr>
              <a:spcAft>
                <a:spcPts val="400"/>
              </a:spcAft>
              <a:defRPr sz="1100">
                <a:solidFill>
                  <a:srgbClr val="3D4455"/>
                </a:solidFill>
                <a:latin typeface="Calibri"/>
              </a:defRPr>
            </a:pPr>
            <a:r>
              <a:t>2. Simons FER, et al. World Allergy Organization guidelines for the assessment and management of anaphylaxis. J Allergy Clin Immunol. 2011;127(3):587-593.</a:t>
            </a:r>
          </a:p>
          <a:p>
            <a:pPr>
              <a:spcAft>
                <a:spcPts val="400"/>
              </a:spcAft>
              <a:defRPr sz="1100">
                <a:solidFill>
                  <a:srgbClr val="3D4455"/>
                </a:solidFill>
                <a:latin typeface="Calibri"/>
              </a:defRPr>
            </a:pPr>
            <a:r>
              <a:t>3. Shaker MS, et al. Anaphylaxis — a 2020 practice parameter update, systematic review, and GRADE analysis. J Allergy Clin Immunol. 2020;145(4):1082-1123.</a:t>
            </a:r>
          </a:p>
          <a:p>
            <a:pPr>
              <a:spcAft>
                <a:spcPts val="400"/>
              </a:spcAft>
              <a:defRPr sz="1100">
                <a:solidFill>
                  <a:srgbClr val="3D4455"/>
                </a:solidFill>
                <a:latin typeface="Calibri"/>
              </a:defRPr>
            </a:pPr>
            <a:r>
              <a:t>4. Lee S, et al. Time of onset and predictors of biphasic anaphylactic reactions: a systematic review and meta-analysis. J Allergy Clin Immunol Pract. 2015;3(3):408-416.</a:t>
            </a:r>
          </a:p>
          <a:p>
            <a:pPr>
              <a:spcAft>
                <a:spcPts val="400"/>
              </a:spcAft>
              <a:defRPr sz="1100">
                <a:solidFill>
                  <a:srgbClr val="3D4455"/>
                </a:solidFill>
                <a:latin typeface="Calibri"/>
              </a:defRPr>
            </a:pPr>
            <a:r>
              <a:t>5. Campbell RL, et al. Evaluation of a predictive model for anaphylaxis in the ED. Am J Emerg Med. 2012;30(8):1204-1209.</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Anaphylaxis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