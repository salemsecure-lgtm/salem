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foundational. The key teaching point is that 1 mm of circumferential edema in the subglottic area causes a dramatic reduction in airflow. This is why croup — which is subglottic edema — can produce such significant symptoms in children but barely affects adults. Use this slide to explain why upper airway emergencies are a bigger deal in peds.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money table. The classic boards question is differentiating these entities. Epiglottitis: toxic, drooling, NO cough, tripod position. Croup: barky cough, low-grade fever, hoarse voice, NOT toxic. Bacterial tracheitis is the "croup that doesn't respond to treatment" — think of it when a child with croup-like symptoms is toxic and worsening despite steroids and epinephrine.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Croup is a clinical diagnosis. Imaging should be reserved for atypical presentations, failure to respond to treatment, or concern for foreign body/other diagnosis. The steeple sign is classic but has poor sensitivity. The barky, seal-like cough is pathognomonic. Most cases are mild and respond to a single dose of dexamethasone.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Westley Score: ≤2 = mild, 3-5 = moderate, 6-11 = severe, ≥12 = impending respiratory failure. Most children presenting to the ED have mild-moderate croup. Score helps standardize management and track response to treatment. Key point: any alteration in consciousness or cyanosis immediately makes this severe regardless of other findings.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points: ALL patients with croup get dexamethasone, even mild cases. Evidence strongly supports this. Nebulized epinephrine works within minutes but has a rebound effect — the child may worsen after 1-2 hours, so you must observe. Heliox (70:30 helium-oxygen mix) reduces turbulent flow and can buy time in severe cases but requires FiO2 ≤30%.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Cochrane-level evidence point. Multiple RCTs and meta-analyses confirm that dexamethasone reduces ED returns, hospitalization, and need for additional treatments in ALL severities of croup. Some still use 0.15 mg/kg for mild croup, but 0.6 mg/kg is the standard dose supported by the strongest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teaching point: if you suspect epiglottitis, do NOT do anything that could agitate the child. No tongue depressors, no IV attempts (yet), no forced supine positioning, no separation from parents. A crying, agitated child can convert a partial airway obstruction to a complete one. Your first call should be to ENT and anesthesia for OR intubation.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emphasizes: controlled airway management is always preferred. The OR with anesthesia and ENT backup is the safest place. But if the child is actively losing the airway in the ED, you cannot wait. Have equipment ready for a surgical airway in case intubation fails — the inflamed, edematous supraglottic structures make intubation extremely difficult.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Bacterial tracheitis is the diagnosis you make when croup treatment fails and the child looks sicker than expected. It requires a high index of suspicion. These children often need intubation — not for obstruction, but to manage the thick secretions and pseudomembranes. It is an ICU-level diagnosis.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Disposition is one of the most important decisions. The 2-hour observation period after nebulized epinephrine is non-negotiable — rebound can cause significant worsening. For mild croup discharged from the ED, give clear return precautions: worsening stridor, difficulty breathing, drooling, color change, decreased oral intake.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commonly tested board pitfall: examining the throat in suspected epiglottitis. The most common clinical pitfall: not giving dexamethasone to mild croup because "they look fine." The most dangerous pitfall: assuming all stridor is benign viral croup and missing a surgical emergency.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croup case. Teaching points: 1) Westley score of 4 = moderate = needs epinephrine in addition to dexamethasone. 2) The rapid response to epinephrine is expected — but you MUST wait for the observation period. 3) Discharge criteria: no stridor at rest, tolerating PO, no respiratory distress, adequate observation time post-epinephrine.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08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Croup, Epiglottitis, and Upper Airway Obstruction</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Recognition, Differentiation, and Emergency Management in PEM</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Differentiate croup, epiglottitis, bacterial tracheitis, and foreign body aspiration</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Apply the Westley Croup Score to guide management decisions</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Execute stepwise croup treatment: dexamethasone, nebulized epinephrine</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Recognize epiglottitis as a life-threatening emergency requiring immediate airway management</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Identify red flags for impending complete airway obstruction</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73152"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0"/>
            <a:ext cx="3200400" cy="2286000"/>
          </a:xfrm>
          <a:prstGeom prst="rect">
            <a:avLst/>
          </a:prstGeom>
          <a:noFill/>
        </p:spPr>
        <p:txBody>
          <a:bodyPr wrap="square">
            <a:spAutoFit/>
          </a:bodyPr>
          <a:lstStyle/>
          <a:p>
            <a:pPr algn="l">
              <a:defRPr sz="3000" b="1">
                <a:solidFill>
                  <a:srgbClr val="FFFFFF"/>
                </a:solidFill>
                <a:latin typeface="Calibri"/>
              </a:defRPr>
            </a:pPr>
            <a:r>
              <a:t>Upper Airway</a:t>
            </a:r>
            <a:br/>
            <a:r>
              <a:t>Anatomy &amp; Approach</a:t>
            </a:r>
          </a:p>
        </p:txBody>
      </p:sp>
      <p:sp>
        <p:nvSpPr>
          <p:cNvPr id="5" name="TextBox 4"/>
          <p:cNvSpPr txBox="1"/>
          <p:nvPr/>
        </p:nvSpPr>
        <p:spPr>
          <a:xfrm>
            <a:off x="4754880" y="2743200"/>
            <a:ext cx="6858000" cy="1828800"/>
          </a:xfrm>
          <a:prstGeom prst="rect">
            <a:avLst/>
          </a:prstGeom>
          <a:noFill/>
        </p:spPr>
        <p:txBody>
          <a:bodyPr wrap="square">
            <a:spAutoFit/>
          </a:bodyPr>
          <a:lstStyle/>
          <a:p>
            <a:pPr algn="l">
              <a:defRPr sz="1600">
                <a:solidFill>
                  <a:srgbClr val="3D4455"/>
                </a:solidFill>
                <a:latin typeface="Calibri"/>
              </a:defRPr>
            </a:pPr>
            <a:r>
              <a:t>Why children are uniquely vulnerable to upper airway obstruction</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Pediatric Airway: Why Children Are Different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Cricoid ring is the narrowest point (unlike adults where it is the glottis)</a:t>
            </a:r>
          </a:p>
          <a:p>
            <a:pPr>
              <a:spcBef>
                <a:spcPts val="400"/>
              </a:spcBef>
              <a:spcAft>
                <a:spcPts val="600"/>
              </a:spcAft>
              <a:defRPr sz="1600">
                <a:solidFill>
                  <a:srgbClr val="3D4455"/>
                </a:solidFill>
                <a:latin typeface="Calibri"/>
              </a:defRPr>
            </a:pPr>
            <a:r>
              <a:t>1 mm of edema reduces cross-sectional area by ~60% in an infant</a:t>
            </a:r>
          </a:p>
          <a:p>
            <a:pPr>
              <a:spcBef>
                <a:spcPts val="400"/>
              </a:spcBef>
              <a:spcAft>
                <a:spcPts val="600"/>
              </a:spcAft>
              <a:defRPr sz="1600">
                <a:solidFill>
                  <a:srgbClr val="3D4455"/>
                </a:solidFill>
                <a:latin typeface="Calibri"/>
              </a:defRPr>
            </a:pPr>
            <a:r>
              <a:t>Larger tongue relative to oral cavity — contributes to obstruction</a:t>
            </a:r>
          </a:p>
          <a:p>
            <a:pPr>
              <a:spcBef>
                <a:spcPts val="400"/>
              </a:spcBef>
              <a:spcAft>
                <a:spcPts val="600"/>
              </a:spcAft>
              <a:defRPr sz="1600">
                <a:solidFill>
                  <a:srgbClr val="3D4455"/>
                </a:solidFill>
                <a:latin typeface="Calibri"/>
              </a:defRPr>
            </a:pPr>
            <a:r>
              <a:t>Higher, more anterior larynx (C3-C4 vs C5-C6 in adults)</a:t>
            </a:r>
          </a:p>
          <a:p>
            <a:pPr>
              <a:spcBef>
                <a:spcPts val="400"/>
              </a:spcBef>
              <a:spcAft>
                <a:spcPts val="600"/>
              </a:spcAft>
              <a:defRPr sz="1600">
                <a:solidFill>
                  <a:srgbClr val="3D4455"/>
                </a:solidFill>
                <a:latin typeface="Calibri"/>
              </a:defRPr>
            </a:pPr>
            <a:r>
              <a:t>Shorter trachea — higher risk of mainstem intubation</a:t>
            </a:r>
          </a:p>
          <a:p>
            <a:pPr>
              <a:spcBef>
                <a:spcPts val="400"/>
              </a:spcBef>
              <a:spcAft>
                <a:spcPts val="600"/>
              </a:spcAft>
              <a:defRPr sz="1600">
                <a:solidFill>
                  <a:srgbClr val="3D4455"/>
                </a:solidFill>
                <a:latin typeface="Calibri"/>
              </a:defRPr>
            </a:pPr>
            <a:r>
              <a:t>Obligate nasal breathers under 4-6 months</a:t>
            </a:r>
          </a:p>
          <a:p>
            <a:pPr lvl="1">
              <a:spcBef>
                <a:spcPts val="400"/>
              </a:spcBef>
              <a:spcAft>
                <a:spcPts val="600"/>
              </a:spcAft>
              <a:defRPr sz="1400">
                <a:solidFill>
                  <a:srgbClr val="8A92A3"/>
                </a:solidFill>
                <a:latin typeface="Calibri"/>
              </a:defRPr>
            </a:pPr>
            <a:r>
              <a:t>The pediatric airway is anatomically set up to obstruct — small changes cause big problems</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Differential Diagnosis of Stridor in Children</a:t>
            </a:r>
          </a:p>
        </p:txBody>
      </p:sp>
      <p:graphicFrame>
        <p:nvGraphicFramePr>
          <p:cNvPr id="5" name="Table 4"/>
          <p:cNvGraphicFramePr>
            <a:graphicFrameLocks noGrp="1"/>
          </p:cNvGraphicFramePr>
          <p:nvPr/>
        </p:nvGraphicFramePr>
        <p:xfrm>
          <a:off x="822960" y="1280160"/>
          <a:ext cx="10515600" cy="411480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457200">
                <a:tc>
                  <a:txBody>
                    <a:bodyPr/>
                    <a:lstStyle/>
                    <a:p>
                      <a:pPr algn="ctr">
                        <a:defRPr sz="1300" b="1">
                          <a:solidFill>
                            <a:srgbClr val="FFFFFF"/>
                          </a:solidFill>
                          <a:latin typeface="Calibri"/>
                        </a:defRPr>
                      </a:pPr>
                      <a:r>
                        <a:t>Feature</a:t>
                      </a:r>
                    </a:p>
                  </a:txBody>
                  <a:tcPr>
                    <a:solidFill>
                      <a:srgbClr val="007B83"/>
                    </a:solidFill>
                  </a:tcPr>
                </a:tc>
                <a:tc>
                  <a:txBody>
                    <a:bodyPr/>
                    <a:lstStyle/>
                    <a:p>
                      <a:pPr algn="ctr">
                        <a:defRPr sz="1300" b="1">
                          <a:solidFill>
                            <a:srgbClr val="FFFFFF"/>
                          </a:solidFill>
                          <a:latin typeface="Calibri"/>
                        </a:defRPr>
                      </a:pPr>
                      <a:r>
                        <a:t>Croup</a:t>
                      </a:r>
                    </a:p>
                  </a:txBody>
                  <a:tcPr>
                    <a:solidFill>
                      <a:srgbClr val="007B83"/>
                    </a:solidFill>
                  </a:tcPr>
                </a:tc>
                <a:tc>
                  <a:txBody>
                    <a:bodyPr/>
                    <a:lstStyle/>
                    <a:p>
                      <a:pPr algn="ctr">
                        <a:defRPr sz="1300" b="1">
                          <a:solidFill>
                            <a:srgbClr val="FFFFFF"/>
                          </a:solidFill>
                          <a:latin typeface="Calibri"/>
                        </a:defRPr>
                      </a:pPr>
                      <a:r>
                        <a:t>Epiglottitis</a:t>
                      </a:r>
                    </a:p>
                  </a:txBody>
                  <a:tcPr>
                    <a:solidFill>
                      <a:srgbClr val="007B83"/>
                    </a:solidFill>
                  </a:tcPr>
                </a:tc>
                <a:tc>
                  <a:txBody>
                    <a:bodyPr/>
                    <a:lstStyle/>
                    <a:p>
                      <a:pPr algn="ctr">
                        <a:defRPr sz="1300" b="1">
                          <a:solidFill>
                            <a:srgbClr val="FFFFFF"/>
                          </a:solidFill>
                          <a:latin typeface="Calibri"/>
                        </a:defRPr>
                      </a:pPr>
                      <a:r>
                        <a:t>Bacterial Tracheitis</a:t>
                      </a:r>
                    </a:p>
                  </a:txBody>
                  <a:tcPr>
                    <a:solidFill>
                      <a:srgbClr val="007B83"/>
                    </a:solidFill>
                  </a:tcPr>
                </a:tc>
                <a:tc>
                  <a:txBody>
                    <a:bodyPr/>
                    <a:lstStyle/>
                    <a:p>
                      <a:pPr algn="ctr">
                        <a:defRPr sz="1300" b="1">
                          <a:solidFill>
                            <a:srgbClr val="FFFFFF"/>
                          </a:solidFill>
                          <a:latin typeface="Calibri"/>
                        </a:defRPr>
                      </a:pPr>
                      <a:r>
                        <a:t>Foreign Body</a:t>
                      </a:r>
                    </a:p>
                  </a:txBody>
                  <a:tcPr>
                    <a:solidFill>
                      <a:srgbClr val="007B83"/>
                    </a:solidFill>
                  </a:tcPr>
                </a:tc>
                <a:tc>
                  <a:txBody>
                    <a:bodyPr/>
                    <a:lstStyle/>
                    <a:p>
                      <a:pPr algn="ctr">
                        <a:defRPr sz="1300" b="1">
                          <a:solidFill>
                            <a:srgbClr val="FFFFFF"/>
                          </a:solidFill>
                          <a:latin typeface="Calibri"/>
                        </a:defRPr>
                      </a:pPr>
                      <a:r>
                        <a:t>Peritonsillar Abscess</a:t>
                      </a:r>
                    </a:p>
                  </a:txBody>
                  <a:tcPr>
                    <a:solidFill>
                      <a:srgbClr val="007B83"/>
                    </a:solidFill>
                  </a:tcPr>
                </a:tc>
              </a:tr>
              <a:tr h="457200">
                <a:tc>
                  <a:txBody>
                    <a:bodyPr/>
                    <a:lstStyle/>
                    <a:p>
                      <a:pPr algn="l">
                        <a:defRPr sz="1200">
                          <a:solidFill>
                            <a:srgbClr val="3D4455"/>
                          </a:solidFill>
                          <a:latin typeface="Calibri"/>
                        </a:defRPr>
                      </a:pPr>
                      <a:r>
                        <a:t>Age</a:t>
                      </a:r>
                    </a:p>
                  </a:txBody>
                  <a:tcPr>
                    <a:solidFill>
                      <a:srgbClr val="F5F6FA"/>
                    </a:solidFill>
                  </a:tcPr>
                </a:tc>
                <a:tc>
                  <a:txBody>
                    <a:bodyPr/>
                    <a:lstStyle/>
                    <a:p>
                      <a:pPr algn="l">
                        <a:defRPr sz="1200">
                          <a:solidFill>
                            <a:srgbClr val="3D4455"/>
                          </a:solidFill>
                          <a:latin typeface="Calibri"/>
                        </a:defRPr>
                      </a:pPr>
                      <a:r>
                        <a:t>6mo-3yr</a:t>
                      </a:r>
                    </a:p>
                  </a:txBody>
                  <a:tcPr>
                    <a:solidFill>
                      <a:srgbClr val="F5F6FA"/>
                    </a:solidFill>
                  </a:tcPr>
                </a:tc>
                <a:tc>
                  <a:txBody>
                    <a:bodyPr/>
                    <a:lstStyle/>
                    <a:p>
                      <a:pPr algn="l">
                        <a:defRPr sz="1200">
                          <a:solidFill>
                            <a:srgbClr val="3D4455"/>
                          </a:solidFill>
                          <a:latin typeface="Calibri"/>
                        </a:defRPr>
                      </a:pPr>
                      <a:r>
                        <a:t>2-7yr (unvacc)</a:t>
                      </a:r>
                    </a:p>
                  </a:txBody>
                  <a:tcPr>
                    <a:solidFill>
                      <a:srgbClr val="F5F6FA"/>
                    </a:solidFill>
                  </a:tcPr>
                </a:tc>
                <a:tc>
                  <a:txBody>
                    <a:bodyPr/>
                    <a:lstStyle/>
                    <a:p>
                      <a:pPr algn="l">
                        <a:defRPr sz="1200">
                          <a:solidFill>
                            <a:srgbClr val="3D4455"/>
                          </a:solidFill>
                          <a:latin typeface="Calibri"/>
                        </a:defRPr>
                      </a:pPr>
                      <a:r>
                        <a:t>Any (mean 4yr)</a:t>
                      </a:r>
                    </a:p>
                  </a:txBody>
                  <a:tcPr>
                    <a:solidFill>
                      <a:srgbClr val="F5F6FA"/>
                    </a:solidFill>
                  </a:tcPr>
                </a:tc>
                <a:tc>
                  <a:txBody>
                    <a:bodyPr/>
                    <a:lstStyle/>
                    <a:p>
                      <a:pPr algn="l">
                        <a:defRPr sz="1200">
                          <a:solidFill>
                            <a:srgbClr val="3D4455"/>
                          </a:solidFill>
                          <a:latin typeface="Calibri"/>
                        </a:defRPr>
                      </a:pPr>
                      <a:r>
                        <a:t>6mo-3yr</a:t>
                      </a:r>
                    </a:p>
                  </a:txBody>
                  <a:tcPr>
                    <a:solidFill>
                      <a:srgbClr val="F5F6FA"/>
                    </a:solidFill>
                  </a:tcPr>
                </a:tc>
                <a:tc>
                  <a:txBody>
                    <a:bodyPr/>
                    <a:lstStyle/>
                    <a:p>
                      <a:pPr algn="l">
                        <a:defRPr sz="1200">
                          <a:solidFill>
                            <a:srgbClr val="3D4455"/>
                          </a:solidFill>
                          <a:latin typeface="Calibri"/>
                        </a:defRPr>
                      </a:pPr>
                      <a:r>
                        <a:t>Adolescents</a:t>
                      </a:r>
                    </a:p>
                  </a:txBody>
                  <a:tcPr>
                    <a:solidFill>
                      <a:srgbClr val="F5F6FA"/>
                    </a:solidFill>
                  </a:tcPr>
                </a:tc>
              </a:tr>
              <a:tr h="457200">
                <a:tc>
                  <a:txBody>
                    <a:bodyPr/>
                    <a:lstStyle/>
                    <a:p>
                      <a:pPr algn="l">
                        <a:defRPr sz="1200">
                          <a:solidFill>
                            <a:srgbClr val="3D4455"/>
                          </a:solidFill>
                          <a:latin typeface="Calibri"/>
                        </a:defRPr>
                      </a:pPr>
                      <a:r>
                        <a:t>Onset</a:t>
                      </a:r>
                    </a:p>
                  </a:txBody>
                  <a:tcPr>
                    <a:solidFill>
                      <a:srgbClr val="FFFFFF"/>
                    </a:solidFill>
                  </a:tcPr>
                </a:tc>
                <a:tc>
                  <a:txBody>
                    <a:bodyPr/>
                    <a:lstStyle/>
                    <a:p>
                      <a:pPr algn="l">
                        <a:defRPr sz="1200">
                          <a:solidFill>
                            <a:srgbClr val="3D4455"/>
                          </a:solidFill>
                          <a:latin typeface="Calibri"/>
                        </a:defRPr>
                      </a:pPr>
                      <a:r>
                        <a:t>Gradual, 1-2 days</a:t>
                      </a:r>
                    </a:p>
                  </a:txBody>
                  <a:tcPr>
                    <a:solidFill>
                      <a:srgbClr val="FFFFFF"/>
                    </a:solidFill>
                  </a:tcPr>
                </a:tc>
                <a:tc>
                  <a:txBody>
                    <a:bodyPr/>
                    <a:lstStyle/>
                    <a:p>
                      <a:pPr algn="l">
                        <a:defRPr sz="1200">
                          <a:solidFill>
                            <a:srgbClr val="3D4455"/>
                          </a:solidFill>
                          <a:latin typeface="Calibri"/>
                        </a:defRPr>
                      </a:pPr>
                      <a:r>
                        <a:t>Rapid, hours</a:t>
                      </a:r>
                    </a:p>
                  </a:txBody>
                  <a:tcPr>
                    <a:solidFill>
                      <a:srgbClr val="FFFFFF"/>
                    </a:solidFill>
                  </a:tcPr>
                </a:tc>
                <a:tc>
                  <a:txBody>
                    <a:bodyPr/>
                    <a:lstStyle/>
                    <a:p>
                      <a:pPr algn="l">
                        <a:defRPr sz="1200">
                          <a:solidFill>
                            <a:srgbClr val="3D4455"/>
                          </a:solidFill>
                          <a:latin typeface="Calibri"/>
                        </a:defRPr>
                      </a:pPr>
                      <a:r>
                        <a:t>Days (after URI)</a:t>
                      </a:r>
                    </a:p>
                  </a:txBody>
                  <a:tcPr>
                    <a:solidFill>
                      <a:srgbClr val="FFFFFF"/>
                    </a:solidFill>
                  </a:tcPr>
                </a:tc>
                <a:tc>
                  <a:txBody>
                    <a:bodyPr/>
                    <a:lstStyle/>
                    <a:p>
                      <a:pPr algn="l">
                        <a:defRPr sz="1200">
                          <a:solidFill>
                            <a:srgbClr val="3D4455"/>
                          </a:solidFill>
                          <a:latin typeface="Calibri"/>
                        </a:defRPr>
                      </a:pPr>
                      <a:r>
                        <a:t>Sudden</a:t>
                      </a:r>
                    </a:p>
                  </a:txBody>
                  <a:tcPr>
                    <a:solidFill>
                      <a:srgbClr val="FFFFFF"/>
                    </a:solidFill>
                  </a:tcPr>
                </a:tc>
                <a:tc>
                  <a:txBody>
                    <a:bodyPr/>
                    <a:lstStyle/>
                    <a:p>
                      <a:pPr algn="l">
                        <a:defRPr sz="1200">
                          <a:solidFill>
                            <a:srgbClr val="3D4455"/>
                          </a:solidFill>
                          <a:latin typeface="Calibri"/>
                        </a:defRPr>
                      </a:pPr>
                      <a:r>
                        <a:t>Days</a:t>
                      </a:r>
                    </a:p>
                  </a:txBody>
                  <a:tcPr>
                    <a:solidFill>
                      <a:srgbClr val="FFFFFF"/>
                    </a:solidFill>
                  </a:tcPr>
                </a:tc>
              </a:tr>
              <a:tr h="457200">
                <a:tc>
                  <a:txBody>
                    <a:bodyPr/>
                    <a:lstStyle/>
                    <a:p>
                      <a:pPr algn="l">
                        <a:defRPr sz="1200">
                          <a:solidFill>
                            <a:srgbClr val="3D4455"/>
                          </a:solidFill>
                          <a:latin typeface="Calibri"/>
                        </a:defRPr>
                      </a:pPr>
                      <a:r>
                        <a:t>Fever</a:t>
                      </a:r>
                    </a:p>
                  </a:txBody>
                  <a:tcPr>
                    <a:solidFill>
                      <a:srgbClr val="F5F6FA"/>
                    </a:solidFill>
                  </a:tcPr>
                </a:tc>
                <a:tc>
                  <a:txBody>
                    <a:bodyPr/>
                    <a:lstStyle/>
                    <a:p>
                      <a:pPr algn="l">
                        <a:defRPr sz="1200">
                          <a:solidFill>
                            <a:srgbClr val="3D4455"/>
                          </a:solidFill>
                          <a:latin typeface="Calibri"/>
                        </a:defRPr>
                      </a:pPr>
                      <a:r>
                        <a:t>Low-grade</a:t>
                      </a:r>
                    </a:p>
                  </a:txBody>
                  <a:tcPr>
                    <a:solidFill>
                      <a:srgbClr val="F5F6FA"/>
                    </a:solidFill>
                  </a:tcPr>
                </a:tc>
                <a:tc>
                  <a:txBody>
                    <a:bodyPr/>
                    <a:lstStyle/>
                    <a:p>
                      <a:pPr algn="l">
                        <a:defRPr sz="1200">
                          <a:solidFill>
                            <a:srgbClr val="3D4455"/>
                          </a:solidFill>
                          <a:latin typeface="Calibri"/>
                        </a:defRPr>
                      </a:pPr>
                      <a:r>
                        <a:t>High (&gt;39°C)</a:t>
                      </a:r>
                    </a:p>
                  </a:txBody>
                  <a:tcPr>
                    <a:solidFill>
                      <a:srgbClr val="F5F6FA"/>
                    </a:solidFill>
                  </a:tcPr>
                </a:tc>
                <a:tc>
                  <a:txBody>
                    <a:bodyPr/>
                    <a:lstStyle/>
                    <a:p>
                      <a:pPr algn="l">
                        <a:defRPr sz="1200">
                          <a:solidFill>
                            <a:srgbClr val="3D4455"/>
                          </a:solidFill>
                          <a:latin typeface="Calibri"/>
                        </a:defRPr>
                      </a:pPr>
                      <a:r>
                        <a:t>High</a:t>
                      </a:r>
                    </a:p>
                  </a:txBody>
                  <a:tcPr>
                    <a:solidFill>
                      <a:srgbClr val="F5F6FA"/>
                    </a:solidFill>
                  </a:tcPr>
                </a:tc>
                <a:tc>
                  <a:txBody>
                    <a:bodyPr/>
                    <a:lstStyle/>
                    <a:p>
                      <a:pPr algn="l">
                        <a:defRPr sz="1200">
                          <a:solidFill>
                            <a:srgbClr val="3D4455"/>
                          </a:solidFill>
                          <a:latin typeface="Calibri"/>
                        </a:defRPr>
                      </a:pPr>
                      <a:r>
                        <a:t>None</a:t>
                      </a:r>
                    </a:p>
                  </a:txBody>
                  <a:tcPr>
                    <a:solidFill>
                      <a:srgbClr val="F5F6FA"/>
                    </a:solidFill>
                  </a:tcPr>
                </a:tc>
                <a:tc>
                  <a:txBody>
                    <a:bodyPr/>
                    <a:lstStyle/>
                    <a:p>
                      <a:pPr algn="l">
                        <a:defRPr sz="1200">
                          <a:solidFill>
                            <a:srgbClr val="3D4455"/>
                          </a:solidFill>
                          <a:latin typeface="Calibri"/>
                        </a:defRPr>
                      </a:pPr>
                      <a:r>
                        <a:t>Moderate-high</a:t>
                      </a:r>
                    </a:p>
                  </a:txBody>
                  <a:tcPr>
                    <a:solidFill>
                      <a:srgbClr val="F5F6FA"/>
                    </a:solidFill>
                  </a:tcPr>
                </a:tc>
              </a:tr>
              <a:tr h="457200">
                <a:tc>
                  <a:txBody>
                    <a:bodyPr/>
                    <a:lstStyle/>
                    <a:p>
                      <a:pPr algn="l">
                        <a:defRPr sz="1200">
                          <a:solidFill>
                            <a:srgbClr val="3D4455"/>
                          </a:solidFill>
                          <a:latin typeface="Calibri"/>
                        </a:defRPr>
                      </a:pPr>
                      <a:r>
                        <a:t>Cough</a:t>
                      </a:r>
                    </a:p>
                  </a:txBody>
                  <a:tcPr>
                    <a:solidFill>
                      <a:srgbClr val="FFFFFF"/>
                    </a:solidFill>
                  </a:tcPr>
                </a:tc>
                <a:tc>
                  <a:txBody>
                    <a:bodyPr/>
                    <a:lstStyle/>
                    <a:p>
                      <a:pPr algn="l">
                        <a:defRPr sz="1200">
                          <a:solidFill>
                            <a:srgbClr val="3D4455"/>
                          </a:solidFill>
                          <a:latin typeface="Calibri"/>
                        </a:defRPr>
                      </a:pPr>
                      <a:r>
                        <a:t>Barky, seal-like</a:t>
                      </a:r>
                    </a:p>
                  </a:txBody>
                  <a:tcPr>
                    <a:solidFill>
                      <a:srgbClr val="FFFFFF"/>
                    </a:solidFill>
                  </a:tcPr>
                </a:tc>
                <a:tc>
                  <a:txBody>
                    <a:bodyPr/>
                    <a:lstStyle/>
                    <a:p>
                      <a:pPr algn="l">
                        <a:defRPr sz="1200">
                          <a:solidFill>
                            <a:srgbClr val="3D4455"/>
                          </a:solidFill>
                          <a:latin typeface="Calibri"/>
                        </a:defRPr>
                      </a:pPr>
                      <a:r>
                        <a:t>None/minimal</a:t>
                      </a:r>
                    </a:p>
                  </a:txBody>
                  <a:tcPr>
                    <a:solidFill>
                      <a:srgbClr val="FFFFFF"/>
                    </a:solidFill>
                  </a:tcPr>
                </a:tc>
                <a:tc>
                  <a:txBody>
                    <a:bodyPr/>
                    <a:lstStyle/>
                    <a:p>
                      <a:pPr algn="l">
                        <a:defRPr sz="1200">
                          <a:solidFill>
                            <a:srgbClr val="3D4455"/>
                          </a:solidFill>
                          <a:latin typeface="Calibri"/>
                        </a:defRPr>
                      </a:pPr>
                      <a:r>
                        <a:t>Productive</a:t>
                      </a:r>
                    </a:p>
                  </a:txBody>
                  <a:tcPr>
                    <a:solidFill>
                      <a:srgbClr val="FFFFFF"/>
                    </a:solidFill>
                  </a:tcPr>
                </a:tc>
                <a:tc>
                  <a:txBody>
                    <a:bodyPr/>
                    <a:lstStyle/>
                    <a:p>
                      <a:pPr algn="l">
                        <a:defRPr sz="1200">
                          <a:solidFill>
                            <a:srgbClr val="3D4455"/>
                          </a:solidFill>
                          <a:latin typeface="Calibri"/>
                        </a:defRPr>
                      </a:pPr>
                      <a:r>
                        <a:t>Sudden onset</a:t>
                      </a:r>
                    </a:p>
                  </a:txBody>
                  <a:tcPr>
                    <a:solidFill>
                      <a:srgbClr val="FFFFFF"/>
                    </a:solidFill>
                  </a:tcPr>
                </a:tc>
                <a:tc>
                  <a:txBody>
                    <a:bodyPr/>
                    <a:lstStyle/>
                    <a:p>
                      <a:pPr algn="l">
                        <a:defRPr sz="1200">
                          <a:solidFill>
                            <a:srgbClr val="3D4455"/>
                          </a:solidFill>
                          <a:latin typeface="Calibri"/>
                        </a:defRPr>
                      </a:pPr>
                      <a:r>
                        <a:t>Minimal</a:t>
                      </a:r>
                    </a:p>
                  </a:txBody>
                  <a:tcPr>
                    <a:solidFill>
                      <a:srgbClr val="FFFFFF"/>
                    </a:solidFill>
                  </a:tcPr>
                </a:tc>
              </a:tr>
              <a:tr h="457200">
                <a:tc>
                  <a:txBody>
                    <a:bodyPr/>
                    <a:lstStyle/>
                    <a:p>
                      <a:pPr algn="l">
                        <a:defRPr sz="1200">
                          <a:solidFill>
                            <a:srgbClr val="3D4455"/>
                          </a:solidFill>
                          <a:latin typeface="Calibri"/>
                        </a:defRPr>
                      </a:pPr>
                      <a:r>
                        <a:t>Drooling</a:t>
                      </a:r>
                    </a:p>
                  </a:txBody>
                  <a:tcPr>
                    <a:solidFill>
                      <a:srgbClr val="F5F6FA"/>
                    </a:solidFill>
                  </a:tcPr>
                </a:tc>
                <a:tc>
                  <a:txBody>
                    <a:bodyPr/>
                    <a:lstStyle/>
                    <a:p>
                      <a:pPr algn="l">
                        <a:defRPr sz="1200">
                          <a:solidFill>
                            <a:srgbClr val="3D4455"/>
                          </a:solidFill>
                          <a:latin typeface="Calibri"/>
                        </a:defRPr>
                      </a:pPr>
                      <a:r>
                        <a:t>No</a:t>
                      </a:r>
                    </a:p>
                  </a:txBody>
                  <a:tcPr>
                    <a:solidFill>
                      <a:srgbClr val="F5F6FA"/>
                    </a:solidFill>
                  </a:tcPr>
                </a:tc>
                <a:tc>
                  <a:txBody>
                    <a:bodyPr/>
                    <a:lstStyle/>
                    <a:p>
                      <a:pPr algn="l">
                        <a:defRPr sz="1200">
                          <a:solidFill>
                            <a:srgbClr val="3D4455"/>
                          </a:solidFill>
                          <a:latin typeface="Calibri"/>
                        </a:defRPr>
                      </a:pPr>
                      <a:r>
                        <a:t>YES — classic</a:t>
                      </a:r>
                    </a:p>
                  </a:txBody>
                  <a:tcPr>
                    <a:solidFill>
                      <a:srgbClr val="F5F6FA"/>
                    </a:solidFill>
                  </a:tcPr>
                </a:tc>
                <a:tc>
                  <a:txBody>
                    <a:bodyPr/>
                    <a:lstStyle/>
                    <a:p>
                      <a:pPr algn="l">
                        <a:defRPr sz="1200">
                          <a:solidFill>
                            <a:srgbClr val="3D4455"/>
                          </a:solidFill>
                          <a:latin typeface="Calibri"/>
                        </a:defRPr>
                      </a:pPr>
                      <a:r>
                        <a:t>Variable</a:t>
                      </a:r>
                    </a:p>
                  </a:txBody>
                  <a:tcPr>
                    <a:solidFill>
                      <a:srgbClr val="F5F6FA"/>
                    </a:solidFill>
                  </a:tcPr>
                </a:tc>
                <a:tc>
                  <a:txBody>
                    <a:bodyPr/>
                    <a:lstStyle/>
                    <a:p>
                      <a:pPr algn="l">
                        <a:defRPr sz="1200">
                          <a:solidFill>
                            <a:srgbClr val="3D4455"/>
                          </a:solidFill>
                          <a:latin typeface="Calibri"/>
                        </a:defRPr>
                      </a:pPr>
                      <a:r>
                        <a:t>Variable</a:t>
                      </a:r>
                    </a:p>
                  </a:txBody>
                  <a:tcPr>
                    <a:solidFill>
                      <a:srgbClr val="F5F6FA"/>
                    </a:solidFill>
                  </a:tcPr>
                </a:tc>
                <a:tc>
                  <a:txBody>
                    <a:bodyPr/>
                    <a:lstStyle/>
                    <a:p>
                      <a:pPr algn="l">
                        <a:defRPr sz="1200">
                          <a:solidFill>
                            <a:srgbClr val="3D4455"/>
                          </a:solidFill>
                          <a:latin typeface="Calibri"/>
                        </a:defRPr>
                      </a:pPr>
                      <a:r>
                        <a:t>Yes</a:t>
                      </a:r>
                    </a:p>
                  </a:txBody>
                  <a:tcPr>
                    <a:solidFill>
                      <a:srgbClr val="F5F6FA"/>
                    </a:solidFill>
                  </a:tcPr>
                </a:tc>
              </a:tr>
              <a:tr h="457200">
                <a:tc>
                  <a:txBody>
                    <a:bodyPr/>
                    <a:lstStyle/>
                    <a:p>
                      <a:pPr algn="l">
                        <a:defRPr sz="1200">
                          <a:solidFill>
                            <a:srgbClr val="3D4455"/>
                          </a:solidFill>
                          <a:latin typeface="Calibri"/>
                        </a:defRPr>
                      </a:pPr>
                      <a:r>
                        <a:t>Position</a:t>
                      </a:r>
                    </a:p>
                  </a:txBody>
                  <a:tcPr>
                    <a:solidFill>
                      <a:srgbClr val="FFFFFF"/>
                    </a:solidFill>
                  </a:tcPr>
                </a:tc>
                <a:tc>
                  <a:txBody>
                    <a:bodyPr/>
                    <a:lstStyle/>
                    <a:p>
                      <a:pPr algn="l">
                        <a:defRPr sz="1200">
                          <a:solidFill>
                            <a:srgbClr val="3D4455"/>
                          </a:solidFill>
                          <a:latin typeface="Calibri"/>
                        </a:defRPr>
                      </a:pPr>
                      <a:r>
                        <a:t>Any</a:t>
                      </a:r>
                    </a:p>
                  </a:txBody>
                  <a:tcPr>
                    <a:solidFill>
                      <a:srgbClr val="FFFFFF"/>
                    </a:solidFill>
                  </a:tcPr>
                </a:tc>
                <a:tc>
                  <a:txBody>
                    <a:bodyPr/>
                    <a:lstStyle/>
                    <a:p>
                      <a:pPr algn="l">
                        <a:defRPr sz="1200">
                          <a:solidFill>
                            <a:srgbClr val="3D4455"/>
                          </a:solidFill>
                          <a:latin typeface="Calibri"/>
                        </a:defRPr>
                      </a:pPr>
                      <a:r>
                        <a:t>Tripod/sniffing</a:t>
                      </a:r>
                    </a:p>
                  </a:txBody>
                  <a:tcPr>
                    <a:solidFill>
                      <a:srgbClr val="FFFFFF"/>
                    </a:solidFill>
                  </a:tcPr>
                </a:tc>
                <a:tc>
                  <a:txBody>
                    <a:bodyPr/>
                    <a:lstStyle/>
                    <a:p>
                      <a:pPr algn="l">
                        <a:defRPr sz="1200">
                          <a:solidFill>
                            <a:srgbClr val="3D4455"/>
                          </a:solidFill>
                          <a:latin typeface="Calibri"/>
                        </a:defRPr>
                      </a:pPr>
                      <a:r>
                        <a:t>Any</a:t>
                      </a:r>
                    </a:p>
                  </a:txBody>
                  <a:tcPr>
                    <a:solidFill>
                      <a:srgbClr val="FFFFFF"/>
                    </a:solidFill>
                  </a:tcPr>
                </a:tc>
                <a:tc>
                  <a:txBody>
                    <a:bodyPr/>
                    <a:lstStyle/>
                    <a:p>
                      <a:pPr algn="l">
                        <a:defRPr sz="1200">
                          <a:solidFill>
                            <a:srgbClr val="3D4455"/>
                          </a:solidFill>
                          <a:latin typeface="Calibri"/>
                        </a:defRPr>
                      </a:pPr>
                      <a:r>
                        <a:t>Any</a:t>
                      </a:r>
                    </a:p>
                  </a:txBody>
                  <a:tcPr>
                    <a:solidFill>
                      <a:srgbClr val="FFFFFF"/>
                    </a:solidFill>
                  </a:tcPr>
                </a:tc>
                <a:tc>
                  <a:txBody>
                    <a:bodyPr/>
                    <a:lstStyle/>
                    <a:p>
                      <a:pPr algn="l">
                        <a:defRPr sz="1200">
                          <a:solidFill>
                            <a:srgbClr val="3D4455"/>
                          </a:solidFill>
                          <a:latin typeface="Calibri"/>
                        </a:defRPr>
                      </a:pPr>
                      <a:r>
                        <a:t>Any</a:t>
                      </a:r>
                    </a:p>
                  </a:txBody>
                  <a:tcPr>
                    <a:solidFill>
                      <a:srgbClr val="FFFFFF"/>
                    </a:solidFill>
                  </a:tcPr>
                </a:tc>
              </a:tr>
              <a:tr h="457200">
                <a:tc>
                  <a:txBody>
                    <a:bodyPr/>
                    <a:lstStyle/>
                    <a:p>
                      <a:pPr algn="l">
                        <a:defRPr sz="1200">
                          <a:solidFill>
                            <a:srgbClr val="3D4455"/>
                          </a:solidFill>
                          <a:latin typeface="Calibri"/>
                        </a:defRPr>
                      </a:pPr>
                      <a:r>
                        <a:t>Voice</a:t>
                      </a:r>
                    </a:p>
                  </a:txBody>
                  <a:tcPr>
                    <a:solidFill>
                      <a:srgbClr val="F5F6FA"/>
                    </a:solidFill>
                  </a:tcPr>
                </a:tc>
                <a:tc>
                  <a:txBody>
                    <a:bodyPr/>
                    <a:lstStyle/>
                    <a:p>
                      <a:pPr algn="l">
                        <a:defRPr sz="1200">
                          <a:solidFill>
                            <a:srgbClr val="3D4455"/>
                          </a:solidFill>
                          <a:latin typeface="Calibri"/>
                        </a:defRPr>
                      </a:pPr>
                      <a:r>
                        <a:t>Hoarse</a:t>
                      </a:r>
                    </a:p>
                  </a:txBody>
                  <a:tcPr>
                    <a:solidFill>
                      <a:srgbClr val="F5F6FA"/>
                    </a:solidFill>
                  </a:tcPr>
                </a:tc>
                <a:tc>
                  <a:txBody>
                    <a:bodyPr/>
                    <a:lstStyle/>
                    <a:p>
                      <a:pPr algn="l">
                        <a:defRPr sz="1200">
                          <a:solidFill>
                            <a:srgbClr val="3D4455"/>
                          </a:solidFill>
                          <a:latin typeface="Calibri"/>
                        </a:defRPr>
                      </a:pPr>
                      <a:r>
                        <a:t>Muffled</a:t>
                      </a:r>
                    </a:p>
                  </a:txBody>
                  <a:tcPr>
                    <a:solidFill>
                      <a:srgbClr val="F5F6FA"/>
                    </a:solidFill>
                  </a:tcPr>
                </a:tc>
                <a:tc>
                  <a:txBody>
                    <a:bodyPr/>
                    <a:lstStyle/>
                    <a:p>
                      <a:pPr algn="l">
                        <a:defRPr sz="1200">
                          <a:solidFill>
                            <a:srgbClr val="3D4455"/>
                          </a:solidFill>
                          <a:latin typeface="Calibri"/>
                        </a:defRPr>
                      </a:pPr>
                      <a:r>
                        <a:t>Hoarse</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Hot potato</a:t>
                      </a:r>
                    </a:p>
                  </a:txBody>
                  <a:tcPr>
                    <a:solidFill>
                      <a:srgbClr val="F5F6FA"/>
                    </a:solidFill>
                  </a:tcPr>
                </a:tc>
              </a:tr>
              <a:tr h="457200">
                <a:tc>
                  <a:txBody>
                    <a:bodyPr/>
                    <a:lstStyle/>
                    <a:p>
                      <a:pPr algn="l">
                        <a:defRPr sz="1200">
                          <a:solidFill>
                            <a:srgbClr val="3D4455"/>
                          </a:solidFill>
                          <a:latin typeface="Calibri"/>
                        </a:defRPr>
                      </a:pPr>
                      <a:r>
                        <a:t>Toxic</a:t>
                      </a:r>
                    </a:p>
                  </a:txBody>
                  <a:tcPr>
                    <a:solidFill>
                      <a:srgbClr val="FFFFFF"/>
                    </a:solidFill>
                  </a:tcPr>
                </a:tc>
                <a:tc>
                  <a:txBody>
                    <a:bodyPr/>
                    <a:lstStyle/>
                    <a:p>
                      <a:pPr algn="l">
                        <a:defRPr sz="1200">
                          <a:solidFill>
                            <a:srgbClr val="3D4455"/>
                          </a:solidFill>
                          <a:latin typeface="Calibri"/>
                        </a:defRPr>
                      </a:pPr>
                      <a:r>
                        <a:t>No</a:t>
                      </a:r>
                    </a:p>
                  </a:txBody>
                  <a:tcPr>
                    <a:solidFill>
                      <a:srgbClr val="FFFFFF"/>
                    </a:solidFill>
                  </a:tcPr>
                </a:tc>
                <a:tc>
                  <a:txBody>
                    <a:bodyPr/>
                    <a:lstStyle/>
                    <a:p>
                      <a:pPr algn="l">
                        <a:defRPr sz="1200">
                          <a:solidFill>
                            <a:srgbClr val="3D4455"/>
                          </a:solidFill>
                          <a:latin typeface="Calibri"/>
                        </a:defRPr>
                      </a:pPr>
                      <a:r>
                        <a:t>YES</a:t>
                      </a:r>
                    </a:p>
                  </a:txBody>
                  <a:tcPr>
                    <a:solidFill>
                      <a:srgbClr val="FFFFFF"/>
                    </a:solidFill>
                  </a:tcPr>
                </a:tc>
                <a:tc>
                  <a:txBody>
                    <a:bodyPr/>
                    <a:lstStyle/>
                    <a:p>
                      <a:pPr algn="l">
                        <a:defRPr sz="1200">
                          <a:solidFill>
                            <a:srgbClr val="3D4455"/>
                          </a:solidFill>
                          <a:latin typeface="Calibri"/>
                        </a:defRPr>
                      </a:pPr>
                      <a:r>
                        <a:t>YES</a:t>
                      </a:r>
                    </a:p>
                  </a:txBody>
                  <a:tcPr>
                    <a:solidFill>
                      <a:srgbClr val="FFFFFF"/>
                    </a:solidFill>
                  </a:tcPr>
                </a:tc>
                <a:tc>
                  <a:txBody>
                    <a:bodyPr/>
                    <a:lstStyle/>
                    <a:p>
                      <a:pPr algn="l">
                        <a:defRPr sz="1200">
                          <a:solidFill>
                            <a:srgbClr val="3D4455"/>
                          </a:solidFill>
                          <a:latin typeface="Calibri"/>
                        </a:defRPr>
                      </a:pPr>
                      <a:r>
                        <a:t>No</a:t>
                      </a:r>
                    </a:p>
                  </a:txBody>
                  <a:tcPr>
                    <a:solidFill>
                      <a:srgbClr val="FFFFFF"/>
                    </a:solidFill>
                  </a:tcPr>
                </a:tc>
                <a:tc>
                  <a:txBody>
                    <a:bodyPr/>
                    <a:lstStyle/>
                    <a:p>
                      <a:pPr algn="l">
                        <a:defRPr sz="1200">
                          <a:solidFill>
                            <a:srgbClr val="3D4455"/>
                          </a:solidFill>
                          <a:latin typeface="Calibri"/>
                        </a:defRPr>
                      </a:pPr>
                      <a:r>
                        <a:t>Variable</a:t>
                      </a:r>
                    </a:p>
                  </a:txBody>
                  <a:tcPr>
                    <a:solidFill>
                      <a:srgbClr val="FFFFFF"/>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73152"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0"/>
            <a:ext cx="3200400" cy="2286000"/>
          </a:xfrm>
          <a:prstGeom prst="rect">
            <a:avLst/>
          </a:prstGeom>
          <a:noFill/>
        </p:spPr>
        <p:txBody>
          <a:bodyPr wrap="square">
            <a:spAutoFit/>
          </a:bodyPr>
          <a:lstStyle/>
          <a:p>
            <a:pPr algn="l">
              <a:defRPr sz="3000" b="1">
                <a:solidFill>
                  <a:srgbClr val="FFFFFF"/>
                </a:solidFill>
                <a:latin typeface="Calibri"/>
              </a:defRPr>
            </a:pPr>
            <a:r>
              <a:t>Croup</a:t>
            </a:r>
          </a:p>
        </p:txBody>
      </p:sp>
      <p:sp>
        <p:nvSpPr>
          <p:cNvPr id="5" name="TextBox 4"/>
          <p:cNvSpPr txBox="1"/>
          <p:nvPr/>
        </p:nvSpPr>
        <p:spPr>
          <a:xfrm>
            <a:off x="4754880" y="2743200"/>
            <a:ext cx="6858000" cy="1828800"/>
          </a:xfrm>
          <a:prstGeom prst="rect">
            <a:avLst/>
          </a:prstGeom>
          <a:noFill/>
        </p:spPr>
        <p:txBody>
          <a:bodyPr wrap="square">
            <a:spAutoFit/>
          </a:bodyPr>
          <a:lstStyle/>
          <a:p>
            <a:pPr algn="l">
              <a:defRPr sz="1600">
                <a:solidFill>
                  <a:srgbClr val="3D4455"/>
                </a:solidFill>
                <a:latin typeface="Calibri"/>
              </a:defRPr>
            </a:pPr>
            <a:r>
              <a:t>The most common cause of upper airway obstruction in children</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Croup: Key Facts</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Viral laryngotracheobronchitis — parainfluenza virus most common (75%)</a:t>
            </a:r>
          </a:p>
          <a:p>
            <a:pPr>
              <a:spcBef>
                <a:spcPts val="400"/>
              </a:spcBef>
              <a:spcAft>
                <a:spcPts val="600"/>
              </a:spcAft>
              <a:defRPr sz="1600">
                <a:solidFill>
                  <a:srgbClr val="3D4455"/>
                </a:solidFill>
                <a:latin typeface="Calibri"/>
              </a:defRPr>
            </a:pPr>
            <a:r>
              <a:t>Peak age: 6 months to 3 years (peak at 2 years)</a:t>
            </a:r>
          </a:p>
          <a:p>
            <a:pPr>
              <a:spcBef>
                <a:spcPts val="400"/>
              </a:spcBef>
              <a:spcAft>
                <a:spcPts val="600"/>
              </a:spcAft>
              <a:defRPr sz="1600">
                <a:solidFill>
                  <a:srgbClr val="3D4455"/>
                </a:solidFill>
                <a:latin typeface="Calibri"/>
              </a:defRPr>
            </a:pPr>
            <a:r>
              <a:t>Peak season: fall and early winter</a:t>
            </a:r>
          </a:p>
          <a:p>
            <a:pPr>
              <a:spcBef>
                <a:spcPts val="400"/>
              </a:spcBef>
              <a:spcAft>
                <a:spcPts val="600"/>
              </a:spcAft>
              <a:defRPr sz="1600">
                <a:solidFill>
                  <a:srgbClr val="3D4455"/>
                </a:solidFill>
                <a:latin typeface="Calibri"/>
              </a:defRPr>
            </a:pPr>
            <a:r>
              <a:t>Classic presentation: barky cough, hoarse voice, inspiratory stridor</a:t>
            </a:r>
          </a:p>
          <a:p>
            <a:pPr>
              <a:spcBef>
                <a:spcPts val="400"/>
              </a:spcBef>
              <a:spcAft>
                <a:spcPts val="600"/>
              </a:spcAft>
              <a:defRPr sz="1600">
                <a:solidFill>
                  <a:srgbClr val="3D4455"/>
                </a:solidFill>
                <a:latin typeface="Calibri"/>
              </a:defRPr>
            </a:pPr>
            <a:r>
              <a:t>Often worse at night — classic "midnight croup" presentation</a:t>
            </a:r>
          </a:p>
          <a:p>
            <a:pPr>
              <a:spcBef>
                <a:spcPts val="400"/>
              </a:spcBef>
              <a:spcAft>
                <a:spcPts val="600"/>
              </a:spcAft>
              <a:defRPr sz="1600">
                <a:solidFill>
                  <a:srgbClr val="3D4455"/>
                </a:solidFill>
                <a:latin typeface="Calibri"/>
              </a:defRPr>
            </a:pPr>
            <a:r>
              <a:t>URI prodrome for 1-2 days before stridor develops</a:t>
            </a:r>
          </a:p>
          <a:p>
            <a:pPr>
              <a:spcBef>
                <a:spcPts val="400"/>
              </a:spcBef>
              <a:spcAft>
                <a:spcPts val="600"/>
              </a:spcAft>
              <a:defRPr sz="1600">
                <a:solidFill>
                  <a:srgbClr val="3D4455"/>
                </a:solidFill>
                <a:latin typeface="Calibri"/>
              </a:defRPr>
            </a:pPr>
            <a:r>
              <a:t>Steeple sign on AP neck X-ray (subglottic narrowing) — but diagnosis is CLINICAL</a:t>
            </a:r>
          </a:p>
          <a:p>
            <a:pPr lvl="1">
              <a:spcBef>
                <a:spcPts val="400"/>
              </a:spcBef>
              <a:spcAft>
                <a:spcPts val="600"/>
              </a:spcAft>
              <a:defRPr sz="1400">
                <a:solidFill>
                  <a:srgbClr val="8A92A3"/>
                </a:solidFill>
                <a:latin typeface="Calibri"/>
              </a:defRPr>
            </a:pPr>
            <a:r>
              <a:t>Do NOT routinely X-ray croup — imaging delays treatment and is rarely needed</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Westley Croup Score</a:t>
            </a:r>
          </a:p>
        </p:txBody>
      </p:sp>
      <p:graphicFrame>
        <p:nvGraphicFramePr>
          <p:cNvPr id="5" name="Table 4"/>
          <p:cNvGraphicFramePr>
            <a:graphicFrameLocks noGrp="1"/>
          </p:cNvGraphicFramePr>
          <p:nvPr/>
        </p:nvGraphicFramePr>
        <p:xfrm>
          <a:off x="822960" y="1280160"/>
          <a:ext cx="10515600" cy="2743200"/>
        </p:xfrm>
        <a:graphic>
          <a:graphicData uri="http://schemas.openxmlformats.org/drawingml/2006/table">
            <a:tbl>
              <a:tblPr firstRow="1" bandRow="1">
                <a:tableStyleId>{5C22544A-7EE6-4342-B048-85BDC9FD1C3A}</a:tableStyleId>
              </a:tblPr>
              <a:tblGrid>
                <a:gridCol w="1752600"/>
                <a:gridCol w="1752600"/>
                <a:gridCol w="1752600"/>
                <a:gridCol w="1752600"/>
                <a:gridCol w="1752600"/>
                <a:gridCol w="1752600"/>
              </a:tblGrid>
              <a:tr h="457200">
                <a:tc>
                  <a:txBody>
                    <a:bodyPr/>
                    <a:lstStyle/>
                    <a:p>
                      <a:pPr algn="ctr">
                        <a:defRPr sz="1300" b="1">
                          <a:solidFill>
                            <a:srgbClr val="FFFFFF"/>
                          </a:solidFill>
                          <a:latin typeface="Calibri"/>
                        </a:defRPr>
                      </a:pPr>
                      <a:r>
                        <a:t>Component</a:t>
                      </a:r>
                    </a:p>
                  </a:txBody>
                  <a:tcPr>
                    <a:solidFill>
                      <a:srgbClr val="007B83"/>
                    </a:solidFill>
                  </a:tcPr>
                </a:tc>
                <a:tc>
                  <a:txBody>
                    <a:bodyPr/>
                    <a:lstStyle/>
                    <a:p>
                      <a:pPr algn="ctr">
                        <a:defRPr sz="1300" b="1">
                          <a:solidFill>
                            <a:srgbClr val="FFFFFF"/>
                          </a:solidFill>
                          <a:latin typeface="Calibri"/>
                        </a:defRPr>
                      </a:pPr>
                      <a:r>
                        <a:t>0 Points</a:t>
                      </a:r>
                    </a:p>
                  </a:txBody>
                  <a:tcPr>
                    <a:solidFill>
                      <a:srgbClr val="007B83"/>
                    </a:solidFill>
                  </a:tcPr>
                </a:tc>
                <a:tc>
                  <a:txBody>
                    <a:bodyPr/>
                    <a:lstStyle/>
                    <a:p>
                      <a:pPr algn="ctr">
                        <a:defRPr sz="1300" b="1">
                          <a:solidFill>
                            <a:srgbClr val="FFFFFF"/>
                          </a:solidFill>
                          <a:latin typeface="Calibri"/>
                        </a:defRPr>
                      </a:pPr>
                      <a:r>
                        <a:t>1 Point</a:t>
                      </a:r>
                    </a:p>
                  </a:txBody>
                  <a:tcPr>
                    <a:solidFill>
                      <a:srgbClr val="007B83"/>
                    </a:solidFill>
                  </a:tcPr>
                </a:tc>
                <a:tc>
                  <a:txBody>
                    <a:bodyPr/>
                    <a:lstStyle/>
                    <a:p>
                      <a:pPr algn="ctr">
                        <a:defRPr sz="1300" b="1">
                          <a:solidFill>
                            <a:srgbClr val="FFFFFF"/>
                          </a:solidFill>
                          <a:latin typeface="Calibri"/>
                        </a:defRPr>
                      </a:pPr>
                      <a:r>
                        <a:t>2 Points</a:t>
                      </a:r>
                    </a:p>
                  </a:txBody>
                  <a:tcPr>
                    <a:solidFill>
                      <a:srgbClr val="007B83"/>
                    </a:solidFill>
                  </a:tcPr>
                </a:tc>
                <a:tc>
                  <a:txBody>
                    <a:bodyPr/>
                    <a:lstStyle/>
                    <a:p>
                      <a:pPr algn="ctr">
                        <a:defRPr sz="1300" b="1">
                          <a:solidFill>
                            <a:srgbClr val="FFFFFF"/>
                          </a:solidFill>
                          <a:latin typeface="Calibri"/>
                        </a:defRPr>
                      </a:pPr>
                      <a:r>
                        <a:t>3 Points</a:t>
                      </a:r>
                    </a:p>
                  </a:txBody>
                  <a:tcPr>
                    <a:solidFill>
                      <a:srgbClr val="007B83"/>
                    </a:solidFill>
                  </a:tcPr>
                </a:tc>
                <a:tc>
                  <a:txBody>
                    <a:bodyPr/>
                    <a:lstStyle/>
                    <a:p>
                      <a:pPr algn="ctr">
                        <a:defRPr sz="1300" b="1">
                          <a:solidFill>
                            <a:srgbClr val="FFFFFF"/>
                          </a:solidFill>
                          <a:latin typeface="Calibri"/>
                        </a:defRPr>
                      </a:pPr>
                      <a:r>
                        <a:t>5 Points</a:t>
                      </a:r>
                    </a:p>
                  </a:txBody>
                  <a:tcPr>
                    <a:solidFill>
                      <a:srgbClr val="007B83"/>
                    </a:solidFill>
                  </a:tcPr>
                </a:tc>
              </a:tr>
              <a:tr h="457200">
                <a:tc>
                  <a:txBody>
                    <a:bodyPr/>
                    <a:lstStyle/>
                    <a:p>
                      <a:pPr algn="l">
                        <a:defRPr sz="1200">
                          <a:solidFill>
                            <a:srgbClr val="3D4455"/>
                          </a:solidFill>
                          <a:latin typeface="Calibri"/>
                        </a:defRPr>
                      </a:pPr>
                      <a:r>
                        <a:t>Stridor</a:t>
                      </a:r>
                    </a:p>
                  </a:txBody>
                  <a:tcPr>
                    <a:solidFill>
                      <a:srgbClr val="F5F6FA"/>
                    </a:solidFill>
                  </a:tcPr>
                </a:tc>
                <a:tc>
                  <a:txBody>
                    <a:bodyPr/>
                    <a:lstStyle/>
                    <a:p>
                      <a:pPr algn="l">
                        <a:defRPr sz="1200">
                          <a:solidFill>
                            <a:srgbClr val="3D4455"/>
                          </a:solidFill>
                          <a:latin typeface="Calibri"/>
                        </a:defRPr>
                      </a:pPr>
                      <a:r>
                        <a:t>None</a:t>
                      </a:r>
                    </a:p>
                  </a:txBody>
                  <a:tcPr>
                    <a:solidFill>
                      <a:srgbClr val="F5F6FA"/>
                    </a:solidFill>
                  </a:tcPr>
                </a:tc>
                <a:tc>
                  <a:txBody>
                    <a:bodyPr/>
                    <a:lstStyle/>
                    <a:p>
                      <a:pPr algn="l">
                        <a:defRPr sz="1200">
                          <a:solidFill>
                            <a:srgbClr val="3D4455"/>
                          </a:solidFill>
                          <a:latin typeface="Calibri"/>
                        </a:defRPr>
                      </a:pPr>
                      <a:r>
                        <a:t>At rest (with stethoscope)</a:t>
                      </a:r>
                    </a:p>
                  </a:txBody>
                  <a:tcPr>
                    <a:solidFill>
                      <a:srgbClr val="F5F6FA"/>
                    </a:solidFill>
                  </a:tcPr>
                </a:tc>
                <a:tc>
                  <a:txBody>
                    <a:bodyPr/>
                    <a:lstStyle/>
                    <a:p>
                      <a:pPr algn="l">
                        <a:defRPr sz="1200">
                          <a:solidFill>
                            <a:srgbClr val="3D4455"/>
                          </a:solidFill>
                          <a:latin typeface="Calibri"/>
                        </a:defRPr>
                      </a:pPr>
                      <a:r>
                        <a:t>At rest (without stethoscope)</a:t>
                      </a:r>
                    </a:p>
                  </a:txBody>
                  <a:tcPr>
                    <a:solidFill>
                      <a:srgbClr val="F5F6FA"/>
                    </a:solidFill>
                  </a:tcPr>
                </a:tc>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p>
                  </a:txBody>
                  <a:tcPr>
                    <a:solidFill>
                      <a:srgbClr val="F5F6FA"/>
                    </a:solidFill>
                  </a:tcPr>
                </a:tc>
              </a:tr>
              <a:tr h="457200">
                <a:tc>
                  <a:txBody>
                    <a:bodyPr/>
                    <a:lstStyle/>
                    <a:p>
                      <a:pPr algn="l">
                        <a:defRPr sz="1200">
                          <a:solidFill>
                            <a:srgbClr val="3D4455"/>
                          </a:solidFill>
                          <a:latin typeface="Calibri"/>
                        </a:defRPr>
                      </a:pPr>
                      <a:r>
                        <a:t>Retractions</a:t>
                      </a:r>
                    </a:p>
                  </a:txBody>
                  <a:tcPr>
                    <a:solidFill>
                      <a:srgbClr val="FFFFFF"/>
                    </a:solidFill>
                  </a:tcPr>
                </a:tc>
                <a:tc>
                  <a:txBody>
                    <a:bodyPr/>
                    <a:lstStyle/>
                    <a:p>
                      <a:pPr algn="l">
                        <a:defRPr sz="1200">
                          <a:solidFill>
                            <a:srgbClr val="3D4455"/>
                          </a:solidFill>
                          <a:latin typeface="Calibri"/>
                        </a:defRPr>
                      </a:pPr>
                      <a:r>
                        <a:t>None</a:t>
                      </a:r>
                    </a:p>
                  </a:txBody>
                  <a:tcPr>
                    <a:solidFill>
                      <a:srgbClr val="FFFFFF"/>
                    </a:solidFill>
                  </a:tcPr>
                </a:tc>
                <a:tc>
                  <a:txBody>
                    <a:bodyPr/>
                    <a:lstStyle/>
                    <a:p>
                      <a:pPr algn="l">
                        <a:defRPr sz="1200">
                          <a:solidFill>
                            <a:srgbClr val="3D4455"/>
                          </a:solidFill>
                          <a:latin typeface="Calibri"/>
                        </a:defRPr>
                      </a:pPr>
                      <a:r>
                        <a:t>Mild</a:t>
                      </a:r>
                    </a:p>
                  </a:txBody>
                  <a:tcPr>
                    <a:solidFill>
                      <a:srgbClr val="FFFFFF"/>
                    </a:solidFill>
                  </a:tcPr>
                </a:tc>
                <a:tc>
                  <a:txBody>
                    <a:bodyPr/>
                    <a:lstStyle/>
                    <a:p>
                      <a:pPr algn="l">
                        <a:defRPr sz="1200">
                          <a:solidFill>
                            <a:srgbClr val="3D4455"/>
                          </a:solidFill>
                          <a:latin typeface="Calibri"/>
                        </a:defRPr>
                      </a:pPr>
                      <a:r>
                        <a:t>Moderate</a:t>
                      </a:r>
                    </a:p>
                  </a:txBody>
                  <a:tcPr>
                    <a:solidFill>
                      <a:srgbClr val="FFFFFF"/>
                    </a:solidFill>
                  </a:tcPr>
                </a:tc>
                <a:tc>
                  <a:txBody>
                    <a:bodyPr/>
                    <a:lstStyle/>
                    <a:p>
                      <a:pPr algn="l">
                        <a:defRPr sz="1200">
                          <a:solidFill>
                            <a:srgbClr val="3D4455"/>
                          </a:solidFill>
                          <a:latin typeface="Calibri"/>
                        </a:defRPr>
                      </a:pPr>
                      <a:r>
                        <a:t>Severe</a:t>
                      </a:r>
                    </a:p>
                  </a:txBody>
                  <a:tcPr>
                    <a:solidFill>
                      <a:srgbClr val="FFFFFF"/>
                    </a:solidFill>
                  </a:tcPr>
                </a:tc>
                <a:tc>
                  <a:txBody>
                    <a:bodyPr/>
                    <a:lstStyle/>
                    <a:p>
                      <a:pPr algn="l">
                        <a:defRPr sz="1200">
                          <a:solidFill>
                            <a:srgbClr val="3D4455"/>
                          </a:solidFill>
                          <a:latin typeface="Calibri"/>
                        </a:defRPr>
                      </a:pPr>
                    </a:p>
                  </a:txBody>
                  <a:tcPr>
                    <a:solidFill>
                      <a:srgbClr val="FFFFFF"/>
                    </a:solidFill>
                  </a:tcPr>
                </a:tc>
              </a:tr>
              <a:tr h="457200">
                <a:tc>
                  <a:txBody>
                    <a:bodyPr/>
                    <a:lstStyle/>
                    <a:p>
                      <a:pPr algn="l">
                        <a:defRPr sz="1200">
                          <a:solidFill>
                            <a:srgbClr val="3D4455"/>
                          </a:solidFill>
                          <a:latin typeface="Calibri"/>
                        </a:defRPr>
                      </a:pPr>
                      <a:r>
                        <a:t>Air Entry</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r>
                        <a:t>Decreased</a:t>
                      </a:r>
                    </a:p>
                  </a:txBody>
                  <a:tcPr>
                    <a:solidFill>
                      <a:srgbClr val="F5F6FA"/>
                    </a:solidFill>
                  </a:tcPr>
                </a:tc>
                <a:tc>
                  <a:txBody>
                    <a:bodyPr/>
                    <a:lstStyle/>
                    <a:p>
                      <a:pPr algn="l">
                        <a:defRPr sz="1200">
                          <a:solidFill>
                            <a:srgbClr val="3D4455"/>
                          </a:solidFill>
                          <a:latin typeface="Calibri"/>
                        </a:defRPr>
                      </a:pPr>
                      <a:r>
                        <a:t>Markedly decreased</a:t>
                      </a:r>
                    </a:p>
                  </a:txBody>
                  <a:tcPr>
                    <a:solidFill>
                      <a:srgbClr val="F5F6FA"/>
                    </a:solidFill>
                  </a:tcPr>
                </a:tc>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p>
                  </a:txBody>
                  <a:tcPr>
                    <a:solidFill>
                      <a:srgbClr val="F5F6FA"/>
                    </a:solidFill>
                  </a:tcPr>
                </a:tc>
              </a:tr>
              <a:tr h="457200">
                <a:tc>
                  <a:txBody>
                    <a:bodyPr/>
                    <a:lstStyle/>
                    <a:p>
                      <a:pPr algn="l">
                        <a:defRPr sz="1200">
                          <a:solidFill>
                            <a:srgbClr val="3D4455"/>
                          </a:solidFill>
                          <a:latin typeface="Calibri"/>
                        </a:defRPr>
                      </a:pPr>
                      <a:r>
                        <a:t>Cyanosis</a:t>
                      </a:r>
                    </a:p>
                  </a:txBody>
                  <a:tcPr>
                    <a:solidFill>
                      <a:srgbClr val="FFFFFF"/>
                    </a:solidFill>
                  </a:tcPr>
                </a:tc>
                <a:tc>
                  <a:txBody>
                    <a:bodyPr/>
                    <a:lstStyle/>
                    <a:p>
                      <a:pPr algn="l">
                        <a:defRPr sz="1200">
                          <a:solidFill>
                            <a:srgbClr val="3D4455"/>
                          </a:solidFill>
                          <a:latin typeface="Calibri"/>
                        </a:defRPr>
                      </a:pPr>
                      <a:r>
                        <a:t>None</a:t>
                      </a:r>
                    </a:p>
                  </a:txBody>
                  <a:tcPr>
                    <a:solidFill>
                      <a:srgbClr val="FFFFFF"/>
                    </a:solidFill>
                  </a:tcPr>
                </a:tc>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p>
                  </a:txBody>
                  <a:tcPr>
                    <a:solidFill>
                      <a:srgbClr val="FFFFFF"/>
                    </a:solidFill>
                  </a:tcPr>
                </a:tc>
                <a:tc>
                  <a:txBody>
                    <a:bodyPr/>
                    <a:lstStyle/>
                    <a:p>
                      <a:pPr algn="l">
                        <a:defRPr sz="1200">
                          <a:solidFill>
                            <a:srgbClr val="3D4455"/>
                          </a:solidFill>
                          <a:latin typeface="Calibri"/>
                        </a:defRPr>
                      </a:pPr>
                      <a:r>
                        <a:t>With agitation / at rest</a:t>
                      </a:r>
                    </a:p>
                  </a:txBody>
                  <a:tcPr>
                    <a:solidFill>
                      <a:srgbClr val="FFFFFF"/>
                    </a:solidFill>
                  </a:tcPr>
                </a:tc>
              </a:tr>
              <a:tr h="457200">
                <a:tc>
                  <a:txBody>
                    <a:bodyPr/>
                    <a:lstStyle/>
                    <a:p>
                      <a:pPr algn="l">
                        <a:defRPr sz="1200">
                          <a:solidFill>
                            <a:srgbClr val="3D4455"/>
                          </a:solidFill>
                          <a:latin typeface="Calibri"/>
                        </a:defRPr>
                      </a:pPr>
                      <a:r>
                        <a:t>Level of Consciousness</a:t>
                      </a:r>
                    </a:p>
                  </a:txBody>
                  <a:tcPr>
                    <a:solidFill>
                      <a:srgbClr val="F5F6FA"/>
                    </a:solidFill>
                  </a:tcPr>
                </a:tc>
                <a:tc>
                  <a:txBody>
                    <a:bodyPr/>
                    <a:lstStyle/>
                    <a:p>
                      <a:pPr algn="l">
                        <a:defRPr sz="1200">
                          <a:solidFill>
                            <a:srgbClr val="3D4455"/>
                          </a:solidFill>
                          <a:latin typeface="Calibri"/>
                        </a:defRPr>
                      </a:pPr>
                      <a:r>
                        <a:t>Normal</a:t>
                      </a:r>
                    </a:p>
                  </a:txBody>
                  <a:tcPr>
                    <a:solidFill>
                      <a:srgbClr val="F5F6FA"/>
                    </a:solidFill>
                  </a:tcPr>
                </a:tc>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p>
                  </a:txBody>
                  <a:tcPr>
                    <a:solidFill>
                      <a:srgbClr val="F5F6FA"/>
                    </a:solidFill>
                  </a:tcPr>
                </a:tc>
                <a:tc>
                  <a:txBody>
                    <a:bodyPr/>
                    <a:lstStyle/>
                    <a:p>
                      <a:pPr algn="l">
                        <a:defRPr sz="1200">
                          <a:solidFill>
                            <a:srgbClr val="3D4455"/>
                          </a:solidFill>
                          <a:latin typeface="Calibri"/>
                        </a:defRPr>
                      </a:pPr>
                      <a:r>
                        <a:t>Disoriented / altered</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Croup Management Algorithm</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ALL PATIENTS: Dexamethasone 0.6 mg/kg PO/IM (max 16 mg) — single dose</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MILD (Westley ≤2): Dexamethasone alone → observe 30 min → discharge if improved</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MODERATE (Westley 3-5): + Nebulized epinephrine 0.5 mL/kg racemic (max 0.5 mL) or L-epi 0.5 mL/kg (max 5 mL)</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SEVERE (Westley ≥6): + Nebulized epi + consider heliox + prepare for advanced airway</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POST-EPINEPHRINE: Observe minimum 2-4 hours for rebound effect before discharge</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FAILURE TO IMPROVE: Reassess diagnosis — consider bacterial tracheitis, foreign body, abscess</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058400" cy="457200"/>
          </a:xfrm>
          <a:prstGeom prst="rect">
            <a:avLst/>
          </a:prstGeom>
          <a:noFill/>
        </p:spPr>
        <p:txBody>
          <a:bodyPr wrap="none">
            <a:spAutoFit/>
          </a:bodyPr>
          <a:lstStyle/>
          <a:p>
            <a:pPr>
              <a:defRPr sz="1400" b="1">
                <a:solidFill>
                  <a:srgbClr val="007B83"/>
                </a:solidFill>
                <a:latin typeface="Calibri"/>
              </a:defRPr>
            </a:pPr>
            <a:r>
              <a:t>▎ CLINICAL PEARL</a:t>
            </a:r>
          </a:p>
        </p:txBody>
      </p:sp>
      <p:sp>
        <p:nvSpPr>
          <p:cNvPr id="4" name="TextBox 3"/>
          <p:cNvSpPr txBox="1"/>
          <p:nvPr/>
        </p:nvSpPr>
        <p:spPr>
          <a:xfrm>
            <a:off x="731520" y="2286000"/>
            <a:ext cx="10515600" cy="2286000"/>
          </a:xfrm>
          <a:prstGeom prst="rect">
            <a:avLst/>
          </a:prstGeom>
          <a:noFill/>
        </p:spPr>
        <p:txBody>
          <a:bodyPr wrap="square">
            <a:spAutoFit/>
          </a:bodyPr>
          <a:lstStyle/>
          <a:p>
            <a:pPr algn="l">
              <a:defRPr sz="2800" b="1">
                <a:solidFill>
                  <a:srgbClr val="FFFFFF"/>
                </a:solidFill>
                <a:latin typeface="Calibri"/>
              </a:defRPr>
            </a:pPr>
            <a:r>
              <a:t>Every child with croup gets dexamethasone. No exceptions.</a:t>
            </a:r>
          </a:p>
        </p:txBody>
      </p:sp>
      <p:sp>
        <p:nvSpPr>
          <p:cNvPr id="5" name="TextBox 4"/>
          <p:cNvSpPr txBox="1"/>
          <p:nvPr/>
        </p:nvSpPr>
        <p:spPr>
          <a:xfrm>
            <a:off x="731520" y="4572000"/>
            <a:ext cx="10058400" cy="1371600"/>
          </a:xfrm>
          <a:prstGeom prst="rect">
            <a:avLst/>
          </a:prstGeom>
          <a:noFill/>
        </p:spPr>
        <p:txBody>
          <a:bodyPr wrap="square">
            <a:spAutoFit/>
          </a:bodyPr>
          <a:lstStyle/>
          <a:p>
            <a:pPr>
              <a:defRPr sz="1500">
                <a:solidFill>
                  <a:srgbClr val="8A92A3"/>
                </a:solidFill>
                <a:latin typeface="Calibri"/>
              </a:defRPr>
            </a:pPr>
            <a:r>
              <a:t>Even mild croup benefits from a single dose of dexamethasone 0.6 mg/kg. It reduces return visits, reduces need for epinephrine, and costs almost nothing. This is one of the strongest evidence-based recommendations in PEM.</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73152"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0"/>
            <a:ext cx="3200400" cy="2286000"/>
          </a:xfrm>
          <a:prstGeom prst="rect">
            <a:avLst/>
          </a:prstGeom>
          <a:noFill/>
        </p:spPr>
        <p:txBody>
          <a:bodyPr wrap="square">
            <a:spAutoFit/>
          </a:bodyPr>
          <a:lstStyle/>
          <a:p>
            <a:pPr algn="l">
              <a:defRPr sz="3000" b="1">
                <a:solidFill>
                  <a:srgbClr val="FFFFFF"/>
                </a:solidFill>
                <a:latin typeface="Calibri"/>
              </a:defRPr>
            </a:pPr>
            <a:r>
              <a:t>Epiglottitis</a:t>
            </a:r>
          </a:p>
        </p:txBody>
      </p:sp>
      <p:sp>
        <p:nvSpPr>
          <p:cNvPr id="5" name="TextBox 4"/>
          <p:cNvSpPr txBox="1"/>
          <p:nvPr/>
        </p:nvSpPr>
        <p:spPr>
          <a:xfrm>
            <a:off x="4754880" y="2743200"/>
            <a:ext cx="6858000" cy="1828800"/>
          </a:xfrm>
          <a:prstGeom prst="rect">
            <a:avLst/>
          </a:prstGeom>
          <a:noFill/>
        </p:spPr>
        <p:txBody>
          <a:bodyPr wrap="square">
            <a:spAutoFit/>
          </a:bodyPr>
          <a:lstStyle/>
          <a:p>
            <a:pPr algn="l">
              <a:defRPr sz="1600">
                <a:solidFill>
                  <a:srgbClr val="3D4455"/>
                </a:solidFill>
                <a:latin typeface="Calibri"/>
              </a:defRPr>
            </a:pPr>
            <a:r>
              <a:t>A life-threatening airway emergency</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Epiglottitis: Recognition and Emergency Response</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Bacterial infection of the epiglottis and supraglottic structures</a:t>
            </a:r>
          </a:p>
          <a:p>
            <a:pPr>
              <a:spcBef>
                <a:spcPts val="400"/>
              </a:spcBef>
              <a:spcAft>
                <a:spcPts val="600"/>
              </a:spcAft>
              <a:defRPr sz="1600">
                <a:solidFill>
                  <a:srgbClr val="3D4455"/>
                </a:solidFill>
                <a:latin typeface="Calibri"/>
              </a:defRPr>
            </a:pPr>
            <a:r>
              <a:t>Classic pathogen: H. influenzae type b (now rare due to Hib vaccine)</a:t>
            </a:r>
          </a:p>
          <a:p>
            <a:pPr>
              <a:spcBef>
                <a:spcPts val="400"/>
              </a:spcBef>
              <a:spcAft>
                <a:spcPts val="600"/>
              </a:spcAft>
              <a:defRPr sz="1600">
                <a:solidFill>
                  <a:srgbClr val="3D4455"/>
                </a:solidFill>
                <a:latin typeface="Calibri"/>
              </a:defRPr>
            </a:pPr>
            <a:r>
              <a:t>Current pathogens: S. aureus, S. pyogenes, S. pneumoniae, H. flu non-typeable</a:t>
            </a:r>
          </a:p>
          <a:p>
            <a:pPr>
              <a:spcBef>
                <a:spcPts val="400"/>
              </a:spcBef>
              <a:spcAft>
                <a:spcPts val="600"/>
              </a:spcAft>
              <a:defRPr sz="1600">
                <a:solidFill>
                  <a:srgbClr val="3D4455"/>
                </a:solidFill>
                <a:latin typeface="Calibri"/>
              </a:defRPr>
            </a:pPr>
            <a:r>
              <a:t>Classic presentation: 4 Ds — Drooling, Dysphagia, Distress, Dysphonia</a:t>
            </a:r>
          </a:p>
          <a:p>
            <a:pPr>
              <a:spcBef>
                <a:spcPts val="400"/>
              </a:spcBef>
              <a:spcAft>
                <a:spcPts val="600"/>
              </a:spcAft>
              <a:defRPr sz="1600">
                <a:solidFill>
                  <a:srgbClr val="3D4455"/>
                </a:solidFill>
                <a:latin typeface="Calibri"/>
              </a:defRPr>
            </a:pPr>
            <a:r>
              <a:t>Rapid onset (hours), high fever, toxic appearance, tripod/sniffing position</a:t>
            </a:r>
          </a:p>
          <a:p>
            <a:pPr>
              <a:spcBef>
                <a:spcPts val="400"/>
              </a:spcBef>
              <a:spcAft>
                <a:spcPts val="600"/>
              </a:spcAft>
              <a:defRPr sz="1600">
                <a:solidFill>
                  <a:srgbClr val="3D4455"/>
                </a:solidFill>
                <a:latin typeface="Calibri"/>
              </a:defRPr>
            </a:pPr>
            <a:r>
              <a:t>NO barky cough (this differentiates from croup)</a:t>
            </a:r>
          </a:p>
          <a:p>
            <a:pPr>
              <a:spcBef>
                <a:spcPts val="400"/>
              </a:spcBef>
              <a:spcAft>
                <a:spcPts val="600"/>
              </a:spcAft>
              <a:defRPr sz="1600">
                <a:solidFill>
                  <a:srgbClr val="3D4455"/>
                </a:solidFill>
                <a:latin typeface="Calibri"/>
              </a:defRPr>
            </a:pPr>
            <a:r>
              <a:t>Thumbprint sign on lateral neck X-ray — but DO NOT delay management for imaging</a:t>
            </a:r>
          </a:p>
          <a:p>
            <a:pPr lvl="1">
              <a:spcBef>
                <a:spcPts val="400"/>
              </a:spcBef>
              <a:spcAft>
                <a:spcPts val="600"/>
              </a:spcAft>
              <a:defRPr sz="1400">
                <a:solidFill>
                  <a:srgbClr val="8A92A3"/>
                </a:solidFill>
                <a:latin typeface="Calibri"/>
              </a:defRPr>
            </a:pPr>
            <a:r>
              <a:t>If you suspect epiglottitis: keep the child calm, do NOT examine the throat, prepare for OR airway</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Epiglottitis Emergency Protocol</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SUSPECT EPIGLOTTITIS: toxic child, drooling, no cough, rapidly progressive</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DO NOT agitate the child — allow position of comfort, keep parents at bedside</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CALL: Anesthesia + ENT + PICU — prepare for OR airway management</a:t>
            </a:r>
          </a:p>
        </p:txBody>
      </p:sp>
      <p:sp>
        <p:nvSpPr>
          <p:cNvPr id="8" name="Rounded Rectangle 7"/>
          <p:cNvSpPr/>
          <p:nvPr/>
        </p:nvSpPr>
        <p:spPr>
          <a:xfrm>
            <a:off x="457200" y="3374136"/>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KEEP airway equipment at bedside: ETT (2 sizes smaller than predicted), trach tray, LMA</a:t>
            </a:r>
          </a:p>
        </p:txBody>
      </p:sp>
      <p:sp>
        <p:nvSpPr>
          <p:cNvPr id="9" name="Rounded Rectangle 8"/>
          <p:cNvSpPr/>
          <p:nvPr/>
        </p:nvSpPr>
        <p:spPr>
          <a:xfrm>
            <a:off x="6309360" y="1371600"/>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IF STABLE: controlled intubation in OR under anesthesia with surgical backup</a:t>
            </a:r>
          </a:p>
        </p:txBody>
      </p:sp>
      <p:sp>
        <p:nvSpPr>
          <p:cNvPr id="10" name="Rounded Rectangle 9"/>
          <p:cNvSpPr/>
          <p:nvPr/>
        </p:nvSpPr>
        <p:spPr>
          <a:xfrm>
            <a:off x="6309360" y="2039112"/>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IF CRASHING: attempt intubation in ED; if failed → needle cricothyrotomy → surgical airway</a:t>
            </a:r>
          </a:p>
        </p:txBody>
      </p:sp>
      <p:sp>
        <p:nvSpPr>
          <p:cNvPr id="11" name="Rounded Rectangle 10"/>
          <p:cNvSpPr/>
          <p:nvPr/>
        </p:nvSpPr>
        <p:spPr>
          <a:xfrm>
            <a:off x="6309360" y="2706624"/>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7. POST-INTUBATION: IV antibiotics (ceftriaxone + vancomycin), ICU admission</a:t>
            </a:r>
          </a:p>
        </p:txBody>
      </p:sp>
      <p:sp>
        <p:nvSpPr>
          <p:cNvPr id="12" name="Rectangle 11"/>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14" name="TextBox 13"/>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Bacterial Tracheitis: The Dangerous Mimic</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Also called "pseudomembranous croup" or "bacterial croup"</a:t>
            </a:r>
          </a:p>
          <a:p>
            <a:pPr>
              <a:spcBef>
                <a:spcPts val="400"/>
              </a:spcBef>
              <a:spcAft>
                <a:spcPts val="600"/>
              </a:spcAft>
              <a:defRPr sz="1600">
                <a:solidFill>
                  <a:srgbClr val="3D4455"/>
                </a:solidFill>
                <a:latin typeface="Calibri"/>
              </a:defRPr>
            </a:pPr>
            <a:r>
              <a:t>Often follows a viral URI/croup — then sudden deterioration with high fever and toxicity</a:t>
            </a:r>
          </a:p>
          <a:p>
            <a:pPr>
              <a:spcBef>
                <a:spcPts val="400"/>
              </a:spcBef>
              <a:spcAft>
                <a:spcPts val="600"/>
              </a:spcAft>
              <a:defRPr sz="1600">
                <a:solidFill>
                  <a:srgbClr val="3D4455"/>
                </a:solidFill>
                <a:latin typeface="Calibri"/>
              </a:defRPr>
            </a:pPr>
            <a:r>
              <a:t>Key clue: child with croup-like symptoms who is TOXIC and NOT responding to standard croup treatment</a:t>
            </a:r>
          </a:p>
          <a:p>
            <a:pPr>
              <a:spcBef>
                <a:spcPts val="400"/>
              </a:spcBef>
              <a:spcAft>
                <a:spcPts val="600"/>
              </a:spcAft>
              <a:defRPr sz="1600">
                <a:solidFill>
                  <a:srgbClr val="3D4455"/>
                </a:solidFill>
                <a:latin typeface="Calibri"/>
              </a:defRPr>
            </a:pPr>
            <a:r>
              <a:t>Pathogens: S. aureus (most common), S. pyogenes, M. catarrhalis, H. influenzae</a:t>
            </a:r>
          </a:p>
          <a:p>
            <a:pPr>
              <a:spcBef>
                <a:spcPts val="400"/>
              </a:spcBef>
              <a:spcAft>
                <a:spcPts val="600"/>
              </a:spcAft>
              <a:defRPr sz="1600">
                <a:solidFill>
                  <a:srgbClr val="3D4455"/>
                </a:solidFill>
                <a:latin typeface="Calibri"/>
              </a:defRPr>
            </a:pPr>
            <a:r>
              <a:t>Thick purulent secretions and pseudomembranes in the trachea</a:t>
            </a:r>
          </a:p>
          <a:p>
            <a:pPr>
              <a:spcBef>
                <a:spcPts val="400"/>
              </a:spcBef>
              <a:spcAft>
                <a:spcPts val="600"/>
              </a:spcAft>
              <a:defRPr sz="1600">
                <a:solidFill>
                  <a:srgbClr val="3D4455"/>
                </a:solidFill>
                <a:latin typeface="Calibri"/>
              </a:defRPr>
            </a:pPr>
            <a:r>
              <a:t>May require intubation for airway protection and pulmonary toilet</a:t>
            </a:r>
          </a:p>
          <a:p>
            <a:pPr>
              <a:spcBef>
                <a:spcPts val="400"/>
              </a:spcBef>
              <a:spcAft>
                <a:spcPts val="600"/>
              </a:spcAft>
              <a:defRPr sz="1600">
                <a:solidFill>
                  <a:srgbClr val="3D4455"/>
                </a:solidFill>
                <a:latin typeface="Calibri"/>
              </a:defRPr>
            </a:pPr>
            <a:r>
              <a:t>Treatment: IV antibiotics (ceftriaxone + vancomycin or clindamycin), airway management</a:t>
            </a:r>
          </a:p>
          <a:p>
            <a:pPr lvl="1">
              <a:spcBef>
                <a:spcPts val="400"/>
              </a:spcBef>
              <a:spcAft>
                <a:spcPts val="600"/>
              </a:spcAft>
              <a:defRPr sz="1400">
                <a:solidFill>
                  <a:srgbClr val="8A92A3"/>
                </a:solidFill>
                <a:latin typeface="Calibri"/>
              </a:defRPr>
            </a:pPr>
            <a:r>
              <a:t>Think bacterial tracheitis when "croup + toxic + not responding to treatment"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Disposition Decisions in Upper Airway Obstruction</a:t>
            </a:r>
          </a:p>
        </p:txBody>
      </p:sp>
      <p:sp>
        <p:nvSpPr>
          <p:cNvPr id="5" name="Rounded Rectangle 4"/>
          <p:cNvSpPr/>
          <p:nvPr/>
        </p:nvSpPr>
        <p:spPr>
          <a:xfrm>
            <a:off x="457200" y="1280160"/>
            <a:ext cx="5303520" cy="54864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SAFE TO DISCHARGE</a:t>
            </a:r>
          </a:p>
        </p:txBody>
      </p:sp>
      <p:sp>
        <p:nvSpPr>
          <p:cNvPr id="6" name="TextBox 5"/>
          <p:cNvSpPr txBox="1"/>
          <p:nvPr/>
        </p:nvSpPr>
        <p:spPr>
          <a:xfrm>
            <a:off x="64008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Mild croup (Westley ≤2) after dexamethasone</a:t>
            </a:r>
          </a:p>
          <a:p>
            <a:pPr>
              <a:spcAft>
                <a:spcPts val="500"/>
              </a:spcAft>
              <a:defRPr sz="1400">
                <a:solidFill>
                  <a:srgbClr val="3D4455"/>
                </a:solidFill>
                <a:latin typeface="Calibri"/>
              </a:defRPr>
            </a:pPr>
            <a:r>
              <a:t>No stridor at rest after observation</a:t>
            </a:r>
          </a:p>
          <a:p>
            <a:pPr>
              <a:spcAft>
                <a:spcPts val="500"/>
              </a:spcAft>
              <a:defRPr sz="1400">
                <a:solidFill>
                  <a:srgbClr val="3D4455"/>
                </a:solidFill>
                <a:latin typeface="Calibri"/>
              </a:defRPr>
            </a:pPr>
            <a:r>
              <a:t>Tolerating PO fluids</a:t>
            </a:r>
          </a:p>
          <a:p>
            <a:pPr>
              <a:spcAft>
                <a:spcPts val="500"/>
              </a:spcAft>
              <a:defRPr sz="1400">
                <a:solidFill>
                  <a:srgbClr val="3D4455"/>
                </a:solidFill>
                <a:latin typeface="Calibri"/>
              </a:defRPr>
            </a:pPr>
            <a:r>
              <a:t>No epinephrine given, OR ≥2h post-epinephrine with no rebound</a:t>
            </a:r>
          </a:p>
          <a:p>
            <a:pPr>
              <a:spcAft>
                <a:spcPts val="500"/>
              </a:spcAft>
              <a:defRPr sz="1400">
                <a:solidFill>
                  <a:srgbClr val="3D4455"/>
                </a:solidFill>
                <a:latin typeface="Calibri"/>
              </a:defRPr>
            </a:pPr>
            <a:r>
              <a:t>Parents comfortable with return precautions</a:t>
            </a:r>
          </a:p>
          <a:p>
            <a:pPr>
              <a:spcAft>
                <a:spcPts val="500"/>
              </a:spcAft>
              <a:defRPr sz="1400">
                <a:solidFill>
                  <a:srgbClr val="3D4455"/>
                </a:solidFill>
                <a:latin typeface="Calibri"/>
              </a:defRPr>
            </a:pPr>
            <a:r>
              <a:t>Reliable follow-up available</a:t>
            </a:r>
          </a:p>
          <a:p>
            <a:pPr>
              <a:spcAft>
                <a:spcPts val="500"/>
              </a:spcAft>
              <a:defRPr sz="1400">
                <a:solidFill>
                  <a:srgbClr val="3D4455"/>
                </a:solidFill>
                <a:latin typeface="Calibri"/>
              </a:defRPr>
            </a:pPr>
            <a:r>
              <a:t>Late-night presentation that improved: observe until comfortable</a:t>
            </a:r>
          </a:p>
        </p:txBody>
      </p:sp>
      <p:sp>
        <p:nvSpPr>
          <p:cNvPr id="7" name="Rectangle 6"/>
          <p:cNvSpPr/>
          <p:nvPr/>
        </p:nvSpPr>
        <p:spPr>
          <a:xfrm>
            <a:off x="5989320" y="1280160"/>
            <a:ext cx="27432" cy="4754880"/>
          </a:xfrm>
          <a:prstGeom prst="rect">
            <a:avLst/>
          </a:prstGeom>
          <a:solidFill>
            <a:srgbClr val="E0E4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0" y="1280160"/>
            <a:ext cx="5303520" cy="548640"/>
          </a:xfrm>
          <a:prstGeom prst="round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MUST ADMIT</a:t>
            </a:r>
          </a:p>
        </p:txBody>
      </p:sp>
      <p:sp>
        <p:nvSpPr>
          <p:cNvPr id="9" name="TextBox 8"/>
          <p:cNvSpPr txBox="1"/>
          <p:nvPr/>
        </p:nvSpPr>
        <p:spPr>
          <a:xfrm>
            <a:off x="6492240" y="2011680"/>
            <a:ext cx="4937760" cy="4114800"/>
          </a:xfrm>
          <a:prstGeom prst="rect">
            <a:avLst/>
          </a:prstGeom>
          <a:noFill/>
        </p:spPr>
        <p:txBody>
          <a:bodyPr wrap="square">
            <a:spAutoFit/>
          </a:bodyPr>
          <a:lstStyle/>
          <a:p>
            <a:pPr>
              <a:spcAft>
                <a:spcPts val="500"/>
              </a:spcAft>
              <a:defRPr sz="1400">
                <a:solidFill>
                  <a:srgbClr val="3D4455"/>
                </a:solidFill>
                <a:latin typeface="Calibri"/>
              </a:defRPr>
            </a:pPr>
            <a:r>
              <a:t>Stridor at rest persisting after treatment</a:t>
            </a:r>
          </a:p>
          <a:p>
            <a:pPr>
              <a:spcAft>
                <a:spcPts val="500"/>
              </a:spcAft>
              <a:defRPr sz="1400">
                <a:solidFill>
                  <a:srgbClr val="3D4455"/>
                </a:solidFill>
                <a:latin typeface="Calibri"/>
              </a:defRPr>
            </a:pPr>
            <a:r>
              <a:t>Multiple epinephrine doses required</a:t>
            </a:r>
          </a:p>
          <a:p>
            <a:pPr>
              <a:spcAft>
                <a:spcPts val="500"/>
              </a:spcAft>
              <a:defRPr sz="1400">
                <a:solidFill>
                  <a:srgbClr val="3D4455"/>
                </a:solidFill>
                <a:latin typeface="Calibri"/>
              </a:defRPr>
            </a:pPr>
            <a:r>
              <a:t>Severe croup (Westley ≥6)</a:t>
            </a:r>
          </a:p>
          <a:p>
            <a:pPr>
              <a:spcAft>
                <a:spcPts val="500"/>
              </a:spcAft>
              <a:defRPr sz="1400">
                <a:solidFill>
                  <a:srgbClr val="3D4455"/>
                </a:solidFill>
                <a:latin typeface="Calibri"/>
              </a:defRPr>
            </a:pPr>
            <a:r>
              <a:t>Any suspicion for epiglottitis or bacterial tracheitis</a:t>
            </a:r>
          </a:p>
          <a:p>
            <a:pPr>
              <a:spcAft>
                <a:spcPts val="500"/>
              </a:spcAft>
              <a:defRPr sz="1400">
                <a:solidFill>
                  <a:srgbClr val="3D4455"/>
                </a:solidFill>
                <a:latin typeface="Calibri"/>
              </a:defRPr>
            </a:pPr>
            <a:r>
              <a:t>Hypoxia requiring supplemental O2</a:t>
            </a:r>
          </a:p>
          <a:p>
            <a:pPr>
              <a:spcAft>
                <a:spcPts val="500"/>
              </a:spcAft>
              <a:defRPr sz="1400">
                <a:solidFill>
                  <a:srgbClr val="3D4455"/>
                </a:solidFill>
                <a:latin typeface="Calibri"/>
              </a:defRPr>
            </a:pPr>
            <a:r>
              <a:t>Inability to tolerate oral fluids</a:t>
            </a:r>
          </a:p>
          <a:p>
            <a:pPr>
              <a:spcAft>
                <a:spcPts val="500"/>
              </a:spcAft>
              <a:defRPr sz="1400">
                <a:solidFill>
                  <a:srgbClr val="3D4455"/>
                </a:solidFill>
                <a:latin typeface="Calibri"/>
              </a:defRPr>
            </a:pPr>
            <a:r>
              <a:t>Young infant (&lt;6 months) with significant stridor</a:t>
            </a:r>
          </a:p>
          <a:p>
            <a:pPr>
              <a:spcAft>
                <a:spcPts val="500"/>
              </a:spcAft>
              <a:defRPr sz="1400">
                <a:solidFill>
                  <a:srgbClr val="3D4455"/>
                </a:solidFill>
                <a:latin typeface="Calibri"/>
              </a:defRPr>
            </a:pPr>
            <a:r>
              <a:t>Any concern for alternate diagnosis (FB, abscess)</a:t>
            </a:r>
          </a:p>
        </p:txBody>
      </p:sp>
      <p:sp>
        <p:nvSpPr>
          <p:cNvPr id="10" name="Rectangle 9"/>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12" name="TextBox 11"/>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Upper Airway Obstruction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Forgetting dexamethasone for mild croup — ALL severity levels benefit</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Discharging too early after nebulized epinephrine (need ≥2h observation)</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Examining the oropharynx in suspected epiglottitis — can precipitate complete obstruction</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Assuming all stridor is croup — consider foreign body, abscess, anaphylaxis, hemangioma</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Not considering bacterial tracheitis when croup treatment fails</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Missing retropharyngeal abscess — neck stiffness + fever + drooling + refusal to extend neck</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Sending home a child with stridor at rest — this requires ongoing observation</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2-Year-Old with Barky Cough at 2 AM</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2-year-old girl presents at 2 AM with barky cough and noisy breathing for 3 hours. Parents report 2 days of runny nose and low-grade fever (38.2°C). On exam: alert, intermittent barky cough, inspiratory stridor at rest, mild intercostal retractions, SpO2 97% on RA. No drooling. Westley Score: 4 (moderate croup).</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Immediate management? (Dexamethasone 0.6 mg/kg PO + nebulized epinephrine)</a:t>
            </a:r>
          </a:p>
          <a:p>
            <a:pPr>
              <a:spcAft>
                <a:spcPts val="600"/>
              </a:spcAft>
              <a:defRPr sz="1400" b="1">
                <a:solidFill>
                  <a:srgbClr val="007B83"/>
                </a:solidFill>
                <a:latin typeface="Calibri"/>
              </a:defRPr>
            </a:pPr>
            <a:r>
              <a:t>▸  30 minutes later: stridor resolved at rest, happy, drinking juice — now what?</a:t>
            </a:r>
          </a:p>
          <a:p>
            <a:pPr>
              <a:spcAft>
                <a:spcPts val="600"/>
              </a:spcAft>
              <a:defRPr sz="1400" b="1">
                <a:solidFill>
                  <a:srgbClr val="007B83"/>
                </a:solidFill>
                <a:latin typeface="Calibri"/>
              </a:defRPr>
            </a:pPr>
            <a:r>
              <a:t>▸  Must observe ≥2 hours post-epinephrine before disposition decision</a:t>
            </a:r>
          </a:p>
          <a:p>
            <a:pPr>
              <a:spcAft>
                <a:spcPts val="600"/>
              </a:spcAft>
              <a:defRPr sz="1400" b="1">
                <a:solidFill>
                  <a:srgbClr val="007B83"/>
                </a:solidFill>
                <a:latin typeface="Calibri"/>
              </a:defRPr>
            </a:pPr>
            <a:r>
              <a:t>▸  At 2 hours: no stridor, playful, tolerating PO — safe to discharge with return precautions</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ALL children with croup receive dexamethasone 0.6 mg/kg — even mild cases</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Observe at least 2 hours after nebulized epinephrine before discharge</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Epiglottitis = toxic + drooling + NO cough + rapid onset → do NOT examine throat, call for OR airway</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When croup treatment fails and child is toxic, think bacterial tracheitis</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Stridor at rest after treatment = admission; resolved stridor + tolerating PO = safe discharge</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Bjornson CL, Johnson DW. Croup in children. CMAJ. 2013;185(15):1317-1323.</a:t>
            </a:r>
          </a:p>
          <a:p>
            <a:pPr>
              <a:spcAft>
                <a:spcPts val="400"/>
              </a:spcAft>
              <a:defRPr sz="1100">
                <a:solidFill>
                  <a:srgbClr val="3D4455"/>
                </a:solidFill>
                <a:latin typeface="Calibri"/>
              </a:defRPr>
            </a:pPr>
            <a:r>
              <a:t>2. Russell KF, et al. Glucocorticoids for croup. Cochrane Database Syst Rev. 2011;1:CD001955.</a:t>
            </a:r>
          </a:p>
          <a:p>
            <a:pPr>
              <a:spcAft>
                <a:spcPts val="400"/>
              </a:spcAft>
              <a:defRPr sz="1100">
                <a:solidFill>
                  <a:srgbClr val="3D4455"/>
                </a:solidFill>
                <a:latin typeface="Calibri"/>
              </a:defRPr>
            </a:pPr>
            <a:r>
              <a:t>3. Gates A, et al. Glucocorticoids for croup in children. Cochrane Database Syst Rev. 2018;8:CD001955.</a:t>
            </a:r>
          </a:p>
          <a:p>
            <a:pPr>
              <a:spcAft>
                <a:spcPts val="400"/>
              </a:spcAft>
              <a:defRPr sz="1100">
                <a:solidFill>
                  <a:srgbClr val="3D4455"/>
                </a:solidFill>
                <a:latin typeface="Calibri"/>
              </a:defRPr>
            </a:pPr>
            <a:r>
              <a:t>4. Petrocheilou A, et al. Viral croup: diagnosis and a treatment algorithm. Pediatr Pulmonol. 2014;49(5):421-429.</a:t>
            </a:r>
          </a:p>
          <a:p>
            <a:pPr>
              <a:spcAft>
                <a:spcPts val="400"/>
              </a:spcAft>
              <a:defRPr sz="1100">
                <a:solidFill>
                  <a:srgbClr val="3D4455"/>
                </a:solidFill>
                <a:latin typeface="Calibri"/>
              </a:defRPr>
            </a:pPr>
            <a:r>
              <a:t>5. Shah RK, Roberson DW, Jones DT. Epiglottitis in the Hemophilus influenzae type B vaccine era. Laryngoscope. 2004;114(3):557-560.</a:t>
            </a:r>
          </a:p>
          <a:p>
            <a:pPr>
              <a:spcAft>
                <a:spcPts val="400"/>
              </a:spcAft>
              <a:defRPr sz="1100">
                <a:solidFill>
                  <a:srgbClr val="3D4455"/>
                </a:solidFill>
                <a:latin typeface="Calibri"/>
              </a:defRPr>
            </a:pPr>
            <a:r>
              <a:t>6. Hopkins A, et al. Changing epidemiology of life-threatening upper airway infections: the reemergence of bacterial tracheitis. Pediatrics. 2006;118(4):1418-1421.</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Upper Airway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