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PEM reality: abdominal pain is overwhelmingly benign. But surgical emergencies exist, and missing them has devastating consequences. The analgesia point is critical — multiple RCTs show that treating abdominal pain with analgesia does NOT reduce diagnostic accuracy and DOES improve the child and family experience.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backbone of the talk. Malrotation with volvulus is the most time-critical surgical emergency — it can cause midgut necrosis within hours. Intussusception peaks at 6-36 months. Appendicitis is the most common surgical emergency overall. In adolescents, always consider pregnancy-related complications and gonadal torsion.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Pediatric Appendicitis Score includes: migration of pain (1), anorexia (1), nausea/vomiting (1), RLQ tenderness (2), cough/hop/percussion tenderness (2), fever ≥38°C (1), WBC &gt;10,000 (1), ANC &gt;7,500 (1). It guides imaging decisions. The most important teaching: the classic progression is helpful but not always present, especially in young children.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US-first strategy reduces CT use significantly. When the appendix is visualized, US has excellent diagnostic accuracy. The problem: the appendix is not always visualized (~20-30% of cases). When US is equivocal, the choice between CT and MRI depends on institutional availability and clinical urgency. CT is faster and more widely available; MRI avoids radiation but takes longer.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lethargy pearl is critical for boards and practice. An infant presenting with intermittent episodes of irritability alternating with lethargy (not the typical lethargic infant picture) should raise suspicion for intussusception. The "currant jelly" stool is a LATE finding indicating mucosal ischemia — do not wait for it to make the diagnosis. US is the diagnostic test of choice.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Bilious vomiting in the neonate is a surgical emergency until proven otherwise. Malrotation with volvulus twists the entire midgut around the superior mesenteric artery, causing ischemia. The window for surgical intervention is narrow — delay leads to short gut syndrome or death. Call surgery when you suspect it. Upper GI shows the "corkscrew" or "bird beak" sign of the duodenum.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PEM physician must rapidly identify the surgical cases. The most common surgical emergency is appendicitis. The most time-critical is malrotation with volvulus. The most commonly missed in adolescents: ovarian and testicular torsion. Key reminder: strep pharyngitis in children often presents as abdominal pain with vomiting — always examine the throat.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textbook appendicitis case with a perfect PAS score. In this situation, imaging may not be necessary — the clinical presentation is classic and the PAS is maximally high. Surgical consult can proceed directly. The key teaching: not every child with suspected appendicitis needs a CT scan. Clinical assessment + PAS + US-first strategy reduces unnecessary radiation.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bilious vomiting pitfall is the most dangerous — delay in diagnosing malrotation with volvulus leads to short gut syndrome. The pregnancy test is a medicolegal and clinical imperative — ectopic pregnancy can present as abdominal pain, and missing it can be fatal. Always check a urine HCG in any post-pubertal female with abdominal pain or vomiting.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26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Acute Abdominal Pain in Children</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Age-Based Differential, Surgical Emergencies, and the PEM Approach to the Acute Abdomen</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Build an age-based differential diagnosis for pediatric abdominal pain</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Identify surgical emergencies: appendicitis, intussusception, malrotation with volvulus, incarcerated hernia</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Apply the Pediatric Appendicitis Score and Alvarado Score to guide imaging decisions</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Know when ultrasound vs. CT is appropriate for appendicitis workup</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Recognize the child who needs surgery NOW vs. the child who can be observed</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Acute Abdomen</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Abdominal Pain: The Most Common PEM Complaint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Abdominal pain accounts for 5-10% of all pediatric ED visits</a:t>
            </a:r>
          </a:p>
          <a:p>
            <a:pPr>
              <a:spcBef>
                <a:spcPts val="400"/>
              </a:spcBef>
              <a:spcAft>
                <a:spcPts val="600"/>
              </a:spcAft>
              <a:defRPr sz="1600">
                <a:solidFill>
                  <a:srgbClr val="3D4455"/>
                </a:solidFill>
                <a:latin typeface="Calibri"/>
              </a:defRPr>
            </a:pPr>
            <a:r>
              <a:t>Most cases are non-surgical: constipation, viral gastroenteritis, UTI, mesenteric adenitis</a:t>
            </a:r>
          </a:p>
          <a:p>
            <a:pPr>
              <a:spcBef>
                <a:spcPts val="400"/>
              </a:spcBef>
              <a:spcAft>
                <a:spcPts val="600"/>
              </a:spcAft>
              <a:defRPr sz="1600">
                <a:solidFill>
                  <a:srgbClr val="3D4455"/>
                </a:solidFill>
                <a:latin typeface="Calibri"/>
              </a:defRPr>
            </a:pPr>
            <a:r>
              <a:t>The challenge: identify the 1-2% with surgical emergencies among many benign cases</a:t>
            </a:r>
          </a:p>
          <a:p>
            <a:pPr>
              <a:spcBef>
                <a:spcPts val="400"/>
              </a:spcBef>
              <a:spcAft>
                <a:spcPts val="600"/>
              </a:spcAft>
              <a:defRPr sz="1600">
                <a:solidFill>
                  <a:srgbClr val="3D4455"/>
                </a:solidFill>
                <a:latin typeface="Calibri"/>
              </a:defRPr>
            </a:pPr>
            <a:r>
              <a:t>Age is the BEST discriminator for the differential diagnosis</a:t>
            </a:r>
          </a:p>
          <a:p>
            <a:pPr>
              <a:spcBef>
                <a:spcPts val="400"/>
              </a:spcBef>
              <a:spcAft>
                <a:spcPts val="600"/>
              </a:spcAft>
              <a:defRPr sz="1600">
                <a:solidFill>
                  <a:srgbClr val="3D4455"/>
                </a:solidFill>
                <a:latin typeface="Calibri"/>
              </a:defRPr>
            </a:pPr>
            <a:r>
              <a:t>Key question: does this child need surgery, imaging, observation, or reassurance?</a:t>
            </a:r>
          </a:p>
          <a:p>
            <a:pPr lvl="1">
              <a:spcBef>
                <a:spcPts val="400"/>
              </a:spcBef>
              <a:spcAft>
                <a:spcPts val="600"/>
              </a:spcAft>
              <a:defRPr sz="1400">
                <a:solidFill>
                  <a:srgbClr val="8A92A3"/>
                </a:solidFill>
                <a:latin typeface="Calibri"/>
              </a:defRPr>
            </a:pPr>
            <a:r>
              <a:t>Giving analgesia for abdominal pain does NOT mask surgical findings — treat the child's pain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Acute Abdomen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Differential Diagnosis by Age</a:t>
            </a:r>
          </a:p>
        </p:txBody>
      </p:sp>
      <p:graphicFrame>
        <p:nvGraphicFramePr>
          <p:cNvPr id="5" name="Table 4"/>
          <p:cNvGraphicFramePr>
            <a:graphicFrameLocks noGrp="1"/>
          </p:cNvGraphicFramePr>
          <p:nvPr/>
        </p:nvGraphicFramePr>
        <p:xfrm>
          <a:off x="822960" y="1280160"/>
          <a:ext cx="10515600" cy="27432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pPr algn="ctr">
                        <a:defRPr sz="1300" b="1">
                          <a:solidFill>
                            <a:srgbClr val="FFFFFF"/>
                          </a:solidFill>
                          <a:latin typeface="Calibri"/>
                        </a:defRPr>
                      </a:pPr>
                      <a:r>
                        <a:t>Age Group</a:t>
                      </a:r>
                    </a:p>
                  </a:txBody>
                  <a:tcPr>
                    <a:solidFill>
                      <a:srgbClr val="007B83"/>
                    </a:solidFill>
                  </a:tcPr>
                </a:tc>
                <a:tc>
                  <a:txBody>
                    <a:bodyPr/>
                    <a:lstStyle/>
                    <a:p>
                      <a:pPr algn="ctr">
                        <a:defRPr sz="1300" b="1">
                          <a:solidFill>
                            <a:srgbClr val="FFFFFF"/>
                          </a:solidFill>
                          <a:latin typeface="Calibri"/>
                        </a:defRPr>
                      </a:pPr>
                      <a:r>
                        <a:t>Common Causes</a:t>
                      </a:r>
                    </a:p>
                  </a:txBody>
                  <a:tcPr>
                    <a:solidFill>
                      <a:srgbClr val="007B83"/>
                    </a:solidFill>
                  </a:tcPr>
                </a:tc>
                <a:tc>
                  <a:txBody>
                    <a:bodyPr/>
                    <a:lstStyle/>
                    <a:p>
                      <a:pPr algn="ctr">
                        <a:defRPr sz="1300" b="1">
                          <a:solidFill>
                            <a:srgbClr val="FFFFFF"/>
                          </a:solidFill>
                          <a:latin typeface="Calibri"/>
                        </a:defRPr>
                      </a:pPr>
                      <a:r>
                        <a:t>Must Not Miss</a:t>
                      </a:r>
                    </a:p>
                  </a:txBody>
                  <a:tcPr>
                    <a:solidFill>
                      <a:srgbClr val="007B83"/>
                    </a:solidFill>
                  </a:tcPr>
                </a:tc>
              </a:tr>
              <a:tr h="457200">
                <a:tc>
                  <a:txBody>
                    <a:bodyPr/>
                    <a:lstStyle/>
                    <a:p>
                      <a:pPr algn="l">
                        <a:defRPr sz="1200">
                          <a:solidFill>
                            <a:srgbClr val="3D4455"/>
                          </a:solidFill>
                          <a:latin typeface="Calibri"/>
                        </a:defRPr>
                      </a:pPr>
                      <a:r>
                        <a:t>Neonate (&lt;30d)</a:t>
                      </a:r>
                    </a:p>
                  </a:txBody>
                  <a:tcPr>
                    <a:solidFill>
                      <a:srgbClr val="F5F6FA"/>
                    </a:solidFill>
                  </a:tcPr>
                </a:tc>
                <a:tc>
                  <a:txBody>
                    <a:bodyPr/>
                    <a:lstStyle/>
                    <a:p>
                      <a:pPr algn="l">
                        <a:defRPr sz="1200">
                          <a:solidFill>
                            <a:srgbClr val="3D4455"/>
                          </a:solidFill>
                          <a:latin typeface="Calibri"/>
                        </a:defRPr>
                      </a:pPr>
                      <a:r>
                        <a:t>NEC, Hirschsprung, incarcerated hernia</a:t>
                      </a:r>
                    </a:p>
                  </a:txBody>
                  <a:tcPr>
                    <a:solidFill>
                      <a:srgbClr val="F5F6FA"/>
                    </a:solidFill>
                  </a:tcPr>
                </a:tc>
                <a:tc>
                  <a:txBody>
                    <a:bodyPr/>
                    <a:lstStyle/>
                    <a:p>
                      <a:pPr algn="l">
                        <a:defRPr sz="1200">
                          <a:solidFill>
                            <a:srgbClr val="3D4455"/>
                          </a:solidFill>
                          <a:latin typeface="Calibri"/>
                        </a:defRPr>
                      </a:pPr>
                      <a:r>
                        <a:t>Malrotation with volvulus, NEC</a:t>
                      </a:r>
                    </a:p>
                  </a:txBody>
                  <a:tcPr>
                    <a:solidFill>
                      <a:srgbClr val="F5F6FA"/>
                    </a:solidFill>
                  </a:tcPr>
                </a:tc>
              </a:tr>
              <a:tr h="457200">
                <a:tc>
                  <a:txBody>
                    <a:bodyPr/>
                    <a:lstStyle/>
                    <a:p>
                      <a:pPr algn="l">
                        <a:defRPr sz="1200">
                          <a:solidFill>
                            <a:srgbClr val="3D4455"/>
                          </a:solidFill>
                          <a:latin typeface="Calibri"/>
                        </a:defRPr>
                      </a:pPr>
                      <a:r>
                        <a:t>Infant (1-12mo)</a:t>
                      </a:r>
                    </a:p>
                  </a:txBody>
                  <a:tcPr>
                    <a:solidFill>
                      <a:srgbClr val="FFFFFF"/>
                    </a:solidFill>
                  </a:tcPr>
                </a:tc>
                <a:tc>
                  <a:txBody>
                    <a:bodyPr/>
                    <a:lstStyle/>
                    <a:p>
                      <a:pPr algn="l">
                        <a:defRPr sz="1200">
                          <a:solidFill>
                            <a:srgbClr val="3D4455"/>
                          </a:solidFill>
                          <a:latin typeface="Calibri"/>
                        </a:defRPr>
                      </a:pPr>
                      <a:r>
                        <a:t>Colic, constipation, gastroenteritis, UTI</a:t>
                      </a:r>
                    </a:p>
                  </a:txBody>
                  <a:tcPr>
                    <a:solidFill>
                      <a:srgbClr val="FFFFFF"/>
                    </a:solidFill>
                  </a:tcPr>
                </a:tc>
                <a:tc>
                  <a:txBody>
                    <a:bodyPr/>
                    <a:lstStyle/>
                    <a:p>
                      <a:pPr algn="l">
                        <a:defRPr sz="1200">
                          <a:solidFill>
                            <a:srgbClr val="3D4455"/>
                          </a:solidFill>
                          <a:latin typeface="Calibri"/>
                        </a:defRPr>
                      </a:pPr>
                      <a:r>
                        <a:t>Intussusception, incarcerated hernia, malrotation</a:t>
                      </a:r>
                    </a:p>
                  </a:txBody>
                  <a:tcPr>
                    <a:solidFill>
                      <a:srgbClr val="FFFFFF"/>
                    </a:solidFill>
                  </a:tcPr>
                </a:tc>
              </a:tr>
              <a:tr h="457200">
                <a:tc>
                  <a:txBody>
                    <a:bodyPr/>
                    <a:lstStyle/>
                    <a:p>
                      <a:pPr algn="l">
                        <a:defRPr sz="1200">
                          <a:solidFill>
                            <a:srgbClr val="3D4455"/>
                          </a:solidFill>
                          <a:latin typeface="Calibri"/>
                        </a:defRPr>
                      </a:pPr>
                      <a:r>
                        <a:t>Toddler (1-5y)</a:t>
                      </a:r>
                    </a:p>
                  </a:txBody>
                  <a:tcPr>
                    <a:solidFill>
                      <a:srgbClr val="F5F6FA"/>
                    </a:solidFill>
                  </a:tcPr>
                </a:tc>
                <a:tc>
                  <a:txBody>
                    <a:bodyPr/>
                    <a:lstStyle/>
                    <a:p>
                      <a:pPr algn="l">
                        <a:defRPr sz="1200">
                          <a:solidFill>
                            <a:srgbClr val="3D4455"/>
                          </a:solidFill>
                          <a:latin typeface="Calibri"/>
                        </a:defRPr>
                      </a:pPr>
                      <a:r>
                        <a:t>Constipation, gastroenteritis, UTI, strep pharyngitis</a:t>
                      </a:r>
                    </a:p>
                  </a:txBody>
                  <a:tcPr>
                    <a:solidFill>
                      <a:srgbClr val="F5F6FA"/>
                    </a:solidFill>
                  </a:tcPr>
                </a:tc>
                <a:tc>
                  <a:txBody>
                    <a:bodyPr/>
                    <a:lstStyle/>
                    <a:p>
                      <a:pPr algn="l">
                        <a:defRPr sz="1200">
                          <a:solidFill>
                            <a:srgbClr val="3D4455"/>
                          </a:solidFill>
                          <a:latin typeface="Calibri"/>
                        </a:defRPr>
                      </a:pPr>
                      <a:r>
                        <a:t>Intussusception, appendicitis (rare &lt;5y but more severe)</a:t>
                      </a:r>
                    </a:p>
                  </a:txBody>
                  <a:tcPr>
                    <a:solidFill>
                      <a:srgbClr val="F5F6FA"/>
                    </a:solidFill>
                  </a:tcPr>
                </a:tc>
              </a:tr>
              <a:tr h="457200">
                <a:tc>
                  <a:txBody>
                    <a:bodyPr/>
                    <a:lstStyle/>
                    <a:p>
                      <a:pPr algn="l">
                        <a:defRPr sz="1200">
                          <a:solidFill>
                            <a:srgbClr val="3D4455"/>
                          </a:solidFill>
                          <a:latin typeface="Calibri"/>
                        </a:defRPr>
                      </a:pPr>
                      <a:r>
                        <a:t>School-age (5-12y)</a:t>
                      </a:r>
                    </a:p>
                  </a:txBody>
                  <a:tcPr>
                    <a:solidFill>
                      <a:srgbClr val="FFFFFF"/>
                    </a:solidFill>
                  </a:tcPr>
                </a:tc>
                <a:tc>
                  <a:txBody>
                    <a:bodyPr/>
                    <a:lstStyle/>
                    <a:p>
                      <a:pPr algn="l">
                        <a:defRPr sz="1200">
                          <a:solidFill>
                            <a:srgbClr val="3D4455"/>
                          </a:solidFill>
                          <a:latin typeface="Calibri"/>
                        </a:defRPr>
                      </a:pPr>
                      <a:r>
                        <a:t>Constipation, functional pain, gastroenteritis</a:t>
                      </a:r>
                    </a:p>
                  </a:txBody>
                  <a:tcPr>
                    <a:solidFill>
                      <a:srgbClr val="FFFFFF"/>
                    </a:solidFill>
                  </a:tcPr>
                </a:tc>
                <a:tc>
                  <a:txBody>
                    <a:bodyPr/>
                    <a:lstStyle/>
                    <a:p>
                      <a:pPr algn="l">
                        <a:defRPr sz="1200">
                          <a:solidFill>
                            <a:srgbClr val="3D4455"/>
                          </a:solidFill>
                          <a:latin typeface="Calibri"/>
                        </a:defRPr>
                      </a:pPr>
                      <a:r>
                        <a:t>Appendicitis (#1 surgical emergency), testicular torsion</a:t>
                      </a:r>
                    </a:p>
                  </a:txBody>
                  <a:tcPr>
                    <a:solidFill>
                      <a:srgbClr val="FFFFFF"/>
                    </a:solidFill>
                  </a:tcPr>
                </a:tc>
              </a:tr>
              <a:tr h="457200">
                <a:tc>
                  <a:txBody>
                    <a:bodyPr/>
                    <a:lstStyle/>
                    <a:p>
                      <a:pPr algn="l">
                        <a:defRPr sz="1200">
                          <a:solidFill>
                            <a:srgbClr val="3D4455"/>
                          </a:solidFill>
                          <a:latin typeface="Calibri"/>
                        </a:defRPr>
                      </a:pPr>
                      <a:r>
                        <a:t>Adolescent (12-18y)</a:t>
                      </a:r>
                    </a:p>
                  </a:txBody>
                  <a:tcPr>
                    <a:solidFill>
                      <a:srgbClr val="F5F6FA"/>
                    </a:solidFill>
                  </a:tcPr>
                </a:tc>
                <a:tc>
                  <a:txBody>
                    <a:bodyPr/>
                    <a:lstStyle/>
                    <a:p>
                      <a:pPr algn="l">
                        <a:defRPr sz="1200">
                          <a:solidFill>
                            <a:srgbClr val="3D4455"/>
                          </a:solidFill>
                          <a:latin typeface="Calibri"/>
                        </a:defRPr>
                      </a:pPr>
                      <a:r>
                        <a:t>Constipation, functional, gastroenteritis, dysmenorrhea</a:t>
                      </a:r>
                    </a:p>
                  </a:txBody>
                  <a:tcPr>
                    <a:solidFill>
                      <a:srgbClr val="F5F6FA"/>
                    </a:solidFill>
                  </a:tcPr>
                </a:tc>
                <a:tc>
                  <a:txBody>
                    <a:bodyPr/>
                    <a:lstStyle/>
                    <a:p>
                      <a:pPr algn="l">
                        <a:defRPr sz="1200">
                          <a:solidFill>
                            <a:srgbClr val="3D4455"/>
                          </a:solidFill>
                          <a:latin typeface="Calibri"/>
                        </a:defRPr>
                      </a:pPr>
                      <a:r>
                        <a:t>Appendicitis, ovarian torsion, ectopic pregnancy, testicular torsion</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Acute Abdomen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Appendicitis: The Most Common Surgical Emergency</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Lifetime risk: ~7-8%; peak age: 10-14 years; rare &lt;2 years (but more dangerous due to delayed diagnosis)</a:t>
            </a:r>
          </a:p>
          <a:p>
            <a:pPr>
              <a:spcBef>
                <a:spcPts val="400"/>
              </a:spcBef>
              <a:spcAft>
                <a:spcPts val="600"/>
              </a:spcAft>
              <a:defRPr sz="1600">
                <a:solidFill>
                  <a:srgbClr val="3D4455"/>
                </a:solidFill>
                <a:latin typeface="Calibri"/>
              </a:defRPr>
            </a:pPr>
            <a:r>
              <a:t>Classic progression: periumbilical pain → anorexia → nausea/vomiting → RLQ pain → fever</a:t>
            </a:r>
          </a:p>
          <a:p>
            <a:pPr>
              <a:spcBef>
                <a:spcPts val="400"/>
              </a:spcBef>
              <a:spcAft>
                <a:spcPts val="600"/>
              </a:spcAft>
              <a:defRPr sz="1600">
                <a:solidFill>
                  <a:srgbClr val="3D4455"/>
                </a:solidFill>
                <a:latin typeface="Calibri"/>
              </a:defRPr>
            </a:pPr>
            <a:r>
              <a:t>McBurney point tenderness, Rovsing sign, psoas sign, obturator sign</a:t>
            </a:r>
          </a:p>
          <a:p>
            <a:pPr>
              <a:spcBef>
                <a:spcPts val="400"/>
              </a:spcBef>
              <a:spcAft>
                <a:spcPts val="600"/>
              </a:spcAft>
              <a:defRPr sz="1600">
                <a:solidFill>
                  <a:srgbClr val="3D4455"/>
                </a:solidFill>
                <a:latin typeface="Calibri"/>
              </a:defRPr>
            </a:pPr>
            <a:r>
              <a:t>Perforation rate increases with delay: 20% at 24h, &gt;70% at 48h in children &lt;5 years</a:t>
            </a:r>
          </a:p>
          <a:p>
            <a:pPr>
              <a:spcBef>
                <a:spcPts val="400"/>
              </a:spcBef>
              <a:spcAft>
                <a:spcPts val="600"/>
              </a:spcAft>
              <a:defRPr sz="1600">
                <a:solidFill>
                  <a:srgbClr val="3D4455"/>
                </a:solidFill>
                <a:latin typeface="Calibri"/>
              </a:defRPr>
            </a:pPr>
            <a:r>
              <a:t>PAS (Pediatric Appendicitis Score): helps risk-stratify (score 0-10)</a:t>
            </a:r>
          </a:p>
          <a:p>
            <a:pPr lvl="1">
              <a:spcBef>
                <a:spcPts val="400"/>
              </a:spcBef>
              <a:spcAft>
                <a:spcPts val="600"/>
              </a:spcAft>
              <a:defRPr sz="1400">
                <a:solidFill>
                  <a:srgbClr val="8A92A3"/>
                </a:solidFill>
                <a:latin typeface="Calibri"/>
              </a:defRPr>
            </a:pPr>
            <a:r>
              <a:t>Low risk (PAS ≤3): observe or discharge with return precautions</a:t>
            </a:r>
          </a:p>
          <a:p>
            <a:pPr lvl="1">
              <a:spcBef>
                <a:spcPts val="400"/>
              </a:spcBef>
              <a:spcAft>
                <a:spcPts val="600"/>
              </a:spcAft>
              <a:defRPr sz="1400">
                <a:solidFill>
                  <a:srgbClr val="8A92A3"/>
                </a:solidFill>
                <a:latin typeface="Calibri"/>
              </a:defRPr>
            </a:pPr>
            <a:r>
              <a:t>Moderate risk (PAS 4-6): imaging indicated — ultrasound first</a:t>
            </a:r>
          </a:p>
          <a:p>
            <a:pPr lvl="1">
              <a:spcBef>
                <a:spcPts val="400"/>
              </a:spcBef>
              <a:spcAft>
                <a:spcPts val="600"/>
              </a:spcAft>
              <a:defRPr sz="1400">
                <a:solidFill>
                  <a:srgbClr val="8A92A3"/>
                </a:solidFill>
                <a:latin typeface="Calibri"/>
              </a:defRPr>
            </a:pPr>
            <a:r>
              <a:t>High risk (PAS ≥7): surgical consult; imaging may not be needed if classic presentation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Acute Abdomen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Appendicitis Imaging Approach</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CLINICAL (PAS ≥7 with classic presentation): Surgical consult → may proceed to OR without imaging</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ULTRASOUND FIRST: Right lower quadrant US is first-line — sensitivity 85-95% when appendix is visualized</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US positive (non-compressible, dilated &gt;6mm, hyperemia): Surgical consult for appendectomy</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US negative (appendix visualized, normal): Low risk → observe or discharge with precautions</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US equivocal (appendix not visualized): Serial exam ± CT with IV contrast OR MRI</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CT: reserved for equivocal US, atypical presentation, or concern for perforation/abscess</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MRI: increasingly used as second-line after equivocal US to avoid radiation</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Acute Abdomen</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Intussusception: The Classic Infant Surgical Emergency</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Telescoping of proximal bowel into distal segment — most commonly ileocolic</a:t>
            </a:r>
          </a:p>
          <a:p>
            <a:pPr>
              <a:spcBef>
                <a:spcPts val="400"/>
              </a:spcBef>
              <a:spcAft>
                <a:spcPts val="600"/>
              </a:spcAft>
              <a:defRPr sz="1600">
                <a:solidFill>
                  <a:srgbClr val="3D4455"/>
                </a:solidFill>
                <a:latin typeface="Calibri"/>
              </a:defRPr>
            </a:pPr>
            <a:r>
              <a:t>Peak age: 6-36 months; most common cause of bowel obstruction in this age group</a:t>
            </a:r>
          </a:p>
          <a:p>
            <a:pPr>
              <a:spcBef>
                <a:spcPts val="400"/>
              </a:spcBef>
              <a:spcAft>
                <a:spcPts val="600"/>
              </a:spcAft>
              <a:defRPr sz="1600">
                <a:solidFill>
                  <a:srgbClr val="3D4455"/>
                </a:solidFill>
                <a:latin typeface="Calibri"/>
              </a:defRPr>
            </a:pPr>
            <a:r>
              <a:t>Classic triad: intermittent colicky abdominal pain + vomiting + "currant jelly" stool (late finding)</a:t>
            </a:r>
          </a:p>
          <a:p>
            <a:pPr>
              <a:spcBef>
                <a:spcPts val="400"/>
              </a:spcBef>
              <a:spcAft>
                <a:spcPts val="600"/>
              </a:spcAft>
              <a:defRPr sz="1600">
                <a:solidFill>
                  <a:srgbClr val="3D4455"/>
                </a:solidFill>
                <a:latin typeface="Calibri"/>
              </a:defRPr>
            </a:pPr>
            <a:r>
              <a:t>Classic triad present in only 20-40% — most present with pain and lethargy</a:t>
            </a:r>
          </a:p>
          <a:p>
            <a:pPr>
              <a:spcBef>
                <a:spcPts val="400"/>
              </a:spcBef>
              <a:spcAft>
                <a:spcPts val="600"/>
              </a:spcAft>
              <a:defRPr sz="1600">
                <a:solidFill>
                  <a:srgbClr val="3D4455"/>
                </a:solidFill>
                <a:latin typeface="Calibri"/>
              </a:defRPr>
            </a:pPr>
            <a:r>
              <a:t>Key pearl: LETHARGY may be the ONLY presenting sign in intussusception — maintain high suspicion</a:t>
            </a:r>
          </a:p>
          <a:p>
            <a:pPr>
              <a:spcBef>
                <a:spcPts val="400"/>
              </a:spcBef>
              <a:spcAft>
                <a:spcPts val="600"/>
              </a:spcAft>
              <a:defRPr sz="1600">
                <a:solidFill>
                  <a:srgbClr val="3D4455"/>
                </a:solidFill>
                <a:latin typeface="Calibri"/>
              </a:defRPr>
            </a:pPr>
            <a:r>
              <a:t>Diagnosis: US showing "target sign" or "doughnut sign" — sensitivity &gt;95%</a:t>
            </a:r>
          </a:p>
          <a:p>
            <a:pPr>
              <a:spcBef>
                <a:spcPts val="400"/>
              </a:spcBef>
              <a:spcAft>
                <a:spcPts val="600"/>
              </a:spcAft>
              <a:defRPr sz="1600">
                <a:solidFill>
                  <a:srgbClr val="3D4455"/>
                </a:solidFill>
                <a:latin typeface="Calibri"/>
              </a:defRPr>
            </a:pPr>
            <a:r>
              <a:t>Treatment: air or hydrostatic enema reduction (success rate 80-90%) vs. surgical reduction if failed</a:t>
            </a:r>
          </a:p>
          <a:p>
            <a:pPr lvl="1">
              <a:spcBef>
                <a:spcPts val="400"/>
              </a:spcBef>
              <a:spcAft>
                <a:spcPts val="600"/>
              </a:spcAft>
              <a:defRPr sz="1400">
                <a:solidFill>
                  <a:srgbClr val="8A92A3"/>
                </a:solidFill>
                <a:latin typeface="Calibri"/>
              </a:defRPr>
            </a:pPr>
            <a:r>
              <a:t>Peritonitis or perforation = surgical emergency; do NOT attempt enema reduction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Acute Abdomen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CRITICAL EMERGENCY</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Malrotation with midgut volvulus is the most time-critical abdominal emergency in children.</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Presents in the first month of life in most cases. Bilious vomiting in a neonate = malrotation with volvulus until proven otherwise. This can cause complete midgut necrosis within hours. Upper GI series is the diagnostic test. Surgical emergency — call surgery BEFORE the imaging is done.</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Acute Abdomen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Surgical vs. Non-Surgical Abdomen</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NEEDS SURGERY (or may need)</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Appendicitis (confirmed or high clinical suspicion)</a:t>
            </a:r>
          </a:p>
          <a:p>
            <a:pPr>
              <a:spcAft>
                <a:spcPts val="500"/>
              </a:spcAft>
              <a:defRPr sz="1400">
                <a:solidFill>
                  <a:srgbClr val="3D4455"/>
                </a:solidFill>
                <a:latin typeface="Calibri"/>
              </a:defRPr>
            </a:pPr>
            <a:r>
              <a:t>Intussusception (failed enema reduction)</a:t>
            </a:r>
          </a:p>
          <a:p>
            <a:pPr>
              <a:spcAft>
                <a:spcPts val="500"/>
              </a:spcAft>
              <a:defRPr sz="1400">
                <a:solidFill>
                  <a:srgbClr val="3D4455"/>
                </a:solidFill>
                <a:latin typeface="Calibri"/>
              </a:defRPr>
            </a:pPr>
            <a:r>
              <a:t>Malrotation with volvulus</a:t>
            </a:r>
          </a:p>
          <a:p>
            <a:pPr>
              <a:spcAft>
                <a:spcPts val="500"/>
              </a:spcAft>
              <a:defRPr sz="1400">
                <a:solidFill>
                  <a:srgbClr val="3D4455"/>
                </a:solidFill>
                <a:latin typeface="Calibri"/>
              </a:defRPr>
            </a:pPr>
            <a:r>
              <a:t>Incarcerated hernia (if manual reduction fails)</a:t>
            </a:r>
          </a:p>
          <a:p>
            <a:pPr>
              <a:spcAft>
                <a:spcPts val="500"/>
              </a:spcAft>
              <a:defRPr sz="1400">
                <a:solidFill>
                  <a:srgbClr val="3D4455"/>
                </a:solidFill>
                <a:latin typeface="Calibri"/>
              </a:defRPr>
            </a:pPr>
            <a:r>
              <a:t>Ovarian torsion (time-sensitive)</a:t>
            </a:r>
          </a:p>
          <a:p>
            <a:pPr>
              <a:spcAft>
                <a:spcPts val="500"/>
              </a:spcAft>
              <a:defRPr sz="1400">
                <a:solidFill>
                  <a:srgbClr val="3D4455"/>
                </a:solidFill>
                <a:latin typeface="Calibri"/>
              </a:defRPr>
            </a:pPr>
            <a:r>
              <a:t>Testicular torsion (time-sensitive — &lt;6 hours)</a:t>
            </a:r>
          </a:p>
          <a:p>
            <a:pPr>
              <a:spcAft>
                <a:spcPts val="500"/>
              </a:spcAft>
              <a:defRPr sz="1400">
                <a:solidFill>
                  <a:srgbClr val="3D4455"/>
                </a:solidFill>
                <a:latin typeface="Calibri"/>
              </a:defRPr>
            </a:pPr>
            <a:r>
              <a:t>Perforated viscus (free air, peritonitis)</a:t>
            </a:r>
          </a:p>
          <a:p>
            <a:pPr>
              <a:spcAft>
                <a:spcPts val="500"/>
              </a:spcAft>
              <a:defRPr sz="1400">
                <a:solidFill>
                  <a:srgbClr val="3D4455"/>
                </a:solidFill>
                <a:latin typeface="Calibri"/>
              </a:defRPr>
            </a:pPr>
            <a:r>
              <a:t>Necrotizing enterocolitis (pneumatosis, perforation)</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NON-SURGICAL (manage medically)</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Constipation (most common cause of abd pain in children)</a:t>
            </a:r>
          </a:p>
          <a:p>
            <a:pPr>
              <a:spcAft>
                <a:spcPts val="500"/>
              </a:spcAft>
              <a:defRPr sz="1400">
                <a:solidFill>
                  <a:srgbClr val="3D4455"/>
                </a:solidFill>
                <a:latin typeface="Calibri"/>
              </a:defRPr>
            </a:pPr>
            <a:r>
              <a:t>Gastroenteritis</a:t>
            </a:r>
          </a:p>
          <a:p>
            <a:pPr>
              <a:spcAft>
                <a:spcPts val="500"/>
              </a:spcAft>
              <a:defRPr sz="1400">
                <a:solidFill>
                  <a:srgbClr val="3D4455"/>
                </a:solidFill>
                <a:latin typeface="Calibri"/>
              </a:defRPr>
            </a:pPr>
            <a:r>
              <a:t>Mesenteric adenitis</a:t>
            </a:r>
          </a:p>
          <a:p>
            <a:pPr>
              <a:spcAft>
                <a:spcPts val="500"/>
              </a:spcAft>
              <a:defRPr sz="1400">
                <a:solidFill>
                  <a:srgbClr val="3D4455"/>
                </a:solidFill>
                <a:latin typeface="Calibri"/>
              </a:defRPr>
            </a:pPr>
            <a:r>
              <a:t>UTI</a:t>
            </a:r>
          </a:p>
          <a:p>
            <a:pPr>
              <a:spcAft>
                <a:spcPts val="500"/>
              </a:spcAft>
              <a:defRPr sz="1400">
                <a:solidFill>
                  <a:srgbClr val="3D4455"/>
                </a:solidFill>
                <a:latin typeface="Calibri"/>
              </a:defRPr>
            </a:pPr>
            <a:r>
              <a:t>Strep pharyngitis (often presents as abdominal pain)</a:t>
            </a:r>
          </a:p>
          <a:p>
            <a:pPr>
              <a:spcAft>
                <a:spcPts val="500"/>
              </a:spcAft>
              <a:defRPr sz="1400">
                <a:solidFill>
                  <a:srgbClr val="3D4455"/>
                </a:solidFill>
                <a:latin typeface="Calibri"/>
              </a:defRPr>
            </a:pPr>
            <a:r>
              <a:t>Functional abdominal pain</a:t>
            </a:r>
          </a:p>
          <a:p>
            <a:pPr>
              <a:spcAft>
                <a:spcPts val="500"/>
              </a:spcAft>
              <a:defRPr sz="1400">
                <a:solidFill>
                  <a:srgbClr val="3D4455"/>
                </a:solidFill>
                <a:latin typeface="Calibri"/>
              </a:defRPr>
            </a:pPr>
            <a:r>
              <a:t>Henoch-Schönlein purpura</a:t>
            </a:r>
          </a:p>
          <a:p>
            <a:pPr>
              <a:spcAft>
                <a:spcPts val="500"/>
              </a:spcAft>
              <a:defRPr sz="1400">
                <a:solidFill>
                  <a:srgbClr val="3D4455"/>
                </a:solidFill>
                <a:latin typeface="Calibri"/>
              </a:defRPr>
            </a:pPr>
            <a:r>
              <a:t>Pancreatitis (most cases managed medically)</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Acute Abdomen</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10-Year-Old with RLQ Pain and Fever</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10-year-old girl presents with 18 hours of abdominal pain that started around her belly button and moved to the right lower quadrant. She vomited twice and has not eaten since yesterday. T 38.5°C, HR 110, BP 105/65. Exam: RLQ tenderness with guarding, positive Rovsing sign, pain with cough. WBC 14,500 with ANC 11,200.</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Pediatric Appendicitis Score: migration (1) + anorexia (1) + vomiting (1) + RLQ tenderness (2) + cough/percussion (2) + fever (1) + WBC &gt;10K (1) + ANC &gt;7500 (1) = PAS 10/10</a:t>
            </a:r>
          </a:p>
          <a:p>
            <a:pPr>
              <a:spcAft>
                <a:spcPts val="600"/>
              </a:spcAft>
              <a:defRPr sz="1400" b="1">
                <a:solidFill>
                  <a:srgbClr val="007B83"/>
                </a:solidFill>
                <a:latin typeface="Calibri"/>
              </a:defRPr>
            </a:pPr>
            <a:r>
              <a:t>▸  Does she need imaging? (PAS ≥7 with classic presentation → may go to OR without imaging)</a:t>
            </a:r>
          </a:p>
          <a:p>
            <a:pPr>
              <a:spcAft>
                <a:spcPts val="600"/>
              </a:spcAft>
              <a:defRPr sz="1400" b="1">
                <a:solidFill>
                  <a:srgbClr val="007B83"/>
                </a:solidFill>
                <a:latin typeface="Calibri"/>
              </a:defRPr>
            </a:pPr>
            <a:r>
              <a:t>▸  Management? (NPO, IV fluids, IV antibiotics, surgical consult for appendectomy)</a:t>
            </a:r>
          </a:p>
          <a:p>
            <a:pPr>
              <a:spcAft>
                <a:spcPts val="600"/>
              </a:spcAft>
              <a:defRPr sz="1400" b="1">
                <a:solidFill>
                  <a:srgbClr val="007B83"/>
                </a:solidFill>
                <a:latin typeface="Calibri"/>
              </a:defRPr>
            </a:pPr>
            <a:r>
              <a:t>▸  If you do image — what first? (US first; CT only if US equivocal)</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Acute Abdomen</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Acute Abdomen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Bilious vomiting in a neonate assumed to be "reflux" — this is malrotation with volvulus until proven otherwise</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Discharging a child with undifferentiated RLQ pain without clear return precautions and follow-up</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Going straight to CT for appendicitis without trying US first</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Missing intussusception in a lethargic infant — lethargy can be the ONLY symptom</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Withholding analgesia pending surgical evaluation — this does NOT mask surgical findings</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Missing ovarian or testicular torsion — always examine the genitalia in any child with lower abdominal pain</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Not checking a pregnancy test in any adolescent female with abdominal pain — ectopic pregnancy can be fatal</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Acute Abdomen</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Bilious vomiting in a neonate = malrotation with volvulus until proven otherwise — call surgery IMMEDIATELY</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Appendicitis workup: Pediatric Appendicitis Score → US first → CT only if equivocal</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Intussusception: intermittent pain + lethargy in an infant → US for "target sign" → air enema reduction</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Always check urine pregnancy test in adolescent females with abdominal pain</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Giving analgesia for abdominal pain does NOT mask surgical findings — treat the child's pain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Acute Abdomen</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Kharbanda AB, et al. A clinical decision rule to identify children at low risk for appendicitis. Pediatrics. 2005;116(3):709-716.</a:t>
            </a:r>
          </a:p>
          <a:p>
            <a:pPr>
              <a:spcAft>
                <a:spcPts val="400"/>
              </a:spcAft>
              <a:defRPr sz="1100">
                <a:solidFill>
                  <a:srgbClr val="3D4455"/>
                </a:solidFill>
                <a:latin typeface="Calibri"/>
              </a:defRPr>
            </a:pPr>
            <a:r>
              <a:t>2. Samuel M. Pediatric appendicitis score. J Pediatr Surg. 2002;37(6):877-881.</a:t>
            </a:r>
          </a:p>
          <a:p>
            <a:pPr>
              <a:spcAft>
                <a:spcPts val="400"/>
              </a:spcAft>
              <a:defRPr sz="1100">
                <a:solidFill>
                  <a:srgbClr val="3D4455"/>
                </a:solidFill>
                <a:latin typeface="Calibri"/>
              </a:defRPr>
            </a:pPr>
            <a:r>
              <a:t>3. Waseem M, Rosenberg HK. Intussusception. Pediatr Emerg Care. 2008;24(11):793-800.</a:t>
            </a:r>
          </a:p>
          <a:p>
            <a:pPr>
              <a:spcAft>
                <a:spcPts val="400"/>
              </a:spcAft>
              <a:defRPr sz="1100">
                <a:solidFill>
                  <a:srgbClr val="3D4455"/>
                </a:solidFill>
                <a:latin typeface="Calibri"/>
              </a:defRPr>
            </a:pPr>
            <a:r>
              <a:t>4. Defined by the American College of Radiology Appropriateness Criteria for right lower quadrant pain. ACR; 2023.</a:t>
            </a:r>
          </a:p>
          <a:p>
            <a:pPr>
              <a:spcAft>
                <a:spcPts val="400"/>
              </a:spcAft>
              <a:defRPr sz="1100">
                <a:solidFill>
                  <a:srgbClr val="3D4455"/>
                </a:solidFill>
                <a:latin typeface="Calibri"/>
              </a:defRPr>
            </a:pPr>
            <a:r>
              <a:t>5. Carroll CL, et al. Does the use of analgesia in children with acute abdominal pain mask a surgical diagnosis? Paediatr Child Health. 2016;21(3):e18-e21.</a:t>
            </a:r>
          </a:p>
          <a:p>
            <a:pPr>
              <a:spcAft>
                <a:spcPts val="400"/>
              </a:spcAft>
              <a:defRPr sz="1100">
                <a:solidFill>
                  <a:srgbClr val="3D4455"/>
                </a:solidFill>
                <a:latin typeface="Calibri"/>
              </a:defRPr>
            </a:pPr>
            <a:r>
              <a:t>6. Bines JE, et al. Acute intussusception in infants and children: incidence, clinical presentation and management. Vaccine. 2006;24(18):3684-3691.</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Acute Abdomen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