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GI bleeding in children is self-limited and benign. The PEM challenge is identifying the exceptions. Red foods/drinks, beets, iron supplements, and bismuth can mimic GI bleeding. Swallowed maternal blood (from cracked nipples or delivery) is a common cause of "GI bleeding" in neonates — Apt test differentiates fetal from maternal hemoglobin.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Age-based thinking is essential. In neonates, always consider NEC (especially premature) and swallowed maternal blood. In infants, anal fissure is by far the most common cause. In toddlers, Meckel diverticulum is the most common cause of significant painless LGIB. In adolescents, IBD becomes the most important diagnosis for chronic or recurrent bleeding.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Meckel diverticulum is a board favorite. The ectopic gastric mucosa secretes acid, causing ulceration and painless bleeding. The bleeding can be massive. Technetium scan detects ectopic gastric mucosa with ~85% sensitivity. Key: the bleeding is PAINLESS — this differentiates it from intussusception (painful) and infectious colitis (usually with diarrhea and cramps).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starts with hemodynamic assessment. A child with significant GI bleeding and tachycardia/hypotension needs resuscitation before diagnostics. NG tube placement can help differentiate upper from lower GI bleeding — blood or coffee grounds in the aspirate confirms UGIB. But a negative NG aspirate does not rule out UGIB (especially duodenal bleeding).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your red flags for the surgical abdomen. Each one should trigger immediate action. The key teaching: when the clinical picture suggests a surgical emergency, call surgery BEFORE completing the workup. Do not wait for CT results to consult for a child with bilious vomiting and a distended abdomen. Testicular torsion has a 6-hour window for viability — time is critical.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Variceal bleeding is the most dangerous form of UGIB in children. It occurs in the context of known liver disease (biliary atresia, cirrhosis) or portal vein thrombosis. These children can exsanguinate rapidly. Octreotide reduces splanchnic blood flow and is the medical bridge to endoscopic treatment. Endoscopic band ligation is the definitive treatment.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Meckel diverticulum case. The painless nature is the key feature — this is not intussusception (which would have colicky pain). The volume of bleeding is significant and the child is in hemorrhagic shock. Resuscitate first, then diagnose. Surgery should be consulted early because this child may need OR before the Meckel scan is even done.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 fissure trap is common — while it is the most common cause of rectal bleeding in infants, significant or recurrent bleeding deserves further evaluation. Hemoglobin should be checked in any child with more than trivial bleeding. And the surgical consultation should happen early, not after completing every lab and imaging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27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GI Bleeding and Surgical Abdomen Red Flags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Upper vs. Lower GI Bleeding, Emergent Causes, and Decision-Making in the PED</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Differentiate upper from lower GI bleeding based on presentation</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Build an age-based differential for GI bleeding in children</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Identify the child with GI bleeding who needs emergent intervention vs. observation</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Recognize surgical abdomen red flags that require immediate consultation</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Manage acute GI hemorrhage: resuscitation, stabilization, and disposition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GI Bleeding in Children: The PEM Framework</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GI bleeding in children is common but usually NOT life-threatening</a:t>
            </a:r>
          </a:p>
          <a:p>
            <a:pPr>
              <a:spcBef>
                <a:spcPts val="400"/>
              </a:spcBef>
              <a:spcAft>
                <a:spcPts val="600"/>
              </a:spcAft>
              <a:defRPr sz="1600">
                <a:solidFill>
                  <a:srgbClr val="3D4455"/>
                </a:solidFill>
                <a:latin typeface="Calibri"/>
              </a:defRPr>
            </a:pPr>
            <a:r>
              <a:t>Most common causes: anal fissure (infants), Meckel diverticulum, colitis, swallowed maternal blood</a:t>
            </a:r>
          </a:p>
          <a:p>
            <a:pPr>
              <a:spcBef>
                <a:spcPts val="400"/>
              </a:spcBef>
              <a:spcAft>
                <a:spcPts val="600"/>
              </a:spcAft>
              <a:defRPr sz="1600">
                <a:solidFill>
                  <a:srgbClr val="3D4455"/>
                </a:solidFill>
                <a:latin typeface="Calibri"/>
              </a:defRPr>
            </a:pPr>
            <a:r>
              <a:t>The PEM priority: determine hemodynamic significance and identify emergent causes</a:t>
            </a:r>
          </a:p>
          <a:p>
            <a:pPr>
              <a:spcBef>
                <a:spcPts val="400"/>
              </a:spcBef>
              <a:spcAft>
                <a:spcPts val="600"/>
              </a:spcAft>
              <a:defRPr sz="1600">
                <a:solidFill>
                  <a:srgbClr val="3D4455"/>
                </a:solidFill>
                <a:latin typeface="Calibri"/>
              </a:defRPr>
            </a:pPr>
            <a:r>
              <a:t>Upper GI bleeding (UGIB): hematemesis, coffee-ground emesis, melena</a:t>
            </a:r>
          </a:p>
          <a:p>
            <a:pPr>
              <a:spcBef>
                <a:spcPts val="400"/>
              </a:spcBef>
              <a:spcAft>
                <a:spcPts val="600"/>
              </a:spcAft>
              <a:defRPr sz="1600">
                <a:solidFill>
                  <a:srgbClr val="3D4455"/>
                </a:solidFill>
                <a:latin typeface="Calibri"/>
              </a:defRPr>
            </a:pPr>
            <a:r>
              <a:t>Lower GI bleeding (LGIB): hematochezia (bright red blood per rectum)</a:t>
            </a:r>
          </a:p>
          <a:p>
            <a:pPr>
              <a:spcBef>
                <a:spcPts val="400"/>
              </a:spcBef>
              <a:spcAft>
                <a:spcPts val="600"/>
              </a:spcAft>
              <a:defRPr sz="1600">
                <a:solidFill>
                  <a:srgbClr val="3D4455"/>
                </a:solidFill>
                <a:latin typeface="Calibri"/>
              </a:defRPr>
            </a:pPr>
            <a:r>
              <a:t>Key first step: Is the child hemodynamically stable? → this determines urgency</a:t>
            </a:r>
          </a:p>
          <a:p>
            <a:pPr lvl="1">
              <a:spcBef>
                <a:spcPts val="400"/>
              </a:spcBef>
              <a:spcAft>
                <a:spcPts val="600"/>
              </a:spcAft>
              <a:defRPr sz="1400">
                <a:solidFill>
                  <a:srgbClr val="8A92A3"/>
                </a:solidFill>
                <a:latin typeface="Calibri"/>
              </a:defRPr>
            </a:pPr>
            <a:r>
              <a:t>Not everything red is blood. Confirm with guaiac/occult blood test when unsure.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GI Bleeding Differential by Age</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Age</a:t>
                      </a:r>
                    </a:p>
                  </a:txBody>
                  <a:tcPr>
                    <a:solidFill>
                      <a:srgbClr val="007B83"/>
                    </a:solidFill>
                  </a:tcPr>
                </a:tc>
                <a:tc>
                  <a:txBody>
                    <a:bodyPr/>
                    <a:lstStyle/>
                    <a:p>
                      <a:pPr algn="ctr">
                        <a:defRPr sz="1300" b="1">
                          <a:solidFill>
                            <a:srgbClr val="FFFFFF"/>
                          </a:solidFill>
                          <a:latin typeface="Calibri"/>
                        </a:defRPr>
                      </a:pPr>
                      <a:r>
                        <a:t>Upper GI</a:t>
                      </a:r>
                    </a:p>
                  </a:txBody>
                  <a:tcPr>
                    <a:solidFill>
                      <a:srgbClr val="007B83"/>
                    </a:solidFill>
                  </a:tcPr>
                </a:tc>
                <a:tc>
                  <a:txBody>
                    <a:bodyPr/>
                    <a:lstStyle/>
                    <a:p>
                      <a:pPr algn="ctr">
                        <a:defRPr sz="1300" b="1">
                          <a:solidFill>
                            <a:srgbClr val="FFFFFF"/>
                          </a:solidFill>
                          <a:latin typeface="Calibri"/>
                        </a:defRPr>
                      </a:pPr>
                      <a:r>
                        <a:t>Lower GI</a:t>
                      </a:r>
                    </a:p>
                  </a:txBody>
                  <a:tcPr>
                    <a:solidFill>
                      <a:srgbClr val="007B83"/>
                    </a:solidFill>
                  </a:tcPr>
                </a:tc>
              </a:tr>
              <a:tr h="457200">
                <a:tc>
                  <a:txBody>
                    <a:bodyPr/>
                    <a:lstStyle/>
                    <a:p>
                      <a:pPr algn="l">
                        <a:defRPr sz="1200">
                          <a:solidFill>
                            <a:srgbClr val="3D4455"/>
                          </a:solidFill>
                          <a:latin typeface="Calibri"/>
                        </a:defRPr>
                      </a:pPr>
                      <a:r>
                        <a:t>Neonate</a:t>
                      </a:r>
                    </a:p>
                  </a:txBody>
                  <a:tcPr>
                    <a:solidFill>
                      <a:srgbClr val="F5F6FA"/>
                    </a:solidFill>
                  </a:tcPr>
                </a:tc>
                <a:tc>
                  <a:txBody>
                    <a:bodyPr/>
                    <a:lstStyle/>
                    <a:p>
                      <a:pPr algn="l">
                        <a:defRPr sz="1200">
                          <a:solidFill>
                            <a:srgbClr val="3D4455"/>
                          </a:solidFill>
                          <a:latin typeface="Calibri"/>
                        </a:defRPr>
                      </a:pPr>
                      <a:r>
                        <a:t>Swallowed maternal blood, stress gastritis, coagulopathy</a:t>
                      </a:r>
                    </a:p>
                  </a:txBody>
                  <a:tcPr>
                    <a:solidFill>
                      <a:srgbClr val="F5F6FA"/>
                    </a:solidFill>
                  </a:tcPr>
                </a:tc>
                <a:tc>
                  <a:txBody>
                    <a:bodyPr/>
                    <a:lstStyle/>
                    <a:p>
                      <a:pPr algn="l">
                        <a:defRPr sz="1200">
                          <a:solidFill>
                            <a:srgbClr val="3D4455"/>
                          </a:solidFill>
                          <a:latin typeface="Calibri"/>
                        </a:defRPr>
                      </a:pPr>
                      <a:r>
                        <a:t>Swallowed maternal blood, NEC, anal fissure, milk protein allergy, Hirschsprung enterocolitis</a:t>
                      </a:r>
                    </a:p>
                  </a:txBody>
                  <a:tcPr>
                    <a:solidFill>
                      <a:srgbClr val="F5F6FA"/>
                    </a:solidFill>
                  </a:tcPr>
                </a:tc>
              </a:tr>
              <a:tr h="457200">
                <a:tc>
                  <a:txBody>
                    <a:bodyPr/>
                    <a:lstStyle/>
                    <a:p>
                      <a:pPr algn="l">
                        <a:defRPr sz="1200">
                          <a:solidFill>
                            <a:srgbClr val="3D4455"/>
                          </a:solidFill>
                          <a:latin typeface="Calibri"/>
                        </a:defRPr>
                      </a:pPr>
                      <a:r>
                        <a:t>Infant (1-12mo)</a:t>
                      </a:r>
                    </a:p>
                  </a:txBody>
                  <a:tcPr>
                    <a:solidFill>
                      <a:srgbClr val="FFFFFF"/>
                    </a:solidFill>
                  </a:tcPr>
                </a:tc>
                <a:tc>
                  <a:txBody>
                    <a:bodyPr/>
                    <a:lstStyle/>
                    <a:p>
                      <a:pPr algn="l">
                        <a:defRPr sz="1200">
                          <a:solidFill>
                            <a:srgbClr val="3D4455"/>
                          </a:solidFill>
                          <a:latin typeface="Calibri"/>
                        </a:defRPr>
                      </a:pPr>
                      <a:r>
                        <a:t>Esophagitis, gastritis (rare)</a:t>
                      </a:r>
                    </a:p>
                  </a:txBody>
                  <a:tcPr>
                    <a:solidFill>
                      <a:srgbClr val="FFFFFF"/>
                    </a:solidFill>
                  </a:tcPr>
                </a:tc>
                <a:tc>
                  <a:txBody>
                    <a:bodyPr/>
                    <a:lstStyle/>
                    <a:p>
                      <a:pPr algn="l">
                        <a:defRPr sz="1200">
                          <a:solidFill>
                            <a:srgbClr val="3D4455"/>
                          </a:solidFill>
                          <a:latin typeface="Calibri"/>
                        </a:defRPr>
                      </a:pPr>
                      <a:r>
                        <a:t>Anal fissure (#1), milk protein allergy, intussusception, Meckel diverticulum</a:t>
                      </a:r>
                    </a:p>
                  </a:txBody>
                  <a:tcPr>
                    <a:solidFill>
                      <a:srgbClr val="FFFFFF"/>
                    </a:solidFill>
                  </a:tcPr>
                </a:tc>
              </a:tr>
              <a:tr h="457200">
                <a:tc>
                  <a:txBody>
                    <a:bodyPr/>
                    <a:lstStyle/>
                    <a:p>
                      <a:pPr algn="l">
                        <a:defRPr sz="1200">
                          <a:solidFill>
                            <a:srgbClr val="3D4455"/>
                          </a:solidFill>
                          <a:latin typeface="Calibri"/>
                        </a:defRPr>
                      </a:pPr>
                      <a:r>
                        <a:t>Toddler (1-5y)</a:t>
                      </a:r>
                    </a:p>
                  </a:txBody>
                  <a:tcPr>
                    <a:solidFill>
                      <a:srgbClr val="F5F6FA"/>
                    </a:solidFill>
                  </a:tcPr>
                </a:tc>
                <a:tc>
                  <a:txBody>
                    <a:bodyPr/>
                    <a:lstStyle/>
                    <a:p>
                      <a:pPr algn="l">
                        <a:defRPr sz="1200">
                          <a:solidFill>
                            <a:srgbClr val="3D4455"/>
                          </a:solidFill>
                          <a:latin typeface="Calibri"/>
                        </a:defRPr>
                      </a:pPr>
                      <a:r>
                        <a:t>Esophagitis, foreign body, caustic ingestion</a:t>
                      </a:r>
                    </a:p>
                  </a:txBody>
                  <a:tcPr>
                    <a:solidFill>
                      <a:srgbClr val="F5F6FA"/>
                    </a:solidFill>
                  </a:tcPr>
                </a:tc>
                <a:tc>
                  <a:txBody>
                    <a:bodyPr/>
                    <a:lstStyle/>
                    <a:p>
                      <a:pPr algn="l">
                        <a:defRPr sz="1200">
                          <a:solidFill>
                            <a:srgbClr val="3D4455"/>
                          </a:solidFill>
                          <a:latin typeface="Calibri"/>
                        </a:defRPr>
                      </a:pPr>
                      <a:r>
                        <a:t>Meckel diverticulum, infectious colitis, polyp, intussusception, HSP</a:t>
                      </a:r>
                    </a:p>
                  </a:txBody>
                  <a:tcPr>
                    <a:solidFill>
                      <a:srgbClr val="F5F6FA"/>
                    </a:solidFill>
                  </a:tcPr>
                </a:tc>
              </a:tr>
              <a:tr h="457200">
                <a:tc>
                  <a:txBody>
                    <a:bodyPr/>
                    <a:lstStyle/>
                    <a:p>
                      <a:pPr algn="l">
                        <a:defRPr sz="1200">
                          <a:solidFill>
                            <a:srgbClr val="3D4455"/>
                          </a:solidFill>
                          <a:latin typeface="Calibri"/>
                        </a:defRPr>
                      </a:pPr>
                      <a:r>
                        <a:t>School-age</a:t>
                      </a:r>
                    </a:p>
                  </a:txBody>
                  <a:tcPr>
                    <a:solidFill>
                      <a:srgbClr val="FFFFFF"/>
                    </a:solidFill>
                  </a:tcPr>
                </a:tc>
                <a:tc>
                  <a:txBody>
                    <a:bodyPr/>
                    <a:lstStyle/>
                    <a:p>
                      <a:pPr algn="l">
                        <a:defRPr sz="1200">
                          <a:solidFill>
                            <a:srgbClr val="3D4455"/>
                          </a:solidFill>
                          <a:latin typeface="Calibri"/>
                        </a:defRPr>
                      </a:pPr>
                      <a:r>
                        <a:t>Esophageal varices (liver disease), PUD, Mallory-Weiss</a:t>
                      </a:r>
                    </a:p>
                  </a:txBody>
                  <a:tcPr>
                    <a:solidFill>
                      <a:srgbClr val="FFFFFF"/>
                    </a:solidFill>
                  </a:tcPr>
                </a:tc>
                <a:tc>
                  <a:txBody>
                    <a:bodyPr/>
                    <a:lstStyle/>
                    <a:p>
                      <a:pPr algn="l">
                        <a:defRPr sz="1200">
                          <a:solidFill>
                            <a:srgbClr val="3D4455"/>
                          </a:solidFill>
                          <a:latin typeface="Calibri"/>
                        </a:defRPr>
                      </a:pPr>
                      <a:r>
                        <a:t>IBD, infectious colitis, polyp, Meckel</a:t>
                      </a:r>
                    </a:p>
                  </a:txBody>
                  <a:tcPr>
                    <a:solidFill>
                      <a:srgbClr val="FFFFFF"/>
                    </a:solidFill>
                  </a:tcPr>
                </a:tc>
              </a:tr>
              <a:tr h="457200">
                <a:tc>
                  <a:txBody>
                    <a:bodyPr/>
                    <a:lstStyle/>
                    <a:p>
                      <a:pPr algn="l">
                        <a:defRPr sz="1200">
                          <a:solidFill>
                            <a:srgbClr val="3D4455"/>
                          </a:solidFill>
                          <a:latin typeface="Calibri"/>
                        </a:defRPr>
                      </a:pPr>
                      <a:r>
                        <a:t>Adolescent</a:t>
                      </a:r>
                    </a:p>
                  </a:txBody>
                  <a:tcPr>
                    <a:solidFill>
                      <a:srgbClr val="F5F6FA"/>
                    </a:solidFill>
                  </a:tcPr>
                </a:tc>
                <a:tc>
                  <a:txBody>
                    <a:bodyPr/>
                    <a:lstStyle/>
                    <a:p>
                      <a:pPr algn="l">
                        <a:defRPr sz="1200">
                          <a:solidFill>
                            <a:srgbClr val="3D4455"/>
                          </a:solidFill>
                          <a:latin typeface="Calibri"/>
                        </a:defRPr>
                      </a:pPr>
                      <a:r>
                        <a:t>PUD, esophageal varices, Mallory-Weiss, NSAID gastropathy</a:t>
                      </a:r>
                    </a:p>
                  </a:txBody>
                  <a:tcPr>
                    <a:solidFill>
                      <a:srgbClr val="F5F6FA"/>
                    </a:solidFill>
                  </a:tcPr>
                </a:tc>
                <a:tc>
                  <a:txBody>
                    <a:bodyPr/>
                    <a:lstStyle/>
                    <a:p>
                      <a:pPr algn="l">
                        <a:defRPr sz="1200">
                          <a:solidFill>
                            <a:srgbClr val="3D4455"/>
                          </a:solidFill>
                          <a:latin typeface="Calibri"/>
                        </a:defRPr>
                      </a:pPr>
                      <a:r>
                        <a:t>IBD (#1 in adolescents with chronic LGIB), infectious colitis</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CLINICAL PEARL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Meckel diverticulum is the most common cause of significant painless lower GI bleeding in children.</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Rule of 2s: 2% of population, 2 inches long, 2 feet from ileocecal valve, presents before age 2 in most symptomatic cases, 2 types of ectopic tissue (gastric and pancreatic). Diagnosed by Meckel scan (technetium-99m pertechnetate). Treatment is surgical resection.</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Approach to Acute GI Bleeding</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ASSESS hemodynamic stability: HR, BP, perfusion, mental status</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UNSTABLE: IV/IO access × 2, 20 mL/kg NS bolus, type and crossmatch, activate massive transfusion if needed</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STABLE: focused history (volume, frequency, pain, associated symptoms, medications)</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DIFFERENTIATE upper vs. lower: hematemesis/melena = upper; hematochezia = lower (usually)</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LABS: CBC, BMP, coagulation studies, type and screen, consider LFTs</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IMAGING: abdominal X-ray (obstruction?), US (intussusception?), Meckel scan if painless LGIB</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CONSULT: GI for endoscopy (UGIB or significant LGIB), surgery if surgical cause suspected</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Surgical Abdomen Red Flags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Bilious vomiting in neonate/infant → malrotation with volvulus until proven otherwise</a:t>
            </a:r>
          </a:p>
          <a:p>
            <a:pPr>
              <a:spcBef>
                <a:spcPts val="400"/>
              </a:spcBef>
              <a:spcAft>
                <a:spcPts val="600"/>
              </a:spcAft>
              <a:defRPr sz="1600">
                <a:solidFill>
                  <a:srgbClr val="3D4455"/>
                </a:solidFill>
                <a:latin typeface="Calibri"/>
              </a:defRPr>
            </a:pPr>
            <a:r>
              <a:t>Rigid, distended abdomen with peritonitis → perforated viscus (free air on X-ray)</a:t>
            </a:r>
          </a:p>
          <a:p>
            <a:pPr>
              <a:spcBef>
                <a:spcPts val="400"/>
              </a:spcBef>
              <a:spcAft>
                <a:spcPts val="600"/>
              </a:spcAft>
              <a:defRPr sz="1600">
                <a:solidFill>
                  <a:srgbClr val="3D4455"/>
                </a:solidFill>
                <a:latin typeface="Calibri"/>
              </a:defRPr>
            </a:pPr>
            <a:r>
              <a:t>GI bleeding with hemodynamic instability → massive hemorrhage requiring resuscitation ± OR</a:t>
            </a:r>
          </a:p>
          <a:p>
            <a:pPr>
              <a:spcBef>
                <a:spcPts val="400"/>
              </a:spcBef>
              <a:spcAft>
                <a:spcPts val="600"/>
              </a:spcAft>
              <a:defRPr sz="1600">
                <a:solidFill>
                  <a:srgbClr val="3D4455"/>
                </a:solidFill>
                <a:latin typeface="Calibri"/>
              </a:defRPr>
            </a:pPr>
            <a:r>
              <a:t>Non-reducible inguinal hernia with pain, vomiting → incarcerated hernia — needs emergent reduction or OR</a:t>
            </a:r>
          </a:p>
          <a:p>
            <a:pPr>
              <a:spcBef>
                <a:spcPts val="400"/>
              </a:spcBef>
              <a:spcAft>
                <a:spcPts val="600"/>
              </a:spcAft>
              <a:defRPr sz="1600">
                <a:solidFill>
                  <a:srgbClr val="3D4455"/>
                </a:solidFill>
                <a:latin typeface="Calibri"/>
              </a:defRPr>
            </a:pPr>
            <a:r>
              <a:t>Absent bowel sounds + distension + vomiting → bowel obstruction (adhesions, hernia, volvulus)</a:t>
            </a:r>
          </a:p>
          <a:p>
            <a:pPr>
              <a:spcBef>
                <a:spcPts val="400"/>
              </a:spcBef>
              <a:spcAft>
                <a:spcPts val="600"/>
              </a:spcAft>
              <a:defRPr sz="1600">
                <a:solidFill>
                  <a:srgbClr val="3D4455"/>
                </a:solidFill>
                <a:latin typeface="Calibri"/>
              </a:defRPr>
            </a:pPr>
            <a:r>
              <a:t>RLQ pain with fever + peritoneal signs → appendicitis with likely perforation</a:t>
            </a:r>
          </a:p>
          <a:p>
            <a:pPr>
              <a:spcBef>
                <a:spcPts val="400"/>
              </a:spcBef>
              <a:spcAft>
                <a:spcPts val="600"/>
              </a:spcAft>
              <a:defRPr sz="1600">
                <a:solidFill>
                  <a:srgbClr val="3D4455"/>
                </a:solidFill>
                <a:latin typeface="Calibri"/>
              </a:defRPr>
            </a:pPr>
            <a:r>
              <a:t>Testicular pain + high-riding testis + absent cremasteric reflex → testicular torsion (&lt;6h to OR)</a:t>
            </a:r>
          </a:p>
          <a:p>
            <a:pPr lvl="1">
              <a:spcBef>
                <a:spcPts val="400"/>
              </a:spcBef>
              <a:spcAft>
                <a:spcPts val="600"/>
              </a:spcAft>
              <a:defRPr sz="1400">
                <a:solidFill>
                  <a:srgbClr val="8A92A3"/>
                </a:solidFill>
                <a:latin typeface="Calibri"/>
              </a:defRPr>
            </a:pPr>
            <a:r>
              <a:t>When in doubt, call surgery early — it is always easier to cancel a consult than to delay one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Upper GI Bleeding: Variceal vs. Non-Variceal</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NON-VARICEAL UGIB</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More common in children overall</a:t>
            </a:r>
          </a:p>
          <a:p>
            <a:pPr>
              <a:spcAft>
                <a:spcPts val="500"/>
              </a:spcAft>
              <a:defRPr sz="1400">
                <a:solidFill>
                  <a:srgbClr val="3D4455"/>
                </a:solidFill>
                <a:latin typeface="Calibri"/>
              </a:defRPr>
            </a:pPr>
            <a:r>
              <a:t>Causes: esophagitis, gastritis, PUD, Mallory-Weiss tear</a:t>
            </a:r>
          </a:p>
          <a:p>
            <a:pPr>
              <a:spcAft>
                <a:spcPts val="500"/>
              </a:spcAft>
              <a:defRPr sz="1400">
                <a:solidFill>
                  <a:srgbClr val="3D4455"/>
                </a:solidFill>
                <a:latin typeface="Calibri"/>
              </a:defRPr>
            </a:pPr>
            <a:r>
              <a:t>Usually self-limited</a:t>
            </a:r>
          </a:p>
          <a:p>
            <a:pPr>
              <a:spcAft>
                <a:spcPts val="500"/>
              </a:spcAft>
              <a:defRPr sz="1400">
                <a:solidFill>
                  <a:srgbClr val="3D4455"/>
                </a:solidFill>
                <a:latin typeface="Calibri"/>
              </a:defRPr>
            </a:pPr>
            <a:r>
              <a:t>Treatment: PPI (omeprazole 1 mg/kg IV), NPO, GI consult for endoscopy</a:t>
            </a:r>
          </a:p>
          <a:p>
            <a:pPr>
              <a:spcAft>
                <a:spcPts val="500"/>
              </a:spcAft>
              <a:defRPr sz="1400">
                <a:solidFill>
                  <a:srgbClr val="3D4455"/>
                </a:solidFill>
                <a:latin typeface="Calibri"/>
              </a:defRPr>
            </a:pPr>
            <a:r>
              <a:t>Mallory-Weiss: from forceful vomiting/retching; usually stops spontaneously</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VARICEAL UGIB</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Occurs in children with portal hypertension (liver disease, portal vein thrombosis)</a:t>
            </a:r>
          </a:p>
          <a:p>
            <a:pPr>
              <a:spcAft>
                <a:spcPts val="500"/>
              </a:spcAft>
              <a:defRPr sz="1400">
                <a:solidFill>
                  <a:srgbClr val="3D4455"/>
                </a:solidFill>
                <a:latin typeface="Calibri"/>
              </a:defRPr>
            </a:pPr>
            <a:r>
              <a:t>Can be MASSIVE and life-threatening</a:t>
            </a:r>
          </a:p>
          <a:p>
            <a:pPr>
              <a:spcAft>
                <a:spcPts val="500"/>
              </a:spcAft>
              <a:defRPr sz="1400">
                <a:solidFill>
                  <a:srgbClr val="3D4455"/>
                </a:solidFill>
                <a:latin typeface="Calibri"/>
              </a:defRPr>
            </a:pPr>
            <a:r>
              <a:t>Treatment: resuscitation, octreotide 1-2 mcg/kg bolus then 1-2 mcg/kg/hr</a:t>
            </a:r>
          </a:p>
          <a:p>
            <a:pPr>
              <a:spcAft>
                <a:spcPts val="500"/>
              </a:spcAft>
              <a:defRPr sz="1400">
                <a:solidFill>
                  <a:srgbClr val="3D4455"/>
                </a:solidFill>
                <a:latin typeface="Calibri"/>
              </a:defRPr>
            </a:pPr>
            <a:r>
              <a:t>Urgent endoscopy for band ligation or sclerotherapy</a:t>
            </a:r>
          </a:p>
          <a:p>
            <a:pPr>
              <a:spcAft>
                <a:spcPts val="500"/>
              </a:spcAft>
              <a:defRPr sz="1400">
                <a:solidFill>
                  <a:srgbClr val="3D4455"/>
                </a:solidFill>
                <a:latin typeface="Calibri"/>
              </a:defRPr>
            </a:pPr>
            <a:r>
              <a:t>Consider Sengstaken-Blakemore tube if uncontrolled</a:t>
            </a:r>
          </a:p>
          <a:p>
            <a:pPr>
              <a:spcAft>
                <a:spcPts val="500"/>
              </a:spcAft>
              <a:defRPr sz="1400">
                <a:solidFill>
                  <a:srgbClr val="3D4455"/>
                </a:solidFill>
                <a:latin typeface="Calibri"/>
              </a:defRPr>
            </a:pPr>
            <a:r>
              <a:t>GI and surgery consult emergently</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8-Month-Old with Painless Bloody Stools</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An 8-month-old boy is brought in for 3 episodes of large-volume, painless, dark red bloody stools over the past 4 hours. He is not in pain between episodes and has no fever or vomiting. Previously healthy. On exam: pale, HR 165, BP 75/45, CRT 3 seconds, abdomen soft and non-tender. Hemoglobin: 7.2 g/dL.</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Is this child stable? (NO — tachycardia + hypotension + Hgb 7.2 = hemorrhagic shock)</a:t>
            </a:r>
          </a:p>
          <a:p>
            <a:pPr>
              <a:spcAft>
                <a:spcPts val="600"/>
              </a:spcAft>
              <a:defRPr sz="1400" b="1">
                <a:solidFill>
                  <a:srgbClr val="007B83"/>
                </a:solidFill>
                <a:latin typeface="Calibri"/>
              </a:defRPr>
            </a:pPr>
            <a:r>
              <a:t>▸  Immediate management? (2 large-bore IVs, 20 mL/kg NS bolus, type and crossmatch, prepare for transfusion)</a:t>
            </a:r>
          </a:p>
          <a:p>
            <a:pPr>
              <a:spcAft>
                <a:spcPts val="600"/>
              </a:spcAft>
              <a:defRPr sz="1400" b="1">
                <a:solidFill>
                  <a:srgbClr val="007B83"/>
                </a:solidFill>
                <a:latin typeface="Calibri"/>
              </a:defRPr>
            </a:pPr>
            <a:r>
              <a:t>▸  Most likely diagnosis? (Meckel diverticulum — painless, significant LGIB in an infant)</a:t>
            </a:r>
          </a:p>
          <a:p>
            <a:pPr>
              <a:spcAft>
                <a:spcPts val="600"/>
              </a:spcAft>
              <a:defRPr sz="1400" b="1">
                <a:solidFill>
                  <a:srgbClr val="007B83"/>
                </a:solidFill>
                <a:latin typeface="Calibri"/>
              </a:defRPr>
            </a:pPr>
            <a:r>
              <a:t>▸  Diagnostic test? (Meckel scan after stabilization; surgery consult for likely surgical resection)</a:t>
            </a:r>
          </a:p>
          <a:p>
            <a:pPr>
              <a:spcAft>
                <a:spcPts val="600"/>
              </a:spcAft>
              <a:defRPr sz="1400" b="1">
                <a:solidFill>
                  <a:srgbClr val="007B83"/>
                </a:solidFill>
                <a:latin typeface="Calibri"/>
              </a:defRPr>
            </a:pPr>
            <a:r>
              <a:t>▸  This child likely needs emergent transfusion: 10 mL/kg pRBCs</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GI Bleeding and Surgical Abdomen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Assuming all rectal bleeding in infants is anal fissure — consider milk protein allergy, Meckel, intussusception</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Not checking hemoglobin in any child with visible GI bleeding — clinical estimation of blood loss is unreliable</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Delaying surgical consultation while completing the "full workup" for a clear surgical abdomen</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Missing testicular torsion — always examine the genitalia in any child with lower abdominal pain</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Not considering ectopic pregnancy in adolescent females with abdominal pain and vaginal bleeding</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Overlooking NEC in the premature infant with bloody stools and abdominal distension</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Discharging a child with painless significant LGIB without considering Meckel diverticulum</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Assess hemodynamic stability FIRST in any child with GI bleeding — resuscitate before diagnosing</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Meckel diverticulum: painless, significant LGIB in a child — rule of 2s; diagnose with Meckel scan</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Bilious vomiting + distended abdomen = surgical emergency until proven otherwise</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Variceal UGIB: octreotide + emergent endoscopy; non-variceal: PPI + elective endoscopy</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Always examine genitalia and check pregnancy test in adolescents with abdominal pain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Boyle JT. Gastrointestinal bleeding in infants and children. Pediatr Rev. 2008;29(2):39-52.</a:t>
            </a:r>
          </a:p>
          <a:p>
            <a:pPr>
              <a:spcAft>
                <a:spcPts val="400"/>
              </a:spcAft>
              <a:defRPr sz="1100">
                <a:solidFill>
                  <a:srgbClr val="3D4455"/>
                </a:solidFill>
                <a:latin typeface="Calibri"/>
              </a:defRPr>
            </a:pPr>
            <a:r>
              <a:t>2. Sahn B, et al. Evaluation and management of gastrointestinal bleeding in children. Curr Opin Pediatr. 2020;32(5):619-625.</a:t>
            </a:r>
          </a:p>
          <a:p>
            <a:pPr>
              <a:spcAft>
                <a:spcPts val="400"/>
              </a:spcAft>
              <a:defRPr sz="1100">
                <a:solidFill>
                  <a:srgbClr val="3D4455"/>
                </a:solidFill>
                <a:latin typeface="Calibri"/>
              </a:defRPr>
            </a:pPr>
            <a:r>
              <a:t>3. Pepper VK, et al. Meckel diverticulum in children: a 30-year review. J Pediatr Surg. 2012;47(4):680-684.</a:t>
            </a:r>
          </a:p>
          <a:p>
            <a:pPr>
              <a:spcAft>
                <a:spcPts val="400"/>
              </a:spcAft>
              <a:defRPr sz="1100">
                <a:solidFill>
                  <a:srgbClr val="3D4455"/>
                </a:solidFill>
                <a:latin typeface="Calibri"/>
              </a:defRPr>
            </a:pPr>
            <a:r>
              <a:t>4. Bhatia V, et al. Management of variceal bleeding in children with extrahepatic portal vein obstruction. Expert Rev Gastroenterol Hepatol. 2013;7(4):321-330.</a:t>
            </a:r>
          </a:p>
          <a:p>
            <a:pPr>
              <a:spcAft>
                <a:spcPts val="400"/>
              </a:spcAft>
              <a:defRPr sz="1100">
                <a:solidFill>
                  <a:srgbClr val="3D4455"/>
                </a:solidFill>
                <a:latin typeface="Calibri"/>
              </a:defRPr>
            </a:pPr>
            <a:r>
              <a:t>5. Fox VL. Gastrointestinal bleeding in infancy and childhood. Gastroenterol Clin North Am. 2000;29(1):37-66.</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GI Bleeding &amp; Surgical Abdomen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