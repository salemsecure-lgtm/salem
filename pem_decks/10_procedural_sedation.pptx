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foundational slide sets the tone. The key concept: sedation is a continuum. You aim for moderate or deep sedation, but any patient can transiently become apneic or lose airway protective reflexes. You must always be prepared to rescue from general anesthesia — meaning full airway management equipment and skills at the bedside.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from the ASA continuum of sedation definition. The critical teaching: the columns blend into each other. There is no hard line between moderate and deep sedation. This is why preparation for the next level is mandatory. If you are targeting moderate sedation, you must have equipment and skills for deep sedation rescue.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Pre-sedation assessment is critical and must be documented. The ASA classification drives your risk level. Most ED sedations are ASA I-II patients and are very safe. ASA III requires careful consideration of risks and benefits and may warrant anesthesia consultation. Always assess the airway — Mallampati, mouth opening, jaw protrusion, neck extension.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and most debated topics in PEM sedation. The evidence is clear: in large studies of ED procedural sedation (&gt;30,000 cases), there is no association between fasting status and adverse events including aspiration. Do not delay emergency fracture reductions or laceration repairs for fasting. Instead, ensure you have suction ready and position the patient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go-to agent selection guide. Ketamine IV is the workhorse of PEM sedation — dissociative state, maintained airway reflexes, profound analgesia. Propofol is excellent for very short procedures but has NO analgesic properties. Nitrous oxide is increasingly popular for minor painful procedures and anxiolysis. Dexmedetomidine is emerging for non-painful imaging.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Ketamine is the signature drug of PEM procedural sedation. Emphasize: it does not cause true respiratory depression (unlike propofol/opioids). The dissociative state is characterized by nystagmus, random purposeless movements, and a cataleptic stare — this is NORMAL, not a sign of under- or over-sedation. Ondansetron prophylaxis reduces vomiting from ~10-15% to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should be standardized in your department. Key points: capnography detects hypoventilation BEFORE desaturation occurs — it is the earliest warning sign. Three people minimum: one to sedate, one to do the procedure, one to monitor. Never combine roles. Recovery criteria must be met before discharge.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Adverse event management must be rehearsed, not just known. Laryngospasm with ketamine is the most important rescue to know — it occurs in ~0.3% of cases. First-line is suctioning (secretions are the trigger) and positive pressure ventilation. If that fails, succinylcholine is the rescue drug. Emergence reactions are distressing but not dangerous.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bread-and-butter PEM sedation case. Walk through every step: consent, setup, monitoring, agent selection, administration, monitoring during procedure, recovery. Ketamine is the perfect agent here: provides analgesia, immobility, and dissociation. The 3-hour fast is irrelevant for an emergency reduction. Have suction ready for emesis.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distinction: ketamine provides analgesia + sedation + immobility; propofol provides sedation + amnesia but NO analgesia. If using propofol for a painful procedure, you must provide separate analgesia (nerve block, local, opioid). Propofol has a much narrower therapeutic window and higher risk of apnea.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10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Pediatric Procedural Sedation</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Agent Selection, Risk Stratification, and Safe Sedation Protocols for the PED</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Risk-stratify patients for procedural sedation using ASA classification and fasting status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Select the appropriate sedation agent based on procedure type, duration, and patient factors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safe sedation with proper monitoring, equipment, and rescue preparedness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Manage adverse events: laryngospasm, apnea, emesis, and desaturation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Apply evidence-based fasting guidelines and understand when they do vs. do not apply</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Procedural Sedation in PEM: Core Principles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Procedural sedation is one of the core competencies of PEM fellowship</a:t>
            </a:r>
          </a:p>
          <a:p>
            <a:pPr>
              <a:spcBef>
                <a:spcPts val="400"/>
              </a:spcBef>
              <a:spcAft>
                <a:spcPts val="600"/>
              </a:spcAft>
              <a:defRPr sz="1600">
                <a:solidFill>
                  <a:srgbClr val="3D4455"/>
                </a:solidFill>
                <a:latin typeface="Calibri"/>
              </a:defRPr>
            </a:pPr>
            <a:r>
              <a:t>Goal: provide anxiolysis, analgesia, and/or immobility for a procedure in a safe, controlled manner</a:t>
            </a:r>
          </a:p>
          <a:p>
            <a:pPr>
              <a:spcBef>
                <a:spcPts val="400"/>
              </a:spcBef>
              <a:spcAft>
                <a:spcPts val="600"/>
              </a:spcAft>
              <a:defRPr sz="1600">
                <a:solidFill>
                  <a:srgbClr val="3D4455"/>
                </a:solidFill>
                <a:latin typeface="Calibri"/>
              </a:defRPr>
            </a:pPr>
            <a:r>
              <a:t>Sedation exists on a continuum: minimal → moderate → deep → general anesthesia</a:t>
            </a:r>
          </a:p>
          <a:p>
            <a:pPr>
              <a:spcBef>
                <a:spcPts val="400"/>
              </a:spcBef>
              <a:spcAft>
                <a:spcPts val="600"/>
              </a:spcAft>
              <a:defRPr sz="1600">
                <a:solidFill>
                  <a:srgbClr val="3D4455"/>
                </a:solidFill>
                <a:latin typeface="Calibri"/>
              </a:defRPr>
            </a:pPr>
            <a:r>
              <a:t>Any sedation agent can push a patient deeper than intended — you must be prepared for the next level</a:t>
            </a:r>
          </a:p>
          <a:p>
            <a:pPr>
              <a:spcBef>
                <a:spcPts val="400"/>
              </a:spcBef>
              <a:spcAft>
                <a:spcPts val="600"/>
              </a:spcAft>
              <a:defRPr sz="1600">
                <a:solidFill>
                  <a:srgbClr val="3D4455"/>
                </a:solidFill>
                <a:latin typeface="Calibri"/>
              </a:defRPr>
            </a:pPr>
            <a:r>
              <a:t>The person monitoring the patient should NOT be the person performing the procedure</a:t>
            </a:r>
          </a:p>
          <a:p>
            <a:pPr lvl="1">
              <a:spcBef>
                <a:spcPts val="400"/>
              </a:spcBef>
              <a:spcAft>
                <a:spcPts val="600"/>
              </a:spcAft>
              <a:defRPr sz="1400">
                <a:solidFill>
                  <a:srgbClr val="8A92A3"/>
                </a:solidFill>
                <a:latin typeface="Calibri"/>
              </a:defRPr>
            </a:pPr>
            <a:r>
              <a:t>Rule of thumb: if you cannot rescue one level deeper than your target, you should not sedate that patient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Sedation Depth Continuum</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Parameter</a:t>
                      </a:r>
                    </a:p>
                  </a:txBody>
                  <a:tcPr>
                    <a:solidFill>
                      <a:srgbClr val="007B83"/>
                    </a:solidFill>
                  </a:tcPr>
                </a:tc>
                <a:tc>
                  <a:txBody>
                    <a:bodyPr/>
                    <a:lstStyle/>
                    <a:p>
                      <a:pPr algn="ctr">
                        <a:defRPr sz="1300" b="1">
                          <a:solidFill>
                            <a:srgbClr val="FFFFFF"/>
                          </a:solidFill>
                          <a:latin typeface="Calibri"/>
                        </a:defRPr>
                      </a:pPr>
                      <a:r>
                        <a:t>Minimal (Anxiolysis)</a:t>
                      </a:r>
                    </a:p>
                  </a:txBody>
                  <a:tcPr>
                    <a:solidFill>
                      <a:srgbClr val="007B83"/>
                    </a:solidFill>
                  </a:tcPr>
                </a:tc>
                <a:tc>
                  <a:txBody>
                    <a:bodyPr/>
                    <a:lstStyle/>
                    <a:p>
                      <a:pPr algn="ctr">
                        <a:defRPr sz="1300" b="1">
                          <a:solidFill>
                            <a:srgbClr val="FFFFFF"/>
                          </a:solidFill>
                          <a:latin typeface="Calibri"/>
                        </a:defRPr>
                      </a:pPr>
                      <a:r>
                        <a:t>Moderate</a:t>
                      </a:r>
                    </a:p>
                  </a:txBody>
                  <a:tcPr>
                    <a:solidFill>
                      <a:srgbClr val="007B83"/>
                    </a:solidFill>
                  </a:tcPr>
                </a:tc>
                <a:tc>
                  <a:txBody>
                    <a:bodyPr/>
                    <a:lstStyle/>
                    <a:p>
                      <a:pPr algn="ctr">
                        <a:defRPr sz="1300" b="1">
                          <a:solidFill>
                            <a:srgbClr val="FFFFFF"/>
                          </a:solidFill>
                          <a:latin typeface="Calibri"/>
                        </a:defRPr>
                      </a:pPr>
                      <a:r>
                        <a:t>Deep</a:t>
                      </a:r>
                    </a:p>
                  </a:txBody>
                  <a:tcPr>
                    <a:solidFill>
                      <a:srgbClr val="007B83"/>
                    </a:solidFill>
                  </a:tcPr>
                </a:tc>
                <a:tc>
                  <a:txBody>
                    <a:bodyPr/>
                    <a:lstStyle/>
                    <a:p>
                      <a:pPr algn="ctr">
                        <a:defRPr sz="1300" b="1">
                          <a:solidFill>
                            <a:srgbClr val="FFFFFF"/>
                          </a:solidFill>
                          <a:latin typeface="Calibri"/>
                        </a:defRPr>
                      </a:pPr>
                      <a:r>
                        <a:t>General Anesthesia</a:t>
                      </a:r>
                    </a:p>
                  </a:txBody>
                  <a:tcPr>
                    <a:solidFill>
                      <a:srgbClr val="007B83"/>
                    </a:solidFill>
                  </a:tcPr>
                </a:tc>
              </a:tr>
              <a:tr h="457200">
                <a:tc>
                  <a:txBody>
                    <a:bodyPr/>
                    <a:lstStyle/>
                    <a:p>
                      <a:pPr algn="l">
                        <a:defRPr sz="1200">
                          <a:solidFill>
                            <a:srgbClr val="3D4455"/>
                          </a:solidFill>
                          <a:latin typeface="Calibri"/>
                        </a:defRPr>
                      </a:pPr>
                      <a:r>
                        <a:t>Responsiveness</a:t>
                      </a:r>
                    </a:p>
                  </a:txBody>
                  <a:tcPr>
                    <a:solidFill>
                      <a:srgbClr val="F5F6FA"/>
                    </a:solidFill>
                  </a:tcPr>
                </a:tc>
                <a:tc>
                  <a:txBody>
                    <a:bodyPr/>
                    <a:lstStyle/>
                    <a:p>
                      <a:pPr algn="l">
                        <a:defRPr sz="1200">
                          <a:solidFill>
                            <a:srgbClr val="3D4455"/>
                          </a:solidFill>
                          <a:latin typeface="Calibri"/>
                        </a:defRPr>
                      </a:pPr>
                      <a:r>
                        <a:t>Normal to verbal</a:t>
                      </a:r>
                    </a:p>
                  </a:txBody>
                  <a:tcPr>
                    <a:solidFill>
                      <a:srgbClr val="F5F6FA"/>
                    </a:solidFill>
                  </a:tcPr>
                </a:tc>
                <a:tc>
                  <a:txBody>
                    <a:bodyPr/>
                    <a:lstStyle/>
                    <a:p>
                      <a:pPr algn="l">
                        <a:defRPr sz="1200">
                          <a:solidFill>
                            <a:srgbClr val="3D4455"/>
                          </a:solidFill>
                          <a:latin typeface="Calibri"/>
                        </a:defRPr>
                      </a:pPr>
                      <a:r>
                        <a:t>Purposeful to verbal/tactile</a:t>
                      </a:r>
                    </a:p>
                  </a:txBody>
                  <a:tcPr>
                    <a:solidFill>
                      <a:srgbClr val="F5F6FA"/>
                    </a:solidFill>
                  </a:tcPr>
                </a:tc>
                <a:tc>
                  <a:txBody>
                    <a:bodyPr/>
                    <a:lstStyle/>
                    <a:p>
                      <a:pPr algn="l">
                        <a:defRPr sz="1200">
                          <a:solidFill>
                            <a:srgbClr val="3D4455"/>
                          </a:solidFill>
                          <a:latin typeface="Calibri"/>
                        </a:defRPr>
                      </a:pPr>
                      <a:r>
                        <a:t>Purposeful to repeated/painful</a:t>
                      </a:r>
                    </a:p>
                  </a:txBody>
                  <a:tcPr>
                    <a:solidFill>
                      <a:srgbClr val="F5F6FA"/>
                    </a:solidFill>
                  </a:tcPr>
                </a:tc>
                <a:tc>
                  <a:txBody>
                    <a:bodyPr/>
                    <a:lstStyle/>
                    <a:p>
                      <a:pPr algn="l">
                        <a:defRPr sz="1200">
                          <a:solidFill>
                            <a:srgbClr val="3D4455"/>
                          </a:solidFill>
                          <a:latin typeface="Calibri"/>
                        </a:defRPr>
                      </a:pPr>
                      <a:r>
                        <a:t>Unarousable</a:t>
                      </a:r>
                    </a:p>
                  </a:txBody>
                  <a:tcPr>
                    <a:solidFill>
                      <a:srgbClr val="F5F6FA"/>
                    </a:solidFill>
                  </a:tcPr>
                </a:tc>
              </a:tr>
              <a:tr h="457200">
                <a:tc>
                  <a:txBody>
                    <a:bodyPr/>
                    <a:lstStyle/>
                    <a:p>
                      <a:pPr algn="l">
                        <a:defRPr sz="1200">
                          <a:solidFill>
                            <a:srgbClr val="3D4455"/>
                          </a:solidFill>
                          <a:latin typeface="Calibri"/>
                        </a:defRPr>
                      </a:pPr>
                      <a:r>
                        <a:t>Airway</a:t>
                      </a:r>
                    </a:p>
                  </a:txBody>
                  <a:tcPr>
                    <a:solidFill>
                      <a:srgbClr val="FFFFFF"/>
                    </a:solidFill>
                  </a:tcPr>
                </a:tc>
                <a:tc>
                  <a:txBody>
                    <a:bodyPr/>
                    <a:lstStyle/>
                    <a:p>
                      <a:pPr algn="l">
                        <a:defRPr sz="1200">
                          <a:solidFill>
                            <a:srgbClr val="3D4455"/>
                          </a:solidFill>
                          <a:latin typeface="Calibri"/>
                        </a:defRPr>
                      </a:pPr>
                      <a:r>
                        <a:t>Unaffected</a:t>
                      </a:r>
                    </a:p>
                  </a:txBody>
                  <a:tcPr>
                    <a:solidFill>
                      <a:srgbClr val="FFFFFF"/>
                    </a:solidFill>
                  </a:tcPr>
                </a:tc>
                <a:tc>
                  <a:txBody>
                    <a:bodyPr/>
                    <a:lstStyle/>
                    <a:p>
                      <a:pPr algn="l">
                        <a:defRPr sz="1200">
                          <a:solidFill>
                            <a:srgbClr val="3D4455"/>
                          </a:solidFill>
                          <a:latin typeface="Calibri"/>
                        </a:defRPr>
                      </a:pPr>
                      <a:r>
                        <a:t>No intervention needed</a:t>
                      </a:r>
                    </a:p>
                  </a:txBody>
                  <a:tcPr>
                    <a:solidFill>
                      <a:srgbClr val="FFFFFF"/>
                    </a:solidFill>
                  </a:tcPr>
                </a:tc>
                <a:tc>
                  <a:txBody>
                    <a:bodyPr/>
                    <a:lstStyle/>
                    <a:p>
                      <a:pPr algn="l">
                        <a:defRPr sz="1200">
                          <a:solidFill>
                            <a:srgbClr val="3D4455"/>
                          </a:solidFill>
                          <a:latin typeface="Calibri"/>
                        </a:defRPr>
                      </a:pPr>
                      <a:r>
                        <a:t>May need intervention</a:t>
                      </a:r>
                    </a:p>
                  </a:txBody>
                  <a:tcPr>
                    <a:solidFill>
                      <a:srgbClr val="FFFFFF"/>
                    </a:solidFill>
                  </a:tcPr>
                </a:tc>
                <a:tc>
                  <a:txBody>
                    <a:bodyPr/>
                    <a:lstStyle/>
                    <a:p>
                      <a:pPr algn="l">
                        <a:defRPr sz="1200">
                          <a:solidFill>
                            <a:srgbClr val="3D4455"/>
                          </a:solidFill>
                          <a:latin typeface="Calibri"/>
                        </a:defRPr>
                      </a:pPr>
                      <a:r>
                        <a:t>Intervention often required</a:t>
                      </a:r>
                    </a:p>
                  </a:txBody>
                  <a:tcPr>
                    <a:solidFill>
                      <a:srgbClr val="FFFFFF"/>
                    </a:solidFill>
                  </a:tcPr>
                </a:tc>
              </a:tr>
              <a:tr h="457200">
                <a:tc>
                  <a:txBody>
                    <a:bodyPr/>
                    <a:lstStyle/>
                    <a:p>
                      <a:pPr algn="l">
                        <a:defRPr sz="1200">
                          <a:solidFill>
                            <a:srgbClr val="3D4455"/>
                          </a:solidFill>
                          <a:latin typeface="Calibri"/>
                        </a:defRPr>
                      </a:pPr>
                      <a:r>
                        <a:t>Spontaneous Ventilation</a:t>
                      </a:r>
                    </a:p>
                  </a:txBody>
                  <a:tcPr>
                    <a:solidFill>
                      <a:srgbClr val="F5F6FA"/>
                    </a:solidFill>
                  </a:tcPr>
                </a:tc>
                <a:tc>
                  <a:txBody>
                    <a:bodyPr/>
                    <a:lstStyle/>
                    <a:p>
                      <a:pPr algn="l">
                        <a:defRPr sz="1200">
                          <a:solidFill>
                            <a:srgbClr val="3D4455"/>
                          </a:solidFill>
                          <a:latin typeface="Calibri"/>
                        </a:defRPr>
                      </a:pPr>
                      <a:r>
                        <a:t>Unaffected</a:t>
                      </a:r>
                    </a:p>
                  </a:txBody>
                  <a:tcPr>
                    <a:solidFill>
                      <a:srgbClr val="F5F6FA"/>
                    </a:solidFill>
                  </a:tcPr>
                </a:tc>
                <a:tc>
                  <a:txBody>
                    <a:bodyPr/>
                    <a:lstStyle/>
                    <a:p>
                      <a:pPr algn="l">
                        <a:defRPr sz="1200">
                          <a:solidFill>
                            <a:srgbClr val="3D4455"/>
                          </a:solidFill>
                          <a:latin typeface="Calibri"/>
                        </a:defRPr>
                      </a:pPr>
                      <a:r>
                        <a:t>Adequate</a:t>
                      </a:r>
                    </a:p>
                  </a:txBody>
                  <a:tcPr>
                    <a:solidFill>
                      <a:srgbClr val="F5F6FA"/>
                    </a:solidFill>
                  </a:tcPr>
                </a:tc>
                <a:tc>
                  <a:txBody>
                    <a:bodyPr/>
                    <a:lstStyle/>
                    <a:p>
                      <a:pPr algn="l">
                        <a:defRPr sz="1200">
                          <a:solidFill>
                            <a:srgbClr val="3D4455"/>
                          </a:solidFill>
                          <a:latin typeface="Calibri"/>
                        </a:defRPr>
                      </a:pPr>
                      <a:r>
                        <a:t>May be inadequate</a:t>
                      </a:r>
                    </a:p>
                  </a:txBody>
                  <a:tcPr>
                    <a:solidFill>
                      <a:srgbClr val="F5F6FA"/>
                    </a:solidFill>
                  </a:tcPr>
                </a:tc>
                <a:tc>
                  <a:txBody>
                    <a:bodyPr/>
                    <a:lstStyle/>
                    <a:p>
                      <a:pPr algn="l">
                        <a:defRPr sz="1200">
                          <a:solidFill>
                            <a:srgbClr val="3D4455"/>
                          </a:solidFill>
                          <a:latin typeface="Calibri"/>
                        </a:defRPr>
                      </a:pPr>
                      <a:r>
                        <a:t>Frequently inadequate</a:t>
                      </a:r>
                    </a:p>
                  </a:txBody>
                  <a:tcPr>
                    <a:solidFill>
                      <a:srgbClr val="F5F6FA"/>
                    </a:solidFill>
                  </a:tcPr>
                </a:tc>
              </a:tr>
              <a:tr h="457200">
                <a:tc>
                  <a:txBody>
                    <a:bodyPr/>
                    <a:lstStyle/>
                    <a:p>
                      <a:pPr algn="l">
                        <a:defRPr sz="1200">
                          <a:solidFill>
                            <a:srgbClr val="3D4455"/>
                          </a:solidFill>
                          <a:latin typeface="Calibri"/>
                        </a:defRPr>
                      </a:pPr>
                      <a:r>
                        <a:t>Cardiovascular</a:t>
                      </a:r>
                    </a:p>
                  </a:txBody>
                  <a:tcPr>
                    <a:solidFill>
                      <a:srgbClr val="FFFFFF"/>
                    </a:solidFill>
                  </a:tcPr>
                </a:tc>
                <a:tc>
                  <a:txBody>
                    <a:bodyPr/>
                    <a:lstStyle/>
                    <a:p>
                      <a:pPr algn="l">
                        <a:defRPr sz="1200">
                          <a:solidFill>
                            <a:srgbClr val="3D4455"/>
                          </a:solidFill>
                          <a:latin typeface="Calibri"/>
                        </a:defRPr>
                      </a:pPr>
                      <a:r>
                        <a:t>Unaffected</a:t>
                      </a:r>
                    </a:p>
                  </a:txBody>
                  <a:tcPr>
                    <a:solidFill>
                      <a:srgbClr val="FFFFFF"/>
                    </a:solidFill>
                  </a:tcPr>
                </a:tc>
                <a:tc>
                  <a:txBody>
                    <a:bodyPr/>
                    <a:lstStyle/>
                    <a:p>
                      <a:pPr algn="l">
                        <a:defRPr sz="1200">
                          <a:solidFill>
                            <a:srgbClr val="3D4455"/>
                          </a:solidFill>
                          <a:latin typeface="Calibri"/>
                        </a:defRPr>
                      </a:pPr>
                      <a:r>
                        <a:t>Usually maintained</a:t>
                      </a:r>
                    </a:p>
                  </a:txBody>
                  <a:tcPr>
                    <a:solidFill>
                      <a:srgbClr val="FFFFFF"/>
                    </a:solidFill>
                  </a:tcPr>
                </a:tc>
                <a:tc>
                  <a:txBody>
                    <a:bodyPr/>
                    <a:lstStyle/>
                    <a:p>
                      <a:pPr algn="l">
                        <a:defRPr sz="1200">
                          <a:solidFill>
                            <a:srgbClr val="3D4455"/>
                          </a:solidFill>
                          <a:latin typeface="Calibri"/>
                        </a:defRPr>
                      </a:pPr>
                      <a:r>
                        <a:t>Usually maintained</a:t>
                      </a:r>
                    </a:p>
                  </a:txBody>
                  <a:tcPr>
                    <a:solidFill>
                      <a:srgbClr val="FFFFFF"/>
                    </a:solidFill>
                  </a:tcPr>
                </a:tc>
                <a:tc>
                  <a:txBody>
                    <a:bodyPr/>
                    <a:lstStyle/>
                    <a:p>
                      <a:pPr algn="l">
                        <a:defRPr sz="1200">
                          <a:solidFill>
                            <a:srgbClr val="3D4455"/>
                          </a:solidFill>
                          <a:latin typeface="Calibri"/>
                        </a:defRPr>
                      </a:pPr>
                      <a:r>
                        <a:t>May be impaired</a:t>
                      </a:r>
                    </a:p>
                  </a:txBody>
                  <a:tcPr>
                    <a:solidFill>
                      <a:srgbClr val="FFFFFF"/>
                    </a:solidFill>
                  </a:tcPr>
                </a:tc>
              </a:tr>
              <a:tr h="457200">
                <a:tc>
                  <a:txBody>
                    <a:bodyPr/>
                    <a:lstStyle/>
                    <a:p>
                      <a:pPr algn="l">
                        <a:defRPr sz="1200">
                          <a:solidFill>
                            <a:srgbClr val="3D4455"/>
                          </a:solidFill>
                          <a:latin typeface="Calibri"/>
                        </a:defRPr>
                      </a:pPr>
                      <a:r>
                        <a:t>Example Agent</a:t>
                      </a:r>
                    </a:p>
                  </a:txBody>
                  <a:tcPr>
                    <a:solidFill>
                      <a:srgbClr val="F5F6FA"/>
                    </a:solidFill>
                  </a:tcPr>
                </a:tc>
                <a:tc>
                  <a:txBody>
                    <a:bodyPr/>
                    <a:lstStyle/>
                    <a:p>
                      <a:pPr algn="l">
                        <a:defRPr sz="1200">
                          <a:solidFill>
                            <a:srgbClr val="3D4455"/>
                          </a:solidFill>
                          <a:latin typeface="Calibri"/>
                        </a:defRPr>
                      </a:pPr>
                      <a:r>
                        <a:t>Midazolam PO</a:t>
                      </a:r>
                    </a:p>
                  </a:txBody>
                  <a:tcPr>
                    <a:solidFill>
                      <a:srgbClr val="F5F6FA"/>
                    </a:solidFill>
                  </a:tcPr>
                </a:tc>
                <a:tc>
                  <a:txBody>
                    <a:bodyPr/>
                    <a:lstStyle/>
                    <a:p>
                      <a:pPr algn="l">
                        <a:defRPr sz="1200">
                          <a:solidFill>
                            <a:srgbClr val="3D4455"/>
                          </a:solidFill>
                          <a:latin typeface="Calibri"/>
                        </a:defRPr>
                      </a:pPr>
                      <a:r>
                        <a:t>Ketamine IM</a:t>
                      </a:r>
                    </a:p>
                  </a:txBody>
                  <a:tcPr>
                    <a:solidFill>
                      <a:srgbClr val="F5F6FA"/>
                    </a:solidFill>
                  </a:tcPr>
                </a:tc>
                <a:tc>
                  <a:txBody>
                    <a:bodyPr/>
                    <a:lstStyle/>
                    <a:p>
                      <a:pPr algn="l">
                        <a:defRPr sz="1200">
                          <a:solidFill>
                            <a:srgbClr val="3D4455"/>
                          </a:solidFill>
                          <a:latin typeface="Calibri"/>
                        </a:defRPr>
                      </a:pPr>
                      <a:r>
                        <a:t>Propofol IV</a:t>
                      </a:r>
                    </a:p>
                  </a:txBody>
                  <a:tcPr>
                    <a:solidFill>
                      <a:srgbClr val="F5F6FA"/>
                    </a:solidFill>
                  </a:tcPr>
                </a:tc>
                <a:tc>
                  <a:txBody>
                    <a:bodyPr/>
                    <a:lstStyle/>
                    <a:p>
                      <a:pPr algn="l">
                        <a:defRPr sz="1200">
                          <a:solidFill>
                            <a:srgbClr val="3D4455"/>
                          </a:solidFill>
                          <a:latin typeface="Calibri"/>
                        </a:defRPr>
                      </a:pPr>
                      <a:r>
                        <a:t>Propofol + paralytic</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Pre-Sedation Assessment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ASA Physical Status Classification:</a:t>
            </a:r>
          </a:p>
          <a:p>
            <a:pPr lvl="1">
              <a:spcBef>
                <a:spcPts val="400"/>
              </a:spcBef>
              <a:spcAft>
                <a:spcPts val="600"/>
              </a:spcAft>
              <a:defRPr sz="1400">
                <a:solidFill>
                  <a:srgbClr val="8A92A3"/>
                </a:solidFill>
                <a:latin typeface="Calibri"/>
              </a:defRPr>
            </a:pPr>
            <a:r>
              <a:t>ASA I: Normal healthy child</a:t>
            </a:r>
          </a:p>
          <a:p>
            <a:pPr lvl="1">
              <a:spcBef>
                <a:spcPts val="400"/>
              </a:spcBef>
              <a:spcAft>
                <a:spcPts val="600"/>
              </a:spcAft>
              <a:defRPr sz="1400">
                <a:solidFill>
                  <a:srgbClr val="8A92A3"/>
                </a:solidFill>
                <a:latin typeface="Calibri"/>
              </a:defRPr>
            </a:pPr>
            <a:r>
              <a:t>ASA II: Mild systemic disease (well-controlled asthma, obesity)</a:t>
            </a:r>
          </a:p>
          <a:p>
            <a:pPr lvl="1">
              <a:spcBef>
                <a:spcPts val="400"/>
              </a:spcBef>
              <a:spcAft>
                <a:spcPts val="600"/>
              </a:spcAft>
              <a:defRPr sz="1400">
                <a:solidFill>
                  <a:srgbClr val="8A92A3"/>
                </a:solidFill>
                <a:latin typeface="Calibri"/>
              </a:defRPr>
            </a:pPr>
            <a:r>
              <a:t>ASA III: Severe systemic disease (poorly controlled asthma, significant cardiac disease)</a:t>
            </a:r>
          </a:p>
          <a:p>
            <a:pPr lvl="1">
              <a:spcBef>
                <a:spcPts val="400"/>
              </a:spcBef>
              <a:spcAft>
                <a:spcPts val="600"/>
              </a:spcAft>
              <a:defRPr sz="1400">
                <a:solidFill>
                  <a:srgbClr val="8A92A3"/>
                </a:solidFill>
                <a:latin typeface="Calibri"/>
              </a:defRPr>
            </a:pPr>
            <a:r>
              <a:t>ASA IV+: Life-threatening disease — sedation by anesthesia only</a:t>
            </a:r>
          </a:p>
          <a:p>
            <a:pPr>
              <a:spcBef>
                <a:spcPts val="400"/>
              </a:spcBef>
              <a:spcAft>
                <a:spcPts val="600"/>
              </a:spcAft>
              <a:defRPr sz="1600">
                <a:solidFill>
                  <a:srgbClr val="3D4455"/>
                </a:solidFill>
                <a:latin typeface="Calibri"/>
              </a:defRPr>
            </a:pPr>
            <a:r>
              <a:t>Airway Assessment: Mallampati score, mouth opening, neck mobility, history of difficult airway</a:t>
            </a:r>
          </a:p>
          <a:p>
            <a:pPr>
              <a:spcBef>
                <a:spcPts val="400"/>
              </a:spcBef>
              <a:spcAft>
                <a:spcPts val="600"/>
              </a:spcAft>
              <a:defRPr sz="1600">
                <a:solidFill>
                  <a:srgbClr val="3D4455"/>
                </a:solidFill>
                <a:latin typeface="Calibri"/>
              </a:defRPr>
            </a:pPr>
            <a:r>
              <a:t>AMPLE History: Allergies, Medications, Past medical/surgical, Last meal, Events leading to procedure</a:t>
            </a:r>
          </a:p>
          <a:p>
            <a:pPr>
              <a:spcBef>
                <a:spcPts val="400"/>
              </a:spcBef>
              <a:spcAft>
                <a:spcPts val="600"/>
              </a:spcAft>
              <a:defRPr sz="1600">
                <a:solidFill>
                  <a:srgbClr val="3D4455"/>
                </a:solidFill>
                <a:latin typeface="Calibri"/>
              </a:defRPr>
            </a:pPr>
            <a:r>
              <a:t>Targeted exam: heart, lungs, airway anatomy</a:t>
            </a:r>
          </a:p>
          <a:p>
            <a:pPr lvl="1">
              <a:spcBef>
                <a:spcPts val="400"/>
              </a:spcBef>
              <a:spcAft>
                <a:spcPts val="600"/>
              </a:spcAft>
              <a:defRPr sz="1400">
                <a:solidFill>
                  <a:srgbClr val="8A92A3"/>
                </a:solidFill>
                <a:latin typeface="Calibri"/>
              </a:defRPr>
            </a:pPr>
            <a:r>
              <a:t>ASA I-II patients are appropriate for ED sedation. ASA III = case-by-case. ASA IV = anesthesia.</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 FASTING GUIDELINES</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In the ED, strict NPO requirements should NOT delay emergency procedures.</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AAP/ASA guidelines suggest: clear liquids 2h, breast milk 4h, solids 6-8h for ELECTIVE sedation. For EMERGENCY procedures, fasting status does not change the decision to sedate — it changes your preparation level. Evidence shows NO increased aspiration risk in ED sedation regardless of fasting status.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Sedation Agent Selection Guide</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Agent</a:t>
                      </a:r>
                    </a:p>
                  </a:txBody>
                  <a:tcPr>
                    <a:solidFill>
                      <a:srgbClr val="007B83"/>
                    </a:solidFill>
                  </a:tcPr>
                </a:tc>
                <a:tc>
                  <a:txBody>
                    <a:bodyPr/>
                    <a:lstStyle/>
                    <a:p>
                      <a:pPr algn="ctr">
                        <a:defRPr sz="1300" b="1">
                          <a:solidFill>
                            <a:srgbClr val="FFFFFF"/>
                          </a:solidFill>
                          <a:latin typeface="Calibri"/>
                        </a:defRPr>
                      </a:pPr>
                      <a:r>
                        <a:t>Route</a:t>
                      </a:r>
                    </a:p>
                  </a:txBody>
                  <a:tcPr>
                    <a:solidFill>
                      <a:srgbClr val="007B83"/>
                    </a:solidFill>
                  </a:tcPr>
                </a:tc>
                <a:tc>
                  <a:txBody>
                    <a:bodyPr/>
                    <a:lstStyle/>
                    <a:p>
                      <a:pPr algn="ctr">
                        <a:defRPr sz="1300" b="1">
                          <a:solidFill>
                            <a:srgbClr val="FFFFFF"/>
                          </a:solidFill>
                          <a:latin typeface="Calibri"/>
                        </a:defRPr>
                      </a:pPr>
                      <a:r>
                        <a:t>Onset</a:t>
                      </a:r>
                    </a:p>
                  </a:txBody>
                  <a:tcPr>
                    <a:solidFill>
                      <a:srgbClr val="007B83"/>
                    </a:solidFill>
                  </a:tcPr>
                </a:tc>
                <a:tc>
                  <a:txBody>
                    <a:bodyPr/>
                    <a:lstStyle/>
                    <a:p>
                      <a:pPr algn="ctr">
                        <a:defRPr sz="1300" b="1">
                          <a:solidFill>
                            <a:srgbClr val="FFFFFF"/>
                          </a:solidFill>
                          <a:latin typeface="Calibri"/>
                        </a:defRPr>
                      </a:pPr>
                      <a:r>
                        <a:t>Duration</a:t>
                      </a:r>
                    </a:p>
                  </a:txBody>
                  <a:tcPr>
                    <a:solidFill>
                      <a:srgbClr val="007B83"/>
                    </a:solidFill>
                  </a:tcPr>
                </a:tc>
                <a:tc>
                  <a:txBody>
                    <a:bodyPr/>
                    <a:lstStyle/>
                    <a:p>
                      <a:pPr algn="ctr">
                        <a:defRPr sz="1300" b="1">
                          <a:solidFill>
                            <a:srgbClr val="FFFFFF"/>
                          </a:solidFill>
                          <a:latin typeface="Calibri"/>
                        </a:defRPr>
                      </a:pPr>
                      <a:r>
                        <a:t>Best For</a:t>
                      </a:r>
                    </a:p>
                  </a:txBody>
                  <a:tcPr>
                    <a:solidFill>
                      <a:srgbClr val="007B83"/>
                    </a:solidFill>
                  </a:tcPr>
                </a:tc>
                <a:tc>
                  <a:txBody>
                    <a:bodyPr/>
                    <a:lstStyle/>
                    <a:p>
                      <a:pPr algn="ctr">
                        <a:defRPr sz="1300" b="1">
                          <a:solidFill>
                            <a:srgbClr val="FFFFFF"/>
                          </a:solidFill>
                          <a:latin typeface="Calibri"/>
                        </a:defRPr>
                      </a:pPr>
                      <a:r>
                        <a:t>Key Advantage</a:t>
                      </a:r>
                    </a:p>
                  </a:txBody>
                  <a:tcPr>
                    <a:solidFill>
                      <a:srgbClr val="007B83"/>
                    </a:solidFill>
                  </a:tcPr>
                </a:tc>
              </a:tr>
              <a:tr h="457200">
                <a:tc>
                  <a:txBody>
                    <a:bodyPr/>
                    <a:lstStyle/>
                    <a:p>
                      <a:pPr algn="l">
                        <a:defRPr sz="1200">
                          <a:solidFill>
                            <a:srgbClr val="3D4455"/>
                          </a:solidFill>
                          <a:latin typeface="Calibri"/>
                        </a:defRPr>
                      </a:pPr>
                      <a:r>
                        <a:t>Ketamine</a:t>
                      </a:r>
                    </a:p>
                  </a:txBody>
                  <a:tcPr>
                    <a:solidFill>
                      <a:srgbClr val="F5F6FA"/>
                    </a:solidFill>
                  </a:tcPr>
                </a:tc>
                <a:tc>
                  <a:txBody>
                    <a:bodyPr/>
                    <a:lstStyle/>
                    <a:p>
                      <a:pPr algn="l">
                        <a:defRPr sz="1200">
                          <a:solidFill>
                            <a:srgbClr val="3D4455"/>
                          </a:solidFill>
                          <a:latin typeface="Calibri"/>
                        </a:defRPr>
                      </a:pPr>
                      <a:r>
                        <a:t>IV: 1-2 mg/kg</a:t>
                      </a:r>
                    </a:p>
                  </a:txBody>
                  <a:tcPr>
                    <a:solidFill>
                      <a:srgbClr val="F5F6FA"/>
                    </a:solidFill>
                  </a:tcPr>
                </a:tc>
                <a:tc>
                  <a:txBody>
                    <a:bodyPr/>
                    <a:lstStyle/>
                    <a:p>
                      <a:pPr algn="l">
                        <a:defRPr sz="1200">
                          <a:solidFill>
                            <a:srgbClr val="3D4455"/>
                          </a:solidFill>
                          <a:latin typeface="Calibri"/>
                        </a:defRPr>
                      </a:pPr>
                      <a:r>
                        <a:t>1 min</a:t>
                      </a:r>
                    </a:p>
                  </a:txBody>
                  <a:tcPr>
                    <a:solidFill>
                      <a:srgbClr val="F5F6FA"/>
                    </a:solidFill>
                  </a:tcPr>
                </a:tc>
                <a:tc>
                  <a:txBody>
                    <a:bodyPr/>
                    <a:lstStyle/>
                    <a:p>
                      <a:pPr algn="l">
                        <a:defRPr sz="1200">
                          <a:solidFill>
                            <a:srgbClr val="3D4455"/>
                          </a:solidFill>
                          <a:latin typeface="Calibri"/>
                        </a:defRPr>
                      </a:pPr>
                      <a:r>
                        <a:t>15-20 min</a:t>
                      </a:r>
                    </a:p>
                  </a:txBody>
                  <a:tcPr>
                    <a:solidFill>
                      <a:srgbClr val="F5F6FA"/>
                    </a:solidFill>
                  </a:tcPr>
                </a:tc>
                <a:tc>
                  <a:txBody>
                    <a:bodyPr/>
                    <a:lstStyle/>
                    <a:p>
                      <a:pPr algn="l">
                        <a:defRPr sz="1200">
                          <a:solidFill>
                            <a:srgbClr val="3D4455"/>
                          </a:solidFill>
                          <a:latin typeface="Calibri"/>
                        </a:defRPr>
                      </a:pPr>
                      <a:r>
                        <a:t>Fracture reduction, laceration, abscess I&amp;D</a:t>
                      </a:r>
                    </a:p>
                  </a:txBody>
                  <a:tcPr>
                    <a:solidFill>
                      <a:srgbClr val="F5F6FA"/>
                    </a:solidFill>
                  </a:tcPr>
                </a:tc>
                <a:tc>
                  <a:txBody>
                    <a:bodyPr/>
                    <a:lstStyle/>
                    <a:p>
                      <a:pPr algn="l">
                        <a:defRPr sz="1200">
                          <a:solidFill>
                            <a:srgbClr val="3D4455"/>
                          </a:solidFill>
                          <a:latin typeface="Calibri"/>
                        </a:defRPr>
                      </a:pPr>
                      <a:r>
                        <a:t>Dissociative; maintains airway reflexes</a:t>
                      </a:r>
                    </a:p>
                  </a:txBody>
                  <a:tcPr>
                    <a:solidFill>
                      <a:srgbClr val="F5F6FA"/>
                    </a:solidFill>
                  </a:tcPr>
                </a:tc>
              </a:tr>
              <a:tr h="457200">
                <a:tc>
                  <a:txBody>
                    <a:bodyPr/>
                    <a:lstStyle/>
                    <a:p>
                      <a:pPr algn="l">
                        <a:defRPr sz="1200">
                          <a:solidFill>
                            <a:srgbClr val="3D4455"/>
                          </a:solidFill>
                          <a:latin typeface="Calibri"/>
                        </a:defRPr>
                      </a:pPr>
                      <a:r>
                        <a:t>Ketamine</a:t>
                      </a:r>
                    </a:p>
                  </a:txBody>
                  <a:tcPr>
                    <a:solidFill>
                      <a:srgbClr val="FFFFFF"/>
                    </a:solidFill>
                  </a:tcPr>
                </a:tc>
                <a:tc>
                  <a:txBody>
                    <a:bodyPr/>
                    <a:lstStyle/>
                    <a:p>
                      <a:pPr algn="l">
                        <a:defRPr sz="1200">
                          <a:solidFill>
                            <a:srgbClr val="3D4455"/>
                          </a:solidFill>
                          <a:latin typeface="Calibri"/>
                        </a:defRPr>
                      </a:pPr>
                      <a:r>
                        <a:t>IM: 4-5 mg/kg</a:t>
                      </a:r>
                    </a:p>
                  </a:txBody>
                  <a:tcPr>
                    <a:solidFill>
                      <a:srgbClr val="FFFFFF"/>
                    </a:solidFill>
                  </a:tcPr>
                </a:tc>
                <a:tc>
                  <a:txBody>
                    <a:bodyPr/>
                    <a:lstStyle/>
                    <a:p>
                      <a:pPr algn="l">
                        <a:defRPr sz="1200">
                          <a:solidFill>
                            <a:srgbClr val="3D4455"/>
                          </a:solidFill>
                          <a:latin typeface="Calibri"/>
                        </a:defRPr>
                      </a:pPr>
                      <a:r>
                        <a:t>5 min</a:t>
                      </a:r>
                    </a:p>
                  </a:txBody>
                  <a:tcPr>
                    <a:solidFill>
                      <a:srgbClr val="FFFFFF"/>
                    </a:solidFill>
                  </a:tcPr>
                </a:tc>
                <a:tc>
                  <a:txBody>
                    <a:bodyPr/>
                    <a:lstStyle/>
                    <a:p>
                      <a:pPr algn="l">
                        <a:defRPr sz="1200">
                          <a:solidFill>
                            <a:srgbClr val="3D4455"/>
                          </a:solidFill>
                          <a:latin typeface="Calibri"/>
                        </a:defRPr>
                      </a:pPr>
                      <a:r>
                        <a:t>25-40 min</a:t>
                      </a:r>
                    </a:p>
                  </a:txBody>
                  <a:tcPr>
                    <a:solidFill>
                      <a:srgbClr val="FFFFFF"/>
                    </a:solidFill>
                  </a:tcPr>
                </a:tc>
                <a:tc>
                  <a:txBody>
                    <a:bodyPr/>
                    <a:lstStyle/>
                    <a:p>
                      <a:pPr algn="l">
                        <a:defRPr sz="1200">
                          <a:solidFill>
                            <a:srgbClr val="3D4455"/>
                          </a:solidFill>
                          <a:latin typeface="Calibri"/>
                        </a:defRPr>
                      </a:pPr>
                      <a:r>
                        <a:t>Uncooperative child, no IV access</a:t>
                      </a:r>
                    </a:p>
                  </a:txBody>
                  <a:tcPr>
                    <a:solidFill>
                      <a:srgbClr val="FFFFFF"/>
                    </a:solidFill>
                  </a:tcPr>
                </a:tc>
                <a:tc>
                  <a:txBody>
                    <a:bodyPr/>
                    <a:lstStyle/>
                    <a:p>
                      <a:pPr algn="l">
                        <a:defRPr sz="1200">
                          <a:solidFill>
                            <a:srgbClr val="3D4455"/>
                          </a:solidFill>
                          <a:latin typeface="Calibri"/>
                        </a:defRPr>
                      </a:pPr>
                      <a:r>
                        <a:t>No IV needed; reliable deep sedation</a:t>
                      </a:r>
                    </a:p>
                  </a:txBody>
                  <a:tcPr>
                    <a:solidFill>
                      <a:srgbClr val="FFFFFF"/>
                    </a:solidFill>
                  </a:tcPr>
                </a:tc>
              </a:tr>
              <a:tr h="457200">
                <a:tc>
                  <a:txBody>
                    <a:bodyPr/>
                    <a:lstStyle/>
                    <a:p>
                      <a:pPr algn="l">
                        <a:defRPr sz="1200">
                          <a:solidFill>
                            <a:srgbClr val="3D4455"/>
                          </a:solidFill>
                          <a:latin typeface="Calibri"/>
                        </a:defRPr>
                      </a:pPr>
                      <a:r>
                        <a:t>Propofol</a:t>
                      </a:r>
                    </a:p>
                  </a:txBody>
                  <a:tcPr>
                    <a:solidFill>
                      <a:srgbClr val="F5F6FA"/>
                    </a:solidFill>
                  </a:tcPr>
                </a:tc>
                <a:tc>
                  <a:txBody>
                    <a:bodyPr/>
                    <a:lstStyle/>
                    <a:p>
                      <a:pPr algn="l">
                        <a:defRPr sz="1200">
                          <a:solidFill>
                            <a:srgbClr val="3D4455"/>
                          </a:solidFill>
                          <a:latin typeface="Calibri"/>
                        </a:defRPr>
                      </a:pPr>
                      <a:r>
                        <a:t>IV: 1 mg/kg + 0.5 mg/kg prn</a:t>
                      </a:r>
                    </a:p>
                  </a:txBody>
                  <a:tcPr>
                    <a:solidFill>
                      <a:srgbClr val="F5F6FA"/>
                    </a:solidFill>
                  </a:tcPr>
                </a:tc>
                <a:tc>
                  <a:txBody>
                    <a:bodyPr/>
                    <a:lstStyle/>
                    <a:p>
                      <a:pPr algn="l">
                        <a:defRPr sz="1200">
                          <a:solidFill>
                            <a:srgbClr val="3D4455"/>
                          </a:solidFill>
                          <a:latin typeface="Calibri"/>
                        </a:defRPr>
                      </a:pPr>
                      <a:r>
                        <a:t>&lt;1 min</a:t>
                      </a:r>
                    </a:p>
                  </a:txBody>
                  <a:tcPr>
                    <a:solidFill>
                      <a:srgbClr val="F5F6FA"/>
                    </a:solidFill>
                  </a:tcPr>
                </a:tc>
                <a:tc>
                  <a:txBody>
                    <a:bodyPr/>
                    <a:lstStyle/>
                    <a:p>
                      <a:pPr algn="l">
                        <a:defRPr sz="1200">
                          <a:solidFill>
                            <a:srgbClr val="3D4455"/>
                          </a:solidFill>
                          <a:latin typeface="Calibri"/>
                        </a:defRPr>
                      </a:pPr>
                      <a:r>
                        <a:t>5-10 min</a:t>
                      </a:r>
                    </a:p>
                  </a:txBody>
                  <a:tcPr>
                    <a:solidFill>
                      <a:srgbClr val="F5F6FA"/>
                    </a:solidFill>
                  </a:tcPr>
                </a:tc>
                <a:tc>
                  <a:txBody>
                    <a:bodyPr/>
                    <a:lstStyle/>
                    <a:p>
                      <a:pPr algn="l">
                        <a:defRPr sz="1200">
                          <a:solidFill>
                            <a:srgbClr val="3D4455"/>
                          </a:solidFill>
                          <a:latin typeface="Calibri"/>
                        </a:defRPr>
                      </a:pPr>
                      <a:r>
                        <a:t>Short procedures, cardioversion, joint reduction</a:t>
                      </a:r>
                    </a:p>
                  </a:txBody>
                  <a:tcPr>
                    <a:solidFill>
                      <a:srgbClr val="F5F6FA"/>
                    </a:solidFill>
                  </a:tcPr>
                </a:tc>
                <a:tc>
                  <a:txBody>
                    <a:bodyPr/>
                    <a:lstStyle/>
                    <a:p>
                      <a:pPr algn="l">
                        <a:defRPr sz="1200">
                          <a:solidFill>
                            <a:srgbClr val="3D4455"/>
                          </a:solidFill>
                          <a:latin typeface="Calibri"/>
                        </a:defRPr>
                      </a:pPr>
                      <a:r>
                        <a:t>Ultra-short duration; rapid recovery</a:t>
                      </a:r>
                    </a:p>
                  </a:txBody>
                  <a:tcPr>
                    <a:solidFill>
                      <a:srgbClr val="F5F6FA"/>
                    </a:solidFill>
                  </a:tcPr>
                </a:tc>
              </a:tr>
              <a:tr h="457200">
                <a:tc>
                  <a:txBody>
                    <a:bodyPr/>
                    <a:lstStyle/>
                    <a:p>
                      <a:pPr algn="l">
                        <a:defRPr sz="1200">
                          <a:solidFill>
                            <a:srgbClr val="3D4455"/>
                          </a:solidFill>
                          <a:latin typeface="Calibri"/>
                        </a:defRPr>
                      </a:pPr>
                      <a:r>
                        <a:t>Midazolam</a:t>
                      </a:r>
                    </a:p>
                  </a:txBody>
                  <a:tcPr>
                    <a:solidFill>
                      <a:srgbClr val="FFFFFF"/>
                    </a:solidFill>
                  </a:tcPr>
                </a:tc>
                <a:tc>
                  <a:txBody>
                    <a:bodyPr/>
                    <a:lstStyle/>
                    <a:p>
                      <a:pPr algn="l">
                        <a:defRPr sz="1200">
                          <a:solidFill>
                            <a:srgbClr val="3D4455"/>
                          </a:solidFill>
                          <a:latin typeface="Calibri"/>
                        </a:defRPr>
                      </a:pPr>
                      <a:r>
                        <a:t>IN: 0.3-0.5 mg/kg</a:t>
                      </a:r>
                    </a:p>
                  </a:txBody>
                  <a:tcPr>
                    <a:solidFill>
                      <a:srgbClr val="FFFFFF"/>
                    </a:solidFill>
                  </a:tcPr>
                </a:tc>
                <a:tc>
                  <a:txBody>
                    <a:bodyPr/>
                    <a:lstStyle/>
                    <a:p>
                      <a:pPr algn="l">
                        <a:defRPr sz="1200">
                          <a:solidFill>
                            <a:srgbClr val="3D4455"/>
                          </a:solidFill>
                          <a:latin typeface="Calibri"/>
                        </a:defRPr>
                      </a:pPr>
                      <a:r>
                        <a:t>5-10 min</a:t>
                      </a:r>
                    </a:p>
                  </a:txBody>
                  <a:tcPr>
                    <a:solidFill>
                      <a:srgbClr val="FFFFFF"/>
                    </a:solidFill>
                  </a:tcPr>
                </a:tc>
                <a:tc>
                  <a:txBody>
                    <a:bodyPr/>
                    <a:lstStyle/>
                    <a:p>
                      <a:pPr algn="l">
                        <a:defRPr sz="1200">
                          <a:solidFill>
                            <a:srgbClr val="3D4455"/>
                          </a:solidFill>
                          <a:latin typeface="Calibri"/>
                        </a:defRPr>
                      </a:pPr>
                      <a:r>
                        <a:t>30-60 min</a:t>
                      </a:r>
                    </a:p>
                  </a:txBody>
                  <a:tcPr>
                    <a:solidFill>
                      <a:srgbClr val="FFFFFF"/>
                    </a:solidFill>
                  </a:tcPr>
                </a:tc>
                <a:tc>
                  <a:txBody>
                    <a:bodyPr/>
                    <a:lstStyle/>
                    <a:p>
                      <a:pPr algn="l">
                        <a:defRPr sz="1200">
                          <a:solidFill>
                            <a:srgbClr val="3D4455"/>
                          </a:solidFill>
                          <a:latin typeface="Calibri"/>
                        </a:defRPr>
                      </a:pPr>
                      <a:r>
                        <a:t>Anxiolysis, CT scan, suturing (minor)</a:t>
                      </a:r>
                    </a:p>
                  </a:txBody>
                  <a:tcPr>
                    <a:solidFill>
                      <a:srgbClr val="FFFFFF"/>
                    </a:solidFill>
                  </a:tcPr>
                </a:tc>
                <a:tc>
                  <a:txBody>
                    <a:bodyPr/>
                    <a:lstStyle/>
                    <a:p>
                      <a:pPr algn="l">
                        <a:defRPr sz="1200">
                          <a:solidFill>
                            <a:srgbClr val="3D4455"/>
                          </a:solidFill>
                          <a:latin typeface="Calibri"/>
                        </a:defRPr>
                      </a:pPr>
                      <a:r>
                        <a:t>Non-invasive route; good anxiolysis</a:t>
                      </a:r>
                    </a:p>
                  </a:txBody>
                  <a:tcPr>
                    <a:solidFill>
                      <a:srgbClr val="FFFFFF"/>
                    </a:solidFill>
                  </a:tcPr>
                </a:tc>
              </a:tr>
              <a:tr h="457200">
                <a:tc>
                  <a:txBody>
                    <a:bodyPr/>
                    <a:lstStyle/>
                    <a:p>
                      <a:pPr algn="l">
                        <a:defRPr sz="1200">
                          <a:solidFill>
                            <a:srgbClr val="3D4455"/>
                          </a:solidFill>
                          <a:latin typeface="Calibri"/>
                        </a:defRPr>
                      </a:pPr>
                      <a:r>
                        <a:t>Fentanyl + Midazolam</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1-2 min</a:t>
                      </a:r>
                    </a:p>
                  </a:txBody>
                  <a:tcPr>
                    <a:solidFill>
                      <a:srgbClr val="F5F6FA"/>
                    </a:solidFill>
                  </a:tcPr>
                </a:tc>
                <a:tc>
                  <a:txBody>
                    <a:bodyPr/>
                    <a:lstStyle/>
                    <a:p>
                      <a:pPr algn="l">
                        <a:defRPr sz="1200">
                          <a:solidFill>
                            <a:srgbClr val="3D4455"/>
                          </a:solidFill>
                          <a:latin typeface="Calibri"/>
                        </a:defRPr>
                      </a:pPr>
                      <a:r>
                        <a:t>20-40 min</a:t>
                      </a:r>
                    </a:p>
                  </a:txBody>
                  <a:tcPr>
                    <a:solidFill>
                      <a:srgbClr val="F5F6FA"/>
                    </a:solidFill>
                  </a:tcPr>
                </a:tc>
                <a:tc>
                  <a:txBody>
                    <a:bodyPr/>
                    <a:lstStyle/>
                    <a:p>
                      <a:pPr algn="l">
                        <a:defRPr sz="1200">
                          <a:solidFill>
                            <a:srgbClr val="3D4455"/>
                          </a:solidFill>
                          <a:latin typeface="Calibri"/>
                        </a:defRPr>
                      </a:pPr>
                      <a:r>
                        <a:t>Painful procedures with anxiolysis</a:t>
                      </a:r>
                    </a:p>
                  </a:txBody>
                  <a:tcPr>
                    <a:solidFill>
                      <a:srgbClr val="F5F6FA"/>
                    </a:solidFill>
                  </a:tcPr>
                </a:tc>
                <a:tc>
                  <a:txBody>
                    <a:bodyPr/>
                    <a:lstStyle/>
                    <a:p>
                      <a:pPr algn="l">
                        <a:defRPr sz="1200">
                          <a:solidFill>
                            <a:srgbClr val="3D4455"/>
                          </a:solidFill>
                          <a:latin typeface="Calibri"/>
                        </a:defRPr>
                      </a:pPr>
                      <a:r>
                        <a:t>Titratable; reversible (naloxone + flumazenil)</a:t>
                      </a:r>
                    </a:p>
                  </a:txBody>
                  <a:tcPr>
                    <a:solidFill>
                      <a:srgbClr val="F5F6FA"/>
                    </a:solidFill>
                  </a:tcPr>
                </a:tc>
              </a:tr>
              <a:tr h="457200">
                <a:tc>
                  <a:txBody>
                    <a:bodyPr/>
                    <a:lstStyle/>
                    <a:p>
                      <a:pPr algn="l">
                        <a:defRPr sz="1200">
                          <a:solidFill>
                            <a:srgbClr val="3D4455"/>
                          </a:solidFill>
                          <a:latin typeface="Calibri"/>
                        </a:defRPr>
                      </a:pPr>
                      <a:r>
                        <a:t>Nitrous Oxide</a:t>
                      </a:r>
                    </a:p>
                  </a:txBody>
                  <a:tcPr>
                    <a:solidFill>
                      <a:srgbClr val="FFFFFF"/>
                    </a:solidFill>
                  </a:tcPr>
                </a:tc>
                <a:tc>
                  <a:txBody>
                    <a:bodyPr/>
                    <a:lstStyle/>
                    <a:p>
                      <a:pPr algn="l">
                        <a:defRPr sz="1200">
                          <a:solidFill>
                            <a:srgbClr val="3D4455"/>
                          </a:solidFill>
                          <a:latin typeface="Calibri"/>
                        </a:defRPr>
                      </a:pPr>
                      <a:r>
                        <a:t>Inhaled 50-70%</a:t>
                      </a:r>
                    </a:p>
                  </a:txBody>
                  <a:tcPr>
                    <a:solidFill>
                      <a:srgbClr val="FFFFFF"/>
                    </a:solidFill>
                  </a:tcPr>
                </a:tc>
                <a:tc>
                  <a:txBody>
                    <a:bodyPr/>
                    <a:lstStyle/>
                    <a:p>
                      <a:pPr algn="l">
                        <a:defRPr sz="1200">
                          <a:solidFill>
                            <a:srgbClr val="3D4455"/>
                          </a:solidFill>
                          <a:latin typeface="Calibri"/>
                        </a:defRPr>
                      </a:pPr>
                      <a:r>
                        <a:t>2-3 min</a:t>
                      </a:r>
                    </a:p>
                  </a:txBody>
                  <a:tcPr>
                    <a:solidFill>
                      <a:srgbClr val="FFFFFF"/>
                    </a:solidFill>
                  </a:tcPr>
                </a:tc>
                <a:tc>
                  <a:txBody>
                    <a:bodyPr/>
                    <a:lstStyle/>
                    <a:p>
                      <a:pPr algn="l">
                        <a:defRPr sz="1200">
                          <a:solidFill>
                            <a:srgbClr val="3D4455"/>
                          </a:solidFill>
                          <a:latin typeface="Calibri"/>
                        </a:defRPr>
                      </a:pPr>
                      <a:r>
                        <a:t>Minutes after off</a:t>
                      </a:r>
                    </a:p>
                  </a:txBody>
                  <a:tcPr>
                    <a:solidFill>
                      <a:srgbClr val="FFFFFF"/>
                    </a:solidFill>
                  </a:tcPr>
                </a:tc>
                <a:tc>
                  <a:txBody>
                    <a:bodyPr/>
                    <a:lstStyle/>
                    <a:p>
                      <a:pPr algn="l">
                        <a:defRPr sz="1200">
                          <a:solidFill>
                            <a:srgbClr val="3D4455"/>
                          </a:solidFill>
                          <a:latin typeface="Calibri"/>
                        </a:defRPr>
                      </a:pPr>
                      <a:r>
                        <a:t>Laceration repair, IV starts, minor procedures</a:t>
                      </a:r>
                    </a:p>
                  </a:txBody>
                  <a:tcPr>
                    <a:solidFill>
                      <a:srgbClr val="FFFFFF"/>
                    </a:solidFill>
                  </a:tcPr>
                </a:tc>
                <a:tc>
                  <a:txBody>
                    <a:bodyPr/>
                    <a:lstStyle/>
                    <a:p>
                      <a:pPr algn="l">
                        <a:defRPr sz="1200">
                          <a:solidFill>
                            <a:srgbClr val="3D4455"/>
                          </a:solidFill>
                          <a:latin typeface="Calibri"/>
                        </a:defRPr>
                      </a:pPr>
                      <a:r>
                        <a:t>Patient-controlled; rapid onset/offset</a:t>
                      </a:r>
                    </a:p>
                  </a:txBody>
                  <a:tcPr>
                    <a:solidFill>
                      <a:srgbClr val="FFFFFF"/>
                    </a:solidFill>
                  </a:tcPr>
                </a:tc>
              </a:tr>
              <a:tr h="457200">
                <a:tc>
                  <a:txBody>
                    <a:bodyPr/>
                    <a:lstStyle/>
                    <a:p>
                      <a:pPr algn="l">
                        <a:defRPr sz="1200">
                          <a:solidFill>
                            <a:srgbClr val="3D4455"/>
                          </a:solidFill>
                          <a:latin typeface="Calibri"/>
                        </a:defRPr>
                      </a:pPr>
                      <a:r>
                        <a:t>Dexmedetomidine</a:t>
                      </a:r>
                    </a:p>
                  </a:txBody>
                  <a:tcPr>
                    <a:solidFill>
                      <a:srgbClr val="F5F6FA"/>
                    </a:solidFill>
                  </a:tcPr>
                </a:tc>
                <a:tc>
                  <a:txBody>
                    <a:bodyPr/>
                    <a:lstStyle/>
                    <a:p>
                      <a:pPr algn="l">
                        <a:defRPr sz="1200">
                          <a:solidFill>
                            <a:srgbClr val="3D4455"/>
                          </a:solidFill>
                          <a:latin typeface="Calibri"/>
                        </a:defRPr>
                      </a:pPr>
                      <a:r>
                        <a:t>IN: 3-4 mcg/kg</a:t>
                      </a:r>
                    </a:p>
                  </a:txBody>
                  <a:tcPr>
                    <a:solidFill>
                      <a:srgbClr val="F5F6FA"/>
                    </a:solidFill>
                  </a:tcPr>
                </a:tc>
                <a:tc>
                  <a:txBody>
                    <a:bodyPr/>
                    <a:lstStyle/>
                    <a:p>
                      <a:pPr algn="l">
                        <a:defRPr sz="1200">
                          <a:solidFill>
                            <a:srgbClr val="3D4455"/>
                          </a:solidFill>
                          <a:latin typeface="Calibri"/>
                        </a:defRPr>
                      </a:pPr>
                      <a:r>
                        <a:t>15-30 min</a:t>
                      </a:r>
                    </a:p>
                  </a:txBody>
                  <a:tcPr>
                    <a:solidFill>
                      <a:srgbClr val="F5F6FA"/>
                    </a:solidFill>
                  </a:tcPr>
                </a:tc>
                <a:tc>
                  <a:txBody>
                    <a:bodyPr/>
                    <a:lstStyle/>
                    <a:p>
                      <a:pPr algn="l">
                        <a:defRPr sz="1200">
                          <a:solidFill>
                            <a:srgbClr val="3D4455"/>
                          </a:solidFill>
                          <a:latin typeface="Calibri"/>
                        </a:defRPr>
                      </a:pPr>
                      <a:r>
                        <a:t>45-90 min</a:t>
                      </a:r>
                    </a:p>
                  </a:txBody>
                  <a:tcPr>
                    <a:solidFill>
                      <a:srgbClr val="F5F6FA"/>
                    </a:solidFill>
                  </a:tcPr>
                </a:tc>
                <a:tc>
                  <a:txBody>
                    <a:bodyPr/>
                    <a:lstStyle/>
                    <a:p>
                      <a:pPr algn="l">
                        <a:defRPr sz="1200">
                          <a:solidFill>
                            <a:srgbClr val="3D4455"/>
                          </a:solidFill>
                          <a:latin typeface="Calibri"/>
                        </a:defRPr>
                      </a:pPr>
                      <a:r>
                        <a:t>MRI, echocardiography, EEG</a:t>
                      </a:r>
                    </a:p>
                  </a:txBody>
                  <a:tcPr>
                    <a:solidFill>
                      <a:srgbClr val="F5F6FA"/>
                    </a:solidFill>
                  </a:tcPr>
                </a:tc>
                <a:tc>
                  <a:txBody>
                    <a:bodyPr/>
                    <a:lstStyle/>
                    <a:p>
                      <a:pPr algn="l">
                        <a:defRPr sz="1200">
                          <a:solidFill>
                            <a:srgbClr val="3D4455"/>
                          </a:solidFill>
                          <a:latin typeface="Calibri"/>
                        </a:defRPr>
                      </a:pPr>
                      <a:r>
                        <a:t>No respiratory depression; natural sleep</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Ketamine: The PEM Workhorse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Dissociative agent: creates a "functional disconnection" between cortex and limbic system</a:t>
            </a:r>
          </a:p>
          <a:p>
            <a:pPr>
              <a:spcBef>
                <a:spcPts val="400"/>
              </a:spcBef>
              <a:spcAft>
                <a:spcPts val="600"/>
              </a:spcAft>
              <a:defRPr sz="1600">
                <a:solidFill>
                  <a:srgbClr val="3D4455"/>
                </a:solidFill>
                <a:latin typeface="Calibri"/>
              </a:defRPr>
            </a:pPr>
            <a:r>
              <a:t>Unique advantage: maintains airway protective reflexes and spontaneous ventilation</a:t>
            </a:r>
          </a:p>
          <a:p>
            <a:pPr>
              <a:spcBef>
                <a:spcPts val="400"/>
              </a:spcBef>
              <a:spcAft>
                <a:spcPts val="600"/>
              </a:spcAft>
              <a:defRPr sz="1600">
                <a:solidFill>
                  <a:srgbClr val="3D4455"/>
                </a:solidFill>
                <a:latin typeface="Calibri"/>
              </a:defRPr>
            </a:pPr>
            <a:r>
              <a:t>IV dose: 1-2 mg/kg (give slowly over 30-60 seconds to reduce emergence reactions)</a:t>
            </a:r>
          </a:p>
          <a:p>
            <a:pPr>
              <a:spcBef>
                <a:spcPts val="400"/>
              </a:spcBef>
              <a:spcAft>
                <a:spcPts val="600"/>
              </a:spcAft>
              <a:defRPr sz="1600">
                <a:solidFill>
                  <a:srgbClr val="3D4455"/>
                </a:solidFill>
                <a:latin typeface="Calibri"/>
              </a:defRPr>
            </a:pPr>
            <a:r>
              <a:t>IM dose: 4-5 mg/kg (when IV access not available; reliable in uncooperative children)</a:t>
            </a:r>
          </a:p>
          <a:p>
            <a:pPr>
              <a:spcBef>
                <a:spcPts val="400"/>
              </a:spcBef>
              <a:spcAft>
                <a:spcPts val="600"/>
              </a:spcAft>
              <a:defRPr sz="1600">
                <a:solidFill>
                  <a:srgbClr val="3D4455"/>
                </a:solidFill>
                <a:latin typeface="Calibri"/>
              </a:defRPr>
            </a:pPr>
            <a:r>
              <a:t>Duration: IV 15-20 min, IM 25-40 min. Redose at 0.5-1 mg/kg if needed</a:t>
            </a:r>
          </a:p>
          <a:p>
            <a:pPr>
              <a:spcBef>
                <a:spcPts val="400"/>
              </a:spcBef>
              <a:spcAft>
                <a:spcPts val="600"/>
              </a:spcAft>
              <a:defRPr sz="1600">
                <a:solidFill>
                  <a:srgbClr val="3D4455"/>
                </a:solidFill>
                <a:latin typeface="Calibri"/>
              </a:defRPr>
            </a:pPr>
            <a:r>
              <a:t>Co-administer ondansetron 0.15 mg/kg IV (max 4 mg) to prevent vomiting</a:t>
            </a:r>
          </a:p>
          <a:p>
            <a:pPr>
              <a:spcBef>
                <a:spcPts val="400"/>
              </a:spcBef>
              <a:spcAft>
                <a:spcPts val="600"/>
              </a:spcAft>
              <a:defRPr sz="1600">
                <a:solidFill>
                  <a:srgbClr val="3D4455"/>
                </a:solidFill>
                <a:latin typeface="Calibri"/>
              </a:defRPr>
            </a:pPr>
            <a:r>
              <a:t>Contraindications: age &lt;3 months (relative), psychosis, conditions with increased ICP concern</a:t>
            </a:r>
          </a:p>
          <a:p>
            <a:pPr lvl="1">
              <a:spcBef>
                <a:spcPts val="400"/>
              </a:spcBef>
              <a:spcAft>
                <a:spcPts val="600"/>
              </a:spcAft>
              <a:defRPr sz="1400">
                <a:solidFill>
                  <a:srgbClr val="8A92A3"/>
                </a:solidFill>
                <a:latin typeface="Calibri"/>
              </a:defRPr>
            </a:pPr>
            <a:r>
              <a:t>Ketamine does NOT raise ICP in a clinically significant way — old dogma now debunked</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Procedural Sedation Workflow</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Pre-sedation: Informed consent, AMPLE history, ASA class, airway assessment, NPO status</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Setup: Monitoring (pulse ox, capnography, BP, HR), suction ON, BVM at bedside, airway equipment ready</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Personnel: Dedicated sedation nurse + provider for sedation + provider for procedure (minimum 3)</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Administer agent: titrate to effect; wait appropriate onset time before starting procedure</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Monitor: continuous pulse ox + capnography, RR, HR, BP q5min, level of sedation documented</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Recovery: monitor until return to baseline; assess ambulation, orientation, oral tolerance</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Discharge criteria: return to baseline mental status, stable vitals x30 min, tolerating PO, safe gait</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Sedation Adverse Events and Management</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APNEA: Most common serious event — bag-mask ventilate, reposition airway, consider naloxone if opioid</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LARYNGOSPASM (ketamine): Suction secretions, jaw thrust, positive pressure ventilation; if refractory → succinylcholine 0.5-1 mg/kg IV or 4 mg/kg IM</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EMESIS: Turn head, suction, recover airway — ondansetron prophylaxis reduces risk</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DESATURATION: Reposition (jaw thrust/chin lift), supplemental O2, BVM if needed; if no improvement → prepare for intubation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EMERGENCE REACTION (ketamine): Reassure parents, dim lights, minimize stimulation; midazolam 0.05 mg/kg IV if severe</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HYPOTENSION (propofol): IV fluid bolus 20 mL/kg; reduce propofol dose in subsequent boluses</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PARADOXICAL AGITATION (midazolam): Consider ketamine or propofol instead; flumazenil 0.01 mg/kg if needed</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4-Year-Old with Forearm Fracture Needing Reduction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4-year-old girl (18 kg) with a displaced distal radius fracture needs closed reduction. She is otherwise healthy (ASA I), had lunch 3 hours ago, is crying and in pain. IV has been placed and she received morphine 0.1 mg/kg with partial relief. The orthopedic team is ready for reduction.</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Best sedation agent? (Ketamine IV 1.5-2 mg/kg — provides dissociation + analgesia + immobility)</a:t>
            </a:r>
          </a:p>
          <a:p>
            <a:pPr>
              <a:spcAft>
                <a:spcPts val="600"/>
              </a:spcAft>
              <a:defRPr sz="1400" b="1">
                <a:solidFill>
                  <a:srgbClr val="007B83"/>
                </a:solidFill>
                <a:latin typeface="Calibri"/>
              </a:defRPr>
            </a:pPr>
            <a:r>
              <a:t>▸  Pre-medication? (Ondansetron 0.15 mg/kg IV to prevent emesis)</a:t>
            </a:r>
          </a:p>
          <a:p>
            <a:pPr>
              <a:spcAft>
                <a:spcPts val="600"/>
              </a:spcAft>
              <a:defRPr sz="1400" b="1">
                <a:solidFill>
                  <a:srgbClr val="007B83"/>
                </a:solidFill>
                <a:latin typeface="Calibri"/>
              </a:defRPr>
            </a:pPr>
            <a:r>
              <a:t>▸  Fasting concern? (3h since lunch — emergency procedure, do not delay for fasting)</a:t>
            </a:r>
          </a:p>
          <a:p>
            <a:pPr>
              <a:spcAft>
                <a:spcPts val="600"/>
              </a:spcAft>
              <a:defRPr sz="1400" b="1">
                <a:solidFill>
                  <a:srgbClr val="007B83"/>
                </a:solidFill>
                <a:latin typeface="Calibri"/>
              </a:defRPr>
            </a:pPr>
            <a:r>
              <a:t>▸  What monitoring do you need? (Pulse ox, capnography, HR, BP, dedicated sedation nurse)</a:t>
            </a:r>
          </a:p>
          <a:p>
            <a:pPr>
              <a:spcAft>
                <a:spcPts val="600"/>
              </a:spcAft>
              <a:defRPr sz="1400" b="1">
                <a:solidFill>
                  <a:srgbClr val="007B83"/>
                </a:solidFill>
                <a:latin typeface="Calibri"/>
              </a:defRPr>
            </a:pPr>
            <a:r>
              <a:t>▸  She vomits during recovery — management? (Turn head, suction, monitor airway, reassure)</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Ketamine vs. Propofol: When to Use Which</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CHOOSE KETAMINE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Painful procedure requiring analgesia (fracture, abscess)</a:t>
            </a:r>
          </a:p>
          <a:p>
            <a:pPr>
              <a:spcAft>
                <a:spcPts val="500"/>
              </a:spcAft>
              <a:defRPr sz="1400">
                <a:solidFill>
                  <a:srgbClr val="3D4455"/>
                </a:solidFill>
                <a:latin typeface="Calibri"/>
              </a:defRPr>
            </a:pPr>
            <a:r>
              <a:t>No IV access (can give IM)</a:t>
            </a:r>
          </a:p>
          <a:p>
            <a:pPr>
              <a:spcAft>
                <a:spcPts val="500"/>
              </a:spcAft>
              <a:defRPr sz="1400">
                <a:solidFill>
                  <a:srgbClr val="3D4455"/>
                </a:solidFill>
                <a:latin typeface="Calibri"/>
              </a:defRPr>
            </a:pPr>
            <a:r>
              <a:t>Need for prolonged sedation (&gt;15 min)</a:t>
            </a:r>
          </a:p>
          <a:p>
            <a:pPr>
              <a:spcAft>
                <a:spcPts val="500"/>
              </a:spcAft>
              <a:defRPr sz="1400">
                <a:solidFill>
                  <a:srgbClr val="3D4455"/>
                </a:solidFill>
                <a:latin typeface="Calibri"/>
              </a:defRPr>
            </a:pPr>
            <a:r>
              <a:t>Hemodynamically unstable patient (ketamine supports BP)</a:t>
            </a:r>
          </a:p>
          <a:p>
            <a:pPr>
              <a:spcAft>
                <a:spcPts val="500"/>
              </a:spcAft>
              <a:defRPr sz="1400">
                <a:solidFill>
                  <a:srgbClr val="3D4455"/>
                </a:solidFill>
                <a:latin typeface="Calibri"/>
              </a:defRPr>
            </a:pPr>
            <a:r>
              <a:t>Status asthmaticus (bronchodilator effect)</a:t>
            </a:r>
          </a:p>
          <a:p>
            <a:pPr>
              <a:spcAft>
                <a:spcPts val="500"/>
              </a:spcAft>
              <a:defRPr sz="1400">
                <a:solidFill>
                  <a:srgbClr val="3D4455"/>
                </a:solidFill>
                <a:latin typeface="Calibri"/>
              </a:defRPr>
            </a:pPr>
            <a:r>
              <a:t>Uncooperative toddler without IV</a:t>
            </a:r>
          </a:p>
          <a:p>
            <a:pPr>
              <a:spcAft>
                <a:spcPts val="500"/>
              </a:spcAft>
              <a:defRPr sz="1400">
                <a:solidFill>
                  <a:srgbClr val="3D4455"/>
                </a:solidFill>
                <a:latin typeface="Calibri"/>
              </a:defRPr>
            </a:pPr>
            <a:r>
              <a:t>Concern for respiratory depression</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CHOOSE PROPOFOL</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Brief procedure (&lt;10 min) with separate analgesia provided</a:t>
            </a:r>
          </a:p>
          <a:p>
            <a:pPr>
              <a:spcAft>
                <a:spcPts val="500"/>
              </a:spcAft>
              <a:defRPr sz="1400">
                <a:solidFill>
                  <a:srgbClr val="3D4455"/>
                </a:solidFill>
                <a:latin typeface="Calibri"/>
              </a:defRPr>
            </a:pPr>
            <a:r>
              <a:t>Cardioversion or short painful procedure with nerve block</a:t>
            </a:r>
          </a:p>
          <a:p>
            <a:pPr>
              <a:spcAft>
                <a:spcPts val="500"/>
              </a:spcAft>
              <a:defRPr sz="1400">
                <a:solidFill>
                  <a:srgbClr val="3D4455"/>
                </a:solidFill>
                <a:latin typeface="Calibri"/>
              </a:defRPr>
            </a:pPr>
            <a:r>
              <a:t>Rapid recovery desired (imaging, cardioversion)</a:t>
            </a:r>
          </a:p>
          <a:p>
            <a:pPr>
              <a:spcAft>
                <a:spcPts val="500"/>
              </a:spcAft>
              <a:defRPr sz="1400">
                <a:solidFill>
                  <a:srgbClr val="3D4455"/>
                </a:solidFill>
                <a:latin typeface="Calibri"/>
              </a:defRPr>
            </a:pPr>
            <a:r>
              <a:t>Adolescent/adult patients (emergence reactions more common)</a:t>
            </a:r>
          </a:p>
          <a:p>
            <a:pPr>
              <a:spcAft>
                <a:spcPts val="500"/>
              </a:spcAft>
              <a:defRPr sz="1400">
                <a:solidFill>
                  <a:srgbClr val="3D4455"/>
                </a:solidFill>
                <a:latin typeface="Calibri"/>
              </a:defRPr>
            </a:pPr>
            <a:r>
              <a:t>Repeated sedation needed in same visit</a:t>
            </a:r>
          </a:p>
          <a:p>
            <a:pPr>
              <a:spcAft>
                <a:spcPts val="500"/>
              </a:spcAft>
              <a:defRPr sz="1400">
                <a:solidFill>
                  <a:srgbClr val="3D4455"/>
                </a:solidFill>
                <a:latin typeface="Calibri"/>
              </a:defRPr>
            </a:pPr>
            <a:r>
              <a:t>Patient with known ketamine intolerance</a:t>
            </a:r>
          </a:p>
          <a:p>
            <a:pPr>
              <a:spcAft>
                <a:spcPts val="500"/>
              </a:spcAft>
              <a:defRPr sz="1400">
                <a:solidFill>
                  <a:srgbClr val="3D4455"/>
                </a:solidFill>
                <a:latin typeface="Calibri"/>
              </a:defRPr>
            </a:pPr>
            <a:r>
              <a:t>Procedures requiring very brief deep sedation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Ketamine IV (1-2 mg/kg) is the workhorse agent for PEM sedation — safe, effective, maintains airway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Fasting status should NOT delay emergency procedural sedation in the ED</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Always be prepared to rescue one level deeper than your target sedation depth</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Capnography is the earliest warning for hypoventilation — use it for every sedation</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Know your rescue protocols: laryngospasm → suction + PPV + succinylcholine if refractory</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Coté CJ, et al. Guidelines for monitoring and management of pediatric patients before, during, and after sedation for diagnostic and therapeutic procedures. Pediatrics. 2019;143(6):e20191000.</a:t>
            </a:r>
          </a:p>
          <a:p>
            <a:pPr>
              <a:spcAft>
                <a:spcPts val="400"/>
              </a:spcAft>
              <a:defRPr sz="1100">
                <a:solidFill>
                  <a:srgbClr val="3D4455"/>
                </a:solidFill>
                <a:latin typeface="Calibri"/>
              </a:defRPr>
            </a:pPr>
            <a:r>
              <a:t>2. Green SM, et al. Clinical practice guideline for emergency department ketamine dissociative sedation: 2011 update. Ann Emerg Med. 2011;57(5):449-461.</a:t>
            </a:r>
          </a:p>
          <a:p>
            <a:pPr>
              <a:spcAft>
                <a:spcPts val="400"/>
              </a:spcAft>
              <a:defRPr sz="1100">
                <a:solidFill>
                  <a:srgbClr val="3D4455"/>
                </a:solidFill>
                <a:latin typeface="Calibri"/>
              </a:defRPr>
            </a:pPr>
            <a:r>
              <a:t>3. Bellolio MF, et al. Incidence of adverse events in paediatric procedural sedation in the emergency department: a systematic review and meta-analysis. BMJ Open. 2016;6(6):e011384.</a:t>
            </a:r>
          </a:p>
          <a:p>
            <a:pPr>
              <a:spcAft>
                <a:spcPts val="400"/>
              </a:spcAft>
              <a:defRPr sz="1100">
                <a:solidFill>
                  <a:srgbClr val="3D4455"/>
                </a:solidFill>
                <a:latin typeface="Calibri"/>
              </a:defRPr>
            </a:pPr>
            <a:r>
              <a:t>4. Green SM, Roback MG, Krauss BS. Laryngospasm during emergency department ketamine sedation: a case-control study. Pediatr Emerg Care. 2010;26(11):798-802.</a:t>
            </a:r>
          </a:p>
          <a:p>
            <a:pPr>
              <a:spcAft>
                <a:spcPts val="400"/>
              </a:spcAft>
              <a:defRPr sz="1100">
                <a:solidFill>
                  <a:srgbClr val="3D4455"/>
                </a:solidFill>
                <a:latin typeface="Calibri"/>
              </a:defRPr>
            </a:pPr>
            <a:r>
              <a:t>5. Beach ML, et al. Major adverse events and relationship to nil per os status in pediatric sedation/anesthesia outside the operating room. Anesthesiology. 2016;124(1):80-88.</a:t>
            </a:r>
          </a:p>
          <a:p>
            <a:pPr>
              <a:spcAft>
                <a:spcPts val="400"/>
              </a:spcAft>
              <a:defRPr sz="1100">
                <a:solidFill>
                  <a:srgbClr val="3D4455"/>
                </a:solidFill>
                <a:latin typeface="Calibri"/>
              </a:defRPr>
            </a:pPr>
            <a:r>
              <a:t>6. Grunwell JR, et al. Trends and outcomes of procedural sedation outside the operating room. Pediatrics. 2020;145(5):e20193559.</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Procedural Sedation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