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Respiratory emergencies are the bread and butter of PEM. Virtually every shift will have multiple children with breathing difficulties. The key teaching point is that respiratory failure precedes cardiac arrest in nearly all pediatric cases — intervene on the lungs and you prevent arrest.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skill is localizing the problem by auscultation and observation. Stridor = upper airway until proven otherwise. Wheeze = lower airway. Grunting suggests alveolar disease (pneumonia, pulmonary edema). A child with biphasic stridor has a fixed obstruction, which is more concerning than purely inspiratory stridor.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helps you generate a differential based on age and localization. The most common diagnoses by age: neonates = bronchiolitis/pneumonia; infants = bronchiolitis; toddlers = croup/asthma; school-age = asthma; adolescents = asthma. Foreign body should always be considered in toddlers with acute-onset symptoms.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sign corresponds to a level of severity. Grunting is probably the most underrecognized red flag — it means the child is generating positive end-expiratory pressure to keep alveoli open. See-saw breathing means the diaphragm is doing all the work and the intercostal muscles have failed — this child needs immediate respiratory support.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HFNC has revolutionized PEM respiratory care. It provides humidified, heated oxygen at high flow rates, generating 2-5 cmH2O of PEEP at 2 L/kg/min. Start at 1-2 L/kg/min and titrate FiO2 to keep SpO2 ≥94%. HFNC reduces intubation rates in bronchiolitis and may help in status asthmaticus. Know the flow rates for your department and the maximum capacity of your devices.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HFNC is the biggest advance in PEM respiratory support in the last decade. Evidence is strongest for bronchiolitis (Franklin et al., NEJM 2018). The key is knowing when HFNC is failing — if FiO2 needs keep rising or the child is not improving within 60-90 minutes, escalate. Do not leave a child on HFNC while they tire out and arrest.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critical distinction for the PEM fellow. Respiratory distress = the child is working hard and compensating. Respiratory failure = the compensatory mechanisms are failing. The transition from distress to failure can be subtle and rapid. The child who was screaming and fighting the mask but suddenly becomes quiet is NOT getting better — they are decompensating.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single SpO2 or blood gas value that mandates intubation — it is a clinical decision based on trajectory. A child whose SpO2 is 92% but improving on HFNC is different from one whose SpO2 is 94% but has been declining for 2 hours. Always prepare early — have your equipment ready and your team briefed before the child decompensates.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CXR interpretation is a core PEM skill. The most commonly missed finding is a retrocardiac left lower lobe pneumonia — always look behind the heart on the PA view. Round pneumonia in young children can mimic a mass. In asthma, CXR is rarely helpful and should not be routine unless you suspect complication.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illustrates a straightforward pneumonia with parapneumonic effusion. The grunting is the key sign pointing to alveolar disease. Dullness to percussion suggests effusion. Initial management includes respiratory support and empiric antibiotics. Ultrasound can characterize the effusion. If large or complex, involve surgery for drainage.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foreign body pitfall deserves emphasis. A previously well toddler with sudden-onset cough or wheeze should be considered for foreign body until proven otherwise, especially without a viral prodrome. The cardiac pitfall is important: an infant with tachypnea, hepatomegaly, and poor feeding may have CHF, not pneumonia.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05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Respiratory Distress in Children:</a:t>
            </a:r>
            <a:br/>
            <a:r>
              <a:t>The PEM Approach</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Systematic Assessment, Localization, Oxygen Delivery, and Decision-Making</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Apply a systematic approach to the child in respiratory distress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Localize the pathology: upper vs lower airway, parenchymal vs pleural</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Select appropriate oxygen delivery and respiratory support by severity</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Differentiate respiratory distress from respiratory failure</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red flags requiring emergent intervention or intubation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Respiratory Complaints: The #1 Reason for PED Visits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Respiratory complaints account for ~30% of all pediatric ED visits</a:t>
            </a:r>
          </a:p>
          <a:p>
            <a:pPr>
              <a:spcBef>
                <a:spcPts val="400"/>
              </a:spcBef>
              <a:spcAft>
                <a:spcPts val="600"/>
              </a:spcAft>
              <a:defRPr sz="1600">
                <a:solidFill>
                  <a:srgbClr val="3D4455"/>
                </a:solidFill>
                <a:latin typeface="Calibri"/>
              </a:defRPr>
            </a:pPr>
            <a:r>
              <a:t>Respiratory failure is the leading cause of pediatric cardiac arrest</a:t>
            </a:r>
          </a:p>
          <a:p>
            <a:pPr>
              <a:spcBef>
                <a:spcPts val="400"/>
              </a:spcBef>
              <a:spcAft>
                <a:spcPts val="600"/>
              </a:spcAft>
              <a:defRPr sz="1600">
                <a:solidFill>
                  <a:srgbClr val="3D4455"/>
                </a:solidFill>
                <a:latin typeface="Calibri"/>
              </a:defRPr>
            </a:pPr>
            <a:r>
              <a:t>Age-specific anatomy and physiology drive disease patterns</a:t>
            </a:r>
          </a:p>
          <a:p>
            <a:pPr lvl="1">
              <a:spcBef>
                <a:spcPts val="400"/>
              </a:spcBef>
              <a:spcAft>
                <a:spcPts val="600"/>
              </a:spcAft>
              <a:defRPr sz="1400">
                <a:solidFill>
                  <a:srgbClr val="8A92A3"/>
                </a:solidFill>
                <a:latin typeface="Calibri"/>
              </a:defRPr>
            </a:pPr>
            <a:r>
              <a:t>Infants: obligate nose breathers, horizontal ribs, compliant chest wall</a:t>
            </a:r>
          </a:p>
          <a:p>
            <a:pPr lvl="1">
              <a:spcBef>
                <a:spcPts val="400"/>
              </a:spcBef>
              <a:spcAft>
                <a:spcPts val="600"/>
              </a:spcAft>
              <a:defRPr sz="1400">
                <a:solidFill>
                  <a:srgbClr val="8A92A3"/>
                </a:solidFill>
                <a:latin typeface="Calibri"/>
              </a:defRPr>
            </a:pPr>
            <a:r>
              <a:t>Toddlers: small airways, reactive airways, high metabolic rate</a:t>
            </a:r>
          </a:p>
          <a:p>
            <a:pPr>
              <a:spcBef>
                <a:spcPts val="400"/>
              </a:spcBef>
              <a:spcAft>
                <a:spcPts val="600"/>
              </a:spcAft>
              <a:defRPr sz="1600">
                <a:solidFill>
                  <a:srgbClr val="3D4455"/>
                </a:solidFill>
                <a:latin typeface="Calibri"/>
              </a:defRPr>
            </a:pPr>
            <a:r>
              <a:t>Early recognition and intervention prevents arrest</a:t>
            </a:r>
          </a:p>
          <a:p>
            <a:pPr>
              <a:spcBef>
                <a:spcPts val="400"/>
              </a:spcBef>
              <a:spcAft>
                <a:spcPts val="600"/>
              </a:spcAft>
              <a:defRPr sz="1600">
                <a:solidFill>
                  <a:srgbClr val="3D4455"/>
                </a:solidFill>
                <a:latin typeface="Calibri"/>
              </a:defRPr>
            </a:pPr>
            <a:r>
              <a:t>Most can be managed with oxygen, positioning, and medications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Localization: Upper vs Lower Airway</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UPPER AIRWAY (Extrathoracic)</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INSPIRATORY stridor (hallmark)</a:t>
            </a:r>
          </a:p>
          <a:p>
            <a:pPr>
              <a:spcAft>
                <a:spcPts val="500"/>
              </a:spcAft>
              <a:defRPr sz="1400">
                <a:solidFill>
                  <a:srgbClr val="3D4455"/>
                </a:solidFill>
                <a:latin typeface="Calibri"/>
              </a:defRPr>
            </a:pPr>
            <a:r>
              <a:t>Barky or hoarse cough</a:t>
            </a:r>
          </a:p>
          <a:p>
            <a:pPr>
              <a:spcAft>
                <a:spcPts val="500"/>
              </a:spcAft>
              <a:defRPr sz="1400">
                <a:solidFill>
                  <a:srgbClr val="3D4455"/>
                </a:solidFill>
                <a:latin typeface="Calibri"/>
              </a:defRPr>
            </a:pPr>
            <a:r>
              <a:t>Positional changes in symptoms</a:t>
            </a:r>
          </a:p>
          <a:p>
            <a:pPr>
              <a:spcAft>
                <a:spcPts val="500"/>
              </a:spcAft>
              <a:defRPr sz="1400">
                <a:solidFill>
                  <a:srgbClr val="3D4455"/>
                </a:solidFill>
                <a:latin typeface="Calibri"/>
              </a:defRPr>
            </a:pPr>
            <a:r>
              <a:t>Drooling, voice change</a:t>
            </a:r>
          </a:p>
          <a:p>
            <a:pPr>
              <a:spcAft>
                <a:spcPts val="500"/>
              </a:spcAft>
              <a:defRPr sz="1400">
                <a:solidFill>
                  <a:srgbClr val="3D4455"/>
                </a:solidFill>
                <a:latin typeface="Calibri"/>
              </a:defRPr>
            </a:pPr>
            <a:r>
              <a:t>Suprasternal retractions prominent</a:t>
            </a:r>
          </a:p>
          <a:p>
            <a:pPr>
              <a:spcAft>
                <a:spcPts val="500"/>
              </a:spcAft>
              <a:defRPr sz="1400">
                <a:solidFill>
                  <a:srgbClr val="3D4455"/>
                </a:solidFill>
                <a:latin typeface="Calibri"/>
              </a:defRPr>
            </a:pPr>
            <a:r>
              <a:t>Think: croup, epiglottitis, FB, abscess</a:t>
            </a:r>
          </a:p>
          <a:p>
            <a:pPr>
              <a:spcAft>
                <a:spcPts val="500"/>
              </a:spcAft>
              <a:defRPr sz="1400">
                <a:solidFill>
                  <a:srgbClr val="3D4455"/>
                </a:solidFill>
                <a:latin typeface="Calibri"/>
              </a:defRPr>
            </a:pPr>
            <a:r>
              <a:t>Worse on inspiration (dynamic collapse)</a:t>
            </a:r>
          </a:p>
          <a:p>
            <a:pPr>
              <a:spcAft>
                <a:spcPts val="500"/>
              </a:spcAft>
              <a:defRPr sz="1400">
                <a:solidFill>
                  <a:srgbClr val="3D4455"/>
                </a:solidFill>
                <a:latin typeface="Calibri"/>
              </a:defRPr>
            </a:pPr>
            <a:r>
              <a:t>Neck X-ray may be helpful</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LOWER AIRWAY (Intrathoracic)</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EXPIRATORY wheezing (hallmark)</a:t>
            </a:r>
          </a:p>
          <a:p>
            <a:pPr>
              <a:spcAft>
                <a:spcPts val="500"/>
              </a:spcAft>
              <a:defRPr sz="1400">
                <a:solidFill>
                  <a:srgbClr val="3D4455"/>
                </a:solidFill>
                <a:latin typeface="Calibri"/>
              </a:defRPr>
            </a:pPr>
            <a:r>
              <a:t>Prolonged expiratory phase</a:t>
            </a:r>
          </a:p>
          <a:p>
            <a:pPr>
              <a:spcAft>
                <a:spcPts val="500"/>
              </a:spcAft>
              <a:defRPr sz="1400">
                <a:solidFill>
                  <a:srgbClr val="3D4455"/>
                </a:solidFill>
                <a:latin typeface="Calibri"/>
              </a:defRPr>
            </a:pPr>
            <a:r>
              <a:t>Intercostal/subcostal retractions</a:t>
            </a:r>
          </a:p>
          <a:p>
            <a:pPr>
              <a:spcAft>
                <a:spcPts val="500"/>
              </a:spcAft>
              <a:defRPr sz="1400">
                <a:solidFill>
                  <a:srgbClr val="3D4455"/>
                </a:solidFill>
                <a:latin typeface="Calibri"/>
              </a:defRPr>
            </a:pPr>
            <a:r>
              <a:t>Air trapping, hyperinflation</a:t>
            </a:r>
          </a:p>
          <a:p>
            <a:pPr>
              <a:spcAft>
                <a:spcPts val="500"/>
              </a:spcAft>
              <a:defRPr sz="1400">
                <a:solidFill>
                  <a:srgbClr val="3D4455"/>
                </a:solidFill>
                <a:latin typeface="Calibri"/>
              </a:defRPr>
            </a:pPr>
            <a:r>
              <a:t>Diminished air entry if severe</a:t>
            </a:r>
          </a:p>
          <a:p>
            <a:pPr>
              <a:spcAft>
                <a:spcPts val="500"/>
              </a:spcAft>
              <a:defRPr sz="1400">
                <a:solidFill>
                  <a:srgbClr val="3D4455"/>
                </a:solidFill>
                <a:latin typeface="Calibri"/>
              </a:defRPr>
            </a:pPr>
            <a:r>
              <a:t>Think: asthma, bronchiolitis, FB, pneumonia</a:t>
            </a:r>
          </a:p>
          <a:p>
            <a:pPr>
              <a:spcAft>
                <a:spcPts val="500"/>
              </a:spcAft>
              <a:defRPr sz="1400">
                <a:solidFill>
                  <a:srgbClr val="3D4455"/>
                </a:solidFill>
                <a:latin typeface="Calibri"/>
              </a:defRPr>
            </a:pPr>
            <a:r>
              <a:t>Worse on expiration (dynamic compression)</a:t>
            </a:r>
          </a:p>
          <a:p>
            <a:pPr>
              <a:spcAft>
                <a:spcPts val="500"/>
              </a:spcAft>
              <a:defRPr sz="1400">
                <a:solidFill>
                  <a:srgbClr val="3D4455"/>
                </a:solidFill>
                <a:latin typeface="Calibri"/>
              </a:defRPr>
            </a:pPr>
            <a:r>
              <a:t>CXR: hyperinflation, infiltrates, effusion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Age-Based Differential Diagnosis</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Age</a:t>
                      </a:r>
                    </a:p>
                  </a:txBody>
                  <a:tcPr>
                    <a:solidFill>
                      <a:srgbClr val="007B83"/>
                    </a:solidFill>
                  </a:tcPr>
                </a:tc>
                <a:tc>
                  <a:txBody>
                    <a:bodyPr/>
                    <a:lstStyle/>
                    <a:p>
                      <a:pPr algn="ctr">
                        <a:defRPr sz="1300" b="1">
                          <a:solidFill>
                            <a:srgbClr val="FFFFFF"/>
                          </a:solidFill>
                          <a:latin typeface="Calibri"/>
                        </a:defRPr>
                      </a:pPr>
                      <a:r>
                        <a:t>Upper Airway</a:t>
                      </a:r>
                    </a:p>
                  </a:txBody>
                  <a:tcPr>
                    <a:solidFill>
                      <a:srgbClr val="007B83"/>
                    </a:solidFill>
                  </a:tcPr>
                </a:tc>
                <a:tc>
                  <a:txBody>
                    <a:bodyPr/>
                    <a:lstStyle/>
                    <a:p>
                      <a:pPr algn="ctr">
                        <a:defRPr sz="1300" b="1">
                          <a:solidFill>
                            <a:srgbClr val="FFFFFF"/>
                          </a:solidFill>
                          <a:latin typeface="Calibri"/>
                        </a:defRPr>
                      </a:pPr>
                      <a:r>
                        <a:t>Lower Airway</a:t>
                      </a:r>
                    </a:p>
                  </a:txBody>
                  <a:tcPr>
                    <a:solidFill>
                      <a:srgbClr val="007B83"/>
                    </a:solidFill>
                  </a:tcPr>
                </a:tc>
                <a:tc>
                  <a:txBody>
                    <a:bodyPr/>
                    <a:lstStyle/>
                    <a:p>
                      <a:pPr algn="ctr">
                        <a:defRPr sz="1300" b="1">
                          <a:solidFill>
                            <a:srgbClr val="FFFFFF"/>
                          </a:solidFill>
                          <a:latin typeface="Calibri"/>
                        </a:defRPr>
                      </a:pPr>
                      <a:r>
                        <a:t>Parenchymal</a:t>
                      </a:r>
                    </a:p>
                  </a:txBody>
                  <a:tcPr>
                    <a:solidFill>
                      <a:srgbClr val="007B83"/>
                    </a:solidFill>
                  </a:tcPr>
                </a:tc>
              </a:tr>
              <a:tr h="457200">
                <a:tc>
                  <a:txBody>
                    <a:bodyPr/>
                    <a:lstStyle/>
                    <a:p>
                      <a:pPr algn="l">
                        <a:defRPr sz="1200">
                          <a:solidFill>
                            <a:srgbClr val="3D4455"/>
                          </a:solidFill>
                          <a:latin typeface="Calibri"/>
                        </a:defRPr>
                      </a:pPr>
                      <a:r>
                        <a:t>Neonate (0-28d)</a:t>
                      </a:r>
                    </a:p>
                  </a:txBody>
                  <a:tcPr>
                    <a:solidFill>
                      <a:srgbClr val="F5F6FA"/>
                    </a:solidFill>
                  </a:tcPr>
                </a:tc>
                <a:tc>
                  <a:txBody>
                    <a:bodyPr/>
                    <a:lstStyle/>
                    <a:p>
                      <a:pPr algn="l">
                        <a:defRPr sz="1200">
                          <a:solidFill>
                            <a:srgbClr val="3D4455"/>
                          </a:solidFill>
                          <a:latin typeface="Calibri"/>
                        </a:defRPr>
                      </a:pPr>
                      <a:r>
                        <a:t>Laryngomalacia, choanal atresia, vocal cord paralysis</a:t>
                      </a:r>
                    </a:p>
                  </a:txBody>
                  <a:tcPr>
                    <a:solidFill>
                      <a:srgbClr val="F5F6FA"/>
                    </a:solidFill>
                  </a:tcPr>
                </a:tc>
                <a:tc>
                  <a:txBody>
                    <a:bodyPr/>
                    <a:lstStyle/>
                    <a:p>
                      <a:pPr algn="l">
                        <a:defRPr sz="1200">
                          <a:solidFill>
                            <a:srgbClr val="3D4455"/>
                          </a:solidFill>
                          <a:latin typeface="Calibri"/>
                        </a:defRPr>
                      </a:pPr>
                      <a:r>
                        <a:t>Bronchiolitis (late)</a:t>
                      </a:r>
                    </a:p>
                  </a:txBody>
                  <a:tcPr>
                    <a:solidFill>
                      <a:srgbClr val="F5F6FA"/>
                    </a:solidFill>
                  </a:tcPr>
                </a:tc>
                <a:tc>
                  <a:txBody>
                    <a:bodyPr/>
                    <a:lstStyle/>
                    <a:p>
                      <a:pPr algn="l">
                        <a:defRPr sz="1200">
                          <a:solidFill>
                            <a:srgbClr val="3D4455"/>
                          </a:solidFill>
                          <a:latin typeface="Calibri"/>
                        </a:defRPr>
                      </a:pPr>
                      <a:r>
                        <a:t>RDS, TTN, pneumonia, congenital</a:t>
                      </a:r>
                    </a:p>
                  </a:txBody>
                  <a:tcPr>
                    <a:solidFill>
                      <a:srgbClr val="F5F6FA"/>
                    </a:solidFill>
                  </a:tcPr>
                </a:tc>
              </a:tr>
              <a:tr h="457200">
                <a:tc>
                  <a:txBody>
                    <a:bodyPr/>
                    <a:lstStyle/>
                    <a:p>
                      <a:pPr algn="l">
                        <a:defRPr sz="1200">
                          <a:solidFill>
                            <a:srgbClr val="3D4455"/>
                          </a:solidFill>
                          <a:latin typeface="Calibri"/>
                        </a:defRPr>
                      </a:pPr>
                      <a:r>
                        <a:t>Infant (1-12mo)</a:t>
                      </a:r>
                    </a:p>
                  </a:txBody>
                  <a:tcPr>
                    <a:solidFill>
                      <a:srgbClr val="FFFFFF"/>
                    </a:solidFill>
                  </a:tcPr>
                </a:tc>
                <a:tc>
                  <a:txBody>
                    <a:bodyPr/>
                    <a:lstStyle/>
                    <a:p>
                      <a:pPr algn="l">
                        <a:defRPr sz="1200">
                          <a:solidFill>
                            <a:srgbClr val="3D4455"/>
                          </a:solidFill>
                          <a:latin typeface="Calibri"/>
                        </a:defRPr>
                      </a:pPr>
                      <a:r>
                        <a:t>Croup, subglottic stenosis, hemangioma</a:t>
                      </a:r>
                    </a:p>
                  </a:txBody>
                  <a:tcPr>
                    <a:solidFill>
                      <a:srgbClr val="FFFFFF"/>
                    </a:solidFill>
                  </a:tcPr>
                </a:tc>
                <a:tc>
                  <a:txBody>
                    <a:bodyPr/>
                    <a:lstStyle/>
                    <a:p>
                      <a:pPr algn="l">
                        <a:defRPr sz="1200">
                          <a:solidFill>
                            <a:srgbClr val="3D4455"/>
                          </a:solidFill>
                          <a:latin typeface="Calibri"/>
                        </a:defRPr>
                      </a:pPr>
                      <a:r>
                        <a:t>Bronchiolitis (RSV), reactive airway</a:t>
                      </a:r>
                    </a:p>
                  </a:txBody>
                  <a:tcPr>
                    <a:solidFill>
                      <a:srgbClr val="FFFFFF"/>
                    </a:solidFill>
                  </a:tcPr>
                </a:tc>
                <a:tc>
                  <a:txBody>
                    <a:bodyPr/>
                    <a:lstStyle/>
                    <a:p>
                      <a:pPr algn="l">
                        <a:defRPr sz="1200">
                          <a:solidFill>
                            <a:srgbClr val="3D4455"/>
                          </a:solidFill>
                          <a:latin typeface="Calibri"/>
                        </a:defRPr>
                      </a:pPr>
                      <a:r>
                        <a:t>Pneumonia, aspiration</a:t>
                      </a:r>
                    </a:p>
                  </a:txBody>
                  <a:tcPr>
                    <a:solidFill>
                      <a:srgbClr val="FFFFFF"/>
                    </a:solidFill>
                  </a:tcPr>
                </a:tc>
              </a:tr>
              <a:tr h="457200">
                <a:tc>
                  <a:txBody>
                    <a:bodyPr/>
                    <a:lstStyle/>
                    <a:p>
                      <a:pPr algn="l">
                        <a:defRPr sz="1200">
                          <a:solidFill>
                            <a:srgbClr val="3D4455"/>
                          </a:solidFill>
                          <a:latin typeface="Calibri"/>
                        </a:defRPr>
                      </a:pPr>
                      <a:r>
                        <a:t>Toddler (1-4y)</a:t>
                      </a:r>
                    </a:p>
                  </a:txBody>
                  <a:tcPr>
                    <a:solidFill>
                      <a:srgbClr val="F5F6FA"/>
                    </a:solidFill>
                  </a:tcPr>
                </a:tc>
                <a:tc>
                  <a:txBody>
                    <a:bodyPr/>
                    <a:lstStyle/>
                    <a:p>
                      <a:pPr algn="l">
                        <a:defRPr sz="1200">
                          <a:solidFill>
                            <a:srgbClr val="3D4455"/>
                          </a:solidFill>
                          <a:latin typeface="Calibri"/>
                        </a:defRPr>
                      </a:pPr>
                      <a:r>
                        <a:t>Croup (peak age), FB, retropharyngeal abscess</a:t>
                      </a:r>
                    </a:p>
                  </a:txBody>
                  <a:tcPr>
                    <a:solidFill>
                      <a:srgbClr val="F5F6FA"/>
                    </a:solidFill>
                  </a:tcPr>
                </a:tc>
                <a:tc>
                  <a:txBody>
                    <a:bodyPr/>
                    <a:lstStyle/>
                    <a:p>
                      <a:pPr algn="l">
                        <a:defRPr sz="1200">
                          <a:solidFill>
                            <a:srgbClr val="3D4455"/>
                          </a:solidFill>
                          <a:latin typeface="Calibri"/>
                        </a:defRPr>
                      </a:pPr>
                      <a:r>
                        <a:t>Asthma, bronchiolitis (up to 2y), FB</a:t>
                      </a:r>
                    </a:p>
                  </a:txBody>
                  <a:tcPr>
                    <a:solidFill>
                      <a:srgbClr val="F5F6FA"/>
                    </a:solidFill>
                  </a:tcPr>
                </a:tc>
                <a:tc>
                  <a:txBody>
                    <a:bodyPr/>
                    <a:lstStyle/>
                    <a:p>
                      <a:pPr algn="l">
                        <a:defRPr sz="1200">
                          <a:solidFill>
                            <a:srgbClr val="3D4455"/>
                          </a:solidFill>
                          <a:latin typeface="Calibri"/>
                        </a:defRPr>
                      </a:pPr>
                      <a:r>
                        <a:t>Pneumonia</a:t>
                      </a:r>
                    </a:p>
                  </a:txBody>
                  <a:tcPr>
                    <a:solidFill>
                      <a:srgbClr val="F5F6FA"/>
                    </a:solidFill>
                  </a:tcPr>
                </a:tc>
              </a:tr>
              <a:tr h="457200">
                <a:tc>
                  <a:txBody>
                    <a:bodyPr/>
                    <a:lstStyle/>
                    <a:p>
                      <a:pPr algn="l">
                        <a:defRPr sz="1200">
                          <a:solidFill>
                            <a:srgbClr val="3D4455"/>
                          </a:solidFill>
                          <a:latin typeface="Calibri"/>
                        </a:defRPr>
                      </a:pPr>
                      <a:r>
                        <a:t>School-age (5-12y)</a:t>
                      </a:r>
                    </a:p>
                  </a:txBody>
                  <a:tcPr>
                    <a:solidFill>
                      <a:srgbClr val="FFFFFF"/>
                    </a:solidFill>
                  </a:tcPr>
                </a:tc>
                <a:tc>
                  <a:txBody>
                    <a:bodyPr/>
                    <a:lstStyle/>
                    <a:p>
                      <a:pPr algn="l">
                        <a:defRPr sz="1200">
                          <a:solidFill>
                            <a:srgbClr val="3D4455"/>
                          </a:solidFill>
                          <a:latin typeface="Calibri"/>
                        </a:defRPr>
                      </a:pPr>
                      <a:r>
                        <a:t>Peritonsillar abscess, angioedema</a:t>
                      </a:r>
                    </a:p>
                  </a:txBody>
                  <a:tcPr>
                    <a:solidFill>
                      <a:srgbClr val="FFFFFF"/>
                    </a:solidFill>
                  </a:tcPr>
                </a:tc>
                <a:tc>
                  <a:txBody>
                    <a:bodyPr/>
                    <a:lstStyle/>
                    <a:p>
                      <a:pPr algn="l">
                        <a:defRPr sz="1200">
                          <a:solidFill>
                            <a:srgbClr val="3D4455"/>
                          </a:solidFill>
                          <a:latin typeface="Calibri"/>
                        </a:defRPr>
                      </a:pPr>
                      <a:r>
                        <a:t>Asthma (most common), FB (rare)</a:t>
                      </a:r>
                    </a:p>
                  </a:txBody>
                  <a:tcPr>
                    <a:solidFill>
                      <a:srgbClr val="FFFFFF"/>
                    </a:solidFill>
                  </a:tcPr>
                </a:tc>
                <a:tc>
                  <a:txBody>
                    <a:bodyPr/>
                    <a:lstStyle/>
                    <a:p>
                      <a:pPr algn="l">
                        <a:defRPr sz="1200">
                          <a:solidFill>
                            <a:srgbClr val="3D4455"/>
                          </a:solidFill>
                          <a:latin typeface="Calibri"/>
                        </a:defRPr>
                      </a:pPr>
                      <a:r>
                        <a:t>Pneumonia, empyema</a:t>
                      </a:r>
                    </a:p>
                  </a:txBody>
                  <a:tcPr>
                    <a:solidFill>
                      <a:srgbClr val="FFFFFF"/>
                    </a:solidFill>
                  </a:tcPr>
                </a:tc>
              </a:tr>
              <a:tr h="457200">
                <a:tc>
                  <a:txBody>
                    <a:bodyPr/>
                    <a:lstStyle/>
                    <a:p>
                      <a:pPr algn="l">
                        <a:defRPr sz="1200">
                          <a:solidFill>
                            <a:srgbClr val="3D4455"/>
                          </a:solidFill>
                          <a:latin typeface="Calibri"/>
                        </a:defRPr>
                      </a:pPr>
                      <a:r>
                        <a:t>Adolescent (&gt;12y)</a:t>
                      </a:r>
                    </a:p>
                  </a:txBody>
                  <a:tcPr>
                    <a:solidFill>
                      <a:srgbClr val="F5F6FA"/>
                    </a:solidFill>
                  </a:tcPr>
                </a:tc>
                <a:tc>
                  <a:txBody>
                    <a:bodyPr/>
                    <a:lstStyle/>
                    <a:p>
                      <a:pPr algn="l">
                        <a:defRPr sz="1200">
                          <a:solidFill>
                            <a:srgbClr val="3D4455"/>
                          </a:solidFill>
                          <a:latin typeface="Calibri"/>
                        </a:defRPr>
                      </a:pPr>
                      <a:r>
                        <a:t>Peritonsillar abscess, angioedema, anaphylaxis</a:t>
                      </a:r>
                    </a:p>
                  </a:txBody>
                  <a:tcPr>
                    <a:solidFill>
                      <a:srgbClr val="F5F6FA"/>
                    </a:solidFill>
                  </a:tcPr>
                </a:tc>
                <a:tc>
                  <a:txBody>
                    <a:bodyPr/>
                    <a:lstStyle/>
                    <a:p>
                      <a:pPr algn="l">
                        <a:defRPr sz="1200">
                          <a:solidFill>
                            <a:srgbClr val="3D4455"/>
                          </a:solidFill>
                          <a:latin typeface="Calibri"/>
                        </a:defRPr>
                      </a:pPr>
                      <a:r>
                        <a:t>Asthma, spontaneous pneumothorax</a:t>
                      </a:r>
                    </a:p>
                  </a:txBody>
                  <a:tcPr>
                    <a:solidFill>
                      <a:srgbClr val="F5F6FA"/>
                    </a:solidFill>
                  </a:tcPr>
                </a:tc>
                <a:tc>
                  <a:txBody>
                    <a:bodyPr/>
                    <a:lstStyle/>
                    <a:p>
                      <a:pPr algn="l">
                        <a:defRPr sz="1200">
                          <a:solidFill>
                            <a:srgbClr val="3D4455"/>
                          </a:solidFill>
                          <a:latin typeface="Calibri"/>
                        </a:defRPr>
                      </a:pPr>
                      <a:r>
                        <a:t>Pneumonia, PE (rare)</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Work of Breathing Assessment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NASAL FLARING: alae nasi recruitment — indicates significant distress</a:t>
            </a:r>
          </a:p>
          <a:p>
            <a:pPr>
              <a:spcBef>
                <a:spcPts val="400"/>
              </a:spcBef>
              <a:spcAft>
                <a:spcPts val="600"/>
              </a:spcAft>
              <a:defRPr sz="1600">
                <a:solidFill>
                  <a:srgbClr val="3D4455"/>
                </a:solidFill>
                <a:latin typeface="Calibri"/>
              </a:defRPr>
            </a:pPr>
            <a:r>
              <a:t>RETRACTIONS: subcostal, intercostal, suprasternal, supraclavicular — grade by location</a:t>
            </a:r>
          </a:p>
          <a:p>
            <a:pPr lvl="1">
              <a:spcBef>
                <a:spcPts val="400"/>
              </a:spcBef>
              <a:spcAft>
                <a:spcPts val="600"/>
              </a:spcAft>
              <a:defRPr sz="1400">
                <a:solidFill>
                  <a:srgbClr val="8A92A3"/>
                </a:solidFill>
                <a:latin typeface="Calibri"/>
              </a:defRPr>
            </a:pPr>
            <a:r>
              <a:t>Suprasternal = upper airway; subcostal = lower airway; multiple locations = severe</a:t>
            </a:r>
          </a:p>
          <a:p>
            <a:pPr>
              <a:spcBef>
                <a:spcPts val="400"/>
              </a:spcBef>
              <a:spcAft>
                <a:spcPts val="600"/>
              </a:spcAft>
              <a:defRPr sz="1600">
                <a:solidFill>
                  <a:srgbClr val="3D4455"/>
                </a:solidFill>
                <a:latin typeface="Calibri"/>
              </a:defRPr>
            </a:pPr>
            <a:r>
              <a:t>GRUNTING: auto-PEEP — child is trying to maintain alveolar recruitment</a:t>
            </a:r>
          </a:p>
          <a:p>
            <a:pPr lvl="1">
              <a:spcBef>
                <a:spcPts val="400"/>
              </a:spcBef>
              <a:spcAft>
                <a:spcPts val="600"/>
              </a:spcAft>
              <a:defRPr sz="1400">
                <a:solidFill>
                  <a:srgbClr val="8A92A3"/>
                </a:solidFill>
                <a:latin typeface="Calibri"/>
              </a:defRPr>
            </a:pPr>
            <a:r>
              <a:t>Grunting in an infant = serious lower respiratory disease until proven otherwise</a:t>
            </a:r>
          </a:p>
          <a:p>
            <a:pPr>
              <a:spcBef>
                <a:spcPts val="400"/>
              </a:spcBef>
              <a:spcAft>
                <a:spcPts val="600"/>
              </a:spcAft>
              <a:defRPr sz="1600">
                <a:solidFill>
                  <a:srgbClr val="3D4455"/>
                </a:solidFill>
                <a:latin typeface="Calibri"/>
              </a:defRPr>
            </a:pPr>
            <a:r>
              <a:t>HEAD BOBBING: accessory muscle use in infants — sign of severe distress</a:t>
            </a:r>
          </a:p>
          <a:p>
            <a:pPr>
              <a:spcBef>
                <a:spcPts val="400"/>
              </a:spcBef>
              <a:spcAft>
                <a:spcPts val="600"/>
              </a:spcAft>
              <a:defRPr sz="1600">
                <a:solidFill>
                  <a:srgbClr val="3D4455"/>
                </a:solidFill>
                <a:latin typeface="Calibri"/>
              </a:defRPr>
            </a:pPr>
            <a:r>
              <a:t>TRIPOD/SNIFFING POSITION: child optimizing their own airway</a:t>
            </a:r>
          </a:p>
          <a:p>
            <a:pPr>
              <a:spcBef>
                <a:spcPts val="400"/>
              </a:spcBef>
              <a:spcAft>
                <a:spcPts val="600"/>
              </a:spcAft>
              <a:defRPr sz="1600">
                <a:solidFill>
                  <a:srgbClr val="3D4455"/>
                </a:solidFill>
                <a:latin typeface="Calibri"/>
              </a:defRPr>
            </a:pPr>
            <a:r>
              <a:t>SEE-SAW (paradoxical) breathing: chest wall moves opposite to abdomen = impending failure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Oxygen Delivery Devices and Flow Rates</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Device</a:t>
                      </a:r>
                    </a:p>
                  </a:txBody>
                  <a:tcPr>
                    <a:solidFill>
                      <a:srgbClr val="007B83"/>
                    </a:solidFill>
                  </a:tcPr>
                </a:tc>
                <a:tc>
                  <a:txBody>
                    <a:bodyPr/>
                    <a:lstStyle/>
                    <a:p>
                      <a:pPr algn="ctr">
                        <a:defRPr sz="1300" b="1">
                          <a:solidFill>
                            <a:srgbClr val="FFFFFF"/>
                          </a:solidFill>
                          <a:latin typeface="Calibri"/>
                        </a:defRPr>
                      </a:pPr>
                      <a:r>
                        <a:t>Flow Rate</a:t>
                      </a:r>
                    </a:p>
                  </a:txBody>
                  <a:tcPr>
                    <a:solidFill>
                      <a:srgbClr val="007B83"/>
                    </a:solidFill>
                  </a:tcPr>
                </a:tc>
                <a:tc>
                  <a:txBody>
                    <a:bodyPr/>
                    <a:lstStyle/>
                    <a:p>
                      <a:pPr algn="ctr">
                        <a:defRPr sz="1300" b="1">
                          <a:solidFill>
                            <a:srgbClr val="FFFFFF"/>
                          </a:solidFill>
                          <a:latin typeface="Calibri"/>
                        </a:defRPr>
                      </a:pPr>
                      <a:r>
                        <a:t>FiO2 Delivered</a:t>
                      </a:r>
                    </a:p>
                  </a:txBody>
                  <a:tcPr>
                    <a:solidFill>
                      <a:srgbClr val="007B83"/>
                    </a:solidFill>
                  </a:tcPr>
                </a:tc>
                <a:tc>
                  <a:txBody>
                    <a:bodyPr/>
                    <a:lstStyle/>
                    <a:p>
                      <a:pPr algn="ctr">
                        <a:defRPr sz="1300" b="1">
                          <a:solidFill>
                            <a:srgbClr val="FFFFFF"/>
                          </a:solidFill>
                          <a:latin typeface="Calibri"/>
                        </a:defRPr>
                      </a:pPr>
                      <a:r>
                        <a:t>Best For</a:t>
                      </a:r>
                    </a:p>
                  </a:txBody>
                  <a:tcPr>
                    <a:solidFill>
                      <a:srgbClr val="007B83"/>
                    </a:solidFill>
                  </a:tcPr>
                </a:tc>
              </a:tr>
              <a:tr h="457200">
                <a:tc>
                  <a:txBody>
                    <a:bodyPr/>
                    <a:lstStyle/>
                    <a:p>
                      <a:pPr algn="l">
                        <a:defRPr sz="1200">
                          <a:solidFill>
                            <a:srgbClr val="3D4455"/>
                          </a:solidFill>
                          <a:latin typeface="Calibri"/>
                        </a:defRPr>
                      </a:pPr>
                      <a:r>
                        <a:t>Nasal cannula</a:t>
                      </a:r>
                    </a:p>
                  </a:txBody>
                  <a:tcPr>
                    <a:solidFill>
                      <a:srgbClr val="F5F6FA"/>
                    </a:solidFill>
                  </a:tcPr>
                </a:tc>
                <a:tc>
                  <a:txBody>
                    <a:bodyPr/>
                    <a:lstStyle/>
                    <a:p>
                      <a:pPr algn="l">
                        <a:defRPr sz="1200">
                          <a:solidFill>
                            <a:srgbClr val="3D4455"/>
                          </a:solidFill>
                          <a:latin typeface="Calibri"/>
                        </a:defRPr>
                      </a:pPr>
                      <a:r>
                        <a:t>0.25-4 L/min</a:t>
                      </a:r>
                    </a:p>
                  </a:txBody>
                  <a:tcPr>
                    <a:solidFill>
                      <a:srgbClr val="F5F6FA"/>
                    </a:solidFill>
                  </a:tcPr>
                </a:tc>
                <a:tc>
                  <a:txBody>
                    <a:bodyPr/>
                    <a:lstStyle/>
                    <a:p>
                      <a:pPr algn="l">
                        <a:defRPr sz="1200">
                          <a:solidFill>
                            <a:srgbClr val="3D4455"/>
                          </a:solidFill>
                          <a:latin typeface="Calibri"/>
                        </a:defRPr>
                      </a:pPr>
                      <a:r>
                        <a:t>24-40%</a:t>
                      </a:r>
                    </a:p>
                  </a:txBody>
                  <a:tcPr>
                    <a:solidFill>
                      <a:srgbClr val="F5F6FA"/>
                    </a:solidFill>
                  </a:tcPr>
                </a:tc>
                <a:tc>
                  <a:txBody>
                    <a:bodyPr/>
                    <a:lstStyle/>
                    <a:p>
                      <a:pPr algn="l">
                        <a:defRPr sz="1200">
                          <a:solidFill>
                            <a:srgbClr val="3D4455"/>
                          </a:solidFill>
                          <a:latin typeface="Calibri"/>
                        </a:defRPr>
                      </a:pPr>
                      <a:r>
                        <a:t>Mild hypoxia, well-tolerated</a:t>
                      </a:r>
                    </a:p>
                  </a:txBody>
                  <a:tcPr>
                    <a:solidFill>
                      <a:srgbClr val="F5F6FA"/>
                    </a:solidFill>
                  </a:tcPr>
                </a:tc>
              </a:tr>
              <a:tr h="457200">
                <a:tc>
                  <a:txBody>
                    <a:bodyPr/>
                    <a:lstStyle/>
                    <a:p>
                      <a:pPr algn="l">
                        <a:defRPr sz="1200">
                          <a:solidFill>
                            <a:srgbClr val="3D4455"/>
                          </a:solidFill>
                          <a:latin typeface="Calibri"/>
                        </a:defRPr>
                      </a:pPr>
                      <a:r>
                        <a:t>Simple face mask</a:t>
                      </a:r>
                    </a:p>
                  </a:txBody>
                  <a:tcPr>
                    <a:solidFill>
                      <a:srgbClr val="FFFFFF"/>
                    </a:solidFill>
                  </a:tcPr>
                </a:tc>
                <a:tc>
                  <a:txBody>
                    <a:bodyPr/>
                    <a:lstStyle/>
                    <a:p>
                      <a:pPr algn="l">
                        <a:defRPr sz="1200">
                          <a:solidFill>
                            <a:srgbClr val="3D4455"/>
                          </a:solidFill>
                          <a:latin typeface="Calibri"/>
                        </a:defRPr>
                      </a:pPr>
                      <a:r>
                        <a:t>6-10 L/min</a:t>
                      </a:r>
                    </a:p>
                  </a:txBody>
                  <a:tcPr>
                    <a:solidFill>
                      <a:srgbClr val="FFFFFF"/>
                    </a:solidFill>
                  </a:tcPr>
                </a:tc>
                <a:tc>
                  <a:txBody>
                    <a:bodyPr/>
                    <a:lstStyle/>
                    <a:p>
                      <a:pPr algn="l">
                        <a:defRPr sz="1200">
                          <a:solidFill>
                            <a:srgbClr val="3D4455"/>
                          </a:solidFill>
                          <a:latin typeface="Calibri"/>
                        </a:defRPr>
                      </a:pPr>
                      <a:r>
                        <a:t>35-55%</a:t>
                      </a:r>
                    </a:p>
                  </a:txBody>
                  <a:tcPr>
                    <a:solidFill>
                      <a:srgbClr val="FFFFFF"/>
                    </a:solidFill>
                  </a:tcPr>
                </a:tc>
                <a:tc>
                  <a:txBody>
                    <a:bodyPr/>
                    <a:lstStyle/>
                    <a:p>
                      <a:pPr algn="l">
                        <a:defRPr sz="1200">
                          <a:solidFill>
                            <a:srgbClr val="3D4455"/>
                          </a:solidFill>
                          <a:latin typeface="Calibri"/>
                        </a:defRPr>
                      </a:pPr>
                      <a:r>
                        <a:t>Moderate hypoxia</a:t>
                      </a:r>
                    </a:p>
                  </a:txBody>
                  <a:tcPr>
                    <a:solidFill>
                      <a:srgbClr val="FFFFFF"/>
                    </a:solidFill>
                  </a:tcPr>
                </a:tc>
              </a:tr>
              <a:tr h="457200">
                <a:tc>
                  <a:txBody>
                    <a:bodyPr/>
                    <a:lstStyle/>
                    <a:p>
                      <a:pPr algn="l">
                        <a:defRPr sz="1200">
                          <a:solidFill>
                            <a:srgbClr val="3D4455"/>
                          </a:solidFill>
                          <a:latin typeface="Calibri"/>
                        </a:defRPr>
                      </a:pPr>
                      <a:r>
                        <a:t>Non-rebreather (NRB)</a:t>
                      </a:r>
                    </a:p>
                  </a:txBody>
                  <a:tcPr>
                    <a:solidFill>
                      <a:srgbClr val="F5F6FA"/>
                    </a:solidFill>
                  </a:tcPr>
                </a:tc>
                <a:tc>
                  <a:txBody>
                    <a:bodyPr/>
                    <a:lstStyle/>
                    <a:p>
                      <a:pPr algn="l">
                        <a:defRPr sz="1200">
                          <a:solidFill>
                            <a:srgbClr val="3D4455"/>
                          </a:solidFill>
                          <a:latin typeface="Calibri"/>
                        </a:defRPr>
                      </a:pPr>
                      <a:r>
                        <a:t>10-15 L/min</a:t>
                      </a:r>
                    </a:p>
                  </a:txBody>
                  <a:tcPr>
                    <a:solidFill>
                      <a:srgbClr val="F5F6FA"/>
                    </a:solidFill>
                  </a:tcPr>
                </a:tc>
                <a:tc>
                  <a:txBody>
                    <a:bodyPr/>
                    <a:lstStyle/>
                    <a:p>
                      <a:pPr algn="l">
                        <a:defRPr sz="1200">
                          <a:solidFill>
                            <a:srgbClr val="3D4455"/>
                          </a:solidFill>
                          <a:latin typeface="Calibri"/>
                        </a:defRPr>
                      </a:pPr>
                      <a:r>
                        <a:t>60-95%</a:t>
                      </a:r>
                    </a:p>
                  </a:txBody>
                  <a:tcPr>
                    <a:solidFill>
                      <a:srgbClr val="F5F6FA"/>
                    </a:solidFill>
                  </a:tcPr>
                </a:tc>
                <a:tc>
                  <a:txBody>
                    <a:bodyPr/>
                    <a:lstStyle/>
                    <a:p>
                      <a:pPr algn="l">
                        <a:defRPr sz="1200">
                          <a:solidFill>
                            <a:srgbClr val="3D4455"/>
                          </a:solidFill>
                          <a:latin typeface="Calibri"/>
                        </a:defRPr>
                      </a:pPr>
                      <a:r>
                        <a:t>Severe hypoxia, pre-intubation O2</a:t>
                      </a:r>
                    </a:p>
                  </a:txBody>
                  <a:tcPr>
                    <a:solidFill>
                      <a:srgbClr val="F5F6FA"/>
                    </a:solidFill>
                  </a:tcPr>
                </a:tc>
              </a:tr>
              <a:tr h="457200">
                <a:tc>
                  <a:txBody>
                    <a:bodyPr/>
                    <a:lstStyle/>
                    <a:p>
                      <a:pPr algn="l">
                        <a:defRPr sz="1200">
                          <a:solidFill>
                            <a:srgbClr val="3D4455"/>
                          </a:solidFill>
                          <a:latin typeface="Calibri"/>
                        </a:defRPr>
                      </a:pPr>
                      <a:r>
                        <a:t>High-flow nasal cannula</a:t>
                      </a:r>
                    </a:p>
                  </a:txBody>
                  <a:tcPr>
                    <a:solidFill>
                      <a:srgbClr val="FFFFFF"/>
                    </a:solidFill>
                  </a:tcPr>
                </a:tc>
                <a:tc>
                  <a:txBody>
                    <a:bodyPr/>
                    <a:lstStyle/>
                    <a:p>
                      <a:pPr algn="l">
                        <a:defRPr sz="1200">
                          <a:solidFill>
                            <a:srgbClr val="3D4455"/>
                          </a:solidFill>
                          <a:latin typeface="Calibri"/>
                        </a:defRPr>
                      </a:pPr>
                      <a:r>
                        <a:t>1-2 L/kg/min (max 60 L)</a:t>
                      </a:r>
                    </a:p>
                  </a:txBody>
                  <a:tcPr>
                    <a:solidFill>
                      <a:srgbClr val="FFFFFF"/>
                    </a:solidFill>
                  </a:tcPr>
                </a:tc>
                <a:tc>
                  <a:txBody>
                    <a:bodyPr/>
                    <a:lstStyle/>
                    <a:p>
                      <a:pPr algn="l">
                        <a:defRPr sz="1200">
                          <a:solidFill>
                            <a:srgbClr val="3D4455"/>
                          </a:solidFill>
                          <a:latin typeface="Calibri"/>
                        </a:defRPr>
                      </a:pPr>
                      <a:r>
                        <a:t>Titrated 21-100%</a:t>
                      </a:r>
                    </a:p>
                  </a:txBody>
                  <a:tcPr>
                    <a:solidFill>
                      <a:srgbClr val="FFFFFF"/>
                    </a:solidFill>
                  </a:tcPr>
                </a:tc>
                <a:tc>
                  <a:txBody>
                    <a:bodyPr/>
                    <a:lstStyle/>
                    <a:p>
                      <a:pPr algn="l">
                        <a:defRPr sz="1200">
                          <a:solidFill>
                            <a:srgbClr val="3D4455"/>
                          </a:solidFill>
                          <a:latin typeface="Calibri"/>
                        </a:defRPr>
                      </a:pPr>
                      <a:r>
                        <a:t>Moderate-severe; provides PEEP/dead space washout</a:t>
                      </a:r>
                    </a:p>
                  </a:txBody>
                  <a:tcPr>
                    <a:solidFill>
                      <a:srgbClr val="FFFFFF"/>
                    </a:solidFill>
                  </a:tcPr>
                </a:tc>
              </a:tr>
              <a:tr h="457200">
                <a:tc>
                  <a:txBody>
                    <a:bodyPr/>
                    <a:lstStyle/>
                    <a:p>
                      <a:pPr algn="l">
                        <a:defRPr sz="1200">
                          <a:solidFill>
                            <a:srgbClr val="3D4455"/>
                          </a:solidFill>
                          <a:latin typeface="Calibri"/>
                        </a:defRPr>
                      </a:pPr>
                      <a:r>
                        <a:t>CPAP/BiPAP</a:t>
                      </a:r>
                    </a:p>
                  </a:txBody>
                  <a:tcPr>
                    <a:solidFill>
                      <a:srgbClr val="F5F6FA"/>
                    </a:solidFill>
                  </a:tcPr>
                </a:tc>
                <a:tc>
                  <a:txBody>
                    <a:bodyPr/>
                    <a:lstStyle/>
                    <a:p>
                      <a:pPr algn="l">
                        <a:defRPr sz="1200">
                          <a:solidFill>
                            <a:srgbClr val="3D4455"/>
                          </a:solidFill>
                          <a:latin typeface="Calibri"/>
                        </a:defRPr>
                      </a:pPr>
                      <a:r>
                        <a:t>Variable</a:t>
                      </a:r>
                    </a:p>
                  </a:txBody>
                  <a:tcPr>
                    <a:solidFill>
                      <a:srgbClr val="F5F6FA"/>
                    </a:solidFill>
                  </a:tcPr>
                </a:tc>
                <a:tc>
                  <a:txBody>
                    <a:bodyPr/>
                    <a:lstStyle/>
                    <a:p>
                      <a:pPr algn="l">
                        <a:defRPr sz="1200">
                          <a:solidFill>
                            <a:srgbClr val="3D4455"/>
                          </a:solidFill>
                          <a:latin typeface="Calibri"/>
                        </a:defRPr>
                      </a:pPr>
                      <a:r>
                        <a:t>Titrated</a:t>
                      </a:r>
                    </a:p>
                  </a:txBody>
                  <a:tcPr>
                    <a:solidFill>
                      <a:srgbClr val="F5F6FA"/>
                    </a:solidFill>
                  </a:tcPr>
                </a:tc>
                <a:tc>
                  <a:txBody>
                    <a:bodyPr/>
                    <a:lstStyle/>
                    <a:p>
                      <a:pPr algn="l">
                        <a:defRPr sz="1200">
                          <a:solidFill>
                            <a:srgbClr val="3D4455"/>
                          </a:solidFill>
                          <a:latin typeface="Calibri"/>
                        </a:defRPr>
                      </a:pPr>
                      <a:r>
                        <a:t>Respiratory failure, avoid intubation</a:t>
                      </a:r>
                    </a:p>
                  </a:txBody>
                  <a:tcPr>
                    <a:solidFill>
                      <a:srgbClr val="F5F6FA"/>
                    </a:solidFill>
                  </a:tcPr>
                </a:tc>
              </a:tr>
              <a:tr h="457200">
                <a:tc>
                  <a:txBody>
                    <a:bodyPr/>
                    <a:lstStyle/>
                    <a:p>
                      <a:pPr algn="l">
                        <a:defRPr sz="1200">
                          <a:solidFill>
                            <a:srgbClr val="3D4455"/>
                          </a:solidFill>
                          <a:latin typeface="Calibri"/>
                        </a:defRPr>
                      </a:pPr>
                      <a:r>
                        <a:t>BVM + reservoir</a:t>
                      </a:r>
                    </a:p>
                  </a:txBody>
                  <a:tcPr>
                    <a:solidFill>
                      <a:srgbClr val="FFFFFF"/>
                    </a:solidFill>
                  </a:tcPr>
                </a:tc>
                <a:tc>
                  <a:txBody>
                    <a:bodyPr/>
                    <a:lstStyle/>
                    <a:p>
                      <a:pPr algn="l">
                        <a:defRPr sz="1200">
                          <a:solidFill>
                            <a:srgbClr val="3D4455"/>
                          </a:solidFill>
                          <a:latin typeface="Calibri"/>
                        </a:defRPr>
                      </a:pPr>
                      <a:r>
                        <a:t>15 L/min</a:t>
                      </a:r>
                    </a:p>
                  </a:txBody>
                  <a:tcPr>
                    <a:solidFill>
                      <a:srgbClr val="FFFFFF"/>
                    </a:solidFill>
                  </a:tcPr>
                </a:tc>
                <a:tc>
                  <a:txBody>
                    <a:bodyPr/>
                    <a:lstStyle/>
                    <a:p>
                      <a:pPr algn="l">
                        <a:defRPr sz="1200">
                          <a:solidFill>
                            <a:srgbClr val="3D4455"/>
                          </a:solidFill>
                          <a:latin typeface="Calibri"/>
                        </a:defRPr>
                      </a:pPr>
                      <a:r>
                        <a:t>~100%</a:t>
                      </a:r>
                    </a:p>
                  </a:txBody>
                  <a:tcPr>
                    <a:solidFill>
                      <a:srgbClr val="FFFFFF"/>
                    </a:solidFill>
                  </a:tcPr>
                </a:tc>
                <a:tc>
                  <a:txBody>
                    <a:bodyPr/>
                    <a:lstStyle/>
                    <a:p>
                      <a:pPr algn="l">
                        <a:defRPr sz="1200">
                          <a:solidFill>
                            <a:srgbClr val="3D4455"/>
                          </a:solidFill>
                          <a:latin typeface="Calibri"/>
                        </a:defRPr>
                      </a:pPr>
                      <a:r>
                        <a:t>Apnea, pre-oxygenation, active ventilation</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High-Flow Nasal Cannula (HFNC) — PEM Game Changer</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Provides humidified, heated oxygen at high flow rates</a:t>
            </a:r>
          </a:p>
          <a:p>
            <a:pPr>
              <a:spcBef>
                <a:spcPts val="400"/>
              </a:spcBef>
              <a:spcAft>
                <a:spcPts val="600"/>
              </a:spcAft>
              <a:defRPr sz="1600">
                <a:solidFill>
                  <a:srgbClr val="3D4455"/>
                </a:solidFill>
                <a:latin typeface="Calibri"/>
              </a:defRPr>
            </a:pPr>
            <a:r>
              <a:t>Generates positive pressure (2-5 cmH2O CPAP effect) at 2 L/kg/min</a:t>
            </a:r>
          </a:p>
          <a:p>
            <a:pPr>
              <a:spcBef>
                <a:spcPts val="400"/>
              </a:spcBef>
              <a:spcAft>
                <a:spcPts val="600"/>
              </a:spcAft>
              <a:defRPr sz="1600">
                <a:solidFill>
                  <a:srgbClr val="3D4455"/>
                </a:solidFill>
                <a:latin typeface="Calibri"/>
              </a:defRPr>
            </a:pPr>
            <a:r>
              <a:t>Washes out nasopharyngeal dead space — improves ventilation efficiency</a:t>
            </a:r>
          </a:p>
          <a:p>
            <a:pPr>
              <a:spcBef>
                <a:spcPts val="400"/>
              </a:spcBef>
              <a:spcAft>
                <a:spcPts val="600"/>
              </a:spcAft>
              <a:defRPr sz="1600">
                <a:solidFill>
                  <a:srgbClr val="3D4455"/>
                </a:solidFill>
                <a:latin typeface="Calibri"/>
              </a:defRPr>
            </a:pPr>
            <a:r>
              <a:t>Better tolerated than face masks in young children</a:t>
            </a:r>
          </a:p>
          <a:p>
            <a:pPr>
              <a:spcBef>
                <a:spcPts val="400"/>
              </a:spcBef>
              <a:spcAft>
                <a:spcPts val="600"/>
              </a:spcAft>
              <a:defRPr sz="1600">
                <a:solidFill>
                  <a:srgbClr val="3D4455"/>
                </a:solidFill>
                <a:latin typeface="Calibri"/>
              </a:defRPr>
            </a:pPr>
            <a:r>
              <a:t>Indications: bronchiolitis, pneumonia, asthma (adjunct), post-extubation</a:t>
            </a:r>
          </a:p>
          <a:p>
            <a:pPr>
              <a:spcBef>
                <a:spcPts val="400"/>
              </a:spcBef>
              <a:spcAft>
                <a:spcPts val="600"/>
              </a:spcAft>
              <a:defRPr sz="1600">
                <a:solidFill>
                  <a:srgbClr val="3D4455"/>
                </a:solidFill>
                <a:latin typeface="Calibri"/>
              </a:defRPr>
            </a:pPr>
            <a:r>
              <a:t>Starting flow: 1-2 L/kg/min; FiO2 titrated to SpO2 ≥94%</a:t>
            </a:r>
          </a:p>
          <a:p>
            <a:pPr>
              <a:spcBef>
                <a:spcPts val="400"/>
              </a:spcBef>
              <a:spcAft>
                <a:spcPts val="600"/>
              </a:spcAft>
              <a:defRPr sz="1600">
                <a:solidFill>
                  <a:srgbClr val="3D4455"/>
                </a:solidFill>
                <a:latin typeface="Calibri"/>
              </a:defRPr>
            </a:pPr>
            <a:r>
              <a:t>Escalation criteria: if FiO2 &gt;0.6 or flow maxed → consider NIV or intubation</a:t>
            </a:r>
          </a:p>
          <a:p>
            <a:pPr lvl="1">
              <a:spcBef>
                <a:spcPts val="400"/>
              </a:spcBef>
              <a:spcAft>
                <a:spcPts val="600"/>
              </a:spcAft>
              <a:defRPr sz="1400">
                <a:solidFill>
                  <a:srgbClr val="8A92A3"/>
                </a:solidFill>
                <a:latin typeface="Calibri"/>
              </a:defRPr>
            </a:pPr>
            <a:r>
              <a:t>HFNC is NOT a substitute for intubation in true respiratory failure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Respiratory Distress vs Respiratory Failure</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RESPIRATORY DISTRESS (Compensating)</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Tachypnea with adequate air movement</a:t>
            </a:r>
          </a:p>
          <a:p>
            <a:pPr>
              <a:spcAft>
                <a:spcPts val="500"/>
              </a:spcAft>
              <a:defRPr sz="1400">
                <a:solidFill>
                  <a:srgbClr val="3D4455"/>
                </a:solidFill>
                <a:latin typeface="Calibri"/>
              </a:defRPr>
            </a:pPr>
            <a:r>
              <a:t>Retractions but maintaining oxygenation</a:t>
            </a:r>
          </a:p>
          <a:p>
            <a:pPr>
              <a:spcAft>
                <a:spcPts val="500"/>
              </a:spcAft>
              <a:defRPr sz="1400">
                <a:solidFill>
                  <a:srgbClr val="3D4455"/>
                </a:solidFill>
                <a:latin typeface="Calibri"/>
              </a:defRPr>
            </a:pPr>
            <a:r>
              <a:t>Alert, interactive, crying</a:t>
            </a:r>
          </a:p>
          <a:p>
            <a:pPr>
              <a:spcAft>
                <a:spcPts val="500"/>
              </a:spcAft>
              <a:defRPr sz="1400">
                <a:solidFill>
                  <a:srgbClr val="3D4455"/>
                </a:solidFill>
                <a:latin typeface="Calibri"/>
              </a:defRPr>
            </a:pPr>
            <a:r>
              <a:t>SpO2 ≥94% on room air or low-flow O2</a:t>
            </a:r>
          </a:p>
          <a:p>
            <a:pPr>
              <a:spcAft>
                <a:spcPts val="500"/>
              </a:spcAft>
              <a:defRPr sz="1400">
                <a:solidFill>
                  <a:srgbClr val="3D4455"/>
                </a:solidFill>
                <a:latin typeface="Calibri"/>
              </a:defRPr>
            </a:pPr>
            <a:r>
              <a:t>Normal mental status</a:t>
            </a:r>
          </a:p>
          <a:p>
            <a:pPr>
              <a:spcAft>
                <a:spcPts val="500"/>
              </a:spcAft>
              <a:defRPr sz="1400">
                <a:solidFill>
                  <a:srgbClr val="3D4455"/>
                </a:solidFill>
                <a:latin typeface="Calibri"/>
              </a:defRPr>
            </a:pPr>
            <a:r>
              <a:t>Strong respiratory effort</a:t>
            </a:r>
          </a:p>
          <a:p>
            <a:pPr>
              <a:spcAft>
                <a:spcPts val="500"/>
              </a:spcAft>
              <a:defRPr sz="1400">
                <a:solidFill>
                  <a:srgbClr val="3D4455"/>
                </a:solidFill>
                <a:latin typeface="Calibri"/>
              </a:defRPr>
            </a:pPr>
            <a:r>
              <a:t>Management: treat cause, support oxygenation</a:t>
            </a:r>
          </a:p>
          <a:p>
            <a:pPr>
              <a:spcAft>
                <a:spcPts val="500"/>
              </a:spcAft>
              <a:defRPr sz="1400">
                <a:solidFill>
                  <a:srgbClr val="3D4455"/>
                </a:solidFill>
                <a:latin typeface="Calibri"/>
              </a:defRPr>
            </a:pPr>
            <a:r>
              <a:t>WATCH CLOSELY — can progress</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RESPIRATORY FAILURE (Decompensating)</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Decreased air movement despite effort</a:t>
            </a:r>
          </a:p>
          <a:p>
            <a:pPr>
              <a:spcAft>
                <a:spcPts val="500"/>
              </a:spcAft>
              <a:defRPr sz="1400">
                <a:solidFill>
                  <a:srgbClr val="3D4455"/>
                </a:solidFill>
                <a:latin typeface="Calibri"/>
              </a:defRPr>
            </a:pPr>
            <a:r>
              <a:t>Diminishing retractions ("tiring out")</a:t>
            </a:r>
          </a:p>
          <a:p>
            <a:pPr>
              <a:spcAft>
                <a:spcPts val="500"/>
              </a:spcAft>
              <a:defRPr sz="1400">
                <a:solidFill>
                  <a:srgbClr val="3D4455"/>
                </a:solidFill>
                <a:latin typeface="Calibri"/>
              </a:defRPr>
            </a:pPr>
            <a:r>
              <a:t>Altered mental status, lethargy</a:t>
            </a:r>
          </a:p>
          <a:p>
            <a:pPr>
              <a:spcAft>
                <a:spcPts val="500"/>
              </a:spcAft>
              <a:defRPr sz="1400">
                <a:solidFill>
                  <a:srgbClr val="3D4455"/>
                </a:solidFill>
                <a:latin typeface="Calibri"/>
              </a:defRPr>
            </a:pPr>
            <a:r>
              <a:t>SpO2 &lt;90% despite O2 supplementation</a:t>
            </a:r>
          </a:p>
          <a:p>
            <a:pPr>
              <a:spcAft>
                <a:spcPts val="500"/>
              </a:spcAft>
              <a:defRPr sz="1400">
                <a:solidFill>
                  <a:srgbClr val="3D4455"/>
                </a:solidFill>
                <a:latin typeface="Calibri"/>
              </a:defRPr>
            </a:pPr>
            <a:r>
              <a:t>Grunting, head bobbing, see-saw breathing</a:t>
            </a:r>
          </a:p>
          <a:p>
            <a:pPr>
              <a:spcAft>
                <a:spcPts val="500"/>
              </a:spcAft>
              <a:defRPr sz="1400">
                <a:solidFill>
                  <a:srgbClr val="3D4455"/>
                </a:solidFill>
                <a:latin typeface="Calibri"/>
              </a:defRPr>
            </a:pPr>
            <a:r>
              <a:t>Bradycardia (ominous pre-arrest sign)</a:t>
            </a:r>
          </a:p>
          <a:p>
            <a:pPr>
              <a:spcAft>
                <a:spcPts val="500"/>
              </a:spcAft>
              <a:defRPr sz="1400">
                <a:solidFill>
                  <a:srgbClr val="3D4455"/>
                </a:solidFill>
                <a:latin typeface="Calibri"/>
              </a:defRPr>
            </a:pPr>
            <a:r>
              <a:t>Management: INTERVENE NOW — BVM, intubation</a:t>
            </a:r>
          </a:p>
          <a:p>
            <a:pPr>
              <a:spcAft>
                <a:spcPts val="500"/>
              </a:spcAft>
              <a:defRPr sz="1400">
                <a:solidFill>
                  <a:srgbClr val="3D4455"/>
                </a:solidFill>
                <a:latin typeface="Calibri"/>
              </a:defRPr>
            </a:pPr>
            <a:r>
              <a:t>This child WILL ARREST without action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When to Intubate — Decision Framework</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Apnea or inadequate respiratory effort</a:t>
            </a:r>
          </a:p>
          <a:p>
            <a:pPr>
              <a:spcBef>
                <a:spcPts val="400"/>
              </a:spcBef>
              <a:spcAft>
                <a:spcPts val="600"/>
              </a:spcAft>
              <a:defRPr sz="1600">
                <a:solidFill>
                  <a:srgbClr val="3D4455"/>
                </a:solidFill>
                <a:latin typeface="Calibri"/>
              </a:defRPr>
            </a:pPr>
            <a:r>
              <a:t>Failure to maintain SpO2 &gt;90% despite maximal non-invasive support</a:t>
            </a:r>
          </a:p>
          <a:p>
            <a:pPr>
              <a:spcBef>
                <a:spcPts val="400"/>
              </a:spcBef>
              <a:spcAft>
                <a:spcPts val="600"/>
              </a:spcAft>
              <a:defRPr sz="1600">
                <a:solidFill>
                  <a:srgbClr val="3D4455"/>
                </a:solidFill>
                <a:latin typeface="Calibri"/>
              </a:defRPr>
            </a:pPr>
            <a:r>
              <a:t>GCS ≤8 or loss of protective airway reflexes</a:t>
            </a:r>
          </a:p>
          <a:p>
            <a:pPr>
              <a:spcBef>
                <a:spcPts val="400"/>
              </a:spcBef>
              <a:spcAft>
                <a:spcPts val="600"/>
              </a:spcAft>
              <a:defRPr sz="1600">
                <a:solidFill>
                  <a:srgbClr val="3D4455"/>
                </a:solidFill>
                <a:latin typeface="Calibri"/>
              </a:defRPr>
            </a:pPr>
            <a:r>
              <a:t>Impending complete airway obstruction</a:t>
            </a:r>
          </a:p>
          <a:p>
            <a:pPr>
              <a:spcBef>
                <a:spcPts val="400"/>
              </a:spcBef>
              <a:spcAft>
                <a:spcPts val="600"/>
              </a:spcAft>
              <a:defRPr sz="1600">
                <a:solidFill>
                  <a:srgbClr val="3D4455"/>
                </a:solidFill>
                <a:latin typeface="Calibri"/>
              </a:defRPr>
            </a:pPr>
            <a:r>
              <a:t>Clinical trajectory worsening despite aggressive management</a:t>
            </a:r>
          </a:p>
          <a:p>
            <a:pPr>
              <a:spcBef>
                <a:spcPts val="400"/>
              </a:spcBef>
              <a:spcAft>
                <a:spcPts val="600"/>
              </a:spcAft>
              <a:defRPr sz="1600">
                <a:solidFill>
                  <a:srgbClr val="3D4455"/>
                </a:solidFill>
                <a:latin typeface="Calibri"/>
              </a:defRPr>
            </a:pPr>
            <a:r>
              <a:t>Need for controlled ventilation (severe TBI, status epilepticus)</a:t>
            </a:r>
          </a:p>
          <a:p>
            <a:pPr lvl="1">
              <a:spcBef>
                <a:spcPts val="400"/>
              </a:spcBef>
              <a:spcAft>
                <a:spcPts val="600"/>
              </a:spcAft>
              <a:defRPr sz="1400">
                <a:solidFill>
                  <a:srgbClr val="8A92A3"/>
                </a:solidFill>
                <a:latin typeface="Calibri"/>
              </a:defRPr>
            </a:pPr>
            <a:r>
              <a:t>Rule of thumb: if you are THINKING about intubation, prepare for it NOW</a:t>
            </a:r>
          </a:p>
          <a:p>
            <a:pPr>
              <a:spcBef>
                <a:spcPts val="400"/>
              </a:spcBef>
              <a:spcAft>
                <a:spcPts val="600"/>
              </a:spcAft>
              <a:defRPr sz="1600">
                <a:solidFill>
                  <a:srgbClr val="3D4455"/>
                </a:solidFill>
                <a:latin typeface="Calibri"/>
              </a:defRPr>
            </a:pPr>
            <a:r>
              <a:t>The best intubation is the one you prepare for, not the one you are forced into</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CXR Interpretation Pearls in PEM</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NORMAL CXR does not exclude significant disease (early pneumonia, foreign body)</a:t>
            </a:r>
          </a:p>
          <a:p>
            <a:pPr>
              <a:spcBef>
                <a:spcPts val="400"/>
              </a:spcBef>
              <a:spcAft>
                <a:spcPts val="600"/>
              </a:spcAft>
              <a:defRPr sz="1600">
                <a:solidFill>
                  <a:srgbClr val="3D4455"/>
                </a:solidFill>
                <a:latin typeface="Calibri"/>
              </a:defRPr>
            </a:pPr>
            <a:r>
              <a:t>Hyperinflation: flattened diaphragms, &gt;8 posterior ribs visible → air trapping (asthma, bronchiolitis)</a:t>
            </a:r>
          </a:p>
          <a:p>
            <a:pPr>
              <a:spcBef>
                <a:spcPts val="400"/>
              </a:spcBef>
              <a:spcAft>
                <a:spcPts val="600"/>
              </a:spcAft>
              <a:defRPr sz="1600">
                <a:solidFill>
                  <a:srgbClr val="3D4455"/>
                </a:solidFill>
                <a:latin typeface="Calibri"/>
              </a:defRPr>
            </a:pPr>
            <a:r>
              <a:t>Lobar consolidation: bacterial pneumonia most likely</a:t>
            </a:r>
          </a:p>
          <a:p>
            <a:pPr>
              <a:spcBef>
                <a:spcPts val="400"/>
              </a:spcBef>
              <a:spcAft>
                <a:spcPts val="600"/>
              </a:spcAft>
              <a:defRPr sz="1600">
                <a:solidFill>
                  <a:srgbClr val="3D4455"/>
                </a:solidFill>
                <a:latin typeface="Calibri"/>
              </a:defRPr>
            </a:pPr>
            <a:r>
              <a:t>Diffuse bilateral infiltrates: viral pneumonia, pulmonary edema, ARDS</a:t>
            </a:r>
          </a:p>
          <a:p>
            <a:pPr>
              <a:spcBef>
                <a:spcPts val="400"/>
              </a:spcBef>
              <a:spcAft>
                <a:spcPts val="600"/>
              </a:spcAft>
              <a:defRPr sz="1600">
                <a:solidFill>
                  <a:srgbClr val="3D4455"/>
                </a:solidFill>
                <a:latin typeface="Calibri"/>
              </a:defRPr>
            </a:pPr>
            <a:r>
              <a:t>Mediastinal shift: tension pneumothorax, large effusion, or mass</a:t>
            </a:r>
          </a:p>
          <a:p>
            <a:pPr>
              <a:spcBef>
                <a:spcPts val="400"/>
              </a:spcBef>
              <a:spcAft>
                <a:spcPts val="600"/>
              </a:spcAft>
              <a:defRPr sz="1600">
                <a:solidFill>
                  <a:srgbClr val="3D4455"/>
                </a:solidFill>
                <a:latin typeface="Calibri"/>
              </a:defRPr>
            </a:pPr>
            <a:r>
              <a:t>Retrocardiac opacity: commonly missed left lower lobe pneumonia</a:t>
            </a:r>
          </a:p>
          <a:p>
            <a:pPr lvl="1">
              <a:spcBef>
                <a:spcPts val="400"/>
              </a:spcBef>
              <a:spcAft>
                <a:spcPts val="600"/>
              </a:spcAft>
              <a:defRPr sz="1400">
                <a:solidFill>
                  <a:srgbClr val="8A92A3"/>
                </a:solidFill>
                <a:latin typeface="Calibri"/>
              </a:defRPr>
            </a:pPr>
            <a:r>
              <a:t>Always look at the lateral decubitus or CT if concerned for effusion/empyema</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18-Month-Old with Tachypnea and Grunting</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An 18-month-old girl presents with 3 days of cough, runny nose, and fever (39.5°C). Today she is breathing fast and "making a funny noise." On exam: RR 58, HR 165, SpO2 91% on room air, moderate subcostal retractions, audible grunting, diminished air entry in the right base, dullness to percussion right lower zone. No wheezing. She is irritable but consolable.</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Localization? (Lower airway / parenchymal — right-sided based on exam)</a:t>
            </a:r>
          </a:p>
          <a:p>
            <a:pPr>
              <a:spcAft>
                <a:spcPts val="600"/>
              </a:spcAft>
              <a:defRPr sz="1400" b="1">
                <a:solidFill>
                  <a:srgbClr val="007B83"/>
                </a:solidFill>
                <a:latin typeface="Calibri"/>
              </a:defRPr>
            </a:pPr>
            <a:r>
              <a:t>▸  What does grunting tell you? (Alveolar disease — pneumonia with likely effusion)</a:t>
            </a:r>
          </a:p>
          <a:p>
            <a:pPr>
              <a:spcAft>
                <a:spcPts val="600"/>
              </a:spcAft>
              <a:defRPr sz="1400" b="1">
                <a:solidFill>
                  <a:srgbClr val="007B83"/>
                </a:solidFill>
                <a:latin typeface="Calibri"/>
              </a:defRPr>
            </a:pPr>
            <a:r>
              <a:t>▸  Initial management? (O2 via HFNC, CXR, labs, empiric antibiotics)</a:t>
            </a:r>
          </a:p>
          <a:p>
            <a:pPr>
              <a:spcAft>
                <a:spcPts val="600"/>
              </a:spcAft>
              <a:defRPr sz="1400" b="1">
                <a:solidFill>
                  <a:srgbClr val="007B83"/>
                </a:solidFill>
                <a:latin typeface="Calibri"/>
              </a:defRPr>
            </a:pPr>
            <a:r>
              <a:t>▸  CXR shows right lower lobe consolidation with moderate effusion — next steps?</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Respiratory Distress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Attributing ALL wheeze to asthma — consider foreign body, cardiac, anaphylaxis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Missing a foreign body: acute onset in a toddler with no URI prodrome</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Delayed escalation: leaving a child on HFNC too long while they tire out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Not checking SpO2 on room air before discharging — some children are masked by O2</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to consider cardiac causes in the infant with tachypnea and hepatomegaly</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Routine CXR in obvious viral bronchiolitis or mild asthma — low yield, high cost</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reassessing after treatment — the child who isn't improving needs a new plan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Localize first: stridor = upper airway; wheeze = lower airway; grunting = alveolar disease</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Respiratory failure is identified by CLINICAL signs, not just SpO2 — watch the trajectory</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HFNC has transformed PEM respiratory care but is not a substitute for intubation when needed</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Always consider foreign body in toddlers with acute-onset respiratory symptoms</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Reassess after every intervention — if the child is not improving, change the plan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Franklin D, et al. A randomized trial of high-flow oxygen therapy in infants with bronchiolitis. N Engl J Med. 2018;378(12):1121-1131.</a:t>
            </a:r>
          </a:p>
          <a:p>
            <a:pPr>
              <a:spcAft>
                <a:spcPts val="400"/>
              </a:spcAft>
              <a:defRPr sz="1100">
                <a:solidFill>
                  <a:srgbClr val="3D4455"/>
                </a:solidFill>
                <a:latin typeface="Calibri"/>
              </a:defRPr>
            </a:pPr>
            <a:r>
              <a:t>2. Ralston SL, et al. Clinical practice guideline: diagnosis, management, and prevention of bronchiolitis. Pediatrics. 2014;134(5):e1474-e1502.</a:t>
            </a:r>
          </a:p>
          <a:p>
            <a:pPr>
              <a:spcAft>
                <a:spcPts val="400"/>
              </a:spcAft>
              <a:defRPr sz="1100">
                <a:solidFill>
                  <a:srgbClr val="3D4455"/>
                </a:solidFill>
                <a:latin typeface="Calibri"/>
              </a:defRPr>
            </a:pPr>
            <a:r>
              <a:t>3. Expert Panel Report 3 (EPR-3): Guidelines for the Diagnosis and Management of Asthma. NIH/NHLBI, 2007.</a:t>
            </a:r>
          </a:p>
          <a:p>
            <a:pPr>
              <a:spcAft>
                <a:spcPts val="400"/>
              </a:spcAft>
              <a:defRPr sz="1100">
                <a:solidFill>
                  <a:srgbClr val="3D4455"/>
                </a:solidFill>
                <a:latin typeface="Calibri"/>
              </a:defRPr>
            </a:pPr>
            <a:r>
              <a:t>4. Topjian AA, Raymond TT, et al. Pediatric BLS and ALS: 2020 AHA Guidelines. Circulation. 2020;142(16_suppl_2).</a:t>
            </a:r>
          </a:p>
          <a:p>
            <a:pPr>
              <a:spcAft>
                <a:spcPts val="400"/>
              </a:spcAft>
              <a:defRPr sz="1100">
                <a:solidFill>
                  <a:srgbClr val="3D4455"/>
                </a:solidFill>
                <a:latin typeface="Calibri"/>
              </a:defRPr>
            </a:pPr>
            <a:r>
              <a:t>5. Fleisher GR, Ludwig S. Textbook of Pediatric Emergency Medicine, 7th Edition. Wolters Kluwer, 2020.</a:t>
            </a:r>
          </a:p>
          <a:p>
            <a:pPr>
              <a:spcAft>
                <a:spcPts val="400"/>
              </a:spcAft>
              <a:defRPr sz="1100">
                <a:solidFill>
                  <a:srgbClr val="3D4455"/>
                </a:solidFill>
                <a:latin typeface="Calibri"/>
              </a:defRPr>
            </a:pPr>
            <a:r>
              <a:t>6. Wing R, et al. Use of high-flow nasal cannula support in the emergency department. Pediatrics. 2012;130(5):e1391-e1396.</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Respiratory Distress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