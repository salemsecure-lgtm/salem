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sepsis as a time-critical emergency analogous to stroke or STEMI. The data on antibiotic delay is compelling and should motivate rapid action. Many sepsis deaths occur because the diagnosis was not considered early enough. Screening tools help, but clinical suspicion remains the most important first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these are the traditional Goldstein 2005 criteria. Newer approaches (Phoenix Sepsis Score 2024) are moving toward organ dysfunction-based definitions similar to adult Sepsis-3. However, SIRS criteria remain widely used for screening. The key point is that sepsis definitions in children are age-dependent — what is normal at 2 months is abnormal at 10 years.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bundle is the core of sepsis management. Antibiotics and fluids within the first hour are the two interventions with the strongest evidence for reducing mortality. Do NOT delay antibiotics waiting for cultures — draw them and give antibiotics simultaneously. Vasopressors can be started through a peripheral IV or IO while central access is being obtained.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Antibiotic selection depends on age, suspected source, and local resistance patterns. Ampicillin covers Listeria and Group B Strep in neonates. Ceftriaxone is the workhorse for older children. Always add vancomycin if MRSA is prevalent in your community or the child has central line, recent hospitalization, or skin/soft tissue source. Give antibiotics within 60 minutes — ideally within 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clinical distinctions in PEM. Most children present with cold shock (60-70%), unlike adults who more commonly present with warm shock. Cold shock implies poor cardiac output — epinephrine provides both inotropy and chronotropy. If cold shock persists despite epinephrine, adding milrinone can improve cardiac output through lusitropy and afterload reduction.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Fluid-refractory shock is a critical inflection point. The old dogma of requiring central access before starting pressors has been replaced by evidence showing short-term peripheral vasopressor use is safe and life-saving. Push diluted epinephrine through a peripheral IV while obtaining central access. Bedside echo at this point is invaluable to guide further management.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Catecholamine-resistant shock is a bad place to be. Stress-dose hydrocortisone is recommended when shock persists despite adequate vasopressor doses, particularly if there is concern for adrenal insufficiency. The SPROUT study and other data support early use. ECMO for refractory septic shock is available at major pediatric centers and should be considered before the child is too far gone.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 guide management but should never delay treatment. The most important tests are blood cultures (to guide de-escalation), lactate (to assess severity), and glucose (to treat immediately). Procalcitonin is increasingly useful for identifying bacterial sepsis and monitoring response to treatment. A rising procalcitonin despite treatment is a red flag.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message for sepsis management. Kumar et al. and subsequent pediatric studies show a clear relationship between time to antibiotics and mortality. In the real world, the most common delay is waiting for cultures, LP, or the "right" antibiotic choice. Give a reasonable broad-spectrum agent NOW and refine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drives home several critical points: young infants with fever and poor perfusion are septic until proven otherwise. The antibiotic regimen must cover neonatal pathogens including HSV. Acyclovir is added because HSV encephalitis/disseminated disease is devastating and can present exactly like bacterial sepsis. You cannot clinically distinguish them — so cover both.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pitfall with clinical examples. The compensated shock trap is the most common — a child with HR 180, cap refill 4 seconds, and BP 90/60 is in shock even though the BP is "normal." The antibiotic delay pitfall kills patients. And the discharge pitfall is real — children can transiently improve with fluids and then decompensate at home.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04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Sepsis and Septic Shock</a:t>
            </a:r>
            <a:br/>
            <a:r>
              <a:t>in Children</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Recognition, The Golden Hour, Bundles, Vasopressors, and Escalation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Apply pediatric-specific sepsis definitions and screening criteria</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Execute the sepsis bundle within the first hour: access, fluids, antibiotics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Differentiate warm from cold septic shock and select appropriate vasopressors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Recognize fluid-refractory and catecholamine-resistant shock</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escalation thresholds to PICU and advanced therapies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Sepsis: Scope of the Problem</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Sepsis affects &gt;72,000 children annually in the US; mortality 5-10% overall</a:t>
            </a:r>
          </a:p>
          <a:p>
            <a:pPr>
              <a:spcBef>
                <a:spcPts val="400"/>
              </a:spcBef>
              <a:spcAft>
                <a:spcPts val="600"/>
              </a:spcAft>
              <a:defRPr sz="1600">
                <a:solidFill>
                  <a:srgbClr val="3D4455"/>
                </a:solidFill>
                <a:latin typeface="Calibri"/>
              </a:defRPr>
            </a:pPr>
            <a:r>
              <a:t>Septic shock mortality: 15-25% — higher in resource-limited settings</a:t>
            </a:r>
          </a:p>
          <a:p>
            <a:pPr>
              <a:spcBef>
                <a:spcPts val="400"/>
              </a:spcBef>
              <a:spcAft>
                <a:spcPts val="600"/>
              </a:spcAft>
              <a:defRPr sz="1600">
                <a:solidFill>
                  <a:srgbClr val="3D4455"/>
                </a:solidFill>
                <a:latin typeface="Calibri"/>
              </a:defRPr>
            </a:pPr>
            <a:r>
              <a:t>EACH HOUR of delayed antibiotics increases mortality by ~8%</a:t>
            </a:r>
          </a:p>
          <a:p>
            <a:pPr>
              <a:spcBef>
                <a:spcPts val="400"/>
              </a:spcBef>
              <a:spcAft>
                <a:spcPts val="600"/>
              </a:spcAft>
              <a:defRPr sz="1600">
                <a:solidFill>
                  <a:srgbClr val="3D4455"/>
                </a:solidFill>
                <a:latin typeface="Calibri"/>
              </a:defRPr>
            </a:pPr>
            <a:r>
              <a:t>Most pediatric sepsis deaths are potentially PREVENTABLE with early recognition</a:t>
            </a:r>
          </a:p>
          <a:p>
            <a:pPr>
              <a:spcBef>
                <a:spcPts val="400"/>
              </a:spcBef>
              <a:spcAft>
                <a:spcPts val="600"/>
              </a:spcAft>
              <a:defRPr sz="1600">
                <a:solidFill>
                  <a:srgbClr val="3D4455"/>
                </a:solidFill>
                <a:latin typeface="Calibri"/>
              </a:defRPr>
            </a:pPr>
            <a:r>
              <a:t>High-risk groups: neonates, immunocompromised, chronic disease, asplenic</a:t>
            </a:r>
          </a:p>
          <a:p>
            <a:pPr lvl="1">
              <a:spcBef>
                <a:spcPts val="400"/>
              </a:spcBef>
              <a:spcAft>
                <a:spcPts val="600"/>
              </a:spcAft>
              <a:defRPr sz="1400">
                <a:solidFill>
                  <a:srgbClr val="8A92A3"/>
                </a:solidFill>
                <a:latin typeface="Calibri"/>
              </a:defRPr>
            </a:pPr>
            <a:r>
              <a:t>The "golden hour" concept: early bundled care within 60 min saves lives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SIRS Criteria (Age-Specific)</a:t>
            </a:r>
          </a:p>
        </p:txBody>
      </p:sp>
      <p:graphicFrame>
        <p:nvGraphicFramePr>
          <p:cNvPr id="5" name="Table 4"/>
          <p:cNvGraphicFramePr>
            <a:graphicFrameLocks noGrp="1"/>
          </p:cNvGraphicFramePr>
          <p:nvPr/>
        </p:nvGraphicFramePr>
        <p:xfrm>
          <a:off x="822960" y="1280160"/>
          <a:ext cx="10515600" cy="36576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Component</a:t>
                      </a:r>
                    </a:p>
                  </a:txBody>
                  <a:tcPr>
                    <a:solidFill>
                      <a:srgbClr val="007B83"/>
                    </a:solidFill>
                  </a:tcPr>
                </a:tc>
                <a:tc>
                  <a:txBody>
                    <a:bodyPr/>
                    <a:lstStyle/>
                    <a:p>
                      <a:pPr algn="ctr">
                        <a:defRPr sz="1300" b="1">
                          <a:solidFill>
                            <a:srgbClr val="FFFFFF"/>
                          </a:solidFill>
                          <a:latin typeface="Calibri"/>
                        </a:defRPr>
                      </a:pPr>
                      <a:r>
                        <a:t>Criteria</a:t>
                      </a:r>
                    </a:p>
                  </a:txBody>
                  <a:tcPr>
                    <a:solidFill>
                      <a:srgbClr val="007B83"/>
                    </a:solidFill>
                  </a:tcPr>
                </a:tc>
                <a:tc>
                  <a:txBody>
                    <a:bodyPr/>
                    <a:lstStyle/>
                    <a:p>
                      <a:pPr algn="ctr">
                        <a:defRPr sz="1300" b="1">
                          <a:solidFill>
                            <a:srgbClr val="FFFFFF"/>
                          </a:solidFill>
                          <a:latin typeface="Calibri"/>
                        </a:defRPr>
                      </a:pPr>
                      <a:r>
                        <a:t>Notes</a:t>
                      </a:r>
                    </a:p>
                  </a:txBody>
                  <a:tcPr>
                    <a:solidFill>
                      <a:srgbClr val="007B83"/>
                    </a:solidFill>
                  </a:tcPr>
                </a:tc>
              </a:tr>
              <a:tr h="457200">
                <a:tc>
                  <a:txBody>
                    <a:bodyPr/>
                    <a:lstStyle/>
                    <a:p>
                      <a:pPr algn="l">
                        <a:defRPr sz="1200">
                          <a:solidFill>
                            <a:srgbClr val="3D4455"/>
                          </a:solidFill>
                          <a:latin typeface="Calibri"/>
                        </a:defRPr>
                      </a:pPr>
                      <a:r>
                        <a:t>Temperature</a:t>
                      </a:r>
                    </a:p>
                  </a:txBody>
                  <a:tcPr>
                    <a:solidFill>
                      <a:srgbClr val="F5F6FA"/>
                    </a:solidFill>
                  </a:tcPr>
                </a:tc>
                <a:tc>
                  <a:txBody>
                    <a:bodyPr/>
                    <a:lstStyle/>
                    <a:p>
                      <a:pPr algn="l">
                        <a:defRPr sz="1200">
                          <a:solidFill>
                            <a:srgbClr val="3D4455"/>
                          </a:solidFill>
                          <a:latin typeface="Calibri"/>
                        </a:defRPr>
                      </a:pPr>
                      <a:r>
                        <a:t>&gt;38.5°C or &lt;36°C</a:t>
                      </a:r>
                    </a:p>
                  </a:txBody>
                  <a:tcPr>
                    <a:solidFill>
                      <a:srgbClr val="F5F6FA"/>
                    </a:solidFill>
                  </a:tcPr>
                </a:tc>
                <a:tc>
                  <a:txBody>
                    <a:bodyPr/>
                    <a:lstStyle/>
                    <a:p>
                      <a:pPr algn="l">
                        <a:defRPr sz="1200">
                          <a:solidFill>
                            <a:srgbClr val="3D4455"/>
                          </a:solidFill>
                          <a:latin typeface="Calibri"/>
                        </a:defRPr>
                      </a:pPr>
                      <a:r>
                        <a:t>Core temp preferred; hypothermia more ominous</a:t>
                      </a:r>
                    </a:p>
                  </a:txBody>
                  <a:tcPr>
                    <a:solidFill>
                      <a:srgbClr val="F5F6FA"/>
                    </a:solidFill>
                  </a:tcPr>
                </a:tc>
              </a:tr>
              <a:tr h="457200">
                <a:tc>
                  <a:txBody>
                    <a:bodyPr/>
                    <a:lstStyle/>
                    <a:p>
                      <a:pPr algn="l">
                        <a:defRPr sz="1200">
                          <a:solidFill>
                            <a:srgbClr val="3D4455"/>
                          </a:solidFill>
                          <a:latin typeface="Calibri"/>
                        </a:defRPr>
                      </a:pPr>
                      <a:r>
                        <a:t>Heart Rate</a:t>
                      </a:r>
                    </a:p>
                  </a:txBody>
                  <a:tcPr>
                    <a:solidFill>
                      <a:srgbClr val="FFFFFF"/>
                    </a:solidFill>
                  </a:tcPr>
                </a:tc>
                <a:tc>
                  <a:txBody>
                    <a:bodyPr/>
                    <a:lstStyle/>
                    <a:p>
                      <a:pPr algn="l">
                        <a:defRPr sz="1200">
                          <a:solidFill>
                            <a:srgbClr val="3D4455"/>
                          </a:solidFill>
                          <a:latin typeface="Calibri"/>
                        </a:defRPr>
                      </a:pPr>
                      <a:r>
                        <a:t>&gt;2 SD above normal for age</a:t>
                      </a:r>
                    </a:p>
                  </a:txBody>
                  <a:tcPr>
                    <a:solidFill>
                      <a:srgbClr val="FFFFFF"/>
                    </a:solidFill>
                  </a:tcPr>
                </a:tc>
                <a:tc>
                  <a:txBody>
                    <a:bodyPr/>
                    <a:lstStyle/>
                    <a:p>
                      <a:pPr algn="l">
                        <a:defRPr sz="1200">
                          <a:solidFill>
                            <a:srgbClr val="3D4455"/>
                          </a:solidFill>
                          <a:latin typeface="Calibri"/>
                        </a:defRPr>
                      </a:pPr>
                      <a:r>
                        <a:t>See age-based HR table; or bradycardia if &lt;1 yr</a:t>
                      </a:r>
                    </a:p>
                  </a:txBody>
                  <a:tcPr>
                    <a:solidFill>
                      <a:srgbClr val="FFFFFF"/>
                    </a:solidFill>
                  </a:tcPr>
                </a:tc>
              </a:tr>
              <a:tr h="457200">
                <a:tc>
                  <a:txBody>
                    <a:bodyPr/>
                    <a:lstStyle/>
                    <a:p>
                      <a:pPr algn="l">
                        <a:defRPr sz="1200">
                          <a:solidFill>
                            <a:srgbClr val="3D4455"/>
                          </a:solidFill>
                          <a:latin typeface="Calibri"/>
                        </a:defRPr>
                      </a:pPr>
                      <a:r>
                        <a:t>Respiratory Rate</a:t>
                      </a:r>
                    </a:p>
                  </a:txBody>
                  <a:tcPr>
                    <a:solidFill>
                      <a:srgbClr val="F5F6FA"/>
                    </a:solidFill>
                  </a:tcPr>
                </a:tc>
                <a:tc>
                  <a:txBody>
                    <a:bodyPr/>
                    <a:lstStyle/>
                    <a:p>
                      <a:pPr algn="l">
                        <a:defRPr sz="1200">
                          <a:solidFill>
                            <a:srgbClr val="3D4455"/>
                          </a:solidFill>
                          <a:latin typeface="Calibri"/>
                        </a:defRPr>
                      </a:pPr>
                      <a:r>
                        <a:t>&gt;2 SD above normal for age</a:t>
                      </a:r>
                    </a:p>
                  </a:txBody>
                  <a:tcPr>
                    <a:solidFill>
                      <a:srgbClr val="F5F6FA"/>
                    </a:solidFill>
                  </a:tcPr>
                </a:tc>
                <a:tc>
                  <a:txBody>
                    <a:bodyPr/>
                    <a:lstStyle/>
                    <a:p>
                      <a:pPr algn="l">
                        <a:defRPr sz="1200">
                          <a:solidFill>
                            <a:srgbClr val="3D4455"/>
                          </a:solidFill>
                          <a:latin typeface="Calibri"/>
                        </a:defRPr>
                      </a:pPr>
                      <a:r>
                        <a:t>Or need for mechanical ventilation</a:t>
                      </a:r>
                    </a:p>
                  </a:txBody>
                  <a:tcPr>
                    <a:solidFill>
                      <a:srgbClr val="F5F6FA"/>
                    </a:solidFill>
                  </a:tcPr>
                </a:tc>
              </a:tr>
              <a:tr h="457200">
                <a:tc>
                  <a:txBody>
                    <a:bodyPr/>
                    <a:lstStyle/>
                    <a:p>
                      <a:pPr algn="l">
                        <a:defRPr sz="1200">
                          <a:solidFill>
                            <a:srgbClr val="3D4455"/>
                          </a:solidFill>
                          <a:latin typeface="Calibri"/>
                        </a:defRPr>
                      </a:pPr>
                      <a:r>
                        <a:t>WBC</a:t>
                      </a:r>
                    </a:p>
                  </a:txBody>
                  <a:tcPr>
                    <a:solidFill>
                      <a:srgbClr val="FFFFFF"/>
                    </a:solidFill>
                  </a:tcPr>
                </a:tc>
                <a:tc>
                  <a:txBody>
                    <a:bodyPr/>
                    <a:lstStyle/>
                    <a:p>
                      <a:pPr algn="l">
                        <a:defRPr sz="1200">
                          <a:solidFill>
                            <a:srgbClr val="3D4455"/>
                          </a:solidFill>
                          <a:latin typeface="Calibri"/>
                        </a:defRPr>
                      </a:pPr>
                      <a:r>
                        <a:t>Elevated or depressed for age</a:t>
                      </a:r>
                    </a:p>
                  </a:txBody>
                  <a:tcPr>
                    <a:solidFill>
                      <a:srgbClr val="FFFFFF"/>
                    </a:solidFill>
                  </a:tcPr>
                </a:tc>
                <a:tc>
                  <a:txBody>
                    <a:bodyPr/>
                    <a:lstStyle/>
                    <a:p>
                      <a:pPr algn="l">
                        <a:defRPr sz="1200">
                          <a:solidFill>
                            <a:srgbClr val="3D4455"/>
                          </a:solidFill>
                          <a:latin typeface="Calibri"/>
                        </a:defRPr>
                      </a:pPr>
                      <a:r>
                        <a:t>Or &gt;10% bands (immature forms)</a:t>
                      </a:r>
                    </a:p>
                  </a:txBody>
                  <a:tcPr>
                    <a:solidFill>
                      <a:srgbClr val="FFFFFF"/>
                    </a:solidFill>
                  </a:tcPr>
                </a:tc>
              </a:tr>
              <a:tr h="457200">
                <a:tc>
                  <a:txBody>
                    <a:bodyPr/>
                    <a:lstStyle/>
                    <a:p>
                      <a:pPr algn="l">
                        <a:defRPr sz="1200">
                          <a:solidFill>
                            <a:srgbClr val="3D4455"/>
                          </a:solidFill>
                          <a:latin typeface="Calibri"/>
                        </a:defRPr>
                      </a:pPr>
                      <a:r>
                        <a:t>SEPSIS</a:t>
                      </a:r>
                    </a:p>
                  </a:txBody>
                  <a:tcPr>
                    <a:solidFill>
                      <a:srgbClr val="F5F6FA"/>
                    </a:solidFill>
                  </a:tcPr>
                </a:tc>
                <a:tc>
                  <a:txBody>
                    <a:bodyPr/>
                    <a:lstStyle/>
                    <a:p>
                      <a:pPr algn="l">
                        <a:defRPr sz="1200">
                          <a:solidFill>
                            <a:srgbClr val="3D4455"/>
                          </a:solidFill>
                          <a:latin typeface="Calibri"/>
                        </a:defRPr>
                      </a:pPr>
                      <a:r>
                        <a:t>SIRS + suspected/confirmed infection</a:t>
                      </a:r>
                    </a:p>
                  </a:txBody>
                  <a:tcPr>
                    <a:solidFill>
                      <a:srgbClr val="F5F6FA"/>
                    </a:solidFill>
                  </a:tcPr>
                </a:tc>
                <a:tc>
                  <a:txBody>
                    <a:bodyPr/>
                    <a:lstStyle/>
                    <a:p>
                      <a:pPr algn="l">
                        <a:defRPr sz="1200">
                          <a:solidFill>
                            <a:srgbClr val="3D4455"/>
                          </a:solidFill>
                          <a:latin typeface="Calibri"/>
                        </a:defRPr>
                      </a:pPr>
                      <a:r>
                        <a:t>2 of 4 SIRS criteria required</a:t>
                      </a:r>
                    </a:p>
                  </a:txBody>
                  <a:tcPr>
                    <a:solidFill>
                      <a:srgbClr val="F5F6FA"/>
                    </a:solidFill>
                  </a:tcPr>
                </a:tc>
              </a:tr>
              <a:tr h="457200">
                <a:tc>
                  <a:txBody>
                    <a:bodyPr/>
                    <a:lstStyle/>
                    <a:p>
                      <a:pPr algn="l">
                        <a:defRPr sz="1200">
                          <a:solidFill>
                            <a:srgbClr val="3D4455"/>
                          </a:solidFill>
                          <a:latin typeface="Calibri"/>
                        </a:defRPr>
                      </a:pPr>
                      <a:r>
                        <a:t>SEVERE SEPSIS</a:t>
                      </a:r>
                    </a:p>
                  </a:txBody>
                  <a:tcPr>
                    <a:solidFill>
                      <a:srgbClr val="FFFFFF"/>
                    </a:solidFill>
                  </a:tcPr>
                </a:tc>
                <a:tc>
                  <a:txBody>
                    <a:bodyPr/>
                    <a:lstStyle/>
                    <a:p>
                      <a:pPr algn="l">
                        <a:defRPr sz="1200">
                          <a:solidFill>
                            <a:srgbClr val="3D4455"/>
                          </a:solidFill>
                          <a:latin typeface="Calibri"/>
                        </a:defRPr>
                      </a:pPr>
                      <a:r>
                        <a:t>Sepsis + organ dysfunction</a:t>
                      </a:r>
                    </a:p>
                  </a:txBody>
                  <a:tcPr>
                    <a:solidFill>
                      <a:srgbClr val="FFFFFF"/>
                    </a:solidFill>
                  </a:tcPr>
                </a:tc>
                <a:tc>
                  <a:txBody>
                    <a:bodyPr/>
                    <a:lstStyle/>
                    <a:p>
                      <a:pPr algn="l">
                        <a:defRPr sz="1200">
                          <a:solidFill>
                            <a:srgbClr val="3D4455"/>
                          </a:solidFill>
                          <a:latin typeface="Calibri"/>
                        </a:defRPr>
                      </a:pPr>
                      <a:r>
                        <a:t>CV, respiratory, neuro, renal, hepatic, heme</a:t>
                      </a:r>
                    </a:p>
                  </a:txBody>
                  <a:tcPr>
                    <a:solidFill>
                      <a:srgbClr val="FFFFFF"/>
                    </a:solidFill>
                  </a:tcPr>
                </a:tc>
              </a:tr>
              <a:tr h="457200">
                <a:tc>
                  <a:txBody>
                    <a:bodyPr/>
                    <a:lstStyle/>
                    <a:p>
                      <a:pPr algn="l">
                        <a:defRPr sz="1200">
                          <a:solidFill>
                            <a:srgbClr val="3D4455"/>
                          </a:solidFill>
                          <a:latin typeface="Calibri"/>
                        </a:defRPr>
                      </a:pPr>
                      <a:r>
                        <a:t>SEPTIC SHOCK</a:t>
                      </a:r>
                    </a:p>
                  </a:txBody>
                  <a:tcPr>
                    <a:solidFill>
                      <a:srgbClr val="F5F6FA"/>
                    </a:solidFill>
                  </a:tcPr>
                </a:tc>
                <a:tc>
                  <a:txBody>
                    <a:bodyPr/>
                    <a:lstStyle/>
                    <a:p>
                      <a:pPr algn="l">
                        <a:defRPr sz="1200">
                          <a:solidFill>
                            <a:srgbClr val="3D4455"/>
                          </a:solidFill>
                          <a:latin typeface="Calibri"/>
                        </a:defRPr>
                      </a:pPr>
                      <a:r>
                        <a:t>Sepsis + CV dysfunction</a:t>
                      </a:r>
                    </a:p>
                  </a:txBody>
                  <a:tcPr>
                    <a:solidFill>
                      <a:srgbClr val="F5F6FA"/>
                    </a:solidFill>
                  </a:tcPr>
                </a:tc>
                <a:tc>
                  <a:txBody>
                    <a:bodyPr/>
                    <a:lstStyle/>
                    <a:p>
                      <a:pPr algn="l">
                        <a:defRPr sz="1200">
                          <a:solidFill>
                            <a:srgbClr val="3D4455"/>
                          </a:solidFill>
                          <a:latin typeface="Calibri"/>
                        </a:defRPr>
                      </a:pPr>
                      <a:r>
                        <a:t>Despite ≥40 mL/kg fluid resuscitation</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Sepsis Bundle: First 60 Minutes</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0-5 min: Recognize sepsis → move to resus bay → apply monitors</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0-5 min: Establish IV/IO access → draw blood cultures + labs → CHECK GLUCOSE</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0-15 min: Start 20 mL/kg NS push → give empiric ANTIBIOTICS immediately</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15-30 min: Reassess → repeat 20 mL/kg if needed (up to 60 mL/kg)</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30-60 min: If fluid-refractory → START VASOPRESSORS (peripheral or IO ok to start)</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60 min: Reassess endpoints → admit PICU if vasoactive agents needed</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Empiric Antibiotic Selection by Age</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Age Group</a:t>
                      </a:r>
                    </a:p>
                  </a:txBody>
                  <a:tcPr>
                    <a:solidFill>
                      <a:srgbClr val="007B83"/>
                    </a:solidFill>
                  </a:tcPr>
                </a:tc>
                <a:tc>
                  <a:txBody>
                    <a:bodyPr/>
                    <a:lstStyle/>
                    <a:p>
                      <a:pPr algn="ctr">
                        <a:defRPr sz="1300" b="1">
                          <a:solidFill>
                            <a:srgbClr val="FFFFFF"/>
                          </a:solidFill>
                          <a:latin typeface="Calibri"/>
                        </a:defRPr>
                      </a:pPr>
                      <a:r>
                        <a:t>First-Line</a:t>
                      </a:r>
                    </a:p>
                  </a:txBody>
                  <a:tcPr>
                    <a:solidFill>
                      <a:srgbClr val="007B83"/>
                    </a:solidFill>
                  </a:tcPr>
                </a:tc>
                <a:tc>
                  <a:txBody>
                    <a:bodyPr/>
                    <a:lstStyle/>
                    <a:p>
                      <a:pPr algn="ctr">
                        <a:defRPr sz="1300" b="1">
                          <a:solidFill>
                            <a:srgbClr val="FFFFFF"/>
                          </a:solidFill>
                          <a:latin typeface="Calibri"/>
                        </a:defRPr>
                      </a:pPr>
                      <a:r>
                        <a:t>If Concern For</a:t>
                      </a:r>
                    </a:p>
                  </a:txBody>
                  <a:tcPr>
                    <a:solidFill>
                      <a:srgbClr val="007B83"/>
                    </a:solidFill>
                  </a:tcPr>
                </a:tc>
                <a:tc>
                  <a:txBody>
                    <a:bodyPr/>
                    <a:lstStyle/>
                    <a:p>
                      <a:pPr algn="ctr">
                        <a:defRPr sz="1300" b="1">
                          <a:solidFill>
                            <a:srgbClr val="FFFFFF"/>
                          </a:solidFill>
                          <a:latin typeface="Calibri"/>
                        </a:defRPr>
                      </a:pPr>
                      <a:r>
                        <a:t>Add</a:t>
                      </a:r>
                    </a:p>
                  </a:txBody>
                  <a:tcPr>
                    <a:solidFill>
                      <a:srgbClr val="007B83"/>
                    </a:solidFill>
                  </a:tcPr>
                </a:tc>
              </a:tr>
              <a:tr h="457200">
                <a:tc>
                  <a:txBody>
                    <a:bodyPr/>
                    <a:lstStyle/>
                    <a:p>
                      <a:pPr algn="l">
                        <a:defRPr sz="1200">
                          <a:solidFill>
                            <a:srgbClr val="3D4455"/>
                          </a:solidFill>
                          <a:latin typeface="Calibri"/>
                        </a:defRPr>
                      </a:pPr>
                      <a:r>
                        <a:t>0-28 days</a:t>
                      </a:r>
                    </a:p>
                  </a:txBody>
                  <a:tcPr>
                    <a:solidFill>
                      <a:srgbClr val="F5F6FA"/>
                    </a:solidFill>
                  </a:tcPr>
                </a:tc>
                <a:tc>
                  <a:txBody>
                    <a:bodyPr/>
                    <a:lstStyle/>
                    <a:p>
                      <a:pPr algn="l">
                        <a:defRPr sz="1200">
                          <a:solidFill>
                            <a:srgbClr val="3D4455"/>
                          </a:solidFill>
                          <a:latin typeface="Calibri"/>
                        </a:defRPr>
                      </a:pPr>
                      <a:r>
                        <a:t>Ampicillin + Gentamicin</a:t>
                      </a:r>
                    </a:p>
                  </a:txBody>
                  <a:tcPr>
                    <a:solidFill>
                      <a:srgbClr val="F5F6FA"/>
                    </a:solidFill>
                  </a:tcPr>
                </a:tc>
                <a:tc>
                  <a:txBody>
                    <a:bodyPr/>
                    <a:lstStyle/>
                    <a:p>
                      <a:pPr algn="l">
                        <a:defRPr sz="1200">
                          <a:solidFill>
                            <a:srgbClr val="3D4455"/>
                          </a:solidFill>
                          <a:latin typeface="Calibri"/>
                        </a:defRPr>
                      </a:pPr>
                      <a:r>
                        <a:t>HSV</a:t>
                      </a:r>
                    </a:p>
                  </a:txBody>
                  <a:tcPr>
                    <a:solidFill>
                      <a:srgbClr val="F5F6FA"/>
                    </a:solidFill>
                  </a:tcPr>
                </a:tc>
                <a:tc>
                  <a:txBody>
                    <a:bodyPr/>
                    <a:lstStyle/>
                    <a:p>
                      <a:pPr algn="l">
                        <a:defRPr sz="1200">
                          <a:solidFill>
                            <a:srgbClr val="3D4455"/>
                          </a:solidFill>
                          <a:latin typeface="Calibri"/>
                        </a:defRPr>
                      </a:pPr>
                      <a:r>
                        <a:t>Acyclovir 20 mg/kg IV q8h</a:t>
                      </a:r>
                    </a:p>
                  </a:txBody>
                  <a:tcPr>
                    <a:solidFill>
                      <a:srgbClr val="F5F6FA"/>
                    </a:solidFill>
                  </a:tcPr>
                </a:tc>
              </a:tr>
              <a:tr h="457200">
                <a:tc>
                  <a:txBody>
                    <a:bodyPr/>
                    <a:lstStyle/>
                    <a:p>
                      <a:pPr algn="l">
                        <a:defRPr sz="1200">
                          <a:solidFill>
                            <a:srgbClr val="3D4455"/>
                          </a:solidFill>
                          <a:latin typeface="Calibri"/>
                        </a:defRPr>
                      </a:pPr>
                      <a:r>
                        <a:t>29-60 days</a:t>
                      </a:r>
                    </a:p>
                  </a:txBody>
                  <a:tcPr>
                    <a:solidFill>
                      <a:srgbClr val="FFFFFF"/>
                    </a:solidFill>
                  </a:tcPr>
                </a:tc>
                <a:tc>
                  <a:txBody>
                    <a:bodyPr/>
                    <a:lstStyle/>
                    <a:p>
                      <a:pPr algn="l">
                        <a:defRPr sz="1200">
                          <a:solidFill>
                            <a:srgbClr val="3D4455"/>
                          </a:solidFill>
                          <a:latin typeface="Calibri"/>
                        </a:defRPr>
                      </a:pPr>
                      <a:r>
                        <a:t>Ampicillin + Cefotaxime (or Ceftriaxone if &gt;28d)</a:t>
                      </a:r>
                    </a:p>
                  </a:txBody>
                  <a:tcPr>
                    <a:solidFill>
                      <a:srgbClr val="FFFFFF"/>
                    </a:solidFill>
                  </a:tcPr>
                </a:tc>
                <a:tc>
                  <a:txBody>
                    <a:bodyPr/>
                    <a:lstStyle/>
                    <a:p>
                      <a:pPr algn="l">
                        <a:defRPr sz="1200">
                          <a:solidFill>
                            <a:srgbClr val="3D4455"/>
                          </a:solidFill>
                          <a:latin typeface="Calibri"/>
                        </a:defRPr>
                      </a:pPr>
                      <a:r>
                        <a:t>HSV, UTI source</a:t>
                      </a:r>
                    </a:p>
                  </a:txBody>
                  <a:tcPr>
                    <a:solidFill>
                      <a:srgbClr val="FFFFFF"/>
                    </a:solidFill>
                  </a:tcPr>
                </a:tc>
                <a:tc>
                  <a:txBody>
                    <a:bodyPr/>
                    <a:lstStyle/>
                    <a:p>
                      <a:pPr algn="l">
                        <a:defRPr sz="1200">
                          <a:solidFill>
                            <a:srgbClr val="3D4455"/>
                          </a:solidFill>
                          <a:latin typeface="Calibri"/>
                        </a:defRPr>
                      </a:pPr>
                      <a:r>
                        <a:t>Acyclovir if indicated</a:t>
                      </a:r>
                    </a:p>
                  </a:txBody>
                  <a:tcPr>
                    <a:solidFill>
                      <a:srgbClr val="FFFFFF"/>
                    </a:solidFill>
                  </a:tcPr>
                </a:tc>
              </a:tr>
              <a:tr h="457200">
                <a:tc>
                  <a:txBody>
                    <a:bodyPr/>
                    <a:lstStyle/>
                    <a:p>
                      <a:pPr algn="l">
                        <a:defRPr sz="1200">
                          <a:solidFill>
                            <a:srgbClr val="3D4455"/>
                          </a:solidFill>
                          <a:latin typeface="Calibri"/>
                        </a:defRPr>
                      </a:pPr>
                      <a:r>
                        <a:t>61 days - 3 years</a:t>
                      </a:r>
                    </a:p>
                  </a:txBody>
                  <a:tcPr>
                    <a:solidFill>
                      <a:srgbClr val="F5F6FA"/>
                    </a:solidFill>
                  </a:tcPr>
                </a:tc>
                <a:tc>
                  <a:txBody>
                    <a:bodyPr/>
                    <a:lstStyle/>
                    <a:p>
                      <a:pPr algn="l">
                        <a:defRPr sz="1200">
                          <a:solidFill>
                            <a:srgbClr val="3D4455"/>
                          </a:solidFill>
                          <a:latin typeface="Calibri"/>
                        </a:defRPr>
                      </a:pPr>
                      <a:r>
                        <a:t>Ceftriaxone 100 mg/kg (max 4g)</a:t>
                      </a:r>
                    </a:p>
                  </a:txBody>
                  <a:tcPr>
                    <a:solidFill>
                      <a:srgbClr val="F5F6FA"/>
                    </a:solidFill>
                  </a:tcPr>
                </a:tc>
                <a:tc>
                  <a:txBody>
                    <a:bodyPr/>
                    <a:lstStyle/>
                    <a:p>
                      <a:pPr algn="l">
                        <a:defRPr sz="1200">
                          <a:solidFill>
                            <a:srgbClr val="3D4455"/>
                          </a:solidFill>
                          <a:latin typeface="Calibri"/>
                        </a:defRPr>
                      </a:pPr>
                      <a:r>
                        <a:t>MRSA</a:t>
                      </a:r>
                    </a:p>
                  </a:txBody>
                  <a:tcPr>
                    <a:solidFill>
                      <a:srgbClr val="F5F6FA"/>
                    </a:solidFill>
                  </a:tcPr>
                </a:tc>
                <a:tc>
                  <a:txBody>
                    <a:bodyPr/>
                    <a:lstStyle/>
                    <a:p>
                      <a:pPr algn="l">
                        <a:defRPr sz="1200">
                          <a:solidFill>
                            <a:srgbClr val="3D4455"/>
                          </a:solidFill>
                          <a:latin typeface="Calibri"/>
                        </a:defRPr>
                      </a:pPr>
                      <a:r>
                        <a:t>Vancomycin 15 mg/kg</a:t>
                      </a:r>
                    </a:p>
                  </a:txBody>
                  <a:tcPr>
                    <a:solidFill>
                      <a:srgbClr val="F5F6FA"/>
                    </a:solidFill>
                  </a:tcPr>
                </a:tc>
              </a:tr>
              <a:tr h="457200">
                <a:tc>
                  <a:txBody>
                    <a:bodyPr/>
                    <a:lstStyle/>
                    <a:p>
                      <a:pPr algn="l">
                        <a:defRPr sz="1200">
                          <a:solidFill>
                            <a:srgbClr val="3D4455"/>
                          </a:solidFill>
                          <a:latin typeface="Calibri"/>
                        </a:defRPr>
                      </a:pPr>
                      <a:r>
                        <a:t>3-18 years</a:t>
                      </a:r>
                    </a:p>
                  </a:txBody>
                  <a:tcPr>
                    <a:solidFill>
                      <a:srgbClr val="FFFFFF"/>
                    </a:solidFill>
                  </a:tcPr>
                </a:tc>
                <a:tc>
                  <a:txBody>
                    <a:bodyPr/>
                    <a:lstStyle/>
                    <a:p>
                      <a:pPr algn="l">
                        <a:defRPr sz="1200">
                          <a:solidFill>
                            <a:srgbClr val="3D4455"/>
                          </a:solidFill>
                          <a:latin typeface="Calibri"/>
                        </a:defRPr>
                      </a:pPr>
                      <a:r>
                        <a:t>Ceftriaxone 100 mg/kg (max 4g)</a:t>
                      </a:r>
                    </a:p>
                  </a:txBody>
                  <a:tcPr>
                    <a:solidFill>
                      <a:srgbClr val="FFFFFF"/>
                    </a:solidFill>
                  </a:tcPr>
                </a:tc>
                <a:tc>
                  <a:txBody>
                    <a:bodyPr/>
                    <a:lstStyle/>
                    <a:p>
                      <a:pPr algn="l">
                        <a:defRPr sz="1200">
                          <a:solidFill>
                            <a:srgbClr val="3D4455"/>
                          </a:solidFill>
                          <a:latin typeface="Calibri"/>
                        </a:defRPr>
                      </a:pPr>
                      <a:r>
                        <a:t>MRSA, pseudomonal</a:t>
                      </a:r>
                    </a:p>
                  </a:txBody>
                  <a:tcPr>
                    <a:solidFill>
                      <a:srgbClr val="FFFFFF"/>
                    </a:solidFill>
                  </a:tcPr>
                </a:tc>
                <a:tc>
                  <a:txBody>
                    <a:bodyPr/>
                    <a:lstStyle/>
                    <a:p>
                      <a:pPr algn="l">
                        <a:defRPr sz="1200">
                          <a:solidFill>
                            <a:srgbClr val="3D4455"/>
                          </a:solidFill>
                          <a:latin typeface="Calibri"/>
                        </a:defRPr>
                      </a:pPr>
                      <a:r>
                        <a:t>Vancomycin ± piperacillin-tazobactam</a:t>
                      </a:r>
                    </a:p>
                  </a:txBody>
                  <a:tcPr>
                    <a:solidFill>
                      <a:srgbClr val="FFFFFF"/>
                    </a:solidFill>
                  </a:tcPr>
                </a:tc>
              </a:tr>
              <a:tr h="457200">
                <a:tc>
                  <a:txBody>
                    <a:bodyPr/>
                    <a:lstStyle/>
                    <a:p>
                      <a:pPr algn="l">
                        <a:defRPr sz="1200">
                          <a:solidFill>
                            <a:srgbClr val="3D4455"/>
                          </a:solidFill>
                          <a:latin typeface="Calibri"/>
                        </a:defRPr>
                      </a:pPr>
                      <a:r>
                        <a:t>Immunocompromised</a:t>
                      </a:r>
                    </a:p>
                  </a:txBody>
                  <a:tcPr>
                    <a:solidFill>
                      <a:srgbClr val="F5F6FA"/>
                    </a:solidFill>
                  </a:tcPr>
                </a:tc>
                <a:tc>
                  <a:txBody>
                    <a:bodyPr/>
                    <a:lstStyle/>
                    <a:p>
                      <a:pPr algn="l">
                        <a:defRPr sz="1200">
                          <a:solidFill>
                            <a:srgbClr val="3D4455"/>
                          </a:solidFill>
                          <a:latin typeface="Calibri"/>
                        </a:defRPr>
                      </a:pPr>
                      <a:r>
                        <a:t>Cefepime or meropenem</a:t>
                      </a:r>
                    </a:p>
                  </a:txBody>
                  <a:tcPr>
                    <a:solidFill>
                      <a:srgbClr val="F5F6FA"/>
                    </a:solidFill>
                  </a:tcPr>
                </a:tc>
                <a:tc>
                  <a:txBody>
                    <a:bodyPr/>
                    <a:lstStyle/>
                    <a:p>
                      <a:pPr algn="l">
                        <a:defRPr sz="1200">
                          <a:solidFill>
                            <a:srgbClr val="3D4455"/>
                          </a:solidFill>
                          <a:latin typeface="Calibri"/>
                        </a:defRPr>
                      </a:pPr>
                      <a:r>
                        <a:t>Fungal</a:t>
                      </a:r>
                    </a:p>
                  </a:txBody>
                  <a:tcPr>
                    <a:solidFill>
                      <a:srgbClr val="F5F6FA"/>
                    </a:solidFill>
                  </a:tcPr>
                </a:tc>
                <a:tc>
                  <a:txBody>
                    <a:bodyPr/>
                    <a:lstStyle/>
                    <a:p>
                      <a:pPr algn="l">
                        <a:defRPr sz="1200">
                          <a:solidFill>
                            <a:srgbClr val="3D4455"/>
                          </a:solidFill>
                          <a:latin typeface="Calibri"/>
                        </a:defRPr>
                      </a:pPr>
                      <a:r>
                        <a:t>Consider antifungals</a:t>
                      </a:r>
                    </a:p>
                  </a:txBody>
                  <a:tcPr>
                    <a:solidFill>
                      <a:srgbClr val="F5F6FA"/>
                    </a:solidFill>
                  </a:tcPr>
                </a:tc>
              </a:tr>
              <a:tr h="457200">
                <a:tc>
                  <a:txBody>
                    <a:bodyPr/>
                    <a:lstStyle/>
                    <a:p>
                      <a:pPr algn="l">
                        <a:defRPr sz="1200">
                          <a:solidFill>
                            <a:srgbClr val="3D4455"/>
                          </a:solidFill>
                          <a:latin typeface="Calibri"/>
                        </a:defRPr>
                      </a:pPr>
                      <a:r>
                        <a:t>Intra-abdominal</a:t>
                      </a:r>
                    </a:p>
                  </a:txBody>
                  <a:tcPr>
                    <a:solidFill>
                      <a:srgbClr val="FFFFFF"/>
                    </a:solidFill>
                  </a:tcPr>
                </a:tc>
                <a:tc>
                  <a:txBody>
                    <a:bodyPr/>
                    <a:lstStyle/>
                    <a:p>
                      <a:pPr algn="l">
                        <a:defRPr sz="1200">
                          <a:solidFill>
                            <a:srgbClr val="3D4455"/>
                          </a:solidFill>
                          <a:latin typeface="Calibri"/>
                        </a:defRPr>
                      </a:pPr>
                      <a:r>
                        <a:t>Piperacillin-tazobactam or meropenem</a:t>
                      </a:r>
                    </a:p>
                  </a:txBody>
                  <a:tcPr>
                    <a:solidFill>
                      <a:srgbClr val="FFFFFF"/>
                    </a:solidFill>
                  </a:tcPr>
                </a:tc>
                <a:tc>
                  <a:txBody>
                    <a:bodyPr/>
                    <a:lstStyle/>
                    <a:p>
                      <a:pPr algn="l">
                        <a:defRPr sz="1200">
                          <a:solidFill>
                            <a:srgbClr val="3D4455"/>
                          </a:solidFill>
                          <a:latin typeface="Calibri"/>
                        </a:defRPr>
                      </a:pPr>
                      <a:r>
                        <a:t>Anaerobes</a:t>
                      </a:r>
                    </a:p>
                  </a:txBody>
                  <a:tcPr>
                    <a:solidFill>
                      <a:srgbClr val="FFFFFF"/>
                    </a:solidFill>
                  </a:tcPr>
                </a:tc>
                <a:tc>
                  <a:txBody>
                    <a:bodyPr/>
                    <a:lstStyle/>
                    <a:p>
                      <a:pPr algn="l">
                        <a:defRPr sz="1200">
                          <a:solidFill>
                            <a:srgbClr val="3D4455"/>
                          </a:solidFill>
                          <a:latin typeface="Calibri"/>
                        </a:defRPr>
                      </a:pPr>
                      <a:r>
                        <a:t>Metronidazole if not covered</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Warm vs Cold Septic Shock Management</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WARM SHOCK</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Vasodilated: warm, flushed, bounding pulses</a:t>
            </a:r>
          </a:p>
          <a:p>
            <a:pPr>
              <a:spcAft>
                <a:spcPts val="500"/>
              </a:spcAft>
              <a:defRPr sz="1400">
                <a:solidFill>
                  <a:srgbClr val="3D4455"/>
                </a:solidFill>
                <a:latin typeface="Calibri"/>
              </a:defRPr>
            </a:pPr>
            <a:r>
              <a:t>Flash capillary refill</a:t>
            </a:r>
          </a:p>
          <a:p>
            <a:pPr>
              <a:spcAft>
                <a:spcPts val="500"/>
              </a:spcAft>
              <a:defRPr sz="1400">
                <a:solidFill>
                  <a:srgbClr val="3D4455"/>
                </a:solidFill>
                <a:latin typeface="Calibri"/>
              </a:defRPr>
            </a:pPr>
            <a:r>
              <a:t>Wide pulse pressure</a:t>
            </a:r>
          </a:p>
          <a:p>
            <a:pPr>
              <a:spcAft>
                <a:spcPts val="500"/>
              </a:spcAft>
              <a:defRPr sz="1400">
                <a:solidFill>
                  <a:srgbClr val="3D4455"/>
                </a:solidFill>
                <a:latin typeface="Calibri"/>
              </a:defRPr>
            </a:pPr>
            <a:r>
              <a:t>Often early presentation</a:t>
            </a:r>
          </a:p>
          <a:p>
            <a:pPr>
              <a:spcAft>
                <a:spcPts val="500"/>
              </a:spcAft>
              <a:defRPr sz="1400">
                <a:solidFill>
                  <a:srgbClr val="3D4455"/>
                </a:solidFill>
                <a:latin typeface="Calibri"/>
              </a:defRPr>
            </a:pPr>
            <a:r>
              <a:t>FIRST-LINE: Norepinephrine</a:t>
            </a:r>
          </a:p>
          <a:p>
            <a:pPr>
              <a:spcAft>
                <a:spcPts val="500"/>
              </a:spcAft>
              <a:defRPr sz="1400">
                <a:solidFill>
                  <a:srgbClr val="3D4455"/>
                </a:solidFill>
                <a:latin typeface="Calibri"/>
              </a:defRPr>
            </a:pPr>
            <a:r>
              <a:t>Start: 0.05 mcg/kg/min, titrate</a:t>
            </a:r>
          </a:p>
          <a:p>
            <a:pPr>
              <a:spcAft>
                <a:spcPts val="500"/>
              </a:spcAft>
              <a:defRPr sz="1400">
                <a:solidFill>
                  <a:srgbClr val="3D4455"/>
                </a:solidFill>
                <a:latin typeface="Calibri"/>
              </a:defRPr>
            </a:pPr>
            <a:r>
              <a:t>Goal: improve SVR</a:t>
            </a:r>
          </a:p>
          <a:p>
            <a:pPr>
              <a:spcAft>
                <a:spcPts val="500"/>
              </a:spcAft>
              <a:defRPr sz="1400">
                <a:solidFill>
                  <a:srgbClr val="3D4455"/>
                </a:solidFill>
                <a:latin typeface="Calibri"/>
              </a:defRPr>
            </a:pPr>
            <a:r>
              <a:t>If refractory: add vasopressin 0.0003-0.002 U/kg/min</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COLD SHOCK (More Common in Children)</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Vasoconstricted: cool, mottled, thready pulses</a:t>
            </a:r>
          </a:p>
          <a:p>
            <a:pPr>
              <a:spcAft>
                <a:spcPts val="500"/>
              </a:spcAft>
              <a:defRPr sz="1400">
                <a:solidFill>
                  <a:srgbClr val="3D4455"/>
                </a:solidFill>
                <a:latin typeface="Calibri"/>
              </a:defRPr>
            </a:pPr>
            <a:r>
              <a:t>Prolonged capillary refill &gt;3 sec</a:t>
            </a:r>
          </a:p>
          <a:p>
            <a:pPr>
              <a:spcAft>
                <a:spcPts val="500"/>
              </a:spcAft>
              <a:defRPr sz="1400">
                <a:solidFill>
                  <a:srgbClr val="3D4455"/>
                </a:solidFill>
                <a:latin typeface="Calibri"/>
              </a:defRPr>
            </a:pPr>
            <a:r>
              <a:t>Narrow pulse pressure</a:t>
            </a:r>
          </a:p>
          <a:p>
            <a:pPr>
              <a:spcAft>
                <a:spcPts val="500"/>
              </a:spcAft>
              <a:defRPr sz="1400">
                <a:solidFill>
                  <a:srgbClr val="3D4455"/>
                </a:solidFill>
                <a:latin typeface="Calibri"/>
              </a:defRPr>
            </a:pPr>
            <a:r>
              <a:t>More common pediatric presentation</a:t>
            </a:r>
          </a:p>
          <a:p>
            <a:pPr>
              <a:spcAft>
                <a:spcPts val="500"/>
              </a:spcAft>
              <a:defRPr sz="1400">
                <a:solidFill>
                  <a:srgbClr val="3D4455"/>
                </a:solidFill>
                <a:latin typeface="Calibri"/>
              </a:defRPr>
            </a:pPr>
            <a:r>
              <a:t>FIRST-LINE: Epinephrine</a:t>
            </a:r>
          </a:p>
          <a:p>
            <a:pPr>
              <a:spcAft>
                <a:spcPts val="500"/>
              </a:spcAft>
              <a:defRPr sz="1400">
                <a:solidFill>
                  <a:srgbClr val="3D4455"/>
                </a:solidFill>
                <a:latin typeface="Calibri"/>
              </a:defRPr>
            </a:pPr>
            <a:r>
              <a:t>Start: 0.05-0.1 mcg/kg/min, titrate</a:t>
            </a:r>
          </a:p>
          <a:p>
            <a:pPr>
              <a:spcAft>
                <a:spcPts val="500"/>
              </a:spcAft>
              <a:defRPr sz="1400">
                <a:solidFill>
                  <a:srgbClr val="3D4455"/>
                </a:solidFill>
                <a:latin typeface="Calibri"/>
              </a:defRPr>
            </a:pPr>
            <a:r>
              <a:t>Goal: improve cardiac output</a:t>
            </a:r>
          </a:p>
          <a:p>
            <a:pPr>
              <a:spcAft>
                <a:spcPts val="500"/>
              </a:spcAft>
              <a:defRPr sz="1400">
                <a:solidFill>
                  <a:srgbClr val="3D4455"/>
                </a:solidFill>
                <a:latin typeface="Calibri"/>
              </a:defRPr>
            </a:pPr>
            <a:r>
              <a:t>If refractory: add milrinone or dobutamine</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Fluid-Refractory Shock: When Fluids Aren't Enough</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Definition: shock persisting despite 40-60 mL/kg isotonic crystalloid</a:t>
            </a:r>
          </a:p>
          <a:p>
            <a:pPr>
              <a:spcBef>
                <a:spcPts val="400"/>
              </a:spcBef>
              <a:spcAft>
                <a:spcPts val="600"/>
              </a:spcAft>
              <a:defRPr sz="1600">
                <a:solidFill>
                  <a:srgbClr val="3D4455"/>
                </a:solidFill>
                <a:latin typeface="Calibri"/>
              </a:defRPr>
            </a:pPr>
            <a:r>
              <a:t>Occurs in approximately 30% of children with septic shock</a:t>
            </a:r>
          </a:p>
          <a:p>
            <a:pPr>
              <a:spcBef>
                <a:spcPts val="400"/>
              </a:spcBef>
              <a:spcAft>
                <a:spcPts val="600"/>
              </a:spcAft>
              <a:defRPr sz="1600">
                <a:solidFill>
                  <a:srgbClr val="3D4455"/>
                </a:solidFill>
                <a:latin typeface="Calibri"/>
              </a:defRPr>
            </a:pPr>
            <a:r>
              <a:t>START VASOPRESSORS — do not continue giving fluid boluses hoping they'll work</a:t>
            </a:r>
          </a:p>
          <a:p>
            <a:pPr>
              <a:spcBef>
                <a:spcPts val="400"/>
              </a:spcBef>
              <a:spcAft>
                <a:spcPts val="600"/>
              </a:spcAft>
              <a:defRPr sz="1600">
                <a:solidFill>
                  <a:srgbClr val="3D4455"/>
                </a:solidFill>
                <a:latin typeface="Calibri"/>
              </a:defRPr>
            </a:pPr>
            <a:r>
              <a:t>Can start epinephrine/norepinephrine through PERIPHERAL IV or IO</a:t>
            </a:r>
          </a:p>
          <a:p>
            <a:pPr lvl="1">
              <a:spcBef>
                <a:spcPts val="400"/>
              </a:spcBef>
              <a:spcAft>
                <a:spcPts val="600"/>
              </a:spcAft>
              <a:defRPr sz="1400">
                <a:solidFill>
                  <a:srgbClr val="8A92A3"/>
                </a:solidFill>
                <a:latin typeface="Calibri"/>
              </a:defRPr>
            </a:pPr>
            <a:r>
              <a:t>Peripheral vasopressor use is safe for short duration during stabilization</a:t>
            </a:r>
          </a:p>
          <a:p>
            <a:pPr>
              <a:spcBef>
                <a:spcPts val="400"/>
              </a:spcBef>
              <a:spcAft>
                <a:spcPts val="600"/>
              </a:spcAft>
              <a:defRPr sz="1600">
                <a:solidFill>
                  <a:srgbClr val="3D4455"/>
                </a:solidFill>
                <a:latin typeface="Calibri"/>
              </a:defRPr>
            </a:pPr>
            <a:r>
              <a:t>Obtain central venous access (femoral preferred in emergencies)</a:t>
            </a:r>
          </a:p>
          <a:p>
            <a:pPr>
              <a:spcBef>
                <a:spcPts val="400"/>
              </a:spcBef>
              <a:spcAft>
                <a:spcPts val="600"/>
              </a:spcAft>
              <a:defRPr sz="1600">
                <a:solidFill>
                  <a:srgbClr val="3D4455"/>
                </a:solidFill>
                <a:latin typeface="Calibri"/>
              </a:defRPr>
            </a:pPr>
            <a:r>
              <a:t>Consider bedside echo: assess cardiac function, IVC, pericardial effusion</a:t>
            </a:r>
          </a:p>
          <a:p>
            <a:pPr>
              <a:spcBef>
                <a:spcPts val="400"/>
              </a:spcBef>
              <a:spcAft>
                <a:spcPts val="600"/>
              </a:spcAft>
              <a:defRPr sz="1600">
                <a:solidFill>
                  <a:srgbClr val="3D4455"/>
                </a:solidFill>
                <a:latin typeface="Calibri"/>
              </a:defRPr>
            </a:pPr>
            <a:r>
              <a:t>Reassess for OTHER causes: tension pneumo, tamponade, adrenal crisis, toxin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Catecholamine-Resistant Shock</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Shock persisting despite epinephrine AND norepinephrine at adequate doses</a:t>
            </a:r>
          </a:p>
          <a:p>
            <a:pPr>
              <a:spcBef>
                <a:spcPts val="400"/>
              </a:spcBef>
              <a:spcAft>
                <a:spcPts val="600"/>
              </a:spcAft>
              <a:defRPr sz="1600">
                <a:solidFill>
                  <a:srgbClr val="3D4455"/>
                </a:solidFill>
                <a:latin typeface="Calibri"/>
              </a:defRPr>
            </a:pPr>
            <a:r>
              <a:t>Mortality rises significantly at this stage</a:t>
            </a:r>
          </a:p>
          <a:p>
            <a:pPr>
              <a:spcBef>
                <a:spcPts val="400"/>
              </a:spcBef>
              <a:spcAft>
                <a:spcPts val="600"/>
              </a:spcAft>
              <a:defRPr sz="1600">
                <a:solidFill>
                  <a:srgbClr val="3D4455"/>
                </a:solidFill>
                <a:latin typeface="Calibri"/>
              </a:defRPr>
            </a:pPr>
            <a:r>
              <a:t>Consider STRESS-DOSE HYDROCORTISONE:</a:t>
            </a:r>
          </a:p>
          <a:p>
            <a:pPr lvl="1">
              <a:spcBef>
                <a:spcPts val="400"/>
              </a:spcBef>
              <a:spcAft>
                <a:spcPts val="600"/>
              </a:spcAft>
              <a:defRPr sz="1400">
                <a:solidFill>
                  <a:srgbClr val="8A92A3"/>
                </a:solidFill>
                <a:latin typeface="Calibri"/>
              </a:defRPr>
            </a:pPr>
            <a:r>
              <a:t>Hydrocortisone 2 mg/kg IV bolus, then 2 mg/kg/day divided q6h</a:t>
            </a:r>
          </a:p>
          <a:p>
            <a:pPr lvl="1">
              <a:spcBef>
                <a:spcPts val="400"/>
              </a:spcBef>
              <a:spcAft>
                <a:spcPts val="600"/>
              </a:spcAft>
              <a:defRPr sz="1400">
                <a:solidFill>
                  <a:srgbClr val="8A92A3"/>
                </a:solidFill>
                <a:latin typeface="Calibri"/>
              </a:defRPr>
            </a:pPr>
            <a:r>
              <a:t>Indicated if suspected adrenal insufficiency, chronic steroid use, or purpura fulminans</a:t>
            </a:r>
          </a:p>
          <a:p>
            <a:pPr>
              <a:spcBef>
                <a:spcPts val="400"/>
              </a:spcBef>
              <a:spcAft>
                <a:spcPts val="600"/>
              </a:spcAft>
              <a:defRPr sz="1600">
                <a:solidFill>
                  <a:srgbClr val="3D4455"/>
                </a:solidFill>
                <a:latin typeface="Calibri"/>
              </a:defRPr>
            </a:pPr>
            <a:r>
              <a:t>Consider vasopressin 0.0003-0.002 U/kg/min as adjunct</a:t>
            </a:r>
          </a:p>
          <a:p>
            <a:pPr>
              <a:spcBef>
                <a:spcPts val="400"/>
              </a:spcBef>
              <a:spcAft>
                <a:spcPts val="600"/>
              </a:spcAft>
              <a:defRPr sz="1600">
                <a:solidFill>
                  <a:srgbClr val="3D4455"/>
                </a:solidFill>
                <a:latin typeface="Calibri"/>
              </a:defRPr>
            </a:pPr>
            <a:r>
              <a:t>Consider ECMO for refractory septic shock in centers with capability</a:t>
            </a:r>
          </a:p>
          <a:p>
            <a:pPr>
              <a:spcBef>
                <a:spcPts val="400"/>
              </a:spcBef>
              <a:spcAft>
                <a:spcPts val="600"/>
              </a:spcAft>
              <a:defRPr sz="1600">
                <a:solidFill>
                  <a:srgbClr val="3D4455"/>
                </a:solidFill>
                <a:latin typeface="Calibri"/>
              </a:defRPr>
            </a:pPr>
            <a:r>
              <a:t>Definitely in PICU at this point — this is ICU-level management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Laboratory Evaluation in Sepsis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BLOOD CULTURES: draw before antibiotics if possible — but do NOT delay antibiotics</a:t>
            </a:r>
          </a:p>
          <a:p>
            <a:pPr>
              <a:spcBef>
                <a:spcPts val="400"/>
              </a:spcBef>
              <a:spcAft>
                <a:spcPts val="600"/>
              </a:spcAft>
              <a:defRPr sz="1600">
                <a:solidFill>
                  <a:srgbClr val="3D4455"/>
                </a:solidFill>
                <a:latin typeface="Calibri"/>
              </a:defRPr>
            </a:pPr>
            <a:r>
              <a:t>LACTATE: point-of-care; &gt;2 = concerning, &gt;4 = severe tissue hypoperfusion</a:t>
            </a:r>
          </a:p>
          <a:p>
            <a:pPr>
              <a:spcBef>
                <a:spcPts val="400"/>
              </a:spcBef>
              <a:spcAft>
                <a:spcPts val="600"/>
              </a:spcAft>
              <a:defRPr sz="1600">
                <a:solidFill>
                  <a:srgbClr val="3D4455"/>
                </a:solidFill>
                <a:latin typeface="Calibri"/>
              </a:defRPr>
            </a:pPr>
            <a:r>
              <a:t>CBC: WBC extremes (high or low), left shift, thrombocytopenia (DIC marker)</a:t>
            </a:r>
          </a:p>
          <a:p>
            <a:pPr>
              <a:spcBef>
                <a:spcPts val="400"/>
              </a:spcBef>
              <a:spcAft>
                <a:spcPts val="600"/>
              </a:spcAft>
              <a:defRPr sz="1600">
                <a:solidFill>
                  <a:srgbClr val="3D4455"/>
                </a:solidFill>
                <a:latin typeface="Calibri"/>
              </a:defRPr>
            </a:pPr>
            <a:r>
              <a:t>CMP: renal function, electrolytes, glucose, liver enzymes</a:t>
            </a:r>
          </a:p>
          <a:p>
            <a:pPr>
              <a:spcBef>
                <a:spcPts val="400"/>
              </a:spcBef>
              <a:spcAft>
                <a:spcPts val="600"/>
              </a:spcAft>
              <a:defRPr sz="1600">
                <a:solidFill>
                  <a:srgbClr val="3D4455"/>
                </a:solidFill>
                <a:latin typeface="Calibri"/>
              </a:defRPr>
            </a:pPr>
            <a:r>
              <a:t>COAGULATION: PT/INR, fibrinogen — DIC screening</a:t>
            </a:r>
          </a:p>
          <a:p>
            <a:pPr>
              <a:spcBef>
                <a:spcPts val="400"/>
              </a:spcBef>
              <a:spcAft>
                <a:spcPts val="600"/>
              </a:spcAft>
              <a:defRPr sz="1600">
                <a:solidFill>
                  <a:srgbClr val="3D4455"/>
                </a:solidFill>
                <a:latin typeface="Calibri"/>
              </a:defRPr>
            </a:pPr>
            <a:r>
              <a:t>PROCALCITONIN: &gt;0.5 ng/mL supports bacterial infection; rising trend ominous</a:t>
            </a:r>
          </a:p>
          <a:p>
            <a:pPr>
              <a:spcBef>
                <a:spcPts val="400"/>
              </a:spcBef>
              <a:spcAft>
                <a:spcPts val="600"/>
              </a:spcAft>
              <a:defRPr sz="1600">
                <a:solidFill>
                  <a:srgbClr val="3D4455"/>
                </a:solidFill>
                <a:latin typeface="Calibri"/>
              </a:defRPr>
            </a:pPr>
            <a:r>
              <a:t>BLOOD GAS: metabolic acidosis (base deficit), respiratory compensation</a:t>
            </a:r>
          </a:p>
          <a:p>
            <a:pPr>
              <a:spcBef>
                <a:spcPts val="400"/>
              </a:spcBef>
              <a:spcAft>
                <a:spcPts val="600"/>
              </a:spcAft>
              <a:defRPr sz="1600">
                <a:solidFill>
                  <a:srgbClr val="3D4455"/>
                </a:solidFill>
                <a:latin typeface="Calibri"/>
              </a:defRPr>
            </a:pPr>
            <a:r>
              <a:t>URINALYSIS + CULTURE: UTI is a common source in young children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Every hour of antibiotic delay increases sepsis mortality by ~8%.</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Draw cultures and give antibiotics simultaneously. Do not delay antibiotics for the LP in a sick-appearing child. The LP can wait; the antibiotics cannot.</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6-Week-Old with Fever and Poor Feeding</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6-week-old presents to the ED with a rectal temperature of 38.8°C, poor feeding for 12 hours, and "just not acting right." Mom reports one less wet diaper than usual. On exam: HR 195, RR 52, BP 62/38, SpO2 97%, cap refill 4 seconds, mottled trunk and extremities, lethargic but rousable. Weight 4.5 kg.</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is your immediate assessment? (Decompensated septic shock in a young infant)</a:t>
            </a:r>
          </a:p>
          <a:p>
            <a:pPr>
              <a:spcAft>
                <a:spcPts val="600"/>
              </a:spcAft>
              <a:defRPr sz="1400" b="1">
                <a:solidFill>
                  <a:srgbClr val="007B83"/>
                </a:solidFill>
                <a:latin typeface="Calibri"/>
              </a:defRPr>
            </a:pPr>
            <a:r>
              <a:t>▸  First 5 minutes? (IV/IO, glucose check, 20 mL/kg NS = 90 mL push, labs + cultures)</a:t>
            </a:r>
          </a:p>
          <a:p>
            <a:pPr>
              <a:spcAft>
                <a:spcPts val="600"/>
              </a:spcAft>
              <a:defRPr sz="1400" b="1">
                <a:solidFill>
                  <a:srgbClr val="007B83"/>
                </a:solidFill>
                <a:latin typeface="Calibri"/>
              </a:defRPr>
            </a:pPr>
            <a:r>
              <a:t>▸  Antibiotic choice? (Ampicillin 50 mg/kg + Cefotaxime 50 mg/kg + Acyclovir 20 mg/kg)</a:t>
            </a:r>
          </a:p>
          <a:p>
            <a:pPr>
              <a:spcAft>
                <a:spcPts val="600"/>
              </a:spcAft>
              <a:defRPr sz="1400" b="1">
                <a:solidFill>
                  <a:srgbClr val="007B83"/>
                </a:solidFill>
                <a:latin typeface="Calibri"/>
              </a:defRPr>
            </a:pPr>
            <a:r>
              <a:t>▸  Why acyclovir? (HSV must be covered in febrile neonates with sepsis-like presentation)</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Sepsis Management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Missing compensated septic shock — tachycardia + poor perfusion + normal BP = SHOCK</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Delaying antibiotics for LP, cultures, or "the right antibiotic" — just give them NOW</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Giving inadequate fluid volumes — many providers stop at 20-40 mL/kg too early</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Not starting vasopressors when fluid-refractory — pressors save lives</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to cover HSV in neonates (acyclovir with ampicillin + cefotaxime)</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Not repeating lactate to monitor clearance — trending is more useful than a single value</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Discharging a child who "looks better" after fluid bolus without adequate observation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Sepsis is a TIME-CRITICAL emergency — antibiotics and fluids within 60 minutes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Most children with septic shock present with COLD shock — epinephrine is first-line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Fluid-refractory shock needs vasopressors — do not keep bolusing past 60 mL/kg</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Cover HSV with acyclovir in all neonates and young infants with sepsis</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Reassess continuously — sepsis management is an iterative process, not a single intervention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Weiss SL, et al. Surviving Sepsis Campaign International Guidelines for the Management of Septic Shock and Sepsis-Associated Organ Dysfunction in Children. Pediatr Crit Care Med. 2020;21(2):e52-e106.</a:t>
            </a:r>
          </a:p>
          <a:p>
            <a:pPr>
              <a:spcAft>
                <a:spcPts val="400"/>
              </a:spcAft>
              <a:defRPr sz="1100">
                <a:solidFill>
                  <a:srgbClr val="3D4455"/>
                </a:solidFill>
                <a:latin typeface="Calibri"/>
              </a:defRPr>
            </a:pPr>
            <a:r>
              <a:t>2. Davis AL, Carcillo JA, et al. ACCM Clinical Practice Parameters for Hemodynamic Support of Pediatric and Neonatal Septic Shock. Crit Care Med. 2017;45(6):1061-1093.</a:t>
            </a:r>
          </a:p>
          <a:p>
            <a:pPr>
              <a:spcAft>
                <a:spcPts val="400"/>
              </a:spcAft>
              <a:defRPr sz="1100">
                <a:solidFill>
                  <a:srgbClr val="3D4455"/>
                </a:solidFill>
                <a:latin typeface="Calibri"/>
              </a:defRPr>
            </a:pPr>
            <a:r>
              <a:t>3. Schlapbach LJ, et al. International consensus criteria for pediatric sepsis and septic shock (Phoenix). JAMA. 2024;331(8):665-674.</a:t>
            </a:r>
          </a:p>
          <a:p>
            <a:pPr>
              <a:spcAft>
                <a:spcPts val="400"/>
              </a:spcAft>
              <a:defRPr sz="1100">
                <a:solidFill>
                  <a:srgbClr val="3D4455"/>
                </a:solidFill>
                <a:latin typeface="Calibri"/>
              </a:defRPr>
            </a:pPr>
            <a:r>
              <a:t>4. Paul R, et al. Improving adherence to PALS septic shock guidelines. Pediatrics. 2014;133(5):e1358-e1366.</a:t>
            </a:r>
          </a:p>
          <a:p>
            <a:pPr>
              <a:spcAft>
                <a:spcPts val="400"/>
              </a:spcAft>
              <a:defRPr sz="1100">
                <a:solidFill>
                  <a:srgbClr val="3D4455"/>
                </a:solidFill>
                <a:latin typeface="Calibri"/>
              </a:defRPr>
            </a:pPr>
            <a:r>
              <a:t>5. Evans IVR, et al. Association between the NY sepsis care mandate and in-hospital mortality. JAMA. 2018;320(4):358-367.</a:t>
            </a:r>
          </a:p>
          <a:p>
            <a:pPr>
              <a:spcAft>
                <a:spcPts val="400"/>
              </a:spcAft>
              <a:defRPr sz="1100">
                <a:solidFill>
                  <a:srgbClr val="3D4455"/>
                </a:solidFill>
                <a:latin typeface="Calibri"/>
              </a:defRPr>
            </a:pPr>
            <a:r>
              <a:t>6. Kumar A, et al. Duration of hypotension before initiation of effective antimicrobial therapy is the critical determinant of survival. Crit Care Med. 2006;34(6):1589-1596.</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Sepsis &amp; Septic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