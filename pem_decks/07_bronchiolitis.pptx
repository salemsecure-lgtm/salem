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Bronchiolitis fills pediatric EDs every winter. It is a clinical diagnosis — no testing needed in the typical presentation. The key teaching point is that this is a disease of small airways with mucus plugging and edema, and the management is fundamentally supportive.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teaching slide for bronchiolitis. The AAP 2014 guideline and subsequent evidence are clear: bronchiolitis management is about what you DON'T do. Avoid the temptation of a "trial of albuterol" — it doesn't work, it leads to unnecessary admissions, and it creates false expectations for parents.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message of evidence-based bronchiolitis management. Every unnecessary intervention adds cost, prolongs stay, and potentially causes harm. A trial of albuterol that shows a transient response often leads to admission for "reactive airway disease" when the child actually just has bronchiolitis.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Franklin trial changed practice worldwide. HFNC is not just supplemental oxygen — it provides positive pressure support and improves ventilation efficiency. Start early in moderate-severe cases. If FiO2 needs keep rising or the child is not improving at 60-90 minutes, consider escalation to CPAP or PICU consultation.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Apnea is the most dangerous complication of bronchiolitis in young infants. It can occur early in the illness, sometimes before other symptoms develop. Always ask parents about pauses in breathing, color changes, or episodes requiring stimulation. An infant &lt;2 months with bronchiolitis warrants admission even if they look well.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Disposition is the hardest decision in bronchiolitis. The SpO2 threshold of 90% (not 94%) for admission reflects evidence that brief desaturations to 90% are clinically insignificant. Use the whole clinical picture — a well-feeding infant with transient desaturations to 91-92% may be safe for discharge with close follow-up.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hits multiple high-risk features: young age, prematurity, and witnessed apnea. This child absolutely needs admission with continuous monitoring. The RSV test confirms the diagnosis but doesn't change management. The temptation to "do something" with albuterol should be resisted — it will not help and may falsely reassure.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CXR pitfall is evidence-based: routine CXR in bronchiolitis leads to antibiotic prescriptions 25% of the time for findings that are not bacterial. The SpO2 target change from 94% to 90% reflects evidence that oxygen saturation monitoring drives hospitalization without improving outcomes.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07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Bronchiolitis:</a:t>
            </a:r>
            <a:br/>
            <a:r>
              <a:t>Evidence-Based ED Management</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Supporting What Works, Avoiding What Doesn't, and Risk-Stratifying for Disposition</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Diagnose bronchiolitis clinically without routine testing</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Apply evidence-based management: suctioning, hydration, oxygen support</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Identify interventions that do NOT work and should be avoided</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Risk-stratify for admission vs safe discharge</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Recognize high-risk populations: young infants, apnea, prematurity</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Bronchiolitis: The Most Common Lower Respiratory Infection in Infants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Affects children &lt;2 years; peak incidence 2-6 months</a:t>
            </a:r>
          </a:p>
          <a:p>
            <a:pPr>
              <a:spcBef>
                <a:spcPts val="400"/>
              </a:spcBef>
              <a:spcAft>
                <a:spcPts val="600"/>
              </a:spcAft>
              <a:defRPr sz="1600">
                <a:solidFill>
                  <a:srgbClr val="3D4455"/>
                </a:solidFill>
                <a:latin typeface="Calibri"/>
              </a:defRPr>
            </a:pPr>
            <a:r>
              <a:t>RSV causes ~70% of cases; also rhinovirus, metapneumovirus, adenovirus, parainfluenza</a:t>
            </a:r>
          </a:p>
          <a:p>
            <a:pPr>
              <a:spcBef>
                <a:spcPts val="400"/>
              </a:spcBef>
              <a:spcAft>
                <a:spcPts val="600"/>
              </a:spcAft>
              <a:defRPr sz="1600">
                <a:solidFill>
                  <a:srgbClr val="3D4455"/>
                </a:solidFill>
                <a:latin typeface="Calibri"/>
              </a:defRPr>
            </a:pPr>
            <a:r>
              <a:t>Seasonal: November-March in Northern Hemisphere (RSV season)</a:t>
            </a:r>
          </a:p>
          <a:p>
            <a:pPr>
              <a:spcBef>
                <a:spcPts val="400"/>
              </a:spcBef>
              <a:spcAft>
                <a:spcPts val="600"/>
              </a:spcAft>
              <a:defRPr sz="1600">
                <a:solidFill>
                  <a:srgbClr val="3D4455"/>
                </a:solidFill>
                <a:latin typeface="Calibri"/>
              </a:defRPr>
            </a:pPr>
            <a:r>
              <a:t>Accounts for ~100,000 hospitalizations/year in the US</a:t>
            </a:r>
          </a:p>
          <a:p>
            <a:pPr lvl="1">
              <a:spcBef>
                <a:spcPts val="400"/>
              </a:spcBef>
              <a:spcAft>
                <a:spcPts val="600"/>
              </a:spcAft>
              <a:defRPr sz="1400">
                <a:solidFill>
                  <a:srgbClr val="8A92A3"/>
                </a:solidFill>
                <a:latin typeface="Calibri"/>
              </a:defRPr>
            </a:pPr>
            <a:r>
              <a:t>Leading cause of hospitalization in infants &lt;1 year</a:t>
            </a:r>
          </a:p>
          <a:p>
            <a:pPr>
              <a:spcBef>
                <a:spcPts val="400"/>
              </a:spcBef>
              <a:spcAft>
                <a:spcPts val="600"/>
              </a:spcAft>
              <a:defRPr sz="1600">
                <a:solidFill>
                  <a:srgbClr val="3D4455"/>
                </a:solidFill>
                <a:latin typeface="Calibri"/>
              </a:defRPr>
            </a:pPr>
            <a:r>
              <a:t>Self-limited: typical course 7-10 days, peak symptoms day 3-5</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What Works vs What Doesn't in Bronchiolitis</a:t>
            </a:r>
          </a:p>
        </p:txBody>
      </p:sp>
      <p:graphicFrame>
        <p:nvGraphicFramePr>
          <p:cNvPr id="5" name="Table 4"/>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Intervention</a:t>
                      </a:r>
                    </a:p>
                  </a:txBody>
                  <a:tcPr>
                    <a:solidFill>
                      <a:srgbClr val="007B83"/>
                    </a:solidFill>
                  </a:tcPr>
                </a:tc>
                <a:tc>
                  <a:txBody>
                    <a:bodyPr/>
                    <a:lstStyle/>
                    <a:p>
                      <a:pPr algn="ctr">
                        <a:defRPr sz="1300" b="1">
                          <a:solidFill>
                            <a:srgbClr val="FFFFFF"/>
                          </a:solidFill>
                          <a:latin typeface="Calibri"/>
                        </a:defRPr>
                      </a:pPr>
                      <a:r>
                        <a:t>Evidence</a:t>
                      </a:r>
                    </a:p>
                  </a:txBody>
                  <a:tcPr>
                    <a:solidFill>
                      <a:srgbClr val="007B83"/>
                    </a:solidFill>
                  </a:tcPr>
                </a:tc>
                <a:tc>
                  <a:txBody>
                    <a:bodyPr/>
                    <a:lstStyle/>
                    <a:p>
                      <a:pPr algn="ctr">
                        <a:defRPr sz="1300" b="1">
                          <a:solidFill>
                            <a:srgbClr val="FFFFFF"/>
                          </a:solidFill>
                          <a:latin typeface="Calibri"/>
                        </a:defRPr>
                      </a:pPr>
                      <a:r>
                        <a:t>Recommendation</a:t>
                      </a:r>
                    </a:p>
                  </a:txBody>
                  <a:tcPr>
                    <a:solidFill>
                      <a:srgbClr val="007B83"/>
                    </a:solidFill>
                  </a:tcPr>
                </a:tc>
              </a:tr>
              <a:tr h="457200">
                <a:tc>
                  <a:txBody>
                    <a:bodyPr/>
                    <a:lstStyle/>
                    <a:p>
                      <a:pPr algn="l">
                        <a:defRPr sz="1200">
                          <a:solidFill>
                            <a:srgbClr val="3D4455"/>
                          </a:solidFill>
                          <a:latin typeface="Calibri"/>
                        </a:defRPr>
                      </a:pPr>
                      <a:r>
                        <a:t>Nasal suctioning</a:t>
                      </a:r>
                    </a:p>
                  </a:txBody>
                  <a:tcPr>
                    <a:solidFill>
                      <a:srgbClr val="F5F6FA"/>
                    </a:solidFill>
                  </a:tcPr>
                </a:tc>
                <a:tc>
                  <a:txBody>
                    <a:bodyPr/>
                    <a:lstStyle/>
                    <a:p>
                      <a:pPr algn="l">
                        <a:defRPr sz="1200">
                          <a:solidFill>
                            <a:srgbClr val="3D4455"/>
                          </a:solidFill>
                          <a:latin typeface="Calibri"/>
                        </a:defRPr>
                      </a:pPr>
                      <a:r>
                        <a:t>Improves feeding and comfort</a:t>
                      </a:r>
                    </a:p>
                  </a:txBody>
                  <a:tcPr>
                    <a:solidFill>
                      <a:srgbClr val="F5F6FA"/>
                    </a:solidFill>
                  </a:tcPr>
                </a:tc>
                <a:tc>
                  <a:txBody>
                    <a:bodyPr/>
                    <a:lstStyle/>
                    <a:p>
                      <a:pPr algn="l">
                        <a:defRPr sz="1200">
                          <a:solidFill>
                            <a:srgbClr val="3D4455"/>
                          </a:solidFill>
                          <a:latin typeface="Calibri"/>
                        </a:defRPr>
                      </a:pPr>
                      <a:r>
                        <a:t>YES — first-line, before feeds and sleep</a:t>
                      </a:r>
                    </a:p>
                  </a:txBody>
                  <a:tcPr>
                    <a:solidFill>
                      <a:srgbClr val="F5F6FA"/>
                    </a:solidFill>
                  </a:tcPr>
                </a:tc>
              </a:tr>
              <a:tr h="457200">
                <a:tc>
                  <a:txBody>
                    <a:bodyPr/>
                    <a:lstStyle/>
                    <a:p>
                      <a:pPr algn="l">
                        <a:defRPr sz="1200">
                          <a:solidFill>
                            <a:srgbClr val="3D4455"/>
                          </a:solidFill>
                          <a:latin typeface="Calibri"/>
                        </a:defRPr>
                      </a:pPr>
                      <a:r>
                        <a:t>Supplemental O2</a:t>
                      </a:r>
                    </a:p>
                  </a:txBody>
                  <a:tcPr>
                    <a:solidFill>
                      <a:srgbClr val="FFFFFF"/>
                    </a:solidFill>
                  </a:tcPr>
                </a:tc>
                <a:tc>
                  <a:txBody>
                    <a:bodyPr/>
                    <a:lstStyle/>
                    <a:p>
                      <a:pPr algn="l">
                        <a:defRPr sz="1200">
                          <a:solidFill>
                            <a:srgbClr val="3D4455"/>
                          </a:solidFill>
                          <a:latin typeface="Calibri"/>
                        </a:defRPr>
                      </a:pPr>
                      <a:r>
                        <a:t>Maintains SpO2 ≥90%</a:t>
                      </a:r>
                    </a:p>
                  </a:txBody>
                  <a:tcPr>
                    <a:solidFill>
                      <a:srgbClr val="FFFFFF"/>
                    </a:solidFill>
                  </a:tcPr>
                </a:tc>
                <a:tc>
                  <a:txBody>
                    <a:bodyPr/>
                    <a:lstStyle/>
                    <a:p>
                      <a:pPr algn="l">
                        <a:defRPr sz="1200">
                          <a:solidFill>
                            <a:srgbClr val="3D4455"/>
                          </a:solidFill>
                          <a:latin typeface="Calibri"/>
                        </a:defRPr>
                      </a:pPr>
                      <a:r>
                        <a:t>YES — wean as tolerated; target ≥90%</a:t>
                      </a:r>
                    </a:p>
                  </a:txBody>
                  <a:tcPr>
                    <a:solidFill>
                      <a:srgbClr val="FFFFFF"/>
                    </a:solidFill>
                  </a:tcPr>
                </a:tc>
              </a:tr>
              <a:tr h="457200">
                <a:tc>
                  <a:txBody>
                    <a:bodyPr/>
                    <a:lstStyle/>
                    <a:p>
                      <a:pPr algn="l">
                        <a:defRPr sz="1200">
                          <a:solidFill>
                            <a:srgbClr val="3D4455"/>
                          </a:solidFill>
                          <a:latin typeface="Calibri"/>
                        </a:defRPr>
                      </a:pPr>
                      <a:r>
                        <a:t>HFNC</a:t>
                      </a:r>
                    </a:p>
                  </a:txBody>
                  <a:tcPr>
                    <a:solidFill>
                      <a:srgbClr val="F5F6FA"/>
                    </a:solidFill>
                  </a:tcPr>
                </a:tc>
                <a:tc>
                  <a:txBody>
                    <a:bodyPr/>
                    <a:lstStyle/>
                    <a:p>
                      <a:pPr algn="l">
                        <a:defRPr sz="1200">
                          <a:solidFill>
                            <a:srgbClr val="3D4455"/>
                          </a:solidFill>
                          <a:latin typeface="Calibri"/>
                        </a:defRPr>
                      </a:pPr>
                      <a:r>
                        <a:t>Reduces intubation rates (Franklin 2018)</a:t>
                      </a:r>
                    </a:p>
                  </a:txBody>
                  <a:tcPr>
                    <a:solidFill>
                      <a:srgbClr val="F5F6FA"/>
                    </a:solidFill>
                  </a:tcPr>
                </a:tc>
                <a:tc>
                  <a:txBody>
                    <a:bodyPr/>
                    <a:lstStyle/>
                    <a:p>
                      <a:pPr algn="l">
                        <a:defRPr sz="1200">
                          <a:solidFill>
                            <a:srgbClr val="3D4455"/>
                          </a:solidFill>
                          <a:latin typeface="Calibri"/>
                        </a:defRPr>
                      </a:pPr>
                      <a:r>
                        <a:t>YES — for moderate-severe cases</a:t>
                      </a:r>
                    </a:p>
                  </a:txBody>
                  <a:tcPr>
                    <a:solidFill>
                      <a:srgbClr val="F5F6FA"/>
                    </a:solidFill>
                  </a:tcPr>
                </a:tc>
              </a:tr>
              <a:tr h="457200">
                <a:tc>
                  <a:txBody>
                    <a:bodyPr/>
                    <a:lstStyle/>
                    <a:p>
                      <a:pPr algn="l">
                        <a:defRPr sz="1200">
                          <a:solidFill>
                            <a:srgbClr val="3D4455"/>
                          </a:solidFill>
                          <a:latin typeface="Calibri"/>
                        </a:defRPr>
                      </a:pPr>
                      <a:r>
                        <a:t>IV/NG hydration</a:t>
                      </a:r>
                    </a:p>
                  </a:txBody>
                  <a:tcPr>
                    <a:solidFill>
                      <a:srgbClr val="FFFFFF"/>
                    </a:solidFill>
                  </a:tcPr>
                </a:tc>
                <a:tc>
                  <a:txBody>
                    <a:bodyPr/>
                    <a:lstStyle/>
                    <a:p>
                      <a:pPr algn="l">
                        <a:defRPr sz="1200">
                          <a:solidFill>
                            <a:srgbClr val="3D4455"/>
                          </a:solidFill>
                          <a:latin typeface="Calibri"/>
                        </a:defRPr>
                      </a:pPr>
                      <a:r>
                        <a:t>Prevents dehydration when PO fails</a:t>
                      </a:r>
                    </a:p>
                  </a:txBody>
                  <a:tcPr>
                    <a:solidFill>
                      <a:srgbClr val="FFFFFF"/>
                    </a:solidFill>
                  </a:tcPr>
                </a:tc>
                <a:tc>
                  <a:txBody>
                    <a:bodyPr/>
                    <a:lstStyle/>
                    <a:p>
                      <a:pPr algn="l">
                        <a:defRPr sz="1200">
                          <a:solidFill>
                            <a:srgbClr val="3D4455"/>
                          </a:solidFill>
                          <a:latin typeface="Calibri"/>
                        </a:defRPr>
                      </a:pPr>
                      <a:r>
                        <a:t>YES — when unable to feed adequately</a:t>
                      </a:r>
                    </a:p>
                  </a:txBody>
                  <a:tcPr>
                    <a:solidFill>
                      <a:srgbClr val="FFFFFF"/>
                    </a:solidFill>
                  </a:tcPr>
                </a:tc>
              </a:tr>
              <a:tr h="457200">
                <a:tc>
                  <a:txBody>
                    <a:bodyPr/>
                    <a:lstStyle/>
                    <a:p>
                      <a:pPr algn="l">
                        <a:defRPr sz="1200">
                          <a:solidFill>
                            <a:srgbClr val="3D4455"/>
                          </a:solidFill>
                          <a:latin typeface="Calibri"/>
                        </a:defRPr>
                      </a:pPr>
                      <a:r>
                        <a:t>Albuterol/salbutamol</a:t>
                      </a:r>
                    </a:p>
                  </a:txBody>
                  <a:tcPr>
                    <a:solidFill>
                      <a:srgbClr val="F5F6FA"/>
                    </a:solidFill>
                  </a:tcPr>
                </a:tc>
                <a:tc>
                  <a:txBody>
                    <a:bodyPr/>
                    <a:lstStyle/>
                    <a:p>
                      <a:pPr algn="l">
                        <a:defRPr sz="1200">
                          <a:solidFill>
                            <a:srgbClr val="3D4455"/>
                          </a:solidFill>
                          <a:latin typeface="Calibri"/>
                        </a:defRPr>
                      </a:pPr>
                      <a:r>
                        <a:t>No benefit in RCTs</a:t>
                      </a:r>
                    </a:p>
                  </a:txBody>
                  <a:tcPr>
                    <a:solidFill>
                      <a:srgbClr val="F5F6FA"/>
                    </a:solidFill>
                  </a:tcPr>
                </a:tc>
                <a:tc>
                  <a:txBody>
                    <a:bodyPr/>
                    <a:lstStyle/>
                    <a:p>
                      <a:pPr algn="l">
                        <a:defRPr sz="1200">
                          <a:solidFill>
                            <a:srgbClr val="3D4455"/>
                          </a:solidFill>
                          <a:latin typeface="Calibri"/>
                        </a:defRPr>
                      </a:pPr>
                      <a:r>
                        <a:t>NO — do not use routinely</a:t>
                      </a:r>
                    </a:p>
                  </a:txBody>
                  <a:tcPr>
                    <a:solidFill>
                      <a:srgbClr val="F5F6FA"/>
                    </a:solidFill>
                  </a:tcPr>
                </a:tc>
              </a:tr>
              <a:tr h="457200">
                <a:tc>
                  <a:txBody>
                    <a:bodyPr/>
                    <a:lstStyle/>
                    <a:p>
                      <a:pPr algn="l">
                        <a:defRPr sz="1200">
                          <a:solidFill>
                            <a:srgbClr val="3D4455"/>
                          </a:solidFill>
                          <a:latin typeface="Calibri"/>
                        </a:defRPr>
                      </a:pPr>
                      <a:r>
                        <a:t>Systemic corticosteroids</a:t>
                      </a:r>
                    </a:p>
                  </a:txBody>
                  <a:tcPr>
                    <a:solidFill>
                      <a:srgbClr val="FFFFFF"/>
                    </a:solidFill>
                  </a:tcPr>
                </a:tc>
                <a:tc>
                  <a:txBody>
                    <a:bodyPr/>
                    <a:lstStyle/>
                    <a:p>
                      <a:pPr algn="l">
                        <a:defRPr sz="1200">
                          <a:solidFill>
                            <a:srgbClr val="3D4455"/>
                          </a:solidFill>
                          <a:latin typeface="Calibri"/>
                        </a:defRPr>
                      </a:pPr>
                      <a:r>
                        <a:t>No benefit; potential harm</a:t>
                      </a:r>
                    </a:p>
                  </a:txBody>
                  <a:tcPr>
                    <a:solidFill>
                      <a:srgbClr val="FFFFFF"/>
                    </a:solidFill>
                  </a:tcPr>
                </a:tc>
                <a:tc>
                  <a:txBody>
                    <a:bodyPr/>
                    <a:lstStyle/>
                    <a:p>
                      <a:pPr algn="l">
                        <a:defRPr sz="1200">
                          <a:solidFill>
                            <a:srgbClr val="3D4455"/>
                          </a:solidFill>
                          <a:latin typeface="Calibri"/>
                        </a:defRPr>
                      </a:pPr>
                      <a:r>
                        <a:t>NO — not indicated</a:t>
                      </a:r>
                    </a:p>
                  </a:txBody>
                  <a:tcPr>
                    <a:solidFill>
                      <a:srgbClr val="FFFFFF"/>
                    </a:solidFill>
                  </a:tcPr>
                </a:tc>
              </a:tr>
              <a:tr h="457200">
                <a:tc>
                  <a:txBody>
                    <a:bodyPr/>
                    <a:lstStyle/>
                    <a:p>
                      <a:pPr algn="l">
                        <a:defRPr sz="1200">
                          <a:solidFill>
                            <a:srgbClr val="3D4455"/>
                          </a:solidFill>
                          <a:latin typeface="Calibri"/>
                        </a:defRPr>
                      </a:pPr>
                      <a:r>
                        <a:t>Antibiotics</a:t>
                      </a:r>
                    </a:p>
                  </a:txBody>
                  <a:tcPr>
                    <a:solidFill>
                      <a:srgbClr val="F5F6FA"/>
                    </a:solidFill>
                  </a:tcPr>
                </a:tc>
                <a:tc>
                  <a:txBody>
                    <a:bodyPr/>
                    <a:lstStyle/>
                    <a:p>
                      <a:pPr algn="l">
                        <a:defRPr sz="1200">
                          <a:solidFill>
                            <a:srgbClr val="3D4455"/>
                          </a:solidFill>
                          <a:latin typeface="Calibri"/>
                        </a:defRPr>
                      </a:pPr>
                      <a:r>
                        <a:t>No benefit unless secondary infection</a:t>
                      </a:r>
                    </a:p>
                  </a:txBody>
                  <a:tcPr>
                    <a:solidFill>
                      <a:srgbClr val="F5F6FA"/>
                    </a:solidFill>
                  </a:tcPr>
                </a:tc>
                <a:tc>
                  <a:txBody>
                    <a:bodyPr/>
                    <a:lstStyle/>
                    <a:p>
                      <a:pPr algn="l">
                        <a:defRPr sz="1200">
                          <a:solidFill>
                            <a:srgbClr val="3D4455"/>
                          </a:solidFill>
                          <a:latin typeface="Calibri"/>
                        </a:defRPr>
                      </a:pPr>
                      <a:r>
                        <a:t>NO — viral disease</a:t>
                      </a:r>
                    </a:p>
                  </a:txBody>
                  <a:tcPr>
                    <a:solidFill>
                      <a:srgbClr val="F5F6FA"/>
                    </a:solidFill>
                  </a:tcPr>
                </a:tc>
              </a:tr>
              <a:tr h="457200">
                <a:tc>
                  <a:txBody>
                    <a:bodyPr/>
                    <a:lstStyle/>
                    <a:p>
                      <a:pPr algn="l">
                        <a:defRPr sz="1200">
                          <a:solidFill>
                            <a:srgbClr val="3D4455"/>
                          </a:solidFill>
                          <a:latin typeface="Calibri"/>
                        </a:defRPr>
                      </a:pPr>
                      <a:r>
                        <a:t>Chest physiotherapy</a:t>
                      </a:r>
                    </a:p>
                  </a:txBody>
                  <a:tcPr>
                    <a:solidFill>
                      <a:srgbClr val="FFFFFF"/>
                    </a:solidFill>
                  </a:tcPr>
                </a:tc>
                <a:tc>
                  <a:txBody>
                    <a:bodyPr/>
                    <a:lstStyle/>
                    <a:p>
                      <a:pPr algn="l">
                        <a:defRPr sz="1200">
                          <a:solidFill>
                            <a:srgbClr val="3D4455"/>
                          </a:solidFill>
                          <a:latin typeface="Calibri"/>
                        </a:defRPr>
                      </a:pPr>
                      <a:r>
                        <a:t>No benefit</a:t>
                      </a:r>
                    </a:p>
                  </a:txBody>
                  <a:tcPr>
                    <a:solidFill>
                      <a:srgbClr val="FFFFFF"/>
                    </a:solidFill>
                  </a:tcPr>
                </a:tc>
                <a:tc>
                  <a:txBody>
                    <a:bodyPr/>
                    <a:lstStyle/>
                    <a:p>
                      <a:pPr algn="l">
                        <a:defRPr sz="1200">
                          <a:solidFill>
                            <a:srgbClr val="3D4455"/>
                          </a:solidFill>
                          <a:latin typeface="Calibri"/>
                        </a:defRPr>
                      </a:pPr>
                      <a:r>
                        <a:t>NO — not recommended</a:t>
                      </a:r>
                    </a:p>
                  </a:txBody>
                  <a:tcPr>
                    <a:solidFill>
                      <a:srgbClr val="FFFFFF"/>
                    </a:solidFill>
                  </a:tcPr>
                </a:tc>
              </a:tr>
              <a:tr h="457200">
                <a:tc>
                  <a:txBody>
                    <a:bodyPr/>
                    <a:lstStyle/>
                    <a:p>
                      <a:pPr algn="l">
                        <a:defRPr sz="1200">
                          <a:solidFill>
                            <a:srgbClr val="3D4455"/>
                          </a:solidFill>
                          <a:latin typeface="Calibri"/>
                        </a:defRPr>
                      </a:pPr>
                      <a:r>
                        <a:t>Hypertonic saline</a:t>
                      </a:r>
                    </a:p>
                  </a:txBody>
                  <a:tcPr>
                    <a:solidFill>
                      <a:srgbClr val="F5F6FA"/>
                    </a:solidFill>
                  </a:tcPr>
                </a:tc>
                <a:tc>
                  <a:txBody>
                    <a:bodyPr/>
                    <a:lstStyle/>
                    <a:p>
                      <a:pPr algn="l">
                        <a:defRPr sz="1200">
                          <a:solidFill>
                            <a:srgbClr val="3D4455"/>
                          </a:solidFill>
                          <a:latin typeface="Calibri"/>
                        </a:defRPr>
                      </a:pPr>
                      <a:r>
                        <a:t>May help inpatient; no ED benefit</a:t>
                      </a:r>
                    </a:p>
                  </a:txBody>
                  <a:tcPr>
                    <a:solidFill>
                      <a:srgbClr val="F5F6FA"/>
                    </a:solidFill>
                  </a:tcPr>
                </a:tc>
                <a:tc>
                  <a:txBody>
                    <a:bodyPr/>
                    <a:lstStyle/>
                    <a:p>
                      <a:pPr algn="l">
                        <a:defRPr sz="1200">
                          <a:solidFill>
                            <a:srgbClr val="3D4455"/>
                          </a:solidFill>
                          <a:latin typeface="Calibri"/>
                        </a:defRPr>
                      </a:pPr>
                      <a:r>
                        <a:t>NOT in ED — possibly inpatient</a:t>
                      </a:r>
                    </a:p>
                  </a:txBody>
                  <a:tcPr>
                    <a:solidFill>
                      <a:srgbClr val="F5F6FA"/>
                    </a:solidFill>
                  </a:tcPr>
                </a:tc>
              </a:tr>
              <a:tr h="457200">
                <a:tc>
                  <a:txBody>
                    <a:bodyPr/>
                    <a:lstStyle/>
                    <a:p>
                      <a:pPr algn="l">
                        <a:defRPr sz="1200">
                          <a:solidFill>
                            <a:srgbClr val="3D4455"/>
                          </a:solidFill>
                          <a:latin typeface="Calibri"/>
                        </a:defRPr>
                      </a:pPr>
                      <a:r>
                        <a:t>Epinephrine nebs</a:t>
                      </a:r>
                    </a:p>
                  </a:txBody>
                  <a:tcPr>
                    <a:solidFill>
                      <a:srgbClr val="FFFFFF"/>
                    </a:solidFill>
                  </a:tcPr>
                </a:tc>
                <a:tc>
                  <a:txBody>
                    <a:bodyPr/>
                    <a:lstStyle/>
                    <a:p>
                      <a:pPr algn="l">
                        <a:defRPr sz="1200">
                          <a:solidFill>
                            <a:srgbClr val="3D4455"/>
                          </a:solidFill>
                          <a:latin typeface="Calibri"/>
                        </a:defRPr>
                      </a:pPr>
                      <a:r>
                        <a:t>Transient effect; no admission reduction</a:t>
                      </a:r>
                    </a:p>
                  </a:txBody>
                  <a:tcPr>
                    <a:solidFill>
                      <a:srgbClr val="FFFFFF"/>
                    </a:solidFill>
                  </a:tcPr>
                </a:tc>
                <a:tc>
                  <a:txBody>
                    <a:bodyPr/>
                    <a:lstStyle/>
                    <a:p>
                      <a:pPr algn="l">
                        <a:defRPr sz="1200">
                          <a:solidFill>
                            <a:srgbClr val="3D4455"/>
                          </a:solidFill>
                          <a:latin typeface="Calibri"/>
                        </a:defRPr>
                      </a:pPr>
                      <a:r>
                        <a:t>NOT recommended routinely</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CLINICAL PEARL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Bronchiolitis management is about what you DON'T do.</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Avoid routine CXR, labs, albuterol trials, steroids, and antibiotics. Focus on suctioning, hydration, oxygen support, and reassurance. Less is more.</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HFNC in Bronchiolitis — The Evidence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Franklin et al., NEJM 2018: HFNC reduced escalation of care (treatment failure) vs standard O2</a:t>
            </a:r>
          </a:p>
          <a:p>
            <a:pPr>
              <a:spcBef>
                <a:spcPts val="400"/>
              </a:spcBef>
              <a:spcAft>
                <a:spcPts val="600"/>
              </a:spcAft>
              <a:defRPr sz="1600">
                <a:solidFill>
                  <a:srgbClr val="3D4455"/>
                </a:solidFill>
                <a:latin typeface="Calibri"/>
              </a:defRPr>
            </a:pPr>
            <a:r>
              <a:t>Starting flow: 2 L/kg/min; FiO2 titrated to SpO2 ≥92%</a:t>
            </a:r>
          </a:p>
          <a:p>
            <a:pPr>
              <a:spcBef>
                <a:spcPts val="400"/>
              </a:spcBef>
              <a:spcAft>
                <a:spcPts val="600"/>
              </a:spcAft>
              <a:defRPr sz="1600">
                <a:solidFill>
                  <a:srgbClr val="3D4455"/>
                </a:solidFill>
                <a:latin typeface="Calibri"/>
              </a:defRPr>
            </a:pPr>
            <a:r>
              <a:t>Provides CPAP effect (2-5 cmH2O), dead space washout, humidification</a:t>
            </a:r>
          </a:p>
          <a:p>
            <a:pPr>
              <a:spcBef>
                <a:spcPts val="400"/>
              </a:spcBef>
              <a:spcAft>
                <a:spcPts val="600"/>
              </a:spcAft>
              <a:defRPr sz="1600">
                <a:solidFill>
                  <a:srgbClr val="3D4455"/>
                </a:solidFill>
                <a:latin typeface="Calibri"/>
              </a:defRPr>
            </a:pPr>
            <a:r>
              <a:t>Well-tolerated in infants; can improve feeding</a:t>
            </a:r>
          </a:p>
          <a:p>
            <a:pPr>
              <a:spcBef>
                <a:spcPts val="400"/>
              </a:spcBef>
              <a:spcAft>
                <a:spcPts val="600"/>
              </a:spcAft>
              <a:defRPr sz="1600">
                <a:solidFill>
                  <a:srgbClr val="3D4455"/>
                </a:solidFill>
                <a:latin typeface="Calibri"/>
              </a:defRPr>
            </a:pPr>
            <a:r>
              <a:t>Escalation criteria if HFNC failing: rising FiO2 &gt;0.5, persistent tachypnea, apnea</a:t>
            </a:r>
          </a:p>
          <a:p>
            <a:pPr lvl="1">
              <a:spcBef>
                <a:spcPts val="400"/>
              </a:spcBef>
              <a:spcAft>
                <a:spcPts val="600"/>
              </a:spcAft>
              <a:defRPr sz="1400">
                <a:solidFill>
                  <a:srgbClr val="8A92A3"/>
                </a:solidFill>
                <a:latin typeface="Calibri"/>
              </a:defRPr>
            </a:pPr>
            <a:r>
              <a:t>HFNC is now standard of care for moderate-severe bronchiolitis in most PEDs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Apnea Risk in Young Infants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Apnea occurs in 1-5% of infants hospitalized with bronchiolitis</a:t>
            </a:r>
          </a:p>
          <a:p>
            <a:pPr>
              <a:spcBef>
                <a:spcPts val="400"/>
              </a:spcBef>
              <a:spcAft>
                <a:spcPts val="600"/>
              </a:spcAft>
              <a:defRPr sz="1600">
                <a:solidFill>
                  <a:srgbClr val="3D4455"/>
                </a:solidFill>
                <a:latin typeface="Calibri"/>
              </a:defRPr>
            </a:pPr>
            <a:r>
              <a:t>Risk factors: age &lt;2 months, history of prematurity (&lt;37 weeks), history of apnea of prematurity</a:t>
            </a:r>
          </a:p>
          <a:p>
            <a:pPr>
              <a:spcBef>
                <a:spcPts val="400"/>
              </a:spcBef>
              <a:spcAft>
                <a:spcPts val="600"/>
              </a:spcAft>
              <a:defRPr sz="1600">
                <a:solidFill>
                  <a:srgbClr val="3D4455"/>
                </a:solidFill>
                <a:latin typeface="Calibri"/>
              </a:defRPr>
            </a:pPr>
            <a:r>
              <a:t>Apnea may be the PRESENTING symptom — before respiratory distress develops</a:t>
            </a:r>
          </a:p>
          <a:p>
            <a:pPr>
              <a:spcBef>
                <a:spcPts val="400"/>
              </a:spcBef>
              <a:spcAft>
                <a:spcPts val="600"/>
              </a:spcAft>
              <a:defRPr sz="1600">
                <a:solidFill>
                  <a:srgbClr val="3D4455"/>
                </a:solidFill>
                <a:latin typeface="Calibri"/>
              </a:defRPr>
            </a:pPr>
            <a:r>
              <a:t>All infants with bronchiolitis-associated apnea require admission for monitoring</a:t>
            </a:r>
          </a:p>
          <a:p>
            <a:pPr>
              <a:spcBef>
                <a:spcPts val="400"/>
              </a:spcBef>
              <a:spcAft>
                <a:spcPts val="600"/>
              </a:spcAft>
              <a:defRPr sz="1600">
                <a:solidFill>
                  <a:srgbClr val="3D4455"/>
                </a:solidFill>
                <a:latin typeface="Calibri"/>
              </a:defRPr>
            </a:pPr>
            <a:r>
              <a:t>Apnea typically resolves as the illness progresses</a:t>
            </a:r>
          </a:p>
          <a:p>
            <a:pPr lvl="1">
              <a:spcBef>
                <a:spcPts val="400"/>
              </a:spcBef>
              <a:spcAft>
                <a:spcPts val="600"/>
              </a:spcAft>
              <a:defRPr sz="1400">
                <a:solidFill>
                  <a:srgbClr val="8A92A3"/>
                </a:solidFill>
                <a:latin typeface="Calibri"/>
              </a:defRPr>
            </a:pPr>
            <a:r>
              <a:t>Ask about apnea/pauses in EVERY young infant with bronchiolitis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Admission vs Discharge Decision</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ADMIT (Cannot Safely Discharge)</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Age &lt;4-6 weeks</a:t>
            </a:r>
          </a:p>
          <a:p>
            <a:pPr>
              <a:spcAft>
                <a:spcPts val="500"/>
              </a:spcAft>
              <a:defRPr sz="1400">
                <a:solidFill>
                  <a:srgbClr val="3D4455"/>
                </a:solidFill>
                <a:latin typeface="Calibri"/>
              </a:defRPr>
            </a:pPr>
            <a:r>
              <a:t>History of apnea with this illness</a:t>
            </a:r>
          </a:p>
          <a:p>
            <a:pPr>
              <a:spcAft>
                <a:spcPts val="500"/>
              </a:spcAft>
              <a:defRPr sz="1400">
                <a:solidFill>
                  <a:srgbClr val="3D4455"/>
                </a:solidFill>
                <a:latin typeface="Calibri"/>
              </a:defRPr>
            </a:pPr>
            <a:r>
              <a:t>Persistent SpO2 &lt;90% on room air</a:t>
            </a:r>
          </a:p>
          <a:p>
            <a:pPr>
              <a:spcAft>
                <a:spcPts val="500"/>
              </a:spcAft>
              <a:defRPr sz="1400">
                <a:solidFill>
                  <a:srgbClr val="3D4455"/>
                </a:solidFill>
                <a:latin typeface="Calibri"/>
              </a:defRPr>
            </a:pPr>
            <a:r>
              <a:t>Unable to maintain hydration (poor feeding)</a:t>
            </a:r>
          </a:p>
          <a:p>
            <a:pPr>
              <a:spcAft>
                <a:spcPts val="500"/>
              </a:spcAft>
              <a:defRPr sz="1400">
                <a:solidFill>
                  <a:srgbClr val="3D4455"/>
                </a:solidFill>
                <a:latin typeface="Calibri"/>
              </a:defRPr>
            </a:pPr>
            <a:r>
              <a:t>Moderate-severe respiratory distress at ED discharge</a:t>
            </a:r>
          </a:p>
          <a:p>
            <a:pPr>
              <a:spcAft>
                <a:spcPts val="500"/>
              </a:spcAft>
              <a:defRPr sz="1400">
                <a:solidFill>
                  <a:srgbClr val="3D4455"/>
                </a:solidFill>
                <a:latin typeface="Calibri"/>
              </a:defRPr>
            </a:pPr>
            <a:r>
              <a:t>Significant prematurity (&lt;32 weeks)</a:t>
            </a:r>
          </a:p>
          <a:p>
            <a:pPr>
              <a:spcAft>
                <a:spcPts val="500"/>
              </a:spcAft>
              <a:defRPr sz="1400">
                <a:solidFill>
                  <a:srgbClr val="3D4455"/>
                </a:solidFill>
                <a:latin typeface="Calibri"/>
              </a:defRPr>
            </a:pPr>
            <a:r>
              <a:t>Hemodynamically significant CHD</a:t>
            </a:r>
          </a:p>
          <a:p>
            <a:pPr>
              <a:spcAft>
                <a:spcPts val="500"/>
              </a:spcAft>
              <a:defRPr sz="1400">
                <a:solidFill>
                  <a:srgbClr val="3D4455"/>
                </a:solidFill>
                <a:latin typeface="Calibri"/>
              </a:defRPr>
            </a:pPr>
            <a:r>
              <a:t>Immunodeficiency</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DISCHARGE (With Precautions)</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Age &gt;2-3 months without risk factors</a:t>
            </a:r>
          </a:p>
          <a:p>
            <a:pPr>
              <a:spcAft>
                <a:spcPts val="500"/>
              </a:spcAft>
              <a:defRPr sz="1400">
                <a:solidFill>
                  <a:srgbClr val="3D4455"/>
                </a:solidFill>
                <a:latin typeface="Calibri"/>
              </a:defRPr>
            </a:pPr>
            <a:r>
              <a:t>SpO2 ≥90% on room air consistently</a:t>
            </a:r>
          </a:p>
          <a:p>
            <a:pPr>
              <a:spcAft>
                <a:spcPts val="500"/>
              </a:spcAft>
              <a:defRPr sz="1400">
                <a:solidFill>
                  <a:srgbClr val="3D4455"/>
                </a:solidFill>
                <a:latin typeface="Calibri"/>
              </a:defRPr>
            </a:pPr>
            <a:r>
              <a:t>Feeding adequately (&gt;50% of normal)</a:t>
            </a:r>
          </a:p>
          <a:p>
            <a:pPr>
              <a:spcAft>
                <a:spcPts val="500"/>
              </a:spcAft>
              <a:defRPr sz="1400">
                <a:solidFill>
                  <a:srgbClr val="3D4455"/>
                </a:solidFill>
                <a:latin typeface="Calibri"/>
              </a:defRPr>
            </a:pPr>
            <a:r>
              <a:t>Respiratory distress mild-moderate and stable/improving</a:t>
            </a:r>
          </a:p>
          <a:p>
            <a:pPr>
              <a:spcAft>
                <a:spcPts val="500"/>
              </a:spcAft>
              <a:defRPr sz="1400">
                <a:solidFill>
                  <a:srgbClr val="3D4455"/>
                </a:solidFill>
                <a:latin typeface="Calibri"/>
              </a:defRPr>
            </a:pPr>
            <a:r>
              <a:t>Reliable caregivers with return precautions</a:t>
            </a:r>
          </a:p>
          <a:p>
            <a:pPr>
              <a:spcAft>
                <a:spcPts val="500"/>
              </a:spcAft>
              <a:defRPr sz="1400">
                <a:solidFill>
                  <a:srgbClr val="3D4455"/>
                </a:solidFill>
                <a:latin typeface="Calibri"/>
              </a:defRPr>
            </a:pPr>
            <a:r>
              <a:t>Follow-up within 24-48 hours arranged</a:t>
            </a:r>
          </a:p>
          <a:p>
            <a:pPr>
              <a:spcAft>
                <a:spcPts val="500"/>
              </a:spcAft>
              <a:defRPr sz="1400">
                <a:solidFill>
                  <a:srgbClr val="3D4455"/>
                </a:solidFill>
                <a:latin typeface="Calibri"/>
              </a:defRPr>
            </a:pPr>
            <a:r>
              <a:t>Adequate home suctioning available</a:t>
            </a:r>
          </a:p>
          <a:p>
            <a:pPr>
              <a:spcAft>
                <a:spcPts val="500"/>
              </a:spcAft>
              <a:defRPr sz="1400">
                <a:solidFill>
                  <a:srgbClr val="3D4455"/>
                </a:solidFill>
                <a:latin typeface="Calibri"/>
              </a:defRPr>
            </a:pPr>
            <a:r>
              <a:t>No apnea observed during ED stay</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6-Week-Old with RSV and an Apnea Episode</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6-week-old (ex-36 week preterm) presents with 2 days of congestion and cough. Mom reports one episode today where the baby "stopped breathing and turned blue" for ~15 seconds, then self-resolved with stimulation. On arrival: mild subcostal retractions, audible congestion, SpO2 95% on RA, HR 155, RR 48, Temp 38.2°C. Nasal aspirate positive for RSV.</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Does this child need admission? (Absolutely — apnea + young age + prematurity = multiple risk factors)</a:t>
            </a:r>
          </a:p>
          <a:p>
            <a:pPr>
              <a:spcAft>
                <a:spcPts val="600"/>
              </a:spcAft>
              <a:defRPr sz="1400" b="1">
                <a:solidFill>
                  <a:srgbClr val="007B83"/>
                </a:solidFill>
                <a:latin typeface="Calibri"/>
              </a:defRPr>
            </a:pPr>
            <a:r>
              <a:t>▸  What monitoring is needed? (Continuous cardiorespiratory monitoring, pulse oximetry)</a:t>
            </a:r>
          </a:p>
          <a:p>
            <a:pPr>
              <a:spcAft>
                <a:spcPts val="600"/>
              </a:spcAft>
              <a:defRPr sz="1400" b="1">
                <a:solidFill>
                  <a:srgbClr val="007B83"/>
                </a:solidFill>
                <a:latin typeface="Calibri"/>
              </a:defRPr>
            </a:pPr>
            <a:r>
              <a:t>▸  Would you start albuterol? (No — no evidence of benefit in bronchiolitis)</a:t>
            </a:r>
          </a:p>
          <a:p>
            <a:pPr>
              <a:spcAft>
                <a:spcPts val="600"/>
              </a:spcAft>
              <a:defRPr sz="1400" b="1">
                <a:solidFill>
                  <a:srgbClr val="007B83"/>
                </a:solidFill>
                <a:latin typeface="Calibri"/>
              </a:defRPr>
            </a:pPr>
            <a:r>
              <a:t>▸  When can this child be discharged? (24-48 hours apnea-free, feeding well, SpO2 stable)</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Bronchiolitis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Ordering routine CXR — leads to unnecessary antibiotic prescriptions for atelectasis read as "infiltrate"</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"Trial of albuterol" — creates expectation, doesn't change outcomes, may lead to inappropriate admission</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Prescribing steroids — not effective and may prolong viral shedding</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Using SpO2 threshold of 94% instead of 90% — leads to unnecessary admissions</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Missing apnea in young infants — always ask about pauses and color changes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Diagnosing "reactive airway disease" in a 3-month-old — this is bronchiolitis</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educating parents on natural course (7-10 days, peak day 3-5) — leads to bounce-backs</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Bronchiolitis is a clinical diagnosis — routine CXR, labs, and viral testing are unnecessary</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Evidence-based management: suctioning, hydration, O2 (target SpO2 ≥90%), and HFNC if needed</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Do NOT give albuterol, steroids, or antibiotics — they do not work</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Young infants (&lt;6 weeks), premature infants, and those with apnea are highest risk — admit</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Educate parents: peak symptoms day 3-5, total course 7-10 days — this reduces bounce-backs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Ralston SL, et al. Clinical Practice Guideline: The Diagnosis, Management, and Prevention of Bronchiolitis. Pediatrics. 2014;134(5):e1474-e1502.</a:t>
            </a:r>
          </a:p>
          <a:p>
            <a:pPr>
              <a:spcAft>
                <a:spcPts val="400"/>
              </a:spcAft>
              <a:defRPr sz="1100">
                <a:solidFill>
                  <a:srgbClr val="3D4455"/>
                </a:solidFill>
                <a:latin typeface="Calibri"/>
              </a:defRPr>
            </a:pPr>
            <a:r>
              <a:t>2. Franklin D, et al. A randomized trial of high-flow oxygen therapy in infants with bronchiolitis. N Engl J Med. 2018;378(12):1121-1131.</a:t>
            </a:r>
          </a:p>
          <a:p>
            <a:pPr>
              <a:spcAft>
                <a:spcPts val="400"/>
              </a:spcAft>
              <a:defRPr sz="1100">
                <a:solidFill>
                  <a:srgbClr val="3D4455"/>
                </a:solidFill>
                <a:latin typeface="Calibri"/>
              </a:defRPr>
            </a:pPr>
            <a:r>
              <a:t>3. Gadomski AM, Scribani MB. Bronchodilators for bronchiolitis. Cochrane Database Syst Rev. 2014;6:CD001266.</a:t>
            </a:r>
          </a:p>
          <a:p>
            <a:pPr>
              <a:spcAft>
                <a:spcPts val="400"/>
              </a:spcAft>
              <a:defRPr sz="1100">
                <a:solidFill>
                  <a:srgbClr val="3D4455"/>
                </a:solidFill>
                <a:latin typeface="Calibri"/>
              </a:defRPr>
            </a:pPr>
            <a:r>
              <a:t>4. Fernandes RM, et al. Glucocorticoids for acute viral bronchiolitis in infants and young children. Cochrane Database Syst Rev. 2013;6:CD004878.</a:t>
            </a:r>
          </a:p>
          <a:p>
            <a:pPr>
              <a:spcAft>
                <a:spcPts val="400"/>
              </a:spcAft>
              <a:defRPr sz="1100">
                <a:solidFill>
                  <a:srgbClr val="3D4455"/>
                </a:solidFill>
                <a:latin typeface="Calibri"/>
              </a:defRPr>
            </a:pPr>
            <a:r>
              <a:t>5. Schuh S, et al. Effect of oximetry on hospitalization in bronchiolitis: a randomized clinical trial. JAMA. 2014;312(7):712-718.</a:t>
            </a:r>
          </a:p>
          <a:p>
            <a:pPr>
              <a:spcAft>
                <a:spcPts val="400"/>
              </a:spcAft>
              <a:defRPr sz="1100">
                <a:solidFill>
                  <a:srgbClr val="3D4455"/>
                </a:solidFill>
                <a:latin typeface="Calibri"/>
              </a:defRPr>
            </a:pPr>
            <a:r>
              <a:t>6. Hasegawa K, et al. Trends in bronchiolitis hospitalizations in the United States, 2000-2009. Pediatrics. 2013;132(1):28-36.</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Bronchiolitis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