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anatomic differences drive every pediatric-specific modification in trauma management. The key concept: children distribute force differently. A child hit by a car sustains head, chest, and abdominal injuries simultaneously — multisystem injury is the rule, not the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primary survey is identical in structure to adults but every step has pediatric modifications. Airway: use appropriately sized equipment (blade, ETT = [age/4 + 3.5] cuffed). Breathing: do NOT assume clear lungs mean no injury — children can have massive pulmonary contusion without rib fractures. Circulation: IO access is preferred over central line in emergencies. Hypothermia prevention is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Tachycardia is the EARLIEST sign of hemorrhagic shock in children — do not wait for hypotension. Children maintain blood pressure through vasoconstriction until they have lost ~30% of blood volume, then decompensate rapidly. By the time a child is hypotensive, they are in severe shock. Weight estimation: (age × 2) + 10 for children 1-10 years; use Broselow tape in the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teaching: tachycardia is the first sign, not hypotension. A child with HR 160 and normal BP after trauma may have already lost 25% of blood volume. Resuscitate early and aggressively. TXA within 3 hours of injury reduces mortality in adult trauma (CRASH-2) and is increasingly used in pediatric trauma.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Blunt trauma accounts for &gt;85% of pediatric trauma. The Waddell triad (pedestrian struck) is classic boards material. Handlebar injuries are important to recognize — a child who falls onto bicycle handlebars can sustain duodenal hematoma or pancreatic injury. Lap belt injuries (Chance fracture + bowel injury) occur because the lap belt rides up on a small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paradigm shift in pediatric trauma surgery: non-operative management of solid organ injuries is the standard. This was pioneered at Toronto Hospital for Sick Children and is now universal. The PEM role: identify the injury, ensure hemodynamic stability, and admit for observation. Operative intervention is reserved for hemodynamic instability despite adequate resuscitation.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SCIWORA is a uniquely pediatric entity — the pediatric spine is more elastic than the spinal cord, so the cord can be injured even though the bones and ligaments look normal on imaging. If a child has neurologic deficits but normal CT, SCIWORA is the diagnosis and MRI is mandatory. Clinical clearance in alert, cooperative children is safe and reduces unnecessary imaging.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PEM trauma case. Walk through the primary survey step by step. The child has multiple system involvement (head, abdomen, extremity) — classic for pedestrian struck. The HR of 150 with BP 85/60 is compensated shock. Do not wait for frank hypotension. The FAST exam helps triage — if positive for free fluid with instability, go to OR. If stable, CT for definitive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 these pitfalls has led to preventable morbidity or mortality in pediatric trauma. Hypothermia is the "silent killer" — it worsens coagulopathy, acidosis, and outcomes. The rib fracture pearl is critical: child ribs are flexible, so fractures require enormous force and should trigger concern for underlying injuries (pulmonary contusion, liver/spleen laceration, cardiac injury).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2560320" cy="5486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463040" cy="502920"/>
          </a:xfrm>
          <a:prstGeom prst="round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DECK 15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0A3AD"/>
                </a:solidFill>
                <a:latin typeface="Calibri"/>
              </a:defRPr>
            </a:pPr>
            <a:r>
              <a:t>PEDIATRIC EMERGENCY MEDICINE  ·  FELLOW TEACHING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Multisystem Trauma in Children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8A92A3"/>
                </a:solidFill>
                <a:latin typeface="Calibri"/>
              </a:defRPr>
            </a:pPr>
            <a:r>
              <a:t>Primary Survey, Resuscitation, and Pediatric-Specific Trauma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126480"/>
            <a:ext cx="1051560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2A3"/>
                </a:solidFill>
                <a:latin typeface="Calibri"/>
              </a:defRPr>
            </a:pPr>
            <a:r>
              <a:t>PEM Fellow Teaching Library  ·  Fellowship-Grade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533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455"/>
                </a:solidFill>
                <a:latin typeface="Calibri"/>
              </a:defRPr>
            </a:pPr>
            <a:r>
              <a:t>Execute the pediatric primary and secondary survey systematically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3055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455"/>
                </a:solidFill>
                <a:latin typeface="Calibri"/>
              </a:defRPr>
            </a:pPr>
            <a:r>
              <a:t>Understand how pediatric anatomy affects injury patterns in trauma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2608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0779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455"/>
                </a:solidFill>
                <a:latin typeface="Calibri"/>
              </a:defRPr>
            </a:pPr>
            <a:r>
              <a:t>Manage hemorrhagic shock in the pediatric trauma patient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8503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455"/>
                </a:solidFill>
                <a:latin typeface="Calibri"/>
              </a:defRPr>
            </a:pPr>
            <a:r>
              <a:t>Apply evidence-based decision rules for imaging in pediatric trauma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8056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622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455"/>
                </a:solidFill>
                <a:latin typeface="Calibri"/>
              </a:defRPr>
            </a:pPr>
            <a:r>
              <a:t>Identify injuries unique to or more common in children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Pediatric Trauma: Why Children Are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Trauma is the #1 cause of death in children &gt;1 year — #1 cause of years of life lost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Smaller body mass → force distributed over larger relative area → multiorgan injury more common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Proportionally larger head → head injury in almost all pediatric multisystem trauma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More compliant chest wall → pulmonary contusion without rib fractures (rib fx in kids = massive force)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Solid organs proportionally larger and less protected → spleen and liver injury more common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Higher body surface area-to-mass ratio → hypothermia develops rapidly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Rib fractures in children suggest MASSIVE force — have a high index of suspicion for associated injuries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Pediatric Primary Survey: ABCDE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371600"/>
            <a:ext cx="7315200" cy="640080"/>
          </a:xfrm>
          <a:prstGeom prst="round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 — Airway with C-spine: jaw thrust, suction, age-appropriate equipment, inline stabilization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60720" y="2011680"/>
            <a:ext cx="365760" cy="210312"/>
          </a:xfrm>
          <a:prstGeom prst="downArrow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2240280"/>
            <a:ext cx="731520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B — Breathing: assess bilateral breath sounds, chest wall movement, SpO2; needle decompression if tension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60720" y="2880360"/>
            <a:ext cx="365760" cy="210312"/>
          </a:xfrm>
          <a:prstGeom prst="downArrow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3108960"/>
            <a:ext cx="7315200" cy="640080"/>
          </a:xfrm>
          <a:prstGeom prst="round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C — Circulation: pulse quality, capillary refill, 2 large-bore IVs or IO; 20 mL/kg NS then blood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60720" y="3749039"/>
            <a:ext cx="365760" cy="210312"/>
          </a:xfrm>
          <a:prstGeom prst="downArrow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3977639"/>
            <a:ext cx="7315200" cy="640080"/>
          </a:xfrm>
          <a:prstGeom prst="round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D — Disability: GCS (age-adapted), pupils, glucose, brief neuro exam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60720" y="4617720"/>
            <a:ext cx="365760" cy="210312"/>
          </a:xfrm>
          <a:prstGeom prst="downArrow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4846320"/>
            <a:ext cx="731520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E — Exposure/Environment: fully undress, log-roll, prevent hypothermia aggressively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Pediatric Vital Signs by Age (Trauma Context)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Heart Rate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Systolic BP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Blood Volume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Estimated Weight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Newborn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120-160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60-70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80 mL/kg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3.5 kg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120-140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70-80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80 mL/kg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7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1 year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110-130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80-90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80 mL/kg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10 kg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3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100-120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85-95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80 mL/kg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15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6 years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90-110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90-100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80 mL/kg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20 kg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10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80-100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95-110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80 mL/kg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30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14 years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70-90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100-120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70 mL/kg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50 kg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Hemorrhagic Shock: Pediatric Resuscitation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Estimated blood volume: 80 mL/kg (70 mL/kg in adolescents)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Classify hemorrhagic shock: Class I (&lt;15%), II (15-30%), III (30-40%), IV (&gt;40%)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Class I-II: tachycardia only, normal BP — easy to miss in children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Class III-IV: hypotension, altered mental status, mottled skin — decompensated shock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Resuscitation: 20 mL/kg isotonic crystalloid → if no response, 10-20 mL/kg pRBCs → massive transfusion protocol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Massive transfusion: 1:1:1 ratio of pRBC:FFP:platelets (10 mL/kg each)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TXA: tranexamic acid 15-20 mg/kg (max 1g) IV over 10 min within 3 hours of injury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If a child needs &gt;40 mL/kg total fluid in the first hour, activate massive transfusion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Common Pediatric Injury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48640"/>
          </a:xfrm>
          <a:prstGeom prst="round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BLUNT TRAUMA (Most Common)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MVC: #1 cause of pediatric trauma death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Pedestrian struck: Waddell triad — femur fx + chest/abdominal injury + head injury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Falls: head injury predominant in young children due to large head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Sports: concussion, c-spine, solid organ injury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Bicycle: handlebar injuries → duodenal/pancreatic injury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Lap belt complex: lumbar spine (Chance fx) + hollow viscus injury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280160"/>
            <a:ext cx="27432" cy="4754880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54864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PENETRATING TRAUMA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Less common in children but increasing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Gunshot wounds: assess trajectory, damage path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Stab wounds: depth and trajectory determine management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Impalement: do NOT remove in field — remove in OR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High-velocity projectile: massive tissue damage beyond wound track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Always assess for concomitant injuries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Abdominal Trauma: Solid Organ Injury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Spleen and liver are the most commonly injured solid organs in pediatric blunt trauma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Most solid organ injuries in children are managed NON-OPERATIVELY (&gt;90% for spleen)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FAST exam: useful to identify free fluid, but operator-dependent and can miss solid organ injury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CT with IV contrast: gold standard for solid organ injury grading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Indications for operative management: hemodynamic instability despite resuscitation, peritonitis, high-grade injury with ongoing bleeding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Hollow viscus injury: less common but important — seatbelt sign, free fluid without solid organ injury on CT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Hemodynamically stable child with solid organ injury → non-operative management is the standard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C-Spine Clearance in Pediatric Trauma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C-spine injuries are less common in children but carry high morbidity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Children &lt;8 years: injuries tend to be at C1-C3 (large head, weak ligaments)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Children &gt;8 years: injury patterns similar to adults (lower C-spine)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SCIWORA: Spinal Cord Injury Without Radiographic Abnormality — more common in children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Clearance in alert, non-intoxicated child: no midline tenderness, no focal deficit, no painful distracting injury → clinically clear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If imaging needed: CT is standard (X-ray has poor sensitivity in children)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If concern for SCIWORA despite normal CT: obtain MRI within 72 hours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Use appropriate-sized collars. A poorly fitting collar is worse than no collar — it obscures the exam and can compromise the airway.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7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1645920" cy="45720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CLINICAL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82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6-Year-Old Pedestrian Struck by Car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0972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500">
                <a:solidFill>
                  <a:srgbClr val="3D4455"/>
                </a:solidFill>
                <a:latin typeface="Calibri"/>
              </a:defRPr>
            </a:pPr>
            <a:r>
              <a:t>A 6-year-old boy (22 kg) is brought by EMS after being struck by a car at ~25 mph. He was thrown 10 feet. On arrival: crying, confused, right leg deformed, abdominal tenderness. HR 150, BP 85/60, RR 32, SpO2 96% on 15L NRB. GCS 13 (E3V4M6). Large frontal scalp laceration actively bleeding.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7B83"/>
                </a:solidFill>
                <a:latin typeface="Calibri"/>
              </a:defRPr>
            </a:pPr>
            <a:r>
              <a:t>▸  Primary survey priorities? (Airway clear, c-spine immobilized, breathing adequate, circulation = shock)</a:t>
            </a:r>
          </a:p>
          <a:p>
            <a:pPr>
              <a:spcAft>
                <a:spcPts val="600"/>
              </a:spcAft>
              <a:defRPr sz="1400" b="1">
                <a:solidFill>
                  <a:srgbClr val="007B83"/>
                </a:solidFill>
                <a:latin typeface="Calibri"/>
              </a:defRPr>
            </a:pPr>
            <a:r>
              <a:t>▸  Is this child in shock? (Yes — tachycardia + borderline BP + mechanism → Class II-III hemorrhage)</a:t>
            </a:r>
          </a:p>
          <a:p>
            <a:pPr>
              <a:spcAft>
                <a:spcPts val="600"/>
              </a:spcAft>
              <a:defRPr sz="1400" b="1">
                <a:solidFill>
                  <a:srgbClr val="007B83"/>
                </a:solidFill>
                <a:latin typeface="Calibri"/>
              </a:defRPr>
            </a:pPr>
            <a:r>
              <a:t>▸  Resuscitation? (20 mL/kg NS bolus × 2, type and crossmatch, prepare for blood)</a:t>
            </a:r>
          </a:p>
          <a:p>
            <a:pPr>
              <a:spcAft>
                <a:spcPts val="600"/>
              </a:spcAft>
              <a:defRPr sz="1400" b="1">
                <a:solidFill>
                  <a:srgbClr val="007B83"/>
                </a:solidFill>
                <a:latin typeface="Calibri"/>
              </a:defRPr>
            </a:pPr>
            <a:r>
              <a:t>▸  Imaging? (FAST exam immediately, CT head + C-spine + chest + abdomen/pelvis with IV contrast)</a:t>
            </a:r>
          </a:p>
          <a:p>
            <a:pPr>
              <a:spcAft>
                <a:spcPts val="600"/>
              </a:spcAft>
              <a:defRPr sz="1400" b="1">
                <a:solidFill>
                  <a:srgbClr val="007B83"/>
                </a:solidFill>
                <a:latin typeface="Calibri"/>
              </a:defRPr>
            </a:pPr>
            <a:r>
              <a:t>▸  This is a Waddell triad: head injury + leg fracture + abdominal injury → systematic evaluation of all three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Pediatric Trauma Pitfalls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Waiting for hypotension to diagnose shock — tachycardia is the FIRST sign; hypotension is 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93391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9339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Not preventing hypothermia — children lose heat rapidly; use warming blankets, warm fluids, warm room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06624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0662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Treating rib fractures as minor — in children, rib fractures indicate MASSIVE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19856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Missing handlebar injuries — duodenal hematoma and pancreatic injury have delayed presentation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33087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33087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Not considering non-accidental trauma — especially in infants and toddlers with unexplained injuries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Over-relying on FAST — sensitivity for solid organ injury is limited; use CT when indicated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59552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595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Failure to activate massive transfusion protocol early — if &gt;40 mL/kg resuscitation in first hour, activate MTP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B83"/>
                </a:solidFill>
                <a:latin typeface="Calibri"/>
              </a:defRPr>
            </a:pPr>
            <a:r>
              <a:t>TAKE-HOME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8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  <a:r>
              <a:t>Tachycardia is the FIRST sign of hemorrhagic shock in children — do not wait for hypotension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8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  <a:r>
              <a:t>Prevent the trauma triad of death: hypothermia, acidosis, coagulopathy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8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  <a:r>
              <a:t>Most solid organ injuries (spleen, liver) in children are managed non-operatively if hemodynamically stable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69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8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6907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  <a:r>
              <a:t>Rib fractures in children = massive force — always look for associated injuries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8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  <a:r>
              <a:t>TXA (15-20 mg/kg IV) within 3 hours of injury for significant hemorrhage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1. ATLS Subcommittee. Advanced Trauma Life Support. 10th ed. American College of Surgeons; 2018.</a:t>
            </a:r>
          </a:p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2. Stylianos S. Evidence-based guidelines for resource utilization in children with isolated spleen or liver injury. J Pediatr Surg. 2000;35(2):164-169.</a:t>
            </a:r>
          </a:p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3. Holmes JF, et al. Identifying children at very low risk of clinically important blunt abdominal injuries. Ann Emerg Med. 2013;62(2):107-116.</a:t>
            </a:r>
          </a:p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4. CRASH-2 Trial Collaborators. Effects of tranexamic acid on death, vascular occlusive events, and blood transfusion in trauma patients. Lancet. 2010;376(9734):23-32.</a:t>
            </a:r>
          </a:p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5. Leonard JC, et al. PECARN cervical spine injury study. Ann Emerg Med. 2019;74(2):135-148.</a:t>
            </a:r>
          </a:p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6. Pang D, Wilberger JE. Spinal cord injury without radiographic abnormalities in children. J Neurosurg. 1982;57(1):114-129.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Pediatric Trauma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A3AD"/>
                </a:solidFill>
                <a:latin typeface="Calibri"/>
              </a:defRPr>
            </a:pPr>
            <a:r>
              <a:t>PEM Fellow Teaching Library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6576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