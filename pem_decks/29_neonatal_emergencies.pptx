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Neonates who come to the ED sick deserve the highest level of concern. They have limited physiologic reserve and can decompensate rapidly. The differential is broad, but a structured approach helps. Always think of the 5 major categories: sepsis, cardiac, metabolic, abuse, and surgical. Start treatment (antibiotics, PGE1, glucose) before you have a definitive diagnosis.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algorithm is the framework for every sick neonate in the ED. The glucose check is #2 after ABCs because neonatal hypoglycemia can cause seizures and permanent brain injury. Temperature management is critical — a cold neonate becomes acidotic and coagulopathic. Empiric broad-spectrum antibiotics should be given within the first 30 minutes. Start PGE1 if cardiac disease is suspected.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helps differentiate the 4 major causes of neonatal collapse. The timing of presentation is a critical clue: ductal-dependent cardiac disease typically presents at day 2-14 as the ductus closes. IEM typically presents when protein catabolism increases (after feeding is established). Sepsis can present at any time. NAT is acute and often without clear preceding illness.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review of the ductal-dependent cardiac disease content from the cardiac deck, applied specifically to the neonatal context. The key clinical scenario: a neonate who looked well at birth becomes progressively cyanotic or develops shock-like symptoms at day 2-14. If supplemental oxygen does not improve SpO2, this is cardiac until proven otherwise. Start PGE1.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IEM is the most commonly missed cause of neonatal collapse because it mimics sepsis. The key differentiator: a well neonate who becomes progressively ill without an obvious infectious source and who has metabolic derangements (high ammonia, severe acidosis, hypoglycemia). Ammonia is the single most important lab to order in any neonate with unexplained AMS, seizures, or progressive deterioration.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Neonatal resuscitation in the ED follows NRP guidelines but adapted for the post-delivery context. The compression ratio is 3:1 (for neonates — if primary cardiac arrest is suspected, use 15:2). Volume resuscitation is more conservative — 10 mL/kg boluses. D10W is the standard glucose replacement (D25W can cause osmotic injury to immature brain vasculature). Temperature management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neonatal jaundice is benign, but severe hyperbilirubinemia can cause kernicterus (permanent neurologic damage). The key is recognizing when jaundice is pathologic. Plot the bilirubin on the Bhutani nomogram for age in hours. Conjugated hyperbilirubinemia is NEVER physiologic and suggests biliary atresia (surgical emergency), hepatitis, or sepsis.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classic ductal-dependent cardiac collapse case. The timing (day 10), the pre/post-ductal SpO2 difference, the weak femoral pulses, and the shock picture all point to a left-sided obstructive lesion (likely coarctation or interrupted aortic arch). PGE1 is life-saving here — it reopens the ductus and restores systemic blood flow. Start it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pitfalls capture the most common and most consequential errors in neonatal emergency medicine. The glucose and temperature points are the most fundamental. The PGE1 and ammonia points are the most commonly missed. The bilirubin point prevents kernicterus. Each of these can be life-saving or brain-saving when applied correctly.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29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Neonatal Emergencies in the ED</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Critical Presentations, Resuscitation, and Must-Not-Miss Diagnoses in the First 28 Days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the critically ill neonate — key presentations that demand immediate action</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Differentiate cardiac, infectious, metabolic, and surgical causes of neonatal collapse</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Initiate neonatal resuscitation and stabilization in the ED</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Identify ductal-dependent cardiac disease, inborn errors of metabolism, and neonatal sepsis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Understand the unique physiology of the neonate that impacts ED management</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Crashing Neonate: A PEM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Neonates (0-28 days) who present to the ED sick are often VERY sick</a:t>
            </a:r>
          </a:p>
          <a:p>
            <a:pPr>
              <a:spcBef>
                <a:spcPts val="400"/>
              </a:spcBef>
              <a:spcAft>
                <a:spcPts val="600"/>
              </a:spcAft>
              <a:defRPr sz="1600">
                <a:solidFill>
                  <a:srgbClr val="3D4455"/>
                </a:solidFill>
                <a:latin typeface="Calibri"/>
              </a:defRPr>
            </a:pPr>
            <a:r>
              <a:t>Neonatal physiology is unique: transitional circulation, immature immune system, limited reserves</a:t>
            </a:r>
          </a:p>
          <a:p>
            <a:pPr>
              <a:spcBef>
                <a:spcPts val="400"/>
              </a:spcBef>
              <a:spcAft>
                <a:spcPts val="600"/>
              </a:spcAft>
              <a:defRPr sz="1600">
                <a:solidFill>
                  <a:srgbClr val="3D4455"/>
                </a:solidFill>
                <a:latin typeface="Calibri"/>
              </a:defRPr>
            </a:pPr>
            <a:r>
              <a:t>The differential for the sick neonate is broad but can be organized into key categories</a:t>
            </a:r>
          </a:p>
          <a:p>
            <a:pPr>
              <a:spcBef>
                <a:spcPts val="400"/>
              </a:spcBef>
              <a:spcAft>
                <a:spcPts val="600"/>
              </a:spcAft>
              <a:defRPr sz="1600">
                <a:solidFill>
                  <a:srgbClr val="3D4455"/>
                </a:solidFill>
                <a:latin typeface="Calibri"/>
              </a:defRPr>
            </a:pPr>
            <a:r>
              <a:t>Categories: Sepsis/Infection, Cardiac (ductal-dependent CHD), Metabolic (IEM), NAT, Surgical</a:t>
            </a:r>
          </a:p>
          <a:p>
            <a:pPr>
              <a:spcBef>
                <a:spcPts val="400"/>
              </a:spcBef>
              <a:spcAft>
                <a:spcPts val="600"/>
              </a:spcAft>
              <a:defRPr sz="1600">
                <a:solidFill>
                  <a:srgbClr val="3D4455"/>
                </a:solidFill>
                <a:latin typeface="Calibri"/>
              </a:defRPr>
            </a:pPr>
            <a:r>
              <a:t>Key initial assessment: does this neonate need resuscitation? → ABCs first</a:t>
            </a:r>
          </a:p>
          <a:p>
            <a:pPr lvl="1">
              <a:spcBef>
                <a:spcPts val="400"/>
              </a:spcBef>
              <a:spcAft>
                <a:spcPts val="600"/>
              </a:spcAft>
              <a:defRPr sz="1400">
                <a:solidFill>
                  <a:srgbClr val="8A92A3"/>
                </a:solidFill>
                <a:latin typeface="Calibri"/>
              </a:defRPr>
            </a:pPr>
            <a:r>
              <a:t>The sick neonate is the highest-acuity patient in the PED — treat aggressively while you investigate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Approach to the Sick Neonate</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ABCs: ensure airway patency, adequate breathing, assess perfusion and HR</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GLUCOSE: check immediately — treat hypoglycemia with D10W 2-5 mL/kg IV</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TEMPERATURE: neonates cannot thermoregulate — warm aggressively, check rectal temp</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EMPIRIC TREATMENT: ampicillin + gentamicin + acyclovir (if HSV concern); prostaglandin if cardiac suspected</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FOCUSED HISTORY: birth history, GBS status, maternal STI history, feeding pattern, last well time</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WORKUP: CBC, CMP, VBG, blood culture, UA/UCx, LP (if able), LFTs, ammonia, lactate, cortisol</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IMAGING: CXR (heart size, lung fields), 4-extremity BP and pre/post-ductal SpO2 if cardiac concern</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Differentiating the Cause of Neonatal Collapse</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Feature</a:t>
                      </a:r>
                    </a:p>
                  </a:txBody>
                  <a:tcPr>
                    <a:solidFill>
                      <a:srgbClr val="007B83"/>
                    </a:solidFill>
                  </a:tcPr>
                </a:tc>
                <a:tc>
                  <a:txBody>
                    <a:bodyPr/>
                    <a:lstStyle/>
                    <a:p>
                      <a:pPr algn="ctr">
                        <a:defRPr sz="1300" b="1">
                          <a:solidFill>
                            <a:srgbClr val="FFFFFF"/>
                          </a:solidFill>
                          <a:latin typeface="Calibri"/>
                        </a:defRPr>
                      </a:pPr>
                      <a:r>
                        <a:t>Sepsis</a:t>
                      </a:r>
                    </a:p>
                  </a:txBody>
                  <a:tcPr>
                    <a:solidFill>
                      <a:srgbClr val="007B83"/>
                    </a:solidFill>
                  </a:tcPr>
                </a:tc>
                <a:tc>
                  <a:txBody>
                    <a:bodyPr/>
                    <a:lstStyle/>
                    <a:p>
                      <a:pPr algn="ctr">
                        <a:defRPr sz="1300" b="1">
                          <a:solidFill>
                            <a:srgbClr val="FFFFFF"/>
                          </a:solidFill>
                          <a:latin typeface="Calibri"/>
                        </a:defRPr>
                      </a:pPr>
                      <a:r>
                        <a:t>Cardiac (CHD)</a:t>
                      </a:r>
                    </a:p>
                  </a:txBody>
                  <a:tcPr>
                    <a:solidFill>
                      <a:srgbClr val="007B83"/>
                    </a:solidFill>
                  </a:tcPr>
                </a:tc>
                <a:tc>
                  <a:txBody>
                    <a:bodyPr/>
                    <a:lstStyle/>
                    <a:p>
                      <a:pPr algn="ctr">
                        <a:defRPr sz="1300" b="1">
                          <a:solidFill>
                            <a:srgbClr val="FFFFFF"/>
                          </a:solidFill>
                          <a:latin typeface="Calibri"/>
                        </a:defRPr>
                      </a:pPr>
                      <a:r>
                        <a:t>Metabolic (IEM)</a:t>
                      </a:r>
                    </a:p>
                  </a:txBody>
                  <a:tcPr>
                    <a:solidFill>
                      <a:srgbClr val="007B83"/>
                    </a:solidFill>
                  </a:tcPr>
                </a:tc>
                <a:tc>
                  <a:txBody>
                    <a:bodyPr/>
                    <a:lstStyle/>
                    <a:p>
                      <a:pPr algn="ctr">
                        <a:defRPr sz="1300" b="1">
                          <a:solidFill>
                            <a:srgbClr val="FFFFFF"/>
                          </a:solidFill>
                          <a:latin typeface="Calibri"/>
                        </a:defRPr>
                      </a:pPr>
                      <a:r>
                        <a:t>NAT</a:t>
                      </a:r>
                    </a:p>
                  </a:txBody>
                  <a:tcPr>
                    <a:solidFill>
                      <a:srgbClr val="007B83"/>
                    </a:solidFill>
                  </a:tcPr>
                </a:tc>
              </a:tr>
              <a:tr h="457200">
                <a:tc>
                  <a:txBody>
                    <a:bodyPr/>
                    <a:lstStyle/>
                    <a:p>
                      <a:pPr algn="l">
                        <a:defRPr sz="1200">
                          <a:solidFill>
                            <a:srgbClr val="3D4455"/>
                          </a:solidFill>
                          <a:latin typeface="Calibri"/>
                        </a:defRPr>
                      </a:pPr>
                      <a:r>
                        <a:t>Onset</a:t>
                      </a:r>
                    </a:p>
                  </a:txBody>
                  <a:tcPr>
                    <a:solidFill>
                      <a:srgbClr val="F5F6FA"/>
                    </a:solidFill>
                  </a:tcPr>
                </a:tc>
                <a:tc>
                  <a:txBody>
                    <a:bodyPr/>
                    <a:lstStyle/>
                    <a:p>
                      <a:pPr algn="l">
                        <a:defRPr sz="1200">
                          <a:solidFill>
                            <a:srgbClr val="3D4455"/>
                          </a:solidFill>
                          <a:latin typeface="Calibri"/>
                        </a:defRPr>
                      </a:pPr>
                      <a:r>
                        <a:t>Gradual (hours-days)</a:t>
                      </a:r>
                    </a:p>
                  </a:txBody>
                  <a:tcPr>
                    <a:solidFill>
                      <a:srgbClr val="F5F6FA"/>
                    </a:solidFill>
                  </a:tcPr>
                </a:tc>
                <a:tc>
                  <a:txBody>
                    <a:bodyPr/>
                    <a:lstStyle/>
                    <a:p>
                      <a:pPr algn="l">
                        <a:defRPr sz="1200">
                          <a:solidFill>
                            <a:srgbClr val="3D4455"/>
                          </a:solidFill>
                          <a:latin typeface="Calibri"/>
                        </a:defRPr>
                      </a:pPr>
                      <a:r>
                        <a:t>Days 2-14 (as ductus closes)</a:t>
                      </a:r>
                    </a:p>
                  </a:txBody>
                  <a:tcPr>
                    <a:solidFill>
                      <a:srgbClr val="F5F6FA"/>
                    </a:solidFill>
                  </a:tcPr>
                </a:tc>
                <a:tc>
                  <a:txBody>
                    <a:bodyPr/>
                    <a:lstStyle/>
                    <a:p>
                      <a:pPr algn="l">
                        <a:defRPr sz="1200">
                          <a:solidFill>
                            <a:srgbClr val="3D4455"/>
                          </a:solidFill>
                          <a:latin typeface="Calibri"/>
                        </a:defRPr>
                      </a:pPr>
                      <a:r>
                        <a:t>Days 2-7 (after feeding starts)</a:t>
                      </a:r>
                    </a:p>
                  </a:txBody>
                  <a:tcPr>
                    <a:solidFill>
                      <a:srgbClr val="F5F6FA"/>
                    </a:solidFill>
                  </a:tcPr>
                </a:tc>
                <a:tc>
                  <a:txBody>
                    <a:bodyPr/>
                    <a:lstStyle/>
                    <a:p>
                      <a:pPr algn="l">
                        <a:defRPr sz="1200">
                          <a:solidFill>
                            <a:srgbClr val="3D4455"/>
                          </a:solidFill>
                          <a:latin typeface="Calibri"/>
                        </a:defRPr>
                      </a:pPr>
                      <a:r>
                        <a:t>Acute (minutes)</a:t>
                      </a:r>
                    </a:p>
                  </a:txBody>
                  <a:tcPr>
                    <a:solidFill>
                      <a:srgbClr val="F5F6FA"/>
                    </a:solidFill>
                  </a:tcPr>
                </a:tc>
              </a:tr>
              <a:tr h="457200">
                <a:tc>
                  <a:txBody>
                    <a:bodyPr/>
                    <a:lstStyle/>
                    <a:p>
                      <a:pPr algn="l">
                        <a:defRPr sz="1200">
                          <a:solidFill>
                            <a:srgbClr val="3D4455"/>
                          </a:solidFill>
                          <a:latin typeface="Calibri"/>
                        </a:defRPr>
                      </a:pPr>
                      <a:r>
                        <a:t>Temp</a:t>
                      </a:r>
                    </a:p>
                  </a:txBody>
                  <a:tcPr>
                    <a:solidFill>
                      <a:srgbClr val="FFFFFF"/>
                    </a:solidFill>
                  </a:tcPr>
                </a:tc>
                <a:tc>
                  <a:txBody>
                    <a:bodyPr/>
                    <a:lstStyle/>
                    <a:p>
                      <a:pPr algn="l">
                        <a:defRPr sz="1200">
                          <a:solidFill>
                            <a:srgbClr val="3D4455"/>
                          </a:solidFill>
                          <a:latin typeface="Calibri"/>
                        </a:defRPr>
                      </a:pPr>
                      <a:r>
                        <a:t>Fever or hypothermia</a:t>
                      </a:r>
                    </a:p>
                  </a:txBody>
                  <a:tcPr>
                    <a:solidFill>
                      <a:srgbClr val="FFFFFF"/>
                    </a:solidFill>
                  </a:tcPr>
                </a:tc>
                <a:tc>
                  <a:txBody>
                    <a:bodyPr/>
                    <a:lstStyle/>
                    <a:p>
                      <a:pPr algn="l">
                        <a:defRPr sz="1200">
                          <a:solidFill>
                            <a:srgbClr val="3D4455"/>
                          </a:solidFill>
                          <a:latin typeface="Calibri"/>
                        </a:defRPr>
                      </a:pPr>
                      <a:r>
                        <a:t>Usually afebrile</a:t>
                      </a:r>
                    </a:p>
                  </a:txBody>
                  <a:tcPr>
                    <a:solidFill>
                      <a:srgbClr val="FFFFFF"/>
                    </a:solidFill>
                  </a:tcPr>
                </a:tc>
                <a:tc>
                  <a:txBody>
                    <a:bodyPr/>
                    <a:lstStyle/>
                    <a:p>
                      <a:pPr algn="l">
                        <a:defRPr sz="1200">
                          <a:solidFill>
                            <a:srgbClr val="3D4455"/>
                          </a:solidFill>
                          <a:latin typeface="Calibri"/>
                        </a:defRPr>
                      </a:pPr>
                      <a:r>
                        <a:t>Usually afebrile</a:t>
                      </a:r>
                    </a:p>
                  </a:txBody>
                  <a:tcPr>
                    <a:solidFill>
                      <a:srgbClr val="FFFFFF"/>
                    </a:solidFill>
                  </a:tcPr>
                </a:tc>
                <a:tc>
                  <a:txBody>
                    <a:bodyPr/>
                    <a:lstStyle/>
                    <a:p>
                      <a:pPr algn="l">
                        <a:defRPr sz="1200">
                          <a:solidFill>
                            <a:srgbClr val="3D4455"/>
                          </a:solidFill>
                          <a:latin typeface="Calibri"/>
                        </a:defRPr>
                      </a:pPr>
                      <a:r>
                        <a:t>Variable</a:t>
                      </a:r>
                    </a:p>
                  </a:txBody>
                  <a:tcPr>
                    <a:solidFill>
                      <a:srgbClr val="FFFFFF"/>
                    </a:solidFill>
                  </a:tcPr>
                </a:tc>
              </a:tr>
              <a:tr h="457200">
                <a:tc>
                  <a:txBody>
                    <a:bodyPr/>
                    <a:lstStyle/>
                    <a:p>
                      <a:pPr algn="l">
                        <a:defRPr sz="1200">
                          <a:solidFill>
                            <a:srgbClr val="3D4455"/>
                          </a:solidFill>
                          <a:latin typeface="Calibri"/>
                        </a:defRPr>
                      </a:pPr>
                      <a:r>
                        <a:t>Feeding</a:t>
                      </a:r>
                    </a:p>
                  </a:txBody>
                  <a:tcPr>
                    <a:solidFill>
                      <a:srgbClr val="F5F6FA"/>
                    </a:solidFill>
                  </a:tcPr>
                </a:tc>
                <a:tc>
                  <a:txBody>
                    <a:bodyPr/>
                    <a:lstStyle/>
                    <a:p>
                      <a:pPr algn="l">
                        <a:defRPr sz="1200">
                          <a:solidFill>
                            <a:srgbClr val="3D4455"/>
                          </a:solidFill>
                          <a:latin typeface="Calibri"/>
                        </a:defRPr>
                      </a:pPr>
                      <a:r>
                        <a:t>Poor feeding, lethargy</a:t>
                      </a:r>
                    </a:p>
                  </a:txBody>
                  <a:tcPr>
                    <a:solidFill>
                      <a:srgbClr val="F5F6FA"/>
                    </a:solidFill>
                  </a:tcPr>
                </a:tc>
                <a:tc>
                  <a:txBody>
                    <a:bodyPr/>
                    <a:lstStyle/>
                    <a:p>
                      <a:pPr algn="l">
                        <a:defRPr sz="1200">
                          <a:solidFill>
                            <a:srgbClr val="3D4455"/>
                          </a:solidFill>
                          <a:latin typeface="Calibri"/>
                        </a:defRPr>
                      </a:pPr>
                      <a:r>
                        <a:t>Poor feeding, diaphoresis with feeds</a:t>
                      </a:r>
                    </a:p>
                  </a:txBody>
                  <a:tcPr>
                    <a:solidFill>
                      <a:srgbClr val="F5F6FA"/>
                    </a:solidFill>
                  </a:tcPr>
                </a:tc>
                <a:tc>
                  <a:txBody>
                    <a:bodyPr/>
                    <a:lstStyle/>
                    <a:p>
                      <a:pPr algn="l">
                        <a:defRPr sz="1200">
                          <a:solidFill>
                            <a:srgbClr val="3D4455"/>
                          </a:solidFill>
                          <a:latin typeface="Calibri"/>
                        </a:defRPr>
                      </a:pPr>
                      <a:r>
                        <a:t>Vomiting, poor feeding</a:t>
                      </a:r>
                    </a:p>
                  </a:txBody>
                  <a:tcPr>
                    <a:solidFill>
                      <a:srgbClr val="F5F6FA"/>
                    </a:solidFill>
                  </a:tcPr>
                </a:tc>
                <a:tc>
                  <a:txBody>
                    <a:bodyPr/>
                    <a:lstStyle/>
                    <a:p>
                      <a:pPr algn="l">
                        <a:defRPr sz="1200">
                          <a:solidFill>
                            <a:srgbClr val="3D4455"/>
                          </a:solidFill>
                          <a:latin typeface="Calibri"/>
                        </a:defRPr>
                      </a:pPr>
                      <a:r>
                        <a:t>Abrupt change</a:t>
                      </a:r>
                    </a:p>
                  </a:txBody>
                  <a:tcPr>
                    <a:solidFill>
                      <a:srgbClr val="F5F6FA"/>
                    </a:solidFill>
                  </a:tcPr>
                </a:tc>
              </a:tr>
              <a:tr h="457200">
                <a:tc>
                  <a:txBody>
                    <a:bodyPr/>
                    <a:lstStyle/>
                    <a:p>
                      <a:pPr algn="l">
                        <a:defRPr sz="1200">
                          <a:solidFill>
                            <a:srgbClr val="3D4455"/>
                          </a:solidFill>
                          <a:latin typeface="Calibri"/>
                        </a:defRPr>
                      </a:pPr>
                      <a:r>
                        <a:t>Cardiovascular</a:t>
                      </a:r>
                    </a:p>
                  </a:txBody>
                  <a:tcPr>
                    <a:solidFill>
                      <a:srgbClr val="FFFFFF"/>
                    </a:solidFill>
                  </a:tcPr>
                </a:tc>
                <a:tc>
                  <a:txBody>
                    <a:bodyPr/>
                    <a:lstStyle/>
                    <a:p>
                      <a:pPr algn="l">
                        <a:defRPr sz="1200">
                          <a:solidFill>
                            <a:srgbClr val="3D4455"/>
                          </a:solidFill>
                          <a:latin typeface="Calibri"/>
                        </a:defRPr>
                      </a:pPr>
                      <a:r>
                        <a:t>Tachycardia, poor perfusion</a:t>
                      </a:r>
                    </a:p>
                  </a:txBody>
                  <a:tcPr>
                    <a:solidFill>
                      <a:srgbClr val="FFFFFF"/>
                    </a:solidFill>
                  </a:tcPr>
                </a:tc>
                <a:tc>
                  <a:txBody>
                    <a:bodyPr/>
                    <a:lstStyle/>
                    <a:p>
                      <a:pPr algn="l">
                        <a:defRPr sz="1200">
                          <a:solidFill>
                            <a:srgbClr val="3D4455"/>
                          </a:solidFill>
                          <a:latin typeface="Calibri"/>
                        </a:defRPr>
                      </a:pPr>
                      <a:r>
                        <a:t>Cyanosis OR shock; murmur, hepatomegaly</a:t>
                      </a:r>
                    </a:p>
                  </a:txBody>
                  <a:tcPr>
                    <a:solidFill>
                      <a:srgbClr val="FFFFFF"/>
                    </a:solidFill>
                  </a:tcPr>
                </a:tc>
                <a:tc>
                  <a:txBody>
                    <a:bodyPr/>
                    <a:lstStyle/>
                    <a:p>
                      <a:pPr algn="l">
                        <a:defRPr sz="1200">
                          <a:solidFill>
                            <a:srgbClr val="3D4455"/>
                          </a:solidFill>
                          <a:latin typeface="Calibri"/>
                        </a:defRPr>
                      </a:pPr>
                      <a:r>
                        <a:t>Usually normal initially</a:t>
                      </a:r>
                    </a:p>
                  </a:txBody>
                  <a:tcPr>
                    <a:solidFill>
                      <a:srgbClr val="FFFFFF"/>
                    </a:solidFill>
                  </a:tcPr>
                </a:tc>
                <a:tc>
                  <a:txBody>
                    <a:bodyPr/>
                    <a:lstStyle/>
                    <a:p>
                      <a:pPr algn="l">
                        <a:defRPr sz="1200">
                          <a:solidFill>
                            <a:srgbClr val="3D4455"/>
                          </a:solidFill>
                          <a:latin typeface="Calibri"/>
                        </a:defRPr>
                      </a:pPr>
                      <a:r>
                        <a:t>Variable</a:t>
                      </a:r>
                    </a:p>
                  </a:txBody>
                  <a:tcPr>
                    <a:solidFill>
                      <a:srgbClr val="FFFFFF"/>
                    </a:solidFill>
                  </a:tcPr>
                </a:tc>
              </a:tr>
              <a:tr h="457200">
                <a:tc>
                  <a:txBody>
                    <a:bodyPr/>
                    <a:lstStyle/>
                    <a:p>
                      <a:pPr algn="l">
                        <a:defRPr sz="1200">
                          <a:solidFill>
                            <a:srgbClr val="3D4455"/>
                          </a:solidFill>
                          <a:latin typeface="Calibri"/>
                        </a:defRPr>
                      </a:pPr>
                      <a:r>
                        <a:t>Key Lab</a:t>
                      </a:r>
                    </a:p>
                  </a:txBody>
                  <a:tcPr>
                    <a:solidFill>
                      <a:srgbClr val="F5F6FA"/>
                    </a:solidFill>
                  </a:tcPr>
                </a:tc>
                <a:tc>
                  <a:txBody>
                    <a:bodyPr/>
                    <a:lstStyle/>
                    <a:p>
                      <a:pPr algn="l">
                        <a:defRPr sz="1200">
                          <a:solidFill>
                            <a:srgbClr val="3D4455"/>
                          </a:solidFill>
                          <a:latin typeface="Calibri"/>
                        </a:defRPr>
                      </a:pPr>
                      <a:r>
                        <a:t>WBC abnormal, CRP/PCT elevated</a:t>
                      </a:r>
                    </a:p>
                  </a:txBody>
                  <a:tcPr>
                    <a:solidFill>
                      <a:srgbClr val="F5F6FA"/>
                    </a:solidFill>
                  </a:tcPr>
                </a:tc>
                <a:tc>
                  <a:txBody>
                    <a:bodyPr/>
                    <a:lstStyle/>
                    <a:p>
                      <a:pPr algn="l">
                        <a:defRPr sz="1200">
                          <a:solidFill>
                            <a:srgbClr val="3D4455"/>
                          </a:solidFill>
                          <a:latin typeface="Calibri"/>
                        </a:defRPr>
                      </a:pPr>
                      <a:r>
                        <a:t>Pre/post-ductal SpO2 difference</a:t>
                      </a:r>
                    </a:p>
                  </a:txBody>
                  <a:tcPr>
                    <a:solidFill>
                      <a:srgbClr val="F5F6FA"/>
                    </a:solidFill>
                  </a:tcPr>
                </a:tc>
                <a:tc>
                  <a:txBody>
                    <a:bodyPr/>
                    <a:lstStyle/>
                    <a:p>
                      <a:pPr algn="l">
                        <a:defRPr sz="1200">
                          <a:solidFill>
                            <a:srgbClr val="3D4455"/>
                          </a:solidFill>
                          <a:latin typeface="Calibri"/>
                        </a:defRPr>
                      </a:pPr>
                      <a:r>
                        <a:t>Ammonia, lactate, anion gap acidosis</a:t>
                      </a:r>
                    </a:p>
                  </a:txBody>
                  <a:tcPr>
                    <a:solidFill>
                      <a:srgbClr val="F5F6FA"/>
                    </a:solidFill>
                  </a:tcPr>
                </a:tc>
                <a:tc>
                  <a:txBody>
                    <a:bodyPr/>
                    <a:lstStyle/>
                    <a:p>
                      <a:pPr algn="l">
                        <a:defRPr sz="1200">
                          <a:solidFill>
                            <a:srgbClr val="3D4455"/>
                          </a:solidFill>
                          <a:latin typeface="Calibri"/>
                        </a:defRPr>
                      </a:pPr>
                      <a:r>
                        <a:t>CT head, skeletal survey</a:t>
                      </a:r>
                    </a:p>
                  </a:txBody>
                  <a:tcPr>
                    <a:solidFill>
                      <a:srgbClr val="F5F6FA"/>
                    </a:solidFill>
                  </a:tcPr>
                </a:tc>
              </a:tr>
              <a:tr h="457200">
                <a:tc>
                  <a:txBody>
                    <a:bodyPr/>
                    <a:lstStyle/>
                    <a:p>
                      <a:pPr algn="l">
                        <a:defRPr sz="1200">
                          <a:solidFill>
                            <a:srgbClr val="3D4455"/>
                          </a:solidFill>
                          <a:latin typeface="Calibri"/>
                        </a:defRPr>
                      </a:pPr>
                      <a:r>
                        <a:t>Key Treatment</a:t>
                      </a:r>
                    </a:p>
                  </a:txBody>
                  <a:tcPr>
                    <a:solidFill>
                      <a:srgbClr val="FFFFFF"/>
                    </a:solidFill>
                  </a:tcPr>
                </a:tc>
                <a:tc>
                  <a:txBody>
                    <a:bodyPr/>
                    <a:lstStyle/>
                    <a:p>
                      <a:pPr algn="l">
                        <a:defRPr sz="1200">
                          <a:solidFill>
                            <a:srgbClr val="3D4455"/>
                          </a:solidFill>
                          <a:latin typeface="Calibri"/>
                        </a:defRPr>
                      </a:pPr>
                      <a:r>
                        <a:t>Antibiotics + acyclovir</a:t>
                      </a:r>
                    </a:p>
                  </a:txBody>
                  <a:tcPr>
                    <a:solidFill>
                      <a:srgbClr val="FFFFFF"/>
                    </a:solidFill>
                  </a:tcPr>
                </a:tc>
                <a:tc>
                  <a:txBody>
                    <a:bodyPr/>
                    <a:lstStyle/>
                    <a:p>
                      <a:pPr algn="l">
                        <a:defRPr sz="1200">
                          <a:solidFill>
                            <a:srgbClr val="3D4455"/>
                          </a:solidFill>
                          <a:latin typeface="Calibri"/>
                        </a:defRPr>
                      </a:pPr>
                      <a:r>
                        <a:t>PGE1</a:t>
                      </a:r>
                    </a:p>
                  </a:txBody>
                  <a:tcPr>
                    <a:solidFill>
                      <a:srgbClr val="FFFFFF"/>
                    </a:solidFill>
                  </a:tcPr>
                </a:tc>
                <a:tc>
                  <a:txBody>
                    <a:bodyPr/>
                    <a:lstStyle/>
                    <a:p>
                      <a:pPr algn="l">
                        <a:defRPr sz="1200">
                          <a:solidFill>
                            <a:srgbClr val="3D4455"/>
                          </a:solidFill>
                          <a:latin typeface="Calibri"/>
                        </a:defRPr>
                      </a:pPr>
                      <a:r>
                        <a:t>Glucose + correct acidosis + stop protein</a:t>
                      </a:r>
                    </a:p>
                  </a:txBody>
                  <a:tcPr>
                    <a:solidFill>
                      <a:srgbClr val="FFFFFF"/>
                    </a:solidFill>
                  </a:tcPr>
                </a:tc>
                <a:tc>
                  <a:txBody>
                    <a:bodyPr/>
                    <a:lstStyle/>
                    <a:p>
                      <a:pPr algn="l">
                        <a:defRPr sz="1200">
                          <a:solidFill>
                            <a:srgbClr val="3D4455"/>
                          </a:solidFill>
                          <a:latin typeface="Calibri"/>
                        </a:defRPr>
                      </a:pPr>
                      <a:r>
                        <a:t>Stabilize, protect, report</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Ductal-Dependent Cardiac Disease (Review)</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Ductal-dependent lesions require a patent ductus arteriosus for survival</a:t>
            </a:r>
          </a:p>
          <a:p>
            <a:pPr>
              <a:spcBef>
                <a:spcPts val="400"/>
              </a:spcBef>
              <a:spcAft>
                <a:spcPts val="600"/>
              </a:spcAft>
              <a:defRPr sz="1600">
                <a:solidFill>
                  <a:srgbClr val="3D4455"/>
                </a:solidFill>
                <a:latin typeface="Calibri"/>
              </a:defRPr>
            </a:pPr>
            <a:r>
              <a:t>Systemic flow dependent: coarctation, critical AS, HLHS, interrupted aortic arch → present with SHOCK</a:t>
            </a:r>
          </a:p>
          <a:p>
            <a:pPr>
              <a:spcBef>
                <a:spcPts val="400"/>
              </a:spcBef>
              <a:spcAft>
                <a:spcPts val="600"/>
              </a:spcAft>
              <a:defRPr sz="1600">
                <a:solidFill>
                  <a:srgbClr val="3D4455"/>
                </a:solidFill>
                <a:latin typeface="Calibri"/>
              </a:defRPr>
            </a:pPr>
            <a:r>
              <a:t>Pulmonary flow dependent: critical PS, pulmonary atresia, tricuspid atresia, severe TOF → present with CYANOSIS</a:t>
            </a:r>
          </a:p>
          <a:p>
            <a:pPr>
              <a:spcBef>
                <a:spcPts val="400"/>
              </a:spcBef>
              <a:spcAft>
                <a:spcPts val="600"/>
              </a:spcAft>
              <a:defRPr sz="1600">
                <a:solidFill>
                  <a:srgbClr val="3D4455"/>
                </a:solidFill>
                <a:latin typeface="Calibri"/>
              </a:defRPr>
            </a:pPr>
            <a:r>
              <a:t>Key test: pre- and post-ductal SpO2; &gt;3% difference suggests ductal-dependent lesion</a:t>
            </a:r>
          </a:p>
          <a:p>
            <a:pPr>
              <a:spcBef>
                <a:spcPts val="400"/>
              </a:spcBef>
              <a:spcAft>
                <a:spcPts val="600"/>
              </a:spcAft>
              <a:defRPr sz="1600">
                <a:solidFill>
                  <a:srgbClr val="3D4455"/>
                </a:solidFill>
                <a:latin typeface="Calibri"/>
              </a:defRPr>
            </a:pPr>
            <a:r>
              <a:t>Hyperoxia test: if SpO2 does not improve with 100% FiO2 → cardiac cause (intracardiac shunting)</a:t>
            </a:r>
          </a:p>
          <a:p>
            <a:pPr>
              <a:spcBef>
                <a:spcPts val="400"/>
              </a:spcBef>
              <a:spcAft>
                <a:spcPts val="600"/>
              </a:spcAft>
              <a:defRPr sz="1600">
                <a:solidFill>
                  <a:srgbClr val="3D4455"/>
                </a:solidFill>
                <a:latin typeface="Calibri"/>
              </a:defRPr>
            </a:pPr>
            <a:r>
              <a:t>TREATMENT: PGE1 0.05-0.1 mcg/kg/min IV — reopens the ductus</a:t>
            </a:r>
          </a:p>
          <a:p>
            <a:pPr>
              <a:spcBef>
                <a:spcPts val="400"/>
              </a:spcBef>
              <a:spcAft>
                <a:spcPts val="600"/>
              </a:spcAft>
              <a:defRPr sz="1600">
                <a:solidFill>
                  <a:srgbClr val="3D4455"/>
                </a:solidFill>
                <a:latin typeface="Calibri"/>
              </a:defRPr>
            </a:pPr>
            <a:r>
              <a:t>PGE1 side effects: apnea (30-40%), fever, hypotension — be prepared to intubate</a:t>
            </a:r>
          </a:p>
          <a:p>
            <a:pPr lvl="1">
              <a:spcBef>
                <a:spcPts val="400"/>
              </a:spcBef>
              <a:spcAft>
                <a:spcPts val="600"/>
              </a:spcAft>
              <a:defRPr sz="1400">
                <a:solidFill>
                  <a:srgbClr val="8A92A3"/>
                </a:solidFill>
                <a:latin typeface="Calibri"/>
              </a:defRPr>
            </a:pPr>
            <a:r>
              <a:t>Start PGE1 and call cardiology — do not wait for echo to confirm the diagnosis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Inborn Errors of Metabolism: The Metabolic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IEM present in the neonatal period when toxic metabolites accumulate after feeding begins</a:t>
            </a:r>
          </a:p>
          <a:p>
            <a:pPr>
              <a:spcBef>
                <a:spcPts val="400"/>
              </a:spcBef>
              <a:spcAft>
                <a:spcPts val="600"/>
              </a:spcAft>
              <a:defRPr sz="1600">
                <a:solidFill>
                  <a:srgbClr val="3D4455"/>
                </a:solidFill>
                <a:latin typeface="Calibri"/>
              </a:defRPr>
            </a:pPr>
            <a:r>
              <a:t>Classic presentation: well at birth → progressive lethargy, poor feeding, vomiting at day 2-7</a:t>
            </a:r>
          </a:p>
          <a:p>
            <a:pPr>
              <a:spcBef>
                <a:spcPts val="400"/>
              </a:spcBef>
              <a:spcAft>
                <a:spcPts val="600"/>
              </a:spcAft>
              <a:defRPr sz="1600">
                <a:solidFill>
                  <a:srgbClr val="3D4455"/>
                </a:solidFill>
                <a:latin typeface="Calibri"/>
              </a:defRPr>
            </a:pPr>
            <a:r>
              <a:t>Key labs: ammonia (&gt;200 µmol/L is very concerning), lactate, pH/VBG, glucose, anion gap, urine ketones</a:t>
            </a:r>
          </a:p>
          <a:p>
            <a:pPr>
              <a:spcBef>
                <a:spcPts val="400"/>
              </a:spcBef>
              <a:spcAft>
                <a:spcPts val="600"/>
              </a:spcAft>
              <a:defRPr sz="1600">
                <a:solidFill>
                  <a:srgbClr val="3D4455"/>
                </a:solidFill>
                <a:latin typeface="Calibri"/>
              </a:defRPr>
            </a:pPr>
            <a:r>
              <a:t>Elevated ammonia + respiratory alkalosis = urea cycle defect (most common severe IEM)</a:t>
            </a:r>
          </a:p>
          <a:p>
            <a:pPr>
              <a:spcBef>
                <a:spcPts val="400"/>
              </a:spcBef>
              <a:spcAft>
                <a:spcPts val="600"/>
              </a:spcAft>
              <a:defRPr sz="1600">
                <a:solidFill>
                  <a:srgbClr val="3D4455"/>
                </a:solidFill>
                <a:latin typeface="Calibri"/>
              </a:defRPr>
            </a:pPr>
            <a:r>
              <a:t>Lactic acidosis + hypoglycemia = organic acidemias or fatty acid oxidation defects</a:t>
            </a:r>
          </a:p>
          <a:p>
            <a:pPr>
              <a:spcBef>
                <a:spcPts val="400"/>
              </a:spcBef>
              <a:spcAft>
                <a:spcPts val="600"/>
              </a:spcAft>
              <a:defRPr sz="1600">
                <a:solidFill>
                  <a:srgbClr val="3D4455"/>
                </a:solidFill>
                <a:latin typeface="Calibri"/>
              </a:defRPr>
            </a:pPr>
            <a:r>
              <a:t>Treatment: STOP all protein intake immediately, give D10 + electrolytes at high rate (prevent catabolism)</a:t>
            </a:r>
          </a:p>
          <a:p>
            <a:pPr>
              <a:spcBef>
                <a:spcPts val="400"/>
              </a:spcBef>
              <a:spcAft>
                <a:spcPts val="600"/>
              </a:spcAft>
              <a:defRPr sz="1600">
                <a:solidFill>
                  <a:srgbClr val="3D4455"/>
                </a:solidFill>
                <a:latin typeface="Calibri"/>
              </a:defRPr>
            </a:pPr>
            <a:r>
              <a:t>For hyperammonemia: sodium benzoate + sodium phenylbutyrate; consider hemodialysis if ammonia &gt;500</a:t>
            </a:r>
          </a:p>
          <a:p>
            <a:pPr lvl="1">
              <a:spcBef>
                <a:spcPts val="400"/>
              </a:spcBef>
              <a:spcAft>
                <a:spcPts val="600"/>
              </a:spcAft>
              <a:defRPr sz="1400">
                <a:solidFill>
                  <a:srgbClr val="8A92A3"/>
                </a:solidFill>
                <a:latin typeface="Calibri"/>
              </a:defRPr>
            </a:pPr>
            <a:r>
              <a:t>If ammonia is &gt;200 in a neonate, call genetics and PICU immediately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Neonatal Resuscitation in the ED (Non-Delivery)</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KEY DIFFERENCES FROM OLDER CHILDREN</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Airway: larger occiput → sniffing position with shoulder roll</a:t>
            </a:r>
          </a:p>
          <a:p>
            <a:pPr>
              <a:spcAft>
                <a:spcPts val="500"/>
              </a:spcAft>
              <a:defRPr sz="1400">
                <a:solidFill>
                  <a:srgbClr val="3D4455"/>
                </a:solidFill>
                <a:latin typeface="Calibri"/>
              </a:defRPr>
            </a:pPr>
            <a:r>
              <a:t>ETT size: 3.0-3.5 cuffed for term neonate</a:t>
            </a:r>
          </a:p>
          <a:p>
            <a:pPr>
              <a:spcAft>
                <a:spcPts val="500"/>
              </a:spcAft>
              <a:defRPr sz="1400">
                <a:solidFill>
                  <a:srgbClr val="3D4455"/>
                </a:solidFill>
                <a:latin typeface="Calibri"/>
              </a:defRPr>
            </a:pPr>
            <a:r>
              <a:t>Compressions: 2-thumb encircling technique; 3:1 ratio (not 15:2)</a:t>
            </a:r>
          </a:p>
          <a:p>
            <a:pPr>
              <a:spcAft>
                <a:spcPts val="500"/>
              </a:spcAft>
              <a:defRPr sz="1400">
                <a:solidFill>
                  <a:srgbClr val="3D4455"/>
                </a:solidFill>
                <a:latin typeface="Calibri"/>
              </a:defRPr>
            </a:pPr>
            <a:r>
              <a:t>Epinephrine: 0.01-0.03 mg/kg IV/IO (1:10,000)</a:t>
            </a:r>
          </a:p>
          <a:p>
            <a:pPr>
              <a:spcAft>
                <a:spcPts val="500"/>
              </a:spcAft>
              <a:defRPr sz="1400">
                <a:solidFill>
                  <a:srgbClr val="3D4455"/>
                </a:solidFill>
                <a:latin typeface="Calibri"/>
              </a:defRPr>
            </a:pPr>
            <a:r>
              <a:t>Volume: 10 mL/kg NS bolus (not 20 mL/kg)</a:t>
            </a:r>
          </a:p>
          <a:p>
            <a:pPr>
              <a:spcAft>
                <a:spcPts val="500"/>
              </a:spcAft>
              <a:defRPr sz="1400">
                <a:solidFill>
                  <a:srgbClr val="3D4455"/>
                </a:solidFill>
                <a:latin typeface="Calibri"/>
              </a:defRPr>
            </a:pPr>
            <a:r>
              <a:t>Temperature: aggressive warming — radiant warmer, warm room, plastic wrap for preterm</a:t>
            </a:r>
          </a:p>
          <a:p>
            <a:pPr>
              <a:spcAft>
                <a:spcPts val="500"/>
              </a:spcAft>
              <a:defRPr sz="1400">
                <a:solidFill>
                  <a:srgbClr val="3D4455"/>
                </a:solidFill>
                <a:latin typeface="Calibri"/>
              </a:defRPr>
            </a:pPr>
            <a:r>
              <a:t>Glucose: D10W 2-5 mL/kg (not D25W — risk of hyperglycemia and osmotic injury)</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COMMON NEONATAL RESUSCITATION PITFALLS</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Using adult-size equipment</a:t>
            </a:r>
          </a:p>
          <a:p>
            <a:pPr>
              <a:spcAft>
                <a:spcPts val="500"/>
              </a:spcAft>
              <a:defRPr sz="1400">
                <a:solidFill>
                  <a:srgbClr val="3D4455"/>
                </a:solidFill>
                <a:latin typeface="Calibri"/>
              </a:defRPr>
            </a:pPr>
            <a:r>
              <a:t>Forgetting the shoulder roll (occiput is proportionally large)</a:t>
            </a:r>
          </a:p>
          <a:p>
            <a:pPr>
              <a:spcAft>
                <a:spcPts val="500"/>
              </a:spcAft>
              <a:defRPr sz="1400">
                <a:solidFill>
                  <a:srgbClr val="3D4455"/>
                </a:solidFill>
                <a:latin typeface="Calibri"/>
              </a:defRPr>
            </a:pPr>
            <a:r>
              <a:t>Giving D25W or D50W — too concentrated; use D10W in neonates</a:t>
            </a:r>
          </a:p>
          <a:p>
            <a:pPr>
              <a:spcAft>
                <a:spcPts val="500"/>
              </a:spcAft>
              <a:defRPr sz="1400">
                <a:solidFill>
                  <a:srgbClr val="3D4455"/>
                </a:solidFill>
                <a:latin typeface="Calibri"/>
              </a:defRPr>
            </a:pPr>
            <a:r>
              <a:t>Not checking glucose early</a:t>
            </a:r>
          </a:p>
          <a:p>
            <a:pPr>
              <a:spcAft>
                <a:spcPts val="500"/>
              </a:spcAft>
              <a:defRPr sz="1400">
                <a:solidFill>
                  <a:srgbClr val="3D4455"/>
                </a:solidFill>
                <a:latin typeface="Calibri"/>
              </a:defRPr>
            </a:pPr>
            <a:r>
              <a:t>Over-resuscitation with fluids (10 mL/kg boluses, not 20)</a:t>
            </a:r>
          </a:p>
          <a:p>
            <a:pPr>
              <a:spcAft>
                <a:spcPts val="500"/>
              </a:spcAft>
              <a:defRPr sz="1400">
                <a:solidFill>
                  <a:srgbClr val="3D4455"/>
                </a:solidFill>
                <a:latin typeface="Calibri"/>
              </a:defRPr>
            </a:pPr>
            <a:r>
              <a:t>Not starting antibiotics empirically</a:t>
            </a:r>
          </a:p>
          <a:p>
            <a:pPr>
              <a:spcAft>
                <a:spcPts val="500"/>
              </a:spcAft>
              <a:defRPr sz="1400">
                <a:solidFill>
                  <a:srgbClr val="3D4455"/>
                </a:solidFill>
                <a:latin typeface="Calibri"/>
              </a:defRPr>
            </a:pPr>
            <a:r>
              <a:t>Forgetting to maintain temperature</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Neonatal Jaundice: When It Is an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Physiologic jaundice: peaks at day 3-5, resolves by day 14 — COMMON and usually benign</a:t>
            </a:r>
          </a:p>
          <a:p>
            <a:pPr>
              <a:spcBef>
                <a:spcPts val="400"/>
              </a:spcBef>
              <a:spcAft>
                <a:spcPts val="600"/>
              </a:spcAft>
              <a:defRPr sz="1600">
                <a:solidFill>
                  <a:srgbClr val="3D4455"/>
                </a:solidFill>
                <a:latin typeface="Calibri"/>
              </a:defRPr>
            </a:pPr>
            <a:r>
              <a:t>Pathologic jaundice red flags:</a:t>
            </a:r>
          </a:p>
          <a:p>
            <a:pPr lvl="1">
              <a:spcBef>
                <a:spcPts val="400"/>
              </a:spcBef>
              <a:spcAft>
                <a:spcPts val="600"/>
              </a:spcAft>
              <a:defRPr sz="1400">
                <a:solidFill>
                  <a:srgbClr val="8A92A3"/>
                </a:solidFill>
                <a:latin typeface="Calibri"/>
              </a:defRPr>
            </a:pPr>
            <a:r>
              <a:t>Jaundice within first 24 hours of life (hemolytic disease)</a:t>
            </a:r>
          </a:p>
          <a:p>
            <a:pPr lvl="1">
              <a:spcBef>
                <a:spcPts val="400"/>
              </a:spcBef>
              <a:spcAft>
                <a:spcPts val="600"/>
              </a:spcAft>
              <a:defRPr sz="1400">
                <a:solidFill>
                  <a:srgbClr val="8A92A3"/>
                </a:solidFill>
                <a:latin typeface="Calibri"/>
              </a:defRPr>
            </a:pPr>
            <a:r>
              <a:t>Total bilirubin &gt;95th percentile for age (use Bhutani nomogram)</a:t>
            </a:r>
          </a:p>
          <a:p>
            <a:pPr lvl="1">
              <a:spcBef>
                <a:spcPts val="400"/>
              </a:spcBef>
              <a:spcAft>
                <a:spcPts val="600"/>
              </a:spcAft>
              <a:defRPr sz="1400">
                <a:solidFill>
                  <a:srgbClr val="8A92A3"/>
                </a:solidFill>
                <a:latin typeface="Calibri"/>
              </a:defRPr>
            </a:pPr>
            <a:r>
              <a:t>Rate of rise &gt;0.2 mg/dL/hour (rapidly rising)</a:t>
            </a:r>
          </a:p>
          <a:p>
            <a:pPr lvl="1">
              <a:spcBef>
                <a:spcPts val="400"/>
              </a:spcBef>
              <a:spcAft>
                <a:spcPts val="600"/>
              </a:spcAft>
              <a:defRPr sz="1400">
                <a:solidFill>
                  <a:srgbClr val="8A92A3"/>
                </a:solidFill>
                <a:latin typeface="Calibri"/>
              </a:defRPr>
            </a:pPr>
            <a:r>
              <a:t>Conjugated (direct) bilirubin &gt;1 mg/dL or &gt;20% of total (biliary atresia, sepsis)</a:t>
            </a:r>
          </a:p>
          <a:p>
            <a:pPr>
              <a:spcBef>
                <a:spcPts val="400"/>
              </a:spcBef>
              <a:spcAft>
                <a:spcPts val="600"/>
              </a:spcAft>
              <a:defRPr sz="1600">
                <a:solidFill>
                  <a:srgbClr val="3D4455"/>
                </a:solidFill>
                <a:latin typeface="Calibri"/>
              </a:defRPr>
            </a:pPr>
            <a:r>
              <a:t>Kernicterus: bilirubin-induced brain injury — devastating and preventable</a:t>
            </a:r>
          </a:p>
          <a:p>
            <a:pPr>
              <a:spcBef>
                <a:spcPts val="400"/>
              </a:spcBef>
              <a:spcAft>
                <a:spcPts val="600"/>
              </a:spcAft>
              <a:defRPr sz="1600">
                <a:solidFill>
                  <a:srgbClr val="3D4455"/>
                </a:solidFill>
                <a:latin typeface="Calibri"/>
              </a:defRPr>
            </a:pPr>
            <a:r>
              <a:t>Treatment: phototherapy (most cases); exchange transfusion if critically elevated</a:t>
            </a:r>
          </a:p>
          <a:p>
            <a:pPr lvl="1">
              <a:spcBef>
                <a:spcPts val="400"/>
              </a:spcBef>
              <a:spcAft>
                <a:spcPts val="600"/>
              </a:spcAft>
              <a:defRPr sz="1400">
                <a:solidFill>
                  <a:srgbClr val="8A92A3"/>
                </a:solidFill>
                <a:latin typeface="Calibri"/>
              </a:defRPr>
            </a:pPr>
            <a:r>
              <a:t>Any neonate &lt;24 hours old with visible jaundice needs URGENT bilirubin measurement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10-Day-Old with Grunting and Poor Feeding</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10-day-old full-term male presents with progressive lethargy and poor feeding over 24 hours. He was feeding well until yesterday. Born via uncomplicated vaginal delivery, GBS negative. On exam: gray, mottled, grunting, HR 190, RR 60, BP 55/30 (left arm), SpO2 78% (right hand), 65% (left foot), weak femoral pulses. Temperature 36.2°C (hypothermic).</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the pre/post-ductal SpO2 differential? (78% pre-ductal vs 65% post-ductal = &gt;3% difference → ductal-dependent)</a:t>
            </a:r>
          </a:p>
          <a:p>
            <a:pPr>
              <a:spcAft>
                <a:spcPts val="600"/>
              </a:spcAft>
              <a:defRPr sz="1400" b="1">
                <a:solidFill>
                  <a:srgbClr val="007B83"/>
                </a:solidFill>
                <a:latin typeface="Calibri"/>
              </a:defRPr>
            </a:pPr>
            <a:r>
              <a:t>▸  Most likely diagnosis? (Coarctation of the aorta or critical left-sided obstructive lesion → ductus is closing)</a:t>
            </a:r>
          </a:p>
          <a:p>
            <a:pPr>
              <a:spcAft>
                <a:spcPts val="600"/>
              </a:spcAft>
              <a:defRPr sz="1400" b="1">
                <a:solidFill>
                  <a:srgbClr val="007B83"/>
                </a:solidFill>
                <a:latin typeface="Calibri"/>
              </a:defRPr>
            </a:pPr>
            <a:r>
              <a:t>▸  Immediate management? (PGE1 0.05 mcg/kg/min IV, prepare for intubation, NS 10 mL/kg bolus for shock)</a:t>
            </a:r>
          </a:p>
          <a:p>
            <a:pPr>
              <a:spcAft>
                <a:spcPts val="600"/>
              </a:spcAft>
              <a:defRPr sz="1400" b="1">
                <a:solidFill>
                  <a:srgbClr val="007B83"/>
                </a:solidFill>
                <a:latin typeface="Calibri"/>
              </a:defRPr>
            </a:pPr>
            <a:r>
              <a:t>▸  Also: antibiotics (cannot exclude sepsis), glucose check, warm the baby, PICU and cardiology STAT</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Neonatal Emergency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Not checking glucose in every sick neonate — hypoglycemia is common, treatable, and causes brain injury</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Attributing neonatal collapse to "sepsis" without considering cardiac or metabolic causes — workup broadly</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starting PGE1 when cardiac disease is suspected — do not wait for the echo</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Using D25W or D50W in neonates — use D10W only to prevent osmotic brain injury</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to check ammonia in unexplained neonatal AMS or seizures — IEM is commonly missed</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maintaining temperature — hypothermia causes acidosis, coagulopathy, and worsens outcomes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Discharging a jaundiced neonate &lt;24 hours old without measuring bilirubin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The sick neonate differential: Sepsis, Cardiac, Metabolic, NAT, Surgical — workup broadly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Check glucose and temperature IMMEDIATELY in every sick neonate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PGE1 (0.05-0.1 mcg/kg/min) for suspected ductal-dependent cardiac disease — do not wait for echo</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Check ammonia in any neonate with unexplained AMS, seizures, or progressive deterioration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Empiric antibiotics (ampicillin + gentamicin ± acyclovir) within 30 minutes for any sick neonate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Defined by Weiner GM, ed. Textbook of Neonatal Resuscitation (NRP). 8th ed. AAP; 2021.</a:t>
            </a:r>
          </a:p>
          <a:p>
            <a:pPr>
              <a:spcAft>
                <a:spcPts val="400"/>
              </a:spcAft>
              <a:defRPr sz="1100">
                <a:solidFill>
                  <a:srgbClr val="3D4455"/>
                </a:solidFill>
                <a:latin typeface="Calibri"/>
              </a:defRPr>
            </a:pPr>
            <a:r>
              <a:t>2. Defined by Kemper AR, et al. Strategies for implementing screening for critical congenital heart disease. Pediatrics. 2011;128(5):e1259-e1267.</a:t>
            </a:r>
          </a:p>
          <a:p>
            <a:pPr>
              <a:spcAft>
                <a:spcPts val="400"/>
              </a:spcAft>
              <a:defRPr sz="1100">
                <a:solidFill>
                  <a:srgbClr val="3D4455"/>
                </a:solidFill>
                <a:latin typeface="Calibri"/>
              </a:defRPr>
            </a:pPr>
            <a:r>
              <a:t>3. Defined by Leonard JV, Morris AA. Diagnosis and early management of inborn errors of metabolism presenting around the time of birth. Acta Paediatr. 2006;95(1):6-14.</a:t>
            </a:r>
          </a:p>
          <a:p>
            <a:pPr>
              <a:spcAft>
                <a:spcPts val="400"/>
              </a:spcAft>
              <a:defRPr sz="1100">
                <a:solidFill>
                  <a:srgbClr val="3D4455"/>
                </a:solidFill>
                <a:latin typeface="Calibri"/>
              </a:defRPr>
            </a:pPr>
            <a:r>
              <a:t>4. Defined by AAP Subcommittee on Hyperbilirubinemia. Management of hyperbilirubinemia in the newborn infant 35 or more weeks of gestation. Pediatrics. 2004;114(1):297-316.</a:t>
            </a:r>
          </a:p>
          <a:p>
            <a:pPr>
              <a:spcAft>
                <a:spcPts val="400"/>
              </a:spcAft>
              <a:defRPr sz="1100">
                <a:solidFill>
                  <a:srgbClr val="3D4455"/>
                </a:solidFill>
                <a:latin typeface="Calibri"/>
              </a:defRPr>
            </a:pPr>
            <a:r>
              <a:t>5. Defined by Baird JS, et al. Neonatal emergencies. Pediatr Rev. 2022;43(5):249-261.</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Neonatal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