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this to frame urgency. Unlike adults where cardiac arrest is often primary, children almost always arrest from respiratory failure or shock. This means we have a window to intervene — but only if we recognize the problem early. Stress that the goal is to identify and treat BEFORE arrest.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 is the single most important tool in your PEM arsenal. Teach it as a doorway assessment. Appearance is the most sensitive for serious illness. An abnormal PAT means you move the child to resuscitation immediately. Practice this on every patient — not just the sick 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gold for pattern recognition. Walk through each row and give a clinical example. Cardiopulmonary failure with all three abnormal means arrest is imminent — this child needs immediate intervention. The beauty of PAT is it works without touching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ABCDE systematically. The key teaching point is that you stabilize each letter before moving to the next. Airway always comes first. Glucose is highlighted under D because it is the single most commonly missed reversible cause of altered mental status in children. Make it a reflex.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slide you will reference constantly. The minimum SBP formula for children 1-10 years is 70 + (2 × age in years). Remember that hypotension is a LATE sign — by the time BP drops, the child has lost 25-30% blood volume. Tachycardia is the earliest vital sign change in shock.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critical teaching slide. Hammer home that children compensate beautifully until they crash. Hypotension means the child has exhausted all compensatory mechanisms. Bradycardia in a child is a pre-arrest rhythm — never reassuring. Your job is to catch compensated shock and treat before decompensation.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validates clinical experience while reinforcing systematic approaches. Studies show that physician gestalt "this child looks sick" has reasonable sensitivity for serious illness but needs to be paired with objective assessment to avoid anchoring bias and premature closure.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most pediatric airways can be managed with positioning and BVM. The urge to intubate should be tempered by the reality that pediatric intubation has higher complication rates than adult intubation. A child who is maintaining their airway in tripod position should not be laid flat.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BVM error is hyperventilation — it increases intrathoracic pressure, reduces venous return, and worsens hemodynamics. Coach your team to use the slow squeeze-release-release technique. HFNC has revolutionized PEM management of respiratory distress and should be available in every resuscitation bay.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IO is your best friend in pediatric resuscitation. Two failed PIV attempts and 90 seconds is the standard threshold — then drill. Push fluids rapidly in hemorrhagic and septic shock, but be cautious in cardiogenic shock where fluid overload worsens the situation. After 40-60 mL/kg of crystalloid, if the child is not improving, you need pressors and likely PICU.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one thing from this deck, make it this: ALWAYS check glucose in the critically ill child. It takes 5 seconds and can be immediately life-saving. Hypoglycemia mimics nearly every neurologic emergency and is completely reversible. Use D10W in neonates to avoid osmotic injury.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Fellows often hesitate to call for help. Reframe this: calling early is a sign of competence, not weakness. The PICU team would rather be called early for a child they can stabilize than late for a child in full arrest. Create a low threshold for activating additional resources.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Crew Resource Management from aviation saves lives in medicine. The team leader stands at the foot of the bed, oversees everything, and does not get pulled into tasks. Closed-loop communication prevents errors. Debriefing is critical for team learning and emotional processing. Make it a habit after every resuscitation.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cognitive biases are well-described in emergency medicine literature. The antidote is systematic assessment with forced reassessment at defined intervals. Encourage the team to challenge assumptions. A diagnostic time-out every 5-10 minutes during resuscitation helps break anchoring.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case interactively. Let the audience identify the PAT pattern first. This is classic decompensated septic shock. Key teaching: the BP is technically "normal" for age but with other signs of poor perfusion, this child is in shock. Do not be falsely reassured by a normal BP in a child with tachycardia and poor perfusion.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 the case by highlighting the critical decision points. The glucose check changing management is a powerful teaching moment. Emphasize that fluid-refractory shock requires vasopressors — do not keep giving fluid beyond 60 mL/kg hoping it will work. This child survived with good outcome because of rapid, systematic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01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Approach to the Critically Ill Child in the ED</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Systematic Recognition, Stabilization, and Resuscitation in Pediatric Emergency Medicine</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the critically ill child within 15 seconds using the Pediatric Assessment Triangle</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Apply the structured ABCDE approach to pediatric stabilization</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Differentiate compensated from decompensated physiologic states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Implement team-based resuscitation principles in pediatric emergencies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common cognitive errors that delay recognition of critical illness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Why This Matters in PEM</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Children compensate until they crash — the window to intervene is narrow</a:t>
            </a:r>
          </a:p>
          <a:p>
            <a:pPr>
              <a:spcBef>
                <a:spcPts val="400"/>
              </a:spcBef>
              <a:spcAft>
                <a:spcPts val="600"/>
              </a:spcAft>
              <a:defRPr sz="1600">
                <a:solidFill>
                  <a:srgbClr val="3D4455"/>
                </a:solidFill>
                <a:latin typeface="Calibri"/>
              </a:defRPr>
            </a:pPr>
            <a:r>
              <a:t>Pediatric cardiac arrest survival with good neurologic outcome: ~10-15%</a:t>
            </a:r>
          </a:p>
          <a:p>
            <a:pPr>
              <a:spcBef>
                <a:spcPts val="400"/>
              </a:spcBef>
              <a:spcAft>
                <a:spcPts val="600"/>
              </a:spcAft>
              <a:defRPr sz="1600">
                <a:solidFill>
                  <a:srgbClr val="3D4455"/>
                </a:solidFill>
                <a:latin typeface="Calibri"/>
              </a:defRPr>
            </a:pPr>
            <a:r>
              <a:t>Most pediatric arrests are respiratory in origin — early recognition prevents arrest</a:t>
            </a:r>
          </a:p>
          <a:p>
            <a:pPr>
              <a:spcBef>
                <a:spcPts val="400"/>
              </a:spcBef>
              <a:spcAft>
                <a:spcPts val="600"/>
              </a:spcAft>
              <a:defRPr sz="1600">
                <a:solidFill>
                  <a:srgbClr val="3D4455"/>
                </a:solidFill>
                <a:latin typeface="Calibri"/>
              </a:defRPr>
            </a:pPr>
            <a:r>
              <a:t>The first 5 minutes of your assessment determine the trajectory</a:t>
            </a:r>
          </a:p>
          <a:p>
            <a:pPr lvl="1">
              <a:spcBef>
                <a:spcPts val="400"/>
              </a:spcBef>
              <a:spcAft>
                <a:spcPts val="600"/>
              </a:spcAft>
              <a:defRPr sz="1400">
                <a:solidFill>
                  <a:srgbClr val="8A92A3"/>
                </a:solidFill>
                <a:latin typeface="Calibri"/>
              </a:defRPr>
            </a:pPr>
            <a:r>
              <a:t>Delayed recognition of critical illness is the #1 preventable error in PEM</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Pediatric Assessment Triangle (PAT)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The 15-second "across the room" assessment — no stethoscope needed</a:t>
            </a:r>
          </a:p>
          <a:p>
            <a:pPr>
              <a:spcBef>
                <a:spcPts val="400"/>
              </a:spcBef>
              <a:spcAft>
                <a:spcPts val="600"/>
              </a:spcAft>
              <a:defRPr sz="1600">
                <a:solidFill>
                  <a:srgbClr val="3D4455"/>
                </a:solidFill>
                <a:latin typeface="Calibri"/>
              </a:defRPr>
            </a:pPr>
            <a:r>
              <a:t>APPEARANCE: tone, interactiveness, consolability, look/gaze, speech/cry (TICLS)</a:t>
            </a:r>
          </a:p>
          <a:p>
            <a:pPr lvl="1">
              <a:spcBef>
                <a:spcPts val="400"/>
              </a:spcBef>
              <a:spcAft>
                <a:spcPts val="600"/>
              </a:spcAft>
              <a:defRPr sz="1400">
                <a:solidFill>
                  <a:srgbClr val="8A92A3"/>
                </a:solidFill>
                <a:latin typeface="Calibri"/>
              </a:defRPr>
            </a:pPr>
            <a:r>
              <a:t>Abnormal appearance is the most sensitive indicator of critical illness</a:t>
            </a:r>
          </a:p>
          <a:p>
            <a:pPr>
              <a:spcBef>
                <a:spcPts val="400"/>
              </a:spcBef>
              <a:spcAft>
                <a:spcPts val="600"/>
              </a:spcAft>
              <a:defRPr sz="1600">
                <a:solidFill>
                  <a:srgbClr val="3D4455"/>
                </a:solidFill>
                <a:latin typeface="Calibri"/>
              </a:defRPr>
            </a:pPr>
            <a:r>
              <a:t>WORK OF BREATHING: nasal flaring, retractions, head bobbing, audible sounds, positioning</a:t>
            </a:r>
          </a:p>
          <a:p>
            <a:pPr>
              <a:spcBef>
                <a:spcPts val="400"/>
              </a:spcBef>
              <a:spcAft>
                <a:spcPts val="600"/>
              </a:spcAft>
              <a:defRPr sz="1600">
                <a:solidFill>
                  <a:srgbClr val="3D4455"/>
                </a:solidFill>
                <a:latin typeface="Calibri"/>
              </a:defRPr>
            </a:pPr>
            <a:r>
              <a:t>CIRCULATION TO SKIN: pallor, mottling, cyanosis, delayed cap refill visible from doorway</a:t>
            </a:r>
          </a:p>
          <a:p>
            <a:pPr>
              <a:spcBef>
                <a:spcPts val="400"/>
              </a:spcBef>
              <a:spcAft>
                <a:spcPts val="600"/>
              </a:spcAft>
              <a:defRPr sz="1600">
                <a:solidFill>
                  <a:srgbClr val="3D4455"/>
                </a:solidFill>
                <a:latin typeface="Calibri"/>
              </a:defRPr>
            </a:pPr>
            <a:r>
              <a:t>Abnormality in any ONE component = potentially critical — act now</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PAT Interpretation — Pattern Recognition</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PAT Pattern</a:t>
                      </a:r>
                    </a:p>
                  </a:txBody>
                  <a:tcPr>
                    <a:solidFill>
                      <a:srgbClr val="007B83"/>
                    </a:solidFill>
                  </a:tcPr>
                </a:tc>
                <a:tc>
                  <a:txBody>
                    <a:bodyPr/>
                    <a:lstStyle/>
                    <a:p>
                      <a:pPr algn="ctr">
                        <a:defRPr sz="1300" b="1">
                          <a:solidFill>
                            <a:srgbClr val="FFFFFF"/>
                          </a:solidFill>
                          <a:latin typeface="Calibri"/>
                        </a:defRPr>
                      </a:pPr>
                      <a:r>
                        <a:t>Appearance</a:t>
                      </a:r>
                    </a:p>
                  </a:txBody>
                  <a:tcPr>
                    <a:solidFill>
                      <a:srgbClr val="007B83"/>
                    </a:solidFill>
                  </a:tcPr>
                </a:tc>
                <a:tc>
                  <a:txBody>
                    <a:bodyPr/>
                    <a:lstStyle/>
                    <a:p>
                      <a:pPr algn="ctr">
                        <a:defRPr sz="1300" b="1">
                          <a:solidFill>
                            <a:srgbClr val="FFFFFF"/>
                          </a:solidFill>
                          <a:latin typeface="Calibri"/>
                        </a:defRPr>
                      </a:pPr>
                      <a:r>
                        <a:t>Breathing</a:t>
                      </a:r>
                    </a:p>
                  </a:txBody>
                  <a:tcPr>
                    <a:solidFill>
                      <a:srgbClr val="007B83"/>
                    </a:solidFill>
                  </a:tcPr>
                </a:tc>
                <a:tc>
                  <a:txBody>
                    <a:bodyPr/>
                    <a:lstStyle/>
                    <a:p>
                      <a:pPr algn="ctr">
                        <a:defRPr sz="1300" b="1">
                          <a:solidFill>
                            <a:srgbClr val="FFFFFF"/>
                          </a:solidFill>
                          <a:latin typeface="Calibri"/>
                        </a:defRPr>
                      </a:pPr>
                      <a:r>
                        <a:t>Circulation</a:t>
                      </a:r>
                    </a:p>
                  </a:txBody>
                  <a:tcPr>
                    <a:solidFill>
                      <a:srgbClr val="007B83"/>
                    </a:solidFill>
                  </a:tcPr>
                </a:tc>
                <a:tc>
                  <a:txBody>
                    <a:bodyPr/>
                    <a:lstStyle/>
                    <a:p>
                      <a:pPr algn="ctr">
                        <a:defRPr sz="1300" b="1">
                          <a:solidFill>
                            <a:srgbClr val="FFFFFF"/>
                          </a:solidFill>
                          <a:latin typeface="Calibri"/>
                        </a:defRPr>
                      </a:pPr>
                      <a:r>
                        <a:t>Likely Category</a:t>
                      </a:r>
                    </a:p>
                  </a:txBody>
                  <a:tcPr>
                    <a:solidFill>
                      <a:srgbClr val="007B83"/>
                    </a:solidFill>
                  </a:tcPr>
                </a:tc>
              </a:tr>
              <a:tr h="457200">
                <a:tc>
                  <a:txBody>
                    <a:bodyPr/>
                    <a:lstStyle/>
                    <a:p>
                      <a:pPr algn="l">
                        <a:defRPr sz="1200">
                          <a:solidFill>
                            <a:srgbClr val="3D4455"/>
                          </a:solidFill>
                          <a:latin typeface="Calibri"/>
                        </a:defRPr>
                      </a:pPr>
                      <a:r>
                        <a:t>Stable</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Non-urgent</a:t>
                      </a:r>
                    </a:p>
                  </a:txBody>
                  <a:tcPr>
                    <a:solidFill>
                      <a:srgbClr val="F5F6FA"/>
                    </a:solidFill>
                  </a:tcPr>
                </a:tc>
              </a:tr>
              <a:tr h="457200">
                <a:tc>
                  <a:txBody>
                    <a:bodyPr/>
                    <a:lstStyle/>
                    <a:p>
                      <a:pPr algn="l">
                        <a:defRPr sz="1200">
                          <a:solidFill>
                            <a:srgbClr val="3D4455"/>
                          </a:solidFill>
                          <a:latin typeface="Calibri"/>
                        </a:defRPr>
                      </a:pPr>
                      <a:r>
                        <a:t>Resp Distress</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Abnormal</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Primary respiratory</a:t>
                      </a:r>
                    </a:p>
                  </a:txBody>
                  <a:tcPr>
                    <a:solidFill>
                      <a:srgbClr val="FFFFFF"/>
                    </a:solidFill>
                  </a:tcPr>
                </a:tc>
              </a:tr>
              <a:tr h="457200">
                <a:tc>
                  <a:txBody>
                    <a:bodyPr/>
                    <a:lstStyle/>
                    <a:p>
                      <a:pPr algn="l">
                        <a:defRPr sz="1200">
                          <a:solidFill>
                            <a:srgbClr val="3D4455"/>
                          </a:solidFill>
                          <a:latin typeface="Calibri"/>
                        </a:defRPr>
                      </a:pPr>
                      <a:r>
                        <a:t>Resp Failure</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Respiratory → intervene now</a:t>
                      </a:r>
                    </a:p>
                  </a:txBody>
                  <a:tcPr>
                    <a:solidFill>
                      <a:srgbClr val="F5F6FA"/>
                    </a:solidFill>
                  </a:tcPr>
                </a:tc>
              </a:tr>
              <a:tr h="457200">
                <a:tc>
                  <a:txBody>
                    <a:bodyPr/>
                    <a:lstStyle/>
                    <a:p>
                      <a:pPr algn="l">
                        <a:defRPr sz="1200">
                          <a:solidFill>
                            <a:srgbClr val="3D4455"/>
                          </a:solidFill>
                          <a:latin typeface="Calibri"/>
                        </a:defRPr>
                      </a:pPr>
                      <a:r>
                        <a:t>Shock (comp)</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Abnormal</a:t>
                      </a:r>
                    </a:p>
                  </a:txBody>
                  <a:tcPr>
                    <a:solidFill>
                      <a:srgbClr val="FFFFFF"/>
                    </a:solidFill>
                  </a:tcPr>
                </a:tc>
                <a:tc>
                  <a:txBody>
                    <a:bodyPr/>
                    <a:lstStyle/>
                    <a:p>
                      <a:pPr algn="l">
                        <a:defRPr sz="1200">
                          <a:solidFill>
                            <a:srgbClr val="3D4455"/>
                          </a:solidFill>
                          <a:latin typeface="Calibri"/>
                        </a:defRPr>
                      </a:pPr>
                      <a:r>
                        <a:t>Compensated shock</a:t>
                      </a:r>
                    </a:p>
                  </a:txBody>
                  <a:tcPr>
                    <a:solidFill>
                      <a:srgbClr val="FFFFFF"/>
                    </a:solidFill>
                  </a:tcPr>
                </a:tc>
              </a:tr>
              <a:tr h="457200">
                <a:tc>
                  <a:txBody>
                    <a:bodyPr/>
                    <a:lstStyle/>
                    <a:p>
                      <a:pPr algn="l">
                        <a:defRPr sz="1200">
                          <a:solidFill>
                            <a:srgbClr val="3D4455"/>
                          </a:solidFill>
                          <a:latin typeface="Calibri"/>
                        </a:defRPr>
                      </a:pPr>
                      <a:r>
                        <a:t>Shock (decomp)</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Decompensated shock</a:t>
                      </a:r>
                    </a:p>
                  </a:txBody>
                  <a:tcPr>
                    <a:solidFill>
                      <a:srgbClr val="F5F6FA"/>
                    </a:solidFill>
                  </a:tcPr>
                </a:tc>
              </a:tr>
              <a:tr h="457200">
                <a:tc>
                  <a:txBody>
                    <a:bodyPr/>
                    <a:lstStyle/>
                    <a:p>
                      <a:pPr algn="l">
                        <a:defRPr sz="1200">
                          <a:solidFill>
                            <a:srgbClr val="3D4455"/>
                          </a:solidFill>
                          <a:latin typeface="Calibri"/>
                        </a:defRPr>
                      </a:pPr>
                      <a:r>
                        <a:t>CNS/Metabolic</a:t>
                      </a:r>
                    </a:p>
                  </a:txBody>
                  <a:tcPr>
                    <a:solidFill>
                      <a:srgbClr val="FFFFFF"/>
                    </a:solidFill>
                  </a:tcPr>
                </a:tc>
                <a:tc>
                  <a:txBody>
                    <a:bodyPr/>
                    <a:lstStyle/>
                    <a:p>
                      <a:pPr algn="l">
                        <a:defRPr sz="1200">
                          <a:solidFill>
                            <a:srgbClr val="3D4455"/>
                          </a:solidFill>
                          <a:latin typeface="Calibri"/>
                        </a:defRPr>
                      </a:pPr>
                      <a:r>
                        <a:t>Abnormal</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Neuro or metabolic</a:t>
                      </a:r>
                    </a:p>
                  </a:txBody>
                  <a:tcPr>
                    <a:solidFill>
                      <a:srgbClr val="FFFFFF"/>
                    </a:solidFill>
                  </a:tcPr>
                </a:tc>
              </a:tr>
              <a:tr h="457200">
                <a:tc>
                  <a:txBody>
                    <a:bodyPr/>
                    <a:lstStyle/>
                    <a:p>
                      <a:pPr algn="l">
                        <a:defRPr sz="1200">
                          <a:solidFill>
                            <a:srgbClr val="3D4455"/>
                          </a:solidFill>
                          <a:latin typeface="Calibri"/>
                        </a:defRPr>
                      </a:pPr>
                      <a:r>
                        <a:t>Cardiopulm Fail</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Abnormal</a:t>
                      </a:r>
                    </a:p>
                  </a:txBody>
                  <a:tcPr>
                    <a:solidFill>
                      <a:srgbClr val="F5F6FA"/>
                    </a:solidFill>
                  </a:tcPr>
                </a:tc>
                <a:tc>
                  <a:txBody>
                    <a:bodyPr/>
                    <a:lstStyle/>
                    <a:p>
                      <a:pPr algn="l">
                        <a:defRPr sz="1200">
                          <a:solidFill>
                            <a:srgbClr val="3D4455"/>
                          </a:solidFill>
                          <a:latin typeface="Calibri"/>
                        </a:defRPr>
                      </a:pPr>
                      <a:r>
                        <a:t>Imminent arrest</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First 5 Minutes: ABCDE Framework</a:t>
            </a:r>
          </a:p>
        </p:txBody>
      </p:sp>
      <p:sp>
        <p:nvSpPr>
          <p:cNvPr id="5" name="Rounded Rectangle 4"/>
          <p:cNvSpPr/>
          <p:nvPr/>
        </p:nvSpPr>
        <p:spPr>
          <a:xfrm>
            <a:off x="2286000" y="1371600"/>
            <a:ext cx="7315200" cy="64008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A — Airway: position, suction, adjuncts; is it patent and maintainable?</a:t>
            </a:r>
          </a:p>
        </p:txBody>
      </p:sp>
      <p:sp>
        <p:nvSpPr>
          <p:cNvPr id="6" name="Down Arrow 5"/>
          <p:cNvSpPr/>
          <p:nvPr/>
        </p:nvSpPr>
        <p:spPr>
          <a:xfrm>
            <a:off x="5760720" y="201168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0" y="2240280"/>
            <a:ext cx="7315200" cy="64008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B — Breathing: RR, SpO2, auscultation; give O2 if any concern</a:t>
            </a:r>
          </a:p>
        </p:txBody>
      </p:sp>
      <p:sp>
        <p:nvSpPr>
          <p:cNvPr id="8" name="Down Arrow 7"/>
          <p:cNvSpPr/>
          <p:nvPr/>
        </p:nvSpPr>
        <p:spPr>
          <a:xfrm>
            <a:off x="5760720" y="288036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0" y="3108960"/>
            <a:ext cx="7315200" cy="6400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C — Circulation: HR, pulses, cap refill, BP; establish IV/IO access</a:t>
            </a:r>
          </a:p>
        </p:txBody>
      </p:sp>
      <p:sp>
        <p:nvSpPr>
          <p:cNvPr id="10" name="Down Arrow 9"/>
          <p:cNvSpPr/>
          <p:nvPr/>
        </p:nvSpPr>
        <p:spPr>
          <a:xfrm>
            <a:off x="5760720" y="3749039"/>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0" y="3977639"/>
            <a:ext cx="7315200" cy="64008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D — Disability: AVPU, pupils, glucose — CHECK GLUCOSE EVERY TIME</a:t>
            </a:r>
          </a:p>
        </p:txBody>
      </p:sp>
      <p:sp>
        <p:nvSpPr>
          <p:cNvPr id="12" name="Down Arrow 11"/>
          <p:cNvSpPr/>
          <p:nvPr/>
        </p:nvSpPr>
        <p:spPr>
          <a:xfrm>
            <a:off x="5760720" y="461772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286000" y="4846320"/>
            <a:ext cx="7315200" cy="64008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E — Exposure: fully undress, temp, head-to-toe; prevent hypothermia</a:t>
            </a:r>
          </a:p>
        </p:txBody>
      </p:sp>
      <p:sp>
        <p:nvSpPr>
          <p:cNvPr id="14" name="Rectangle 13"/>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6" name="TextBox 15"/>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Normal Vital Signs by Age — Know Your Norms</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Age</a:t>
                      </a:r>
                    </a:p>
                  </a:txBody>
                  <a:tcPr>
                    <a:solidFill>
                      <a:srgbClr val="007B83"/>
                    </a:solidFill>
                  </a:tcPr>
                </a:tc>
                <a:tc>
                  <a:txBody>
                    <a:bodyPr/>
                    <a:lstStyle/>
                    <a:p>
                      <a:pPr algn="ctr">
                        <a:defRPr sz="1300" b="1">
                          <a:solidFill>
                            <a:srgbClr val="FFFFFF"/>
                          </a:solidFill>
                          <a:latin typeface="Calibri"/>
                        </a:defRPr>
                      </a:pPr>
                      <a:r>
                        <a:t>Heart Rate</a:t>
                      </a:r>
                    </a:p>
                  </a:txBody>
                  <a:tcPr>
                    <a:solidFill>
                      <a:srgbClr val="007B83"/>
                    </a:solidFill>
                  </a:tcPr>
                </a:tc>
                <a:tc>
                  <a:txBody>
                    <a:bodyPr/>
                    <a:lstStyle/>
                    <a:p>
                      <a:pPr algn="ctr">
                        <a:defRPr sz="1300" b="1">
                          <a:solidFill>
                            <a:srgbClr val="FFFFFF"/>
                          </a:solidFill>
                          <a:latin typeface="Calibri"/>
                        </a:defRPr>
                      </a:pPr>
                      <a:r>
                        <a:t>Respiratory Rate</a:t>
                      </a:r>
                    </a:p>
                  </a:txBody>
                  <a:tcPr>
                    <a:solidFill>
                      <a:srgbClr val="007B83"/>
                    </a:solidFill>
                  </a:tcPr>
                </a:tc>
                <a:tc>
                  <a:txBody>
                    <a:bodyPr/>
                    <a:lstStyle/>
                    <a:p>
                      <a:pPr algn="ctr">
                        <a:defRPr sz="1300" b="1">
                          <a:solidFill>
                            <a:srgbClr val="FFFFFF"/>
                          </a:solidFill>
                          <a:latin typeface="Calibri"/>
                        </a:defRPr>
                      </a:pPr>
                      <a:r>
                        <a:t>Systolic BP (5th %ile)</a:t>
                      </a:r>
                    </a:p>
                  </a:txBody>
                  <a:tcPr>
                    <a:solidFill>
                      <a:srgbClr val="007B83"/>
                    </a:solidFill>
                  </a:tcPr>
                </a:tc>
                <a:tc>
                  <a:txBody>
                    <a:bodyPr/>
                    <a:lstStyle/>
                    <a:p>
                      <a:pPr algn="ctr">
                        <a:defRPr sz="1300" b="1">
                          <a:solidFill>
                            <a:srgbClr val="FFFFFF"/>
                          </a:solidFill>
                          <a:latin typeface="Calibri"/>
                        </a:defRPr>
                      </a:pPr>
                      <a:r>
                        <a:t>Min SBP Alert</a:t>
                      </a:r>
                    </a:p>
                  </a:txBody>
                  <a:tcPr>
                    <a:solidFill>
                      <a:srgbClr val="007B83"/>
                    </a:solidFill>
                  </a:tcPr>
                </a:tc>
              </a:tr>
              <a:tr h="457200">
                <a:tc>
                  <a:txBody>
                    <a:bodyPr/>
                    <a:lstStyle/>
                    <a:p>
                      <a:pPr algn="l">
                        <a:defRPr sz="1200">
                          <a:solidFill>
                            <a:srgbClr val="3D4455"/>
                          </a:solidFill>
                          <a:latin typeface="Calibri"/>
                        </a:defRPr>
                      </a:pPr>
                      <a:r>
                        <a:t>Neonate</a:t>
                      </a:r>
                    </a:p>
                  </a:txBody>
                  <a:tcPr>
                    <a:solidFill>
                      <a:srgbClr val="F5F6FA"/>
                    </a:solidFill>
                  </a:tcPr>
                </a:tc>
                <a:tc>
                  <a:txBody>
                    <a:bodyPr/>
                    <a:lstStyle/>
                    <a:p>
                      <a:pPr algn="l">
                        <a:defRPr sz="1200">
                          <a:solidFill>
                            <a:srgbClr val="3D4455"/>
                          </a:solidFill>
                          <a:latin typeface="Calibri"/>
                        </a:defRPr>
                      </a:pPr>
                      <a:r>
                        <a:t>120-160</a:t>
                      </a:r>
                    </a:p>
                  </a:txBody>
                  <a:tcPr>
                    <a:solidFill>
                      <a:srgbClr val="F5F6FA"/>
                    </a:solidFill>
                  </a:tcPr>
                </a:tc>
                <a:tc>
                  <a:txBody>
                    <a:bodyPr/>
                    <a:lstStyle/>
                    <a:p>
                      <a:pPr algn="l">
                        <a:defRPr sz="1200">
                          <a:solidFill>
                            <a:srgbClr val="3D4455"/>
                          </a:solidFill>
                          <a:latin typeface="Calibri"/>
                        </a:defRPr>
                      </a:pPr>
                      <a:r>
                        <a:t>30-60</a:t>
                      </a:r>
                    </a:p>
                  </a:txBody>
                  <a:tcPr>
                    <a:solidFill>
                      <a:srgbClr val="F5F6FA"/>
                    </a:solidFill>
                  </a:tcPr>
                </a:tc>
                <a:tc>
                  <a:txBody>
                    <a:bodyPr/>
                    <a:lstStyle/>
                    <a:p>
                      <a:pPr algn="l">
                        <a:defRPr sz="1200">
                          <a:solidFill>
                            <a:srgbClr val="3D4455"/>
                          </a:solidFill>
                          <a:latin typeface="Calibri"/>
                        </a:defRPr>
                      </a:pPr>
                      <a:r>
                        <a:t>60-70</a:t>
                      </a:r>
                    </a:p>
                  </a:txBody>
                  <a:tcPr>
                    <a:solidFill>
                      <a:srgbClr val="F5F6FA"/>
                    </a:solidFill>
                  </a:tcPr>
                </a:tc>
                <a:tc>
                  <a:txBody>
                    <a:bodyPr/>
                    <a:lstStyle/>
                    <a:p>
                      <a:pPr algn="l">
                        <a:defRPr sz="1200">
                          <a:solidFill>
                            <a:srgbClr val="3D4455"/>
                          </a:solidFill>
                          <a:latin typeface="Calibri"/>
                        </a:defRPr>
                      </a:pPr>
                      <a:r>
                        <a:t>&lt;60</a:t>
                      </a:r>
                    </a:p>
                  </a:txBody>
                  <a:tcPr>
                    <a:solidFill>
                      <a:srgbClr val="F5F6FA"/>
                    </a:solidFill>
                  </a:tcPr>
                </a:tc>
              </a:tr>
              <a:tr h="457200">
                <a:tc>
                  <a:txBody>
                    <a:bodyPr/>
                    <a:lstStyle/>
                    <a:p>
                      <a:pPr algn="l">
                        <a:defRPr sz="1200">
                          <a:solidFill>
                            <a:srgbClr val="3D4455"/>
                          </a:solidFill>
                          <a:latin typeface="Calibri"/>
                        </a:defRPr>
                      </a:pPr>
                      <a:r>
                        <a:t>Infant (1-12mo)</a:t>
                      </a:r>
                    </a:p>
                  </a:txBody>
                  <a:tcPr>
                    <a:solidFill>
                      <a:srgbClr val="FFFFFF"/>
                    </a:solidFill>
                  </a:tcPr>
                </a:tc>
                <a:tc>
                  <a:txBody>
                    <a:bodyPr/>
                    <a:lstStyle/>
                    <a:p>
                      <a:pPr algn="l">
                        <a:defRPr sz="1200">
                          <a:solidFill>
                            <a:srgbClr val="3D4455"/>
                          </a:solidFill>
                          <a:latin typeface="Calibri"/>
                        </a:defRPr>
                      </a:pPr>
                      <a:r>
                        <a:t>100-150</a:t>
                      </a:r>
                    </a:p>
                  </a:txBody>
                  <a:tcPr>
                    <a:solidFill>
                      <a:srgbClr val="FFFFFF"/>
                    </a:solidFill>
                  </a:tcPr>
                </a:tc>
                <a:tc>
                  <a:txBody>
                    <a:bodyPr/>
                    <a:lstStyle/>
                    <a:p>
                      <a:pPr algn="l">
                        <a:defRPr sz="1200">
                          <a:solidFill>
                            <a:srgbClr val="3D4455"/>
                          </a:solidFill>
                          <a:latin typeface="Calibri"/>
                        </a:defRPr>
                      </a:pPr>
                      <a:r>
                        <a:t>25-40</a:t>
                      </a:r>
                    </a:p>
                  </a:txBody>
                  <a:tcPr>
                    <a:solidFill>
                      <a:srgbClr val="FFFFFF"/>
                    </a:solidFill>
                  </a:tcPr>
                </a:tc>
                <a:tc>
                  <a:txBody>
                    <a:bodyPr/>
                    <a:lstStyle/>
                    <a:p>
                      <a:pPr algn="l">
                        <a:defRPr sz="1200">
                          <a:solidFill>
                            <a:srgbClr val="3D4455"/>
                          </a:solidFill>
                          <a:latin typeface="Calibri"/>
                        </a:defRPr>
                      </a:pPr>
                      <a:r>
                        <a:t>70-80</a:t>
                      </a:r>
                    </a:p>
                  </a:txBody>
                  <a:tcPr>
                    <a:solidFill>
                      <a:srgbClr val="FFFFFF"/>
                    </a:solidFill>
                  </a:tcPr>
                </a:tc>
                <a:tc>
                  <a:txBody>
                    <a:bodyPr/>
                    <a:lstStyle/>
                    <a:p>
                      <a:pPr algn="l">
                        <a:defRPr sz="1200">
                          <a:solidFill>
                            <a:srgbClr val="3D4455"/>
                          </a:solidFill>
                          <a:latin typeface="Calibri"/>
                        </a:defRPr>
                      </a:pPr>
                      <a:r>
                        <a:t>&lt;70</a:t>
                      </a:r>
                    </a:p>
                  </a:txBody>
                  <a:tcPr>
                    <a:solidFill>
                      <a:srgbClr val="FFFFFF"/>
                    </a:solidFill>
                  </a:tcPr>
                </a:tc>
              </a:tr>
              <a:tr h="457200">
                <a:tc>
                  <a:txBody>
                    <a:bodyPr/>
                    <a:lstStyle/>
                    <a:p>
                      <a:pPr algn="l">
                        <a:defRPr sz="1200">
                          <a:solidFill>
                            <a:srgbClr val="3D4455"/>
                          </a:solidFill>
                          <a:latin typeface="Calibri"/>
                        </a:defRPr>
                      </a:pPr>
                      <a:r>
                        <a:t>Toddler (1-3y)</a:t>
                      </a:r>
                    </a:p>
                  </a:txBody>
                  <a:tcPr>
                    <a:solidFill>
                      <a:srgbClr val="F5F6FA"/>
                    </a:solidFill>
                  </a:tcPr>
                </a:tc>
                <a:tc>
                  <a:txBody>
                    <a:bodyPr/>
                    <a:lstStyle/>
                    <a:p>
                      <a:pPr algn="l">
                        <a:defRPr sz="1200">
                          <a:solidFill>
                            <a:srgbClr val="3D4455"/>
                          </a:solidFill>
                          <a:latin typeface="Calibri"/>
                        </a:defRPr>
                      </a:pPr>
                      <a:r>
                        <a:t>90-140</a:t>
                      </a:r>
                    </a:p>
                  </a:txBody>
                  <a:tcPr>
                    <a:solidFill>
                      <a:srgbClr val="F5F6FA"/>
                    </a:solidFill>
                  </a:tcPr>
                </a:tc>
                <a:tc>
                  <a:txBody>
                    <a:bodyPr/>
                    <a:lstStyle/>
                    <a:p>
                      <a:pPr algn="l">
                        <a:defRPr sz="1200">
                          <a:solidFill>
                            <a:srgbClr val="3D4455"/>
                          </a:solidFill>
                          <a:latin typeface="Calibri"/>
                        </a:defRPr>
                      </a:pPr>
                      <a:r>
                        <a:t>20-30</a:t>
                      </a:r>
                    </a:p>
                  </a:txBody>
                  <a:tcPr>
                    <a:solidFill>
                      <a:srgbClr val="F5F6FA"/>
                    </a:solidFill>
                  </a:tcPr>
                </a:tc>
                <a:tc>
                  <a:txBody>
                    <a:bodyPr/>
                    <a:lstStyle/>
                    <a:p>
                      <a:pPr algn="l">
                        <a:defRPr sz="1200">
                          <a:solidFill>
                            <a:srgbClr val="3D4455"/>
                          </a:solidFill>
                          <a:latin typeface="Calibri"/>
                        </a:defRPr>
                      </a:pPr>
                      <a:r>
                        <a:t>80-90</a:t>
                      </a:r>
                    </a:p>
                  </a:txBody>
                  <a:tcPr>
                    <a:solidFill>
                      <a:srgbClr val="F5F6FA"/>
                    </a:solidFill>
                  </a:tcPr>
                </a:tc>
                <a:tc>
                  <a:txBody>
                    <a:bodyPr/>
                    <a:lstStyle/>
                    <a:p>
                      <a:pPr algn="l">
                        <a:defRPr sz="1200">
                          <a:solidFill>
                            <a:srgbClr val="3D4455"/>
                          </a:solidFill>
                          <a:latin typeface="Calibri"/>
                        </a:defRPr>
                      </a:pPr>
                      <a:r>
                        <a:t>&lt;70 + (2×age)</a:t>
                      </a:r>
                    </a:p>
                  </a:txBody>
                  <a:tcPr>
                    <a:solidFill>
                      <a:srgbClr val="F5F6FA"/>
                    </a:solidFill>
                  </a:tcPr>
                </a:tc>
              </a:tr>
              <a:tr h="457200">
                <a:tc>
                  <a:txBody>
                    <a:bodyPr/>
                    <a:lstStyle/>
                    <a:p>
                      <a:pPr algn="l">
                        <a:defRPr sz="1200">
                          <a:solidFill>
                            <a:srgbClr val="3D4455"/>
                          </a:solidFill>
                          <a:latin typeface="Calibri"/>
                        </a:defRPr>
                      </a:pPr>
                      <a:r>
                        <a:t>Preschool (4-5y)</a:t>
                      </a:r>
                    </a:p>
                  </a:txBody>
                  <a:tcPr>
                    <a:solidFill>
                      <a:srgbClr val="FFFFFF"/>
                    </a:solidFill>
                  </a:tcPr>
                </a:tc>
                <a:tc>
                  <a:txBody>
                    <a:bodyPr/>
                    <a:lstStyle/>
                    <a:p>
                      <a:pPr algn="l">
                        <a:defRPr sz="1200">
                          <a:solidFill>
                            <a:srgbClr val="3D4455"/>
                          </a:solidFill>
                          <a:latin typeface="Calibri"/>
                        </a:defRPr>
                      </a:pPr>
                      <a:r>
                        <a:t>80-120</a:t>
                      </a:r>
                    </a:p>
                  </a:txBody>
                  <a:tcPr>
                    <a:solidFill>
                      <a:srgbClr val="FFFFFF"/>
                    </a:solidFill>
                  </a:tcPr>
                </a:tc>
                <a:tc>
                  <a:txBody>
                    <a:bodyPr/>
                    <a:lstStyle/>
                    <a:p>
                      <a:pPr algn="l">
                        <a:defRPr sz="1200">
                          <a:solidFill>
                            <a:srgbClr val="3D4455"/>
                          </a:solidFill>
                          <a:latin typeface="Calibri"/>
                        </a:defRPr>
                      </a:pPr>
                      <a:r>
                        <a:t>20-25</a:t>
                      </a:r>
                    </a:p>
                  </a:txBody>
                  <a:tcPr>
                    <a:solidFill>
                      <a:srgbClr val="FFFFFF"/>
                    </a:solidFill>
                  </a:tcPr>
                </a:tc>
                <a:tc>
                  <a:txBody>
                    <a:bodyPr/>
                    <a:lstStyle/>
                    <a:p>
                      <a:pPr algn="l">
                        <a:defRPr sz="1200">
                          <a:solidFill>
                            <a:srgbClr val="3D4455"/>
                          </a:solidFill>
                          <a:latin typeface="Calibri"/>
                        </a:defRPr>
                      </a:pPr>
                      <a:r>
                        <a:t>85-95</a:t>
                      </a:r>
                    </a:p>
                  </a:txBody>
                  <a:tcPr>
                    <a:solidFill>
                      <a:srgbClr val="FFFFFF"/>
                    </a:solidFill>
                  </a:tcPr>
                </a:tc>
                <a:tc>
                  <a:txBody>
                    <a:bodyPr/>
                    <a:lstStyle/>
                    <a:p>
                      <a:pPr algn="l">
                        <a:defRPr sz="1200">
                          <a:solidFill>
                            <a:srgbClr val="3D4455"/>
                          </a:solidFill>
                          <a:latin typeface="Calibri"/>
                        </a:defRPr>
                      </a:pPr>
                      <a:r>
                        <a:t>&lt;70 + (2×age)</a:t>
                      </a:r>
                    </a:p>
                  </a:txBody>
                  <a:tcPr>
                    <a:solidFill>
                      <a:srgbClr val="FFFFFF"/>
                    </a:solidFill>
                  </a:tcPr>
                </a:tc>
              </a:tr>
              <a:tr h="457200">
                <a:tc>
                  <a:txBody>
                    <a:bodyPr/>
                    <a:lstStyle/>
                    <a:p>
                      <a:pPr algn="l">
                        <a:defRPr sz="1200">
                          <a:solidFill>
                            <a:srgbClr val="3D4455"/>
                          </a:solidFill>
                          <a:latin typeface="Calibri"/>
                        </a:defRPr>
                      </a:pPr>
                      <a:r>
                        <a:t>School-age (6-12y)</a:t>
                      </a:r>
                    </a:p>
                  </a:txBody>
                  <a:tcPr>
                    <a:solidFill>
                      <a:srgbClr val="F5F6FA"/>
                    </a:solidFill>
                  </a:tcPr>
                </a:tc>
                <a:tc>
                  <a:txBody>
                    <a:bodyPr/>
                    <a:lstStyle/>
                    <a:p>
                      <a:pPr algn="l">
                        <a:defRPr sz="1200">
                          <a:solidFill>
                            <a:srgbClr val="3D4455"/>
                          </a:solidFill>
                          <a:latin typeface="Calibri"/>
                        </a:defRPr>
                      </a:pPr>
                      <a:r>
                        <a:t>70-110</a:t>
                      </a:r>
                    </a:p>
                  </a:txBody>
                  <a:tcPr>
                    <a:solidFill>
                      <a:srgbClr val="F5F6FA"/>
                    </a:solidFill>
                  </a:tcPr>
                </a:tc>
                <a:tc>
                  <a:txBody>
                    <a:bodyPr/>
                    <a:lstStyle/>
                    <a:p>
                      <a:pPr algn="l">
                        <a:defRPr sz="1200">
                          <a:solidFill>
                            <a:srgbClr val="3D4455"/>
                          </a:solidFill>
                          <a:latin typeface="Calibri"/>
                        </a:defRPr>
                      </a:pPr>
                      <a:r>
                        <a:t>15-20</a:t>
                      </a:r>
                    </a:p>
                  </a:txBody>
                  <a:tcPr>
                    <a:solidFill>
                      <a:srgbClr val="F5F6FA"/>
                    </a:solidFill>
                  </a:tcPr>
                </a:tc>
                <a:tc>
                  <a:txBody>
                    <a:bodyPr/>
                    <a:lstStyle/>
                    <a:p>
                      <a:pPr algn="l">
                        <a:defRPr sz="1200">
                          <a:solidFill>
                            <a:srgbClr val="3D4455"/>
                          </a:solidFill>
                          <a:latin typeface="Calibri"/>
                        </a:defRPr>
                      </a:pPr>
                      <a:r>
                        <a:t>90-105</a:t>
                      </a:r>
                    </a:p>
                  </a:txBody>
                  <a:tcPr>
                    <a:solidFill>
                      <a:srgbClr val="F5F6FA"/>
                    </a:solidFill>
                  </a:tcPr>
                </a:tc>
                <a:tc>
                  <a:txBody>
                    <a:bodyPr/>
                    <a:lstStyle/>
                    <a:p>
                      <a:pPr algn="l">
                        <a:defRPr sz="1200">
                          <a:solidFill>
                            <a:srgbClr val="3D4455"/>
                          </a:solidFill>
                          <a:latin typeface="Calibri"/>
                        </a:defRPr>
                      </a:pPr>
                      <a:r>
                        <a:t>&lt;70 + (2×age)</a:t>
                      </a:r>
                    </a:p>
                  </a:txBody>
                  <a:tcPr>
                    <a:solidFill>
                      <a:srgbClr val="F5F6FA"/>
                    </a:solidFill>
                  </a:tcPr>
                </a:tc>
              </a:tr>
              <a:tr h="457200">
                <a:tc>
                  <a:txBody>
                    <a:bodyPr/>
                    <a:lstStyle/>
                    <a:p>
                      <a:pPr algn="l">
                        <a:defRPr sz="1200">
                          <a:solidFill>
                            <a:srgbClr val="3D4455"/>
                          </a:solidFill>
                          <a:latin typeface="Calibri"/>
                        </a:defRPr>
                      </a:pPr>
                      <a:r>
                        <a:t>Adolescent (&gt;12y)</a:t>
                      </a:r>
                    </a:p>
                  </a:txBody>
                  <a:tcPr>
                    <a:solidFill>
                      <a:srgbClr val="FFFFFF"/>
                    </a:solidFill>
                  </a:tcPr>
                </a:tc>
                <a:tc>
                  <a:txBody>
                    <a:bodyPr/>
                    <a:lstStyle/>
                    <a:p>
                      <a:pPr algn="l">
                        <a:defRPr sz="1200">
                          <a:solidFill>
                            <a:srgbClr val="3D4455"/>
                          </a:solidFill>
                          <a:latin typeface="Calibri"/>
                        </a:defRPr>
                      </a:pPr>
                      <a:r>
                        <a:t>60-100</a:t>
                      </a:r>
                    </a:p>
                  </a:txBody>
                  <a:tcPr>
                    <a:solidFill>
                      <a:srgbClr val="FFFFFF"/>
                    </a:solidFill>
                  </a:tcPr>
                </a:tc>
                <a:tc>
                  <a:txBody>
                    <a:bodyPr/>
                    <a:lstStyle/>
                    <a:p>
                      <a:pPr algn="l">
                        <a:defRPr sz="1200">
                          <a:solidFill>
                            <a:srgbClr val="3D4455"/>
                          </a:solidFill>
                          <a:latin typeface="Calibri"/>
                        </a:defRPr>
                      </a:pPr>
                      <a:r>
                        <a:t>12-18</a:t>
                      </a:r>
                    </a:p>
                  </a:txBody>
                  <a:tcPr>
                    <a:solidFill>
                      <a:srgbClr val="FFFFFF"/>
                    </a:solidFill>
                  </a:tcPr>
                </a:tc>
                <a:tc>
                  <a:txBody>
                    <a:bodyPr/>
                    <a:lstStyle/>
                    <a:p>
                      <a:pPr algn="l">
                        <a:defRPr sz="1200">
                          <a:solidFill>
                            <a:srgbClr val="3D4455"/>
                          </a:solidFill>
                          <a:latin typeface="Calibri"/>
                        </a:defRPr>
                      </a:pPr>
                      <a:r>
                        <a:t>100-120</a:t>
                      </a:r>
                    </a:p>
                  </a:txBody>
                  <a:tcPr>
                    <a:solidFill>
                      <a:srgbClr val="FFFFFF"/>
                    </a:solidFill>
                  </a:tcPr>
                </a:tc>
                <a:tc>
                  <a:txBody>
                    <a:bodyPr/>
                    <a:lstStyle/>
                    <a:p>
                      <a:pPr algn="l">
                        <a:defRPr sz="1200">
                          <a:solidFill>
                            <a:srgbClr val="3D4455"/>
                          </a:solidFill>
                          <a:latin typeface="Calibri"/>
                        </a:defRPr>
                      </a:pPr>
                      <a:r>
                        <a:t>&lt;90</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Compensated vs Decompensated: The Critical Distinction</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COMPENSATED (Act Now)</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Tachycardia (earliest sign)</a:t>
            </a:r>
          </a:p>
          <a:p>
            <a:pPr>
              <a:spcAft>
                <a:spcPts val="500"/>
              </a:spcAft>
              <a:defRPr sz="1400">
                <a:solidFill>
                  <a:srgbClr val="3D4455"/>
                </a:solidFill>
                <a:latin typeface="Calibri"/>
              </a:defRPr>
            </a:pPr>
            <a:r>
              <a:t>Normal blood pressure</a:t>
            </a:r>
          </a:p>
          <a:p>
            <a:pPr>
              <a:spcAft>
                <a:spcPts val="500"/>
              </a:spcAft>
              <a:defRPr sz="1400">
                <a:solidFill>
                  <a:srgbClr val="3D4455"/>
                </a:solidFill>
                <a:latin typeface="Calibri"/>
              </a:defRPr>
            </a:pPr>
            <a:r>
              <a:t>Altered skin perfusion (cool, mottled)</a:t>
            </a:r>
          </a:p>
          <a:p>
            <a:pPr>
              <a:spcAft>
                <a:spcPts val="500"/>
              </a:spcAft>
              <a:defRPr sz="1400">
                <a:solidFill>
                  <a:srgbClr val="3D4455"/>
                </a:solidFill>
                <a:latin typeface="Calibri"/>
              </a:defRPr>
            </a:pPr>
            <a:r>
              <a:t>Prolonged capillary refill (&gt;2-3 sec)</a:t>
            </a:r>
          </a:p>
          <a:p>
            <a:pPr>
              <a:spcAft>
                <a:spcPts val="500"/>
              </a:spcAft>
              <a:defRPr sz="1400">
                <a:solidFill>
                  <a:srgbClr val="3D4455"/>
                </a:solidFill>
                <a:latin typeface="Calibri"/>
              </a:defRPr>
            </a:pPr>
            <a:r>
              <a:t>Irritable or anxious (early)</a:t>
            </a:r>
          </a:p>
          <a:p>
            <a:pPr>
              <a:spcAft>
                <a:spcPts val="500"/>
              </a:spcAft>
              <a:defRPr sz="1400">
                <a:solidFill>
                  <a:srgbClr val="3D4455"/>
                </a:solidFill>
                <a:latin typeface="Calibri"/>
              </a:defRPr>
            </a:pPr>
            <a:r>
              <a:t>Decreased urine output</a:t>
            </a:r>
          </a:p>
          <a:p>
            <a:pPr>
              <a:spcAft>
                <a:spcPts val="500"/>
              </a:spcAft>
              <a:defRPr sz="1400">
                <a:solidFill>
                  <a:srgbClr val="3D4455"/>
                </a:solidFill>
                <a:latin typeface="Calibri"/>
              </a:defRPr>
            </a:pPr>
            <a:r>
              <a:t>Narrowed pulse pressure</a:t>
            </a:r>
          </a:p>
          <a:p>
            <a:pPr>
              <a:spcAft>
                <a:spcPts val="500"/>
              </a:spcAft>
              <a:defRPr sz="1400">
                <a:solidFill>
                  <a:srgbClr val="3D4455"/>
                </a:solidFill>
                <a:latin typeface="Calibri"/>
              </a:defRPr>
            </a:pPr>
            <a:r>
              <a:t>STILL RESPONSIVE TO FLUIDS/INTERVENTION</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DECOMPENSATED (Near Arrest)</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Bradycardia (ominous in children)</a:t>
            </a:r>
          </a:p>
          <a:p>
            <a:pPr>
              <a:spcAft>
                <a:spcPts val="500"/>
              </a:spcAft>
              <a:defRPr sz="1400">
                <a:solidFill>
                  <a:srgbClr val="3D4455"/>
                </a:solidFill>
                <a:latin typeface="Calibri"/>
              </a:defRPr>
            </a:pPr>
            <a:r>
              <a:t>Hypotension (LATE — 25-30% volume loss)</a:t>
            </a:r>
          </a:p>
          <a:p>
            <a:pPr>
              <a:spcAft>
                <a:spcPts val="500"/>
              </a:spcAft>
              <a:defRPr sz="1400">
                <a:solidFill>
                  <a:srgbClr val="3D4455"/>
                </a:solidFill>
                <a:latin typeface="Calibri"/>
              </a:defRPr>
            </a:pPr>
            <a:r>
              <a:t>Mottling, pallor, cyanosis</a:t>
            </a:r>
          </a:p>
          <a:p>
            <a:pPr>
              <a:spcAft>
                <a:spcPts val="500"/>
              </a:spcAft>
              <a:defRPr sz="1400">
                <a:solidFill>
                  <a:srgbClr val="3D4455"/>
                </a:solidFill>
                <a:latin typeface="Calibri"/>
              </a:defRPr>
            </a:pPr>
            <a:r>
              <a:t>Absent peripheral pulses</a:t>
            </a:r>
          </a:p>
          <a:p>
            <a:pPr>
              <a:spcAft>
                <a:spcPts val="500"/>
              </a:spcAft>
              <a:defRPr sz="1400">
                <a:solidFill>
                  <a:srgbClr val="3D4455"/>
                </a:solidFill>
                <a:latin typeface="Calibri"/>
              </a:defRPr>
            </a:pPr>
            <a:r>
              <a:t>Lethargic, obtunded, unresponsive</a:t>
            </a:r>
          </a:p>
          <a:p>
            <a:pPr>
              <a:spcAft>
                <a:spcPts val="500"/>
              </a:spcAft>
              <a:defRPr sz="1400">
                <a:solidFill>
                  <a:srgbClr val="3D4455"/>
                </a:solidFill>
                <a:latin typeface="Calibri"/>
              </a:defRPr>
            </a:pPr>
            <a:r>
              <a:t>Anuria</a:t>
            </a:r>
          </a:p>
          <a:p>
            <a:pPr>
              <a:spcAft>
                <a:spcPts val="500"/>
              </a:spcAft>
              <a:defRPr sz="1400">
                <a:solidFill>
                  <a:srgbClr val="3D4455"/>
                </a:solidFill>
                <a:latin typeface="Calibri"/>
              </a:defRPr>
            </a:pPr>
            <a:r>
              <a:t>Absent capillary refill</a:t>
            </a:r>
          </a:p>
          <a:p>
            <a:pPr>
              <a:spcAft>
                <a:spcPts val="500"/>
              </a:spcAft>
              <a:defRPr sz="1400">
                <a:solidFill>
                  <a:srgbClr val="3D4455"/>
                </a:solidFill>
                <a:latin typeface="Calibri"/>
              </a:defRPr>
            </a:pPr>
            <a:r>
              <a:t>ARREST IS IMMINENT — escalate NOW</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"This child looks sick" is a valid clinical assessment.</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The experienced PEM provider's gestalt has been shown to correlate with illness severity. But back it up with systematic assessment. Gestalt + PAT + ABCDE = comprehensive recognition.</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Stabilization</a:t>
            </a:r>
            <a:br/>
            <a:r>
              <a:t>Priorities</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Airway, breathing, circulation interventions in the first critical minutes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Airway: Pediatric-Specific Priorities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Position of comfort — do not force supine if child is maintaining own airway</a:t>
            </a:r>
          </a:p>
          <a:p>
            <a:pPr>
              <a:spcBef>
                <a:spcPts val="400"/>
              </a:spcBef>
              <a:spcAft>
                <a:spcPts val="600"/>
              </a:spcAft>
              <a:defRPr sz="1600">
                <a:solidFill>
                  <a:srgbClr val="3D4455"/>
                </a:solidFill>
                <a:latin typeface="Calibri"/>
              </a:defRPr>
            </a:pPr>
            <a:r>
              <a:t>Sniffing position for infants; head-tilt chin-lift for older children</a:t>
            </a:r>
          </a:p>
          <a:p>
            <a:pPr>
              <a:spcBef>
                <a:spcPts val="400"/>
              </a:spcBef>
              <a:spcAft>
                <a:spcPts val="600"/>
              </a:spcAft>
              <a:defRPr sz="1600">
                <a:solidFill>
                  <a:srgbClr val="3D4455"/>
                </a:solidFill>
                <a:latin typeface="Calibri"/>
              </a:defRPr>
            </a:pPr>
            <a:r>
              <a:t>Jaw thrust if cervical spine concern</a:t>
            </a:r>
          </a:p>
          <a:p>
            <a:pPr>
              <a:spcBef>
                <a:spcPts val="400"/>
              </a:spcBef>
              <a:spcAft>
                <a:spcPts val="600"/>
              </a:spcAft>
              <a:defRPr sz="1600">
                <a:solidFill>
                  <a:srgbClr val="3D4455"/>
                </a:solidFill>
                <a:latin typeface="Calibri"/>
              </a:defRPr>
            </a:pPr>
            <a:r>
              <a:t>Suction: use Yankauer or bulb; limit to 10 seconds per attempt</a:t>
            </a:r>
          </a:p>
          <a:p>
            <a:pPr>
              <a:spcBef>
                <a:spcPts val="400"/>
              </a:spcBef>
              <a:spcAft>
                <a:spcPts val="600"/>
              </a:spcAft>
              <a:defRPr sz="1600">
                <a:solidFill>
                  <a:srgbClr val="3D4455"/>
                </a:solidFill>
                <a:latin typeface="Calibri"/>
              </a:defRPr>
            </a:pPr>
            <a:r>
              <a:t>Oropharyngeal airway (OPA): only in unconscious patients — measure corner of mouth to angle of jaw</a:t>
            </a:r>
          </a:p>
          <a:p>
            <a:pPr>
              <a:spcBef>
                <a:spcPts val="400"/>
              </a:spcBef>
              <a:spcAft>
                <a:spcPts val="600"/>
              </a:spcAft>
              <a:defRPr sz="1600">
                <a:solidFill>
                  <a:srgbClr val="3D4455"/>
                </a:solidFill>
                <a:latin typeface="Calibri"/>
              </a:defRPr>
            </a:pPr>
            <a:r>
              <a:t>Nasopharyngeal airway (NPA): tolerated in semiconscious patients</a:t>
            </a:r>
          </a:p>
          <a:p>
            <a:pPr lvl="1">
              <a:spcBef>
                <a:spcPts val="400"/>
              </a:spcBef>
              <a:spcAft>
                <a:spcPts val="600"/>
              </a:spcAft>
              <a:defRPr sz="1400">
                <a:solidFill>
                  <a:srgbClr val="8A92A3"/>
                </a:solidFill>
                <a:latin typeface="Calibri"/>
              </a:defRPr>
            </a:pPr>
            <a:r>
              <a:t>Do NOT attempt advanced airway until BVM ventilation fails or is inadequate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Breathing: Rapid Assessment and Intervention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Apply SpO2 immediately — target ≥94% in most situations</a:t>
            </a:r>
          </a:p>
          <a:p>
            <a:pPr>
              <a:spcBef>
                <a:spcPts val="400"/>
              </a:spcBef>
              <a:spcAft>
                <a:spcPts val="600"/>
              </a:spcAft>
              <a:defRPr sz="1600">
                <a:solidFill>
                  <a:srgbClr val="3D4455"/>
                </a:solidFill>
                <a:latin typeface="Calibri"/>
              </a:defRPr>
            </a:pPr>
            <a:r>
              <a:t>High-flow O2 via non-rebreather if any concern</a:t>
            </a:r>
          </a:p>
          <a:p>
            <a:pPr>
              <a:spcBef>
                <a:spcPts val="400"/>
              </a:spcBef>
              <a:spcAft>
                <a:spcPts val="600"/>
              </a:spcAft>
              <a:defRPr sz="1600">
                <a:solidFill>
                  <a:srgbClr val="3D4455"/>
                </a:solidFill>
                <a:latin typeface="Calibri"/>
              </a:defRPr>
            </a:pPr>
            <a:r>
              <a:t>Auscultate: symmetry, air entry, adventitious sounds</a:t>
            </a:r>
          </a:p>
          <a:p>
            <a:pPr>
              <a:spcBef>
                <a:spcPts val="400"/>
              </a:spcBef>
              <a:spcAft>
                <a:spcPts val="600"/>
              </a:spcAft>
              <a:defRPr sz="1600">
                <a:solidFill>
                  <a:srgbClr val="3D4455"/>
                </a:solidFill>
                <a:latin typeface="Calibri"/>
              </a:defRPr>
            </a:pPr>
            <a:r>
              <a:t>BVM ventilation: 15-20 breaths/min (infant), 10-12 (child), avoid hyperventilation</a:t>
            </a:r>
          </a:p>
          <a:p>
            <a:pPr>
              <a:spcBef>
                <a:spcPts val="400"/>
              </a:spcBef>
              <a:spcAft>
                <a:spcPts val="600"/>
              </a:spcAft>
              <a:defRPr sz="1600">
                <a:solidFill>
                  <a:srgbClr val="3D4455"/>
                </a:solidFill>
                <a:latin typeface="Calibri"/>
              </a:defRPr>
            </a:pPr>
            <a:r>
              <a:t>Consider HFNC for persistent work of breathing (flow 1-2 L/kg/min)</a:t>
            </a:r>
          </a:p>
          <a:p>
            <a:pPr lvl="1">
              <a:spcBef>
                <a:spcPts val="400"/>
              </a:spcBef>
              <a:spcAft>
                <a:spcPts val="600"/>
              </a:spcAft>
              <a:defRPr sz="1400">
                <a:solidFill>
                  <a:srgbClr val="8A92A3"/>
                </a:solidFill>
                <a:latin typeface="Calibri"/>
              </a:defRPr>
            </a:pPr>
            <a:r>
              <a:t>Key: "Low and slow" with BVM — avoid gastric distension and barotrauma</a:t>
            </a:r>
          </a:p>
          <a:p>
            <a:pPr>
              <a:spcBef>
                <a:spcPts val="400"/>
              </a:spcBef>
              <a:spcAft>
                <a:spcPts val="600"/>
              </a:spcAft>
              <a:defRPr sz="1600">
                <a:solidFill>
                  <a:srgbClr val="3D4455"/>
                </a:solidFill>
                <a:latin typeface="Calibri"/>
              </a:defRPr>
            </a:pPr>
            <a:r>
              <a:t>Tension pneumothorax: needle decompression 2nd ICS MCL if absent breath sounds + shock</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Circulation: Access, Fluids, and Beyond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Two attempts at peripheral IV — then go INTRAOSSEOUS (IO)</a:t>
            </a:r>
          </a:p>
          <a:p>
            <a:pPr>
              <a:spcBef>
                <a:spcPts val="400"/>
              </a:spcBef>
              <a:spcAft>
                <a:spcPts val="600"/>
              </a:spcAft>
              <a:defRPr sz="1600">
                <a:solidFill>
                  <a:srgbClr val="3D4455"/>
                </a:solidFill>
                <a:latin typeface="Calibri"/>
              </a:defRPr>
            </a:pPr>
            <a:r>
              <a:t>IO sites: proximal tibia (preferred), distal femur, distal tibia, humeral head</a:t>
            </a:r>
          </a:p>
          <a:p>
            <a:pPr>
              <a:spcBef>
                <a:spcPts val="400"/>
              </a:spcBef>
              <a:spcAft>
                <a:spcPts val="600"/>
              </a:spcAft>
              <a:defRPr sz="1600">
                <a:solidFill>
                  <a:srgbClr val="3D4455"/>
                </a:solidFill>
                <a:latin typeface="Calibri"/>
              </a:defRPr>
            </a:pPr>
            <a:r>
              <a:t>IO works for all resuscitation drugs and fluids — do not delay</a:t>
            </a:r>
          </a:p>
          <a:p>
            <a:pPr>
              <a:spcBef>
                <a:spcPts val="400"/>
              </a:spcBef>
              <a:spcAft>
                <a:spcPts val="600"/>
              </a:spcAft>
              <a:defRPr sz="1600">
                <a:solidFill>
                  <a:srgbClr val="3D4455"/>
                </a:solidFill>
                <a:latin typeface="Calibri"/>
              </a:defRPr>
            </a:pPr>
            <a:r>
              <a:t>Fluid bolus: 20 mL/kg isotonic crystalloid (NS or LR) over 5-20 minutes</a:t>
            </a:r>
          </a:p>
          <a:p>
            <a:pPr>
              <a:spcBef>
                <a:spcPts val="400"/>
              </a:spcBef>
              <a:spcAft>
                <a:spcPts val="600"/>
              </a:spcAft>
              <a:defRPr sz="1600">
                <a:solidFill>
                  <a:srgbClr val="3D4455"/>
                </a:solidFill>
                <a:latin typeface="Calibri"/>
              </a:defRPr>
            </a:pPr>
            <a:r>
              <a:t>Reassess after each bolus — repeat up to 60 mL/kg in first hour if needed</a:t>
            </a:r>
          </a:p>
          <a:p>
            <a:pPr>
              <a:spcBef>
                <a:spcPts val="400"/>
              </a:spcBef>
              <a:spcAft>
                <a:spcPts val="600"/>
              </a:spcAft>
              <a:defRPr sz="1600">
                <a:solidFill>
                  <a:srgbClr val="3D4455"/>
                </a:solidFill>
                <a:latin typeface="Calibri"/>
              </a:defRPr>
            </a:pPr>
            <a:r>
              <a:t>If fluid-refractory (no improvement after 40-60 mL/kg): START VASOPRESSORS</a:t>
            </a:r>
          </a:p>
          <a:p>
            <a:pPr lvl="1">
              <a:spcBef>
                <a:spcPts val="400"/>
              </a:spcBef>
              <a:spcAft>
                <a:spcPts val="600"/>
              </a:spcAft>
              <a:defRPr sz="1400">
                <a:solidFill>
                  <a:srgbClr val="8A92A3"/>
                </a:solidFill>
                <a:latin typeface="Calibri"/>
              </a:defRPr>
            </a:pPr>
            <a:r>
              <a:t>Epinephrine 0.1-0.3 mcg/kg/min for cold shock; Norepinephrine for warm shock</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Disability: Neuro and Glucose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AVPU: Alert, Voice responsive, Pain responsive, Unresponsive</a:t>
            </a:r>
          </a:p>
          <a:p>
            <a:pPr>
              <a:spcBef>
                <a:spcPts val="400"/>
              </a:spcBef>
              <a:spcAft>
                <a:spcPts val="600"/>
              </a:spcAft>
              <a:defRPr sz="1600">
                <a:solidFill>
                  <a:srgbClr val="3D4455"/>
                </a:solidFill>
                <a:latin typeface="Calibri"/>
              </a:defRPr>
            </a:pPr>
            <a:r>
              <a:t>GCS: use modified pediatric GCS for pre-verbal children</a:t>
            </a:r>
          </a:p>
          <a:p>
            <a:pPr>
              <a:spcBef>
                <a:spcPts val="400"/>
              </a:spcBef>
              <a:spcAft>
                <a:spcPts val="600"/>
              </a:spcAft>
              <a:defRPr sz="1600">
                <a:solidFill>
                  <a:srgbClr val="3D4455"/>
                </a:solidFill>
                <a:latin typeface="Calibri"/>
              </a:defRPr>
            </a:pPr>
            <a:r>
              <a:t>Pupils: size, reactivity, symmetry — fixed dilated = herniation until proven otherwise</a:t>
            </a:r>
          </a:p>
          <a:p>
            <a:pPr>
              <a:spcBef>
                <a:spcPts val="400"/>
              </a:spcBef>
              <a:spcAft>
                <a:spcPts val="600"/>
              </a:spcAft>
              <a:defRPr sz="1600">
                <a:solidFill>
                  <a:srgbClr val="3D4455"/>
                </a:solidFill>
                <a:latin typeface="Calibri"/>
              </a:defRPr>
            </a:pPr>
            <a:r>
              <a:t>CHECK GLUCOSE: hypoglycemia is reversible and commonly missed</a:t>
            </a:r>
          </a:p>
          <a:p>
            <a:pPr lvl="1">
              <a:spcBef>
                <a:spcPts val="400"/>
              </a:spcBef>
              <a:spcAft>
                <a:spcPts val="600"/>
              </a:spcAft>
              <a:defRPr sz="1400">
                <a:solidFill>
                  <a:srgbClr val="8A92A3"/>
                </a:solidFill>
                <a:latin typeface="Calibri"/>
              </a:defRPr>
            </a:pPr>
            <a:r>
              <a:t>Glucose targets: neonate &gt;45 mg/dL, child &gt;60 mg/dL</a:t>
            </a:r>
          </a:p>
          <a:p>
            <a:pPr lvl="1">
              <a:spcBef>
                <a:spcPts val="400"/>
              </a:spcBef>
              <a:spcAft>
                <a:spcPts val="600"/>
              </a:spcAft>
              <a:defRPr sz="1400">
                <a:solidFill>
                  <a:srgbClr val="8A92A3"/>
                </a:solidFill>
                <a:latin typeface="Calibri"/>
              </a:defRPr>
            </a:pPr>
            <a:r>
              <a:t>Treatment: D10W 5 mL/kg (neonates), D25W 2-4 mL/kg (children)</a:t>
            </a:r>
          </a:p>
          <a:p>
            <a:pPr>
              <a:spcBef>
                <a:spcPts val="400"/>
              </a:spcBef>
              <a:spcAft>
                <a:spcPts val="600"/>
              </a:spcAft>
              <a:defRPr sz="1600">
                <a:solidFill>
                  <a:srgbClr val="3D4455"/>
                </a:solidFill>
                <a:latin typeface="Calibri"/>
              </a:defRPr>
            </a:pPr>
            <a:r>
              <a:t>Posturing: decorticate (flexion) = cortical; decerebrate (extension) = brainstem</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When to Escalate — Call for Help Early</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Fluid-refractory shock (no improvement after 40-60 mL/kg) → PICU, pressors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Impending respiratory failure despite HFNC/NIV → prepare for intubation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GCS ≤8 or declining neurologic exam → intubate, neuroprotection</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Persistent bradycardia despite oxygenation → epinephrine, prepare for arrest</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Unknown etiology with worsening trajectory → call senior/attending NOW</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Any child requiring &gt;2 fluid boluses → activate critical care response</a:t>
            </a:r>
          </a:p>
        </p:txBody>
      </p:sp>
      <p:sp>
        <p:nvSpPr>
          <p:cNvPr id="17" name="Rectangle 1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9" name="TextBox 1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Team-Based Resuscitation: CRM Principles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Assign a TEAM LEADER: directs care, maintains situational awareness</a:t>
            </a:r>
          </a:p>
          <a:p>
            <a:pPr>
              <a:spcBef>
                <a:spcPts val="400"/>
              </a:spcBef>
              <a:spcAft>
                <a:spcPts val="600"/>
              </a:spcAft>
              <a:defRPr sz="1600">
                <a:solidFill>
                  <a:srgbClr val="3D4455"/>
                </a:solidFill>
                <a:latin typeface="Calibri"/>
              </a:defRPr>
            </a:pPr>
            <a:r>
              <a:t>Closed-loop communication: order → repeat back → confirm completion</a:t>
            </a:r>
          </a:p>
          <a:p>
            <a:pPr>
              <a:spcBef>
                <a:spcPts val="400"/>
              </a:spcBef>
              <a:spcAft>
                <a:spcPts val="600"/>
              </a:spcAft>
              <a:defRPr sz="1600">
                <a:solidFill>
                  <a:srgbClr val="3D4455"/>
                </a:solidFill>
                <a:latin typeface="Calibri"/>
              </a:defRPr>
            </a:pPr>
            <a:r>
              <a:t>Role assignment: airway, access/meds, compressions, recorder, family liaison</a:t>
            </a:r>
          </a:p>
          <a:p>
            <a:pPr>
              <a:spcBef>
                <a:spcPts val="400"/>
              </a:spcBef>
              <a:spcAft>
                <a:spcPts val="600"/>
              </a:spcAft>
              <a:defRPr sz="1600">
                <a:solidFill>
                  <a:srgbClr val="3D4455"/>
                </a:solidFill>
                <a:latin typeface="Calibri"/>
              </a:defRPr>
            </a:pPr>
            <a:r>
              <a:t>Use cognitive aids: PEM resuscitation cards, Broselow tape, crisis checklists</a:t>
            </a:r>
          </a:p>
          <a:p>
            <a:pPr>
              <a:spcBef>
                <a:spcPts val="400"/>
              </a:spcBef>
              <a:spcAft>
                <a:spcPts val="600"/>
              </a:spcAft>
              <a:defRPr sz="1600">
                <a:solidFill>
                  <a:srgbClr val="3D4455"/>
                </a:solidFill>
                <a:latin typeface="Calibri"/>
              </a:defRPr>
            </a:pPr>
            <a:r>
              <a:t>Limit interruptions to the team leader — one clear voice giving orders</a:t>
            </a:r>
          </a:p>
          <a:p>
            <a:pPr>
              <a:spcBef>
                <a:spcPts val="400"/>
              </a:spcBef>
              <a:spcAft>
                <a:spcPts val="600"/>
              </a:spcAft>
              <a:defRPr sz="1600">
                <a:solidFill>
                  <a:srgbClr val="3D4455"/>
                </a:solidFill>
                <a:latin typeface="Calibri"/>
              </a:defRPr>
            </a:pPr>
            <a:r>
              <a:t>Debrief after every resuscitation — hot debrief within 30 minutes</a:t>
            </a:r>
          </a:p>
          <a:p>
            <a:pPr lvl="1">
              <a:spcBef>
                <a:spcPts val="400"/>
              </a:spcBef>
              <a:spcAft>
                <a:spcPts val="600"/>
              </a:spcAft>
              <a:defRPr sz="1400">
                <a:solidFill>
                  <a:srgbClr val="8A92A3"/>
                </a:solidFill>
                <a:latin typeface="Calibri"/>
              </a:defRPr>
            </a:pPr>
            <a:r>
              <a:t>The team leader should NOT be performing procedures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Cognitive Errors That Kill in Pediatric Resuscitation</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Anchoring: locking onto first diagnosis and ignoring contradictory data</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Premature closure: stopping the workup too early ("it's just a virus")</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Normalcy bias: assuming tachycardia is from crying/fever — may be shock</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Fixation error: tunnel vision on the airway while the child bleeds</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Failure to reassess: initial plan not working but no pivot made</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Weight estimation errors: always use Broselow or actual weight for drug dosing</a:t>
            </a:r>
          </a:p>
        </p:txBody>
      </p:sp>
      <p:sp>
        <p:nvSpPr>
          <p:cNvPr id="17" name="Rectangle 1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9" name="TextBox 1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A Lethargic Toddler with Mottled Skin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2-year-old boy is brought in by EMS. Parents report 2 days of fever, decreased PO intake, and progressive lethargy. On arrival: PAT shows abnormal appearance (limp, not interactive), normal work of breathing, abnormal circulation (mottled, pale). HR 185, RR 32, BP 75/40, SpO2 97% on room air, Temp 39.8°C, cap refill 5 seconds, GCS 10 (E2 V3 M5).</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does the PAT tell you? (Decompensated shock — 2 of 3 abnormal)</a:t>
            </a:r>
          </a:p>
          <a:p>
            <a:pPr>
              <a:spcAft>
                <a:spcPts val="600"/>
              </a:spcAft>
              <a:defRPr sz="1400" b="1">
                <a:solidFill>
                  <a:srgbClr val="007B83"/>
                </a:solidFill>
                <a:latin typeface="Calibri"/>
              </a:defRPr>
            </a:pPr>
            <a:r>
              <a:t>▸  What are your first three actions? (IV/IO access, 20 mL/kg NS bolus, glucose check)</a:t>
            </a:r>
          </a:p>
          <a:p>
            <a:pPr>
              <a:spcAft>
                <a:spcPts val="600"/>
              </a:spcAft>
              <a:defRPr sz="1400" b="1">
                <a:solidFill>
                  <a:srgbClr val="007B83"/>
                </a:solidFill>
                <a:latin typeface="Calibri"/>
              </a:defRPr>
            </a:pPr>
            <a:r>
              <a:t>▸  After 40 mL/kg NS, HR 175, cap refill still 4 sec — next step? (Start vasopressors, call PICU)</a:t>
            </a:r>
          </a:p>
          <a:p>
            <a:pPr>
              <a:spcAft>
                <a:spcPts val="600"/>
              </a:spcAft>
              <a:defRPr sz="1400" b="1">
                <a:solidFill>
                  <a:srgbClr val="007B83"/>
                </a:solidFill>
                <a:latin typeface="Calibri"/>
              </a:defRPr>
            </a:pPr>
            <a:r>
              <a:t>▸  What is the most likely etiology? (Septic shock — empiric antibiotics NOW)</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Case Debrief: Key Decision Points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PAT identified decompensated shock in 15 seconds — move to resus immediately</a:t>
            </a:r>
          </a:p>
          <a:p>
            <a:pPr>
              <a:spcBef>
                <a:spcPts val="400"/>
              </a:spcBef>
              <a:spcAft>
                <a:spcPts val="600"/>
              </a:spcAft>
              <a:defRPr sz="1600">
                <a:solidFill>
                  <a:srgbClr val="3D4455"/>
                </a:solidFill>
                <a:latin typeface="Calibri"/>
              </a:defRPr>
            </a:pPr>
            <a:r>
              <a:t>IV/IO access within 5 minutes; if PIV fails twice, go IO without hesitation</a:t>
            </a:r>
          </a:p>
          <a:p>
            <a:pPr>
              <a:spcBef>
                <a:spcPts val="400"/>
              </a:spcBef>
              <a:spcAft>
                <a:spcPts val="600"/>
              </a:spcAft>
              <a:defRPr sz="1600">
                <a:solidFill>
                  <a:srgbClr val="3D4455"/>
                </a:solidFill>
                <a:latin typeface="Calibri"/>
              </a:defRPr>
            </a:pPr>
            <a:r>
              <a:t>Glucose was 42 — gave D25W 2 mL/kg; this alone improved GCS to 12</a:t>
            </a:r>
          </a:p>
          <a:p>
            <a:pPr>
              <a:spcBef>
                <a:spcPts val="400"/>
              </a:spcBef>
              <a:spcAft>
                <a:spcPts val="600"/>
              </a:spcAft>
              <a:defRPr sz="1600">
                <a:solidFill>
                  <a:srgbClr val="3D4455"/>
                </a:solidFill>
                <a:latin typeface="Calibri"/>
              </a:defRPr>
            </a:pPr>
            <a:r>
              <a:t>After 60 mL/kg crystalloid: still tachycardic → started epinephrine drip (0.1 mcg/kg/min)</a:t>
            </a:r>
          </a:p>
          <a:p>
            <a:pPr>
              <a:spcBef>
                <a:spcPts val="400"/>
              </a:spcBef>
              <a:spcAft>
                <a:spcPts val="600"/>
              </a:spcAft>
              <a:defRPr sz="1600">
                <a:solidFill>
                  <a:srgbClr val="3D4455"/>
                </a:solidFill>
                <a:latin typeface="Calibri"/>
              </a:defRPr>
            </a:pPr>
            <a:r>
              <a:t>Blood cultures drawn, empiric ceftriaxone 100 mg/kg + vancomycin started</a:t>
            </a:r>
          </a:p>
          <a:p>
            <a:pPr>
              <a:spcBef>
                <a:spcPts val="400"/>
              </a:spcBef>
              <a:spcAft>
                <a:spcPts val="600"/>
              </a:spcAft>
              <a:defRPr sz="1600">
                <a:solidFill>
                  <a:srgbClr val="3D4455"/>
                </a:solidFill>
                <a:latin typeface="Calibri"/>
              </a:defRPr>
            </a:pPr>
            <a:r>
              <a:t>Admitted to PICU; blood culture grew Streptococcus pneumoniae at 12 hours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Use the PAT (Pediatric Assessment Triangle) on EVERY patient — it takes 15 seconds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Hypotension is a LATE sign in children — recognize and treat compensated shock</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Check glucose in every critically ill child — it is reversible and commonly missed</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Two failed PIV attempts → go IO immediately; do not delay resuscitation for access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Call for help early — escalation is a sign of good clinical judgment, not weakness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American Heart Association. PALS Provider Manual, 2020 Guidelines Update.</a:t>
            </a:r>
          </a:p>
          <a:p>
            <a:pPr>
              <a:spcAft>
                <a:spcPts val="400"/>
              </a:spcAft>
              <a:defRPr sz="1100">
                <a:solidFill>
                  <a:srgbClr val="3D4455"/>
                </a:solidFill>
                <a:latin typeface="Calibri"/>
              </a:defRPr>
            </a:pPr>
            <a:r>
              <a:t>2. Dieckmann RA, Brownstein D, Gausche-Hill M. The Pediatric Assessment Triangle: a novel approach for the rapid evaluation of children. Pediatr Emerg Care. 2010;26(4):312-315.</a:t>
            </a:r>
          </a:p>
          <a:p>
            <a:pPr>
              <a:spcAft>
                <a:spcPts val="400"/>
              </a:spcAft>
              <a:defRPr sz="1100">
                <a:solidFill>
                  <a:srgbClr val="3D4455"/>
                </a:solidFill>
                <a:latin typeface="Calibri"/>
              </a:defRPr>
            </a:pPr>
            <a:r>
              <a:t>3. Davis AL, Carcillo JA, et al. American College of Critical Care Medicine Clinical Practice Parameters for Hemodynamic Support of Pediatric and Neonatal Septic Shock. Crit Care Med. 2017;45(6):1061-1093.</a:t>
            </a:r>
          </a:p>
          <a:p>
            <a:pPr>
              <a:spcAft>
                <a:spcPts val="400"/>
              </a:spcAft>
              <a:defRPr sz="1100">
                <a:solidFill>
                  <a:srgbClr val="3D4455"/>
                </a:solidFill>
                <a:latin typeface="Calibri"/>
              </a:defRPr>
            </a:pPr>
            <a:r>
              <a:t>4. Topjian AA, Raymond TT, et al. Part 4: Pediatric Basic and Advanced Life Support. 2020 AHA Guidelines. Circulation. 2020;142(16_suppl_2):S469-S523.</a:t>
            </a:r>
          </a:p>
          <a:p>
            <a:pPr>
              <a:spcAft>
                <a:spcPts val="400"/>
              </a:spcAft>
              <a:defRPr sz="1100">
                <a:solidFill>
                  <a:srgbClr val="3D4455"/>
                </a:solidFill>
                <a:latin typeface="Calibri"/>
              </a:defRPr>
            </a:pPr>
            <a:r>
              <a:t>5. Croskerry P. The importance of cognitive errors in diagnosis and strategies to minimize them. Acad Med. 2003;78(8):775-780.</a:t>
            </a:r>
          </a:p>
          <a:p>
            <a:pPr>
              <a:spcAft>
                <a:spcPts val="400"/>
              </a:spcAft>
              <a:defRPr sz="1100">
                <a:solidFill>
                  <a:srgbClr val="3D4455"/>
                </a:solidFill>
                <a:latin typeface="Calibri"/>
              </a:defRPr>
            </a:pPr>
            <a:r>
              <a:t>6. Fleisher GR, Ludwig S. Textbook of Pediatric Emergency Medicine, 7th Edition. Wolters Kluwer, 2020.</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Critically Ill Child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