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emphasizing that AMS is a chief complaint that demands respect. In children, the presentation can be subtle — a lethargic infant may just seem "sleepy" to a triage nurse. Parents who say their child is "not acting normal" are usually right. The PEM physician must be the person who takes this complaint seriously and works through the differential systematically.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AEIOU-TIPS is a comprehensive mnemonic for the differential of AMS in children. Emphasize that the I for Insulin (hypoglycemia) should be checked within the first 60 seconds — point-of-care glucose. The mnemonic helps you avoid anchoring on one diagnosis. Work through it systematically.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protocol for the first 10 minutes. The order matters: airway first, glucose second, everything else third. A GCS ≤8 means the airway is at risk and intubation should be considered. Fontanelle assessment is critical in infants — a bulging fontanelle suggests increased ICP (meningitis, hydrocephalus, NAT). Do not delay antibiotics for LP if you suspect meningitis.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Age-based thinking is essential. In infants, NAT must ALWAYS be on your differential — a lethargic infant with no clear explanation is concerning for abusive head trauma until proven otherwise. In toddlers, toxic ingestion is the most common cause of acute AMS. In school-age children, consider DKA presenting with new-onset diabetes.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is your most powerful diagnostic tool in AMS. The timeline is critical — sudden onset points toward vascular, traumatic, or seizure etiologies. Gradual onset suggests metabolic or infectious causes. Always ask about medications in the home — toddlers are mobile and curious. And always consider NAT when the history does not explain the severity of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exam in AMS is targeted and efficient. Pupils are incredibly informative — asymmetric pupils in an obtunded child is a neurosurgical emergency (uncal herniation). Retinal hemorrhages with AMS in an infant = abusive head trauma until proven otherwise. The combination of fever + altered mental status demands meningitis coverage before any other workup.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workup is guided by the clinical picture. Glucose is always first. If the child is febrile and altered, get blood cultures and start empiric antibiotics (ceftriaxone + vancomycin ± acyclovir if HSV concern) before LP. CT head before LP if there is concern for increased ICP. Ammonia and lactate are critical in any infant with unexplained AMS — inborn errors of metabolism present this 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must be taught sensitively but directly. Abusive head trauma is the leading cause of traumatic death in infants. The classic presentation: an infant with unexplained altered mental status, bulging fontanelle, and a caregiver who gives no history of trauma. The triad of subdural hematomas, retinal hemorrhages, and encephalopathy is highly specific for NAT. You MUST consider this diagnosis.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unifying theme: AMS in children requires a systematic approach. Do not anchor on one diagnosis. Do not dismiss a lethargic infant as "viral" without a thorough workup. Every pitfall on this list has led to patient harm in real clinical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13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Altered Mental Status in Children</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Systematic Approach to the Confused, Obtunded, or Unresponsive Child in the ED</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Build a systematic differential for altered mental status organized by age and acuity</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Apply the AEIOU-TIPS mnemonic to avoid missing life-threatening causes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Prioritize the initial assessment and stabilization of the altered child</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Identify the key historical and exam features that narrow the differential</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Determine the appropriate workup and disposition for AMS in children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Altered Mental Status in PEM: A Symptom, Not a Diagnosis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AMS = any deviation from a child's baseline level of alertness, cognition, or behavior</a:t>
            </a:r>
          </a:p>
          <a:p>
            <a:pPr>
              <a:spcBef>
                <a:spcPts val="400"/>
              </a:spcBef>
              <a:spcAft>
                <a:spcPts val="600"/>
              </a:spcAft>
              <a:defRPr sz="1600">
                <a:solidFill>
                  <a:srgbClr val="3D4455"/>
                </a:solidFill>
                <a:latin typeface="Calibri"/>
              </a:defRPr>
            </a:pPr>
            <a:r>
              <a:t>Ranges from irritability and lethargy to obtundation and coma</a:t>
            </a:r>
          </a:p>
          <a:p>
            <a:pPr>
              <a:spcBef>
                <a:spcPts val="400"/>
              </a:spcBef>
              <a:spcAft>
                <a:spcPts val="600"/>
              </a:spcAft>
              <a:defRPr sz="1600">
                <a:solidFill>
                  <a:srgbClr val="3D4455"/>
                </a:solidFill>
                <a:latin typeface="Calibri"/>
              </a:defRPr>
            </a:pPr>
            <a:r>
              <a:t>Critically important: parents know their child best — take "not acting right" seriously</a:t>
            </a:r>
          </a:p>
          <a:p>
            <a:pPr>
              <a:spcBef>
                <a:spcPts val="400"/>
              </a:spcBef>
              <a:spcAft>
                <a:spcPts val="600"/>
              </a:spcAft>
              <a:defRPr sz="1600">
                <a:solidFill>
                  <a:srgbClr val="3D4455"/>
                </a:solidFill>
                <a:latin typeface="Calibri"/>
              </a:defRPr>
            </a:pPr>
            <a:r>
              <a:t>AMS in children has a BROAD differential — the age of the child helps narrow it</a:t>
            </a:r>
          </a:p>
          <a:p>
            <a:pPr>
              <a:spcBef>
                <a:spcPts val="400"/>
              </a:spcBef>
              <a:spcAft>
                <a:spcPts val="600"/>
              </a:spcAft>
              <a:defRPr sz="1600">
                <a:solidFill>
                  <a:srgbClr val="3D4455"/>
                </a:solidFill>
                <a:latin typeface="Calibri"/>
              </a:defRPr>
            </a:pPr>
            <a:r>
              <a:t>Initial approach: stabilize, rapid glucose, rapid assessment, then systematic workup</a:t>
            </a:r>
          </a:p>
          <a:p>
            <a:pPr lvl="1">
              <a:spcBef>
                <a:spcPts val="400"/>
              </a:spcBef>
              <a:spcAft>
                <a:spcPts val="600"/>
              </a:spcAft>
              <a:defRPr sz="1400">
                <a:solidFill>
                  <a:srgbClr val="8A92A3"/>
                </a:solidFill>
                <a:latin typeface="Calibri"/>
              </a:defRPr>
            </a:pPr>
            <a:r>
              <a:t>The biggest risk: assuming altered mental status is "just post-ictal" or "just viral" without ruling out treatable emergencies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AEIOU-TIPS: Differential Diagnosis Framework</a:t>
            </a:r>
          </a:p>
        </p:txBody>
      </p:sp>
      <p:graphicFrame>
        <p:nvGraphicFramePr>
          <p:cNvPr id="5" name="Table 4"/>
          <p:cNvGraphicFramePr>
            <a:graphicFrameLocks noGrp="1"/>
          </p:cNvGraphicFramePr>
          <p:nvPr/>
        </p:nvGraphicFramePr>
        <p:xfrm>
          <a:off x="822960" y="1280160"/>
          <a:ext cx="10515600" cy="45720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Letter</a:t>
                      </a:r>
                    </a:p>
                  </a:txBody>
                  <a:tcPr>
                    <a:solidFill>
                      <a:srgbClr val="007B83"/>
                    </a:solidFill>
                  </a:tcPr>
                </a:tc>
                <a:tc>
                  <a:txBody>
                    <a:bodyPr/>
                    <a:lstStyle/>
                    <a:p>
                      <a:pPr algn="ctr">
                        <a:defRPr sz="1300" b="1">
                          <a:solidFill>
                            <a:srgbClr val="FFFFFF"/>
                          </a:solidFill>
                          <a:latin typeface="Calibri"/>
                        </a:defRPr>
                      </a:pPr>
                      <a:r>
                        <a:t>Category</a:t>
                      </a:r>
                    </a:p>
                  </a:txBody>
                  <a:tcPr>
                    <a:solidFill>
                      <a:srgbClr val="007B83"/>
                    </a:solidFill>
                  </a:tcPr>
                </a:tc>
                <a:tc>
                  <a:txBody>
                    <a:bodyPr/>
                    <a:lstStyle/>
                    <a:p>
                      <a:pPr algn="ctr">
                        <a:defRPr sz="1300" b="1">
                          <a:solidFill>
                            <a:srgbClr val="FFFFFF"/>
                          </a:solidFill>
                          <a:latin typeface="Calibri"/>
                        </a:defRPr>
                      </a:pPr>
                      <a:r>
                        <a:t>Examples</a:t>
                      </a:r>
                    </a:p>
                  </a:txBody>
                  <a:tcPr>
                    <a:solidFill>
                      <a:srgbClr val="007B83"/>
                    </a:solidFill>
                  </a:tcPr>
                </a:tc>
              </a:tr>
              <a:tr h="457200">
                <a:tc>
                  <a:txBody>
                    <a:bodyPr/>
                    <a:lstStyle/>
                    <a:p>
                      <a:pPr algn="l">
                        <a:defRPr sz="1200">
                          <a:solidFill>
                            <a:srgbClr val="3D4455"/>
                          </a:solidFill>
                          <a:latin typeface="Calibri"/>
                        </a:defRPr>
                      </a:pPr>
                      <a:r>
                        <a:t>A</a:t>
                      </a:r>
                    </a:p>
                  </a:txBody>
                  <a:tcPr>
                    <a:solidFill>
                      <a:srgbClr val="F5F6FA"/>
                    </a:solidFill>
                  </a:tcPr>
                </a:tc>
                <a:tc>
                  <a:txBody>
                    <a:bodyPr/>
                    <a:lstStyle/>
                    <a:p>
                      <a:pPr algn="l">
                        <a:defRPr sz="1200">
                          <a:solidFill>
                            <a:srgbClr val="3D4455"/>
                          </a:solidFill>
                          <a:latin typeface="Calibri"/>
                        </a:defRPr>
                      </a:pPr>
                      <a:r>
                        <a:t>Alcohol / Abuse</a:t>
                      </a:r>
                    </a:p>
                  </a:txBody>
                  <a:tcPr>
                    <a:solidFill>
                      <a:srgbClr val="F5F6FA"/>
                    </a:solidFill>
                  </a:tcPr>
                </a:tc>
                <a:tc>
                  <a:txBody>
                    <a:bodyPr/>
                    <a:lstStyle/>
                    <a:p>
                      <a:pPr algn="l">
                        <a:defRPr sz="1200">
                          <a:solidFill>
                            <a:srgbClr val="3D4455"/>
                          </a:solidFill>
                          <a:latin typeface="Calibri"/>
                        </a:defRPr>
                      </a:pPr>
                      <a:r>
                        <a:t>Ingestion, NAT (shaken baby, abusive head trauma)</a:t>
                      </a:r>
                    </a:p>
                  </a:txBody>
                  <a:tcPr>
                    <a:solidFill>
                      <a:srgbClr val="F5F6FA"/>
                    </a:solidFill>
                  </a:tcPr>
                </a:tc>
              </a:tr>
              <a:tr h="457200">
                <a:tc>
                  <a:txBody>
                    <a:bodyPr/>
                    <a:lstStyle/>
                    <a:p>
                      <a:pPr algn="l">
                        <a:defRPr sz="1200">
                          <a:solidFill>
                            <a:srgbClr val="3D4455"/>
                          </a:solidFill>
                          <a:latin typeface="Calibri"/>
                        </a:defRPr>
                      </a:pPr>
                      <a:r>
                        <a:t>E</a:t>
                      </a:r>
                    </a:p>
                  </a:txBody>
                  <a:tcPr>
                    <a:solidFill>
                      <a:srgbClr val="FFFFFF"/>
                    </a:solidFill>
                  </a:tcPr>
                </a:tc>
                <a:tc>
                  <a:txBody>
                    <a:bodyPr/>
                    <a:lstStyle/>
                    <a:p>
                      <a:pPr algn="l">
                        <a:defRPr sz="1200">
                          <a:solidFill>
                            <a:srgbClr val="3D4455"/>
                          </a:solidFill>
                          <a:latin typeface="Calibri"/>
                        </a:defRPr>
                      </a:pPr>
                      <a:r>
                        <a:t>Endocrine / Electrolyte / Encephalopathy</a:t>
                      </a:r>
                    </a:p>
                  </a:txBody>
                  <a:tcPr>
                    <a:solidFill>
                      <a:srgbClr val="FFFFFF"/>
                    </a:solidFill>
                  </a:tcPr>
                </a:tc>
                <a:tc>
                  <a:txBody>
                    <a:bodyPr/>
                    <a:lstStyle/>
                    <a:p>
                      <a:pPr algn="l">
                        <a:defRPr sz="1200">
                          <a:solidFill>
                            <a:srgbClr val="3D4455"/>
                          </a:solidFill>
                          <a:latin typeface="Calibri"/>
                        </a:defRPr>
                      </a:pPr>
                      <a:r>
                        <a:t>DKA, hypoglycemia, hypo/hypernatremia, uremia, hepatic failure</a:t>
                      </a:r>
                    </a:p>
                  </a:txBody>
                  <a:tcPr>
                    <a:solidFill>
                      <a:srgbClr val="FFFFFF"/>
                    </a:solidFill>
                  </a:tcPr>
                </a:tc>
              </a:tr>
              <a:tr h="457200">
                <a:tc>
                  <a:txBody>
                    <a:bodyPr/>
                    <a:lstStyle/>
                    <a:p>
                      <a:pPr algn="l">
                        <a:defRPr sz="1200">
                          <a:solidFill>
                            <a:srgbClr val="3D4455"/>
                          </a:solidFill>
                          <a:latin typeface="Calibri"/>
                        </a:defRPr>
                      </a:pPr>
                      <a:r>
                        <a:t>I</a:t>
                      </a:r>
                    </a:p>
                  </a:txBody>
                  <a:tcPr>
                    <a:solidFill>
                      <a:srgbClr val="F5F6FA"/>
                    </a:solidFill>
                  </a:tcPr>
                </a:tc>
                <a:tc>
                  <a:txBody>
                    <a:bodyPr/>
                    <a:lstStyle/>
                    <a:p>
                      <a:pPr algn="l">
                        <a:defRPr sz="1200">
                          <a:solidFill>
                            <a:srgbClr val="3D4455"/>
                          </a:solidFill>
                          <a:latin typeface="Calibri"/>
                        </a:defRPr>
                      </a:pPr>
                      <a:r>
                        <a:t>Insulin (Hypoglycemia)</a:t>
                      </a:r>
                    </a:p>
                  </a:txBody>
                  <a:tcPr>
                    <a:solidFill>
                      <a:srgbClr val="F5F6FA"/>
                    </a:solidFill>
                  </a:tcPr>
                </a:tc>
                <a:tc>
                  <a:txBody>
                    <a:bodyPr/>
                    <a:lstStyle/>
                    <a:p>
                      <a:pPr algn="l">
                        <a:defRPr sz="1200">
                          <a:solidFill>
                            <a:srgbClr val="3D4455"/>
                          </a:solidFill>
                          <a:latin typeface="Calibri"/>
                        </a:defRPr>
                      </a:pPr>
                      <a:r>
                        <a:t>Most common reversible cause — check glucose IMMEDIATELY</a:t>
                      </a:r>
                    </a:p>
                  </a:txBody>
                  <a:tcPr>
                    <a:solidFill>
                      <a:srgbClr val="F5F6FA"/>
                    </a:solidFill>
                  </a:tcPr>
                </a:tc>
              </a:tr>
              <a:tr h="457200">
                <a:tc>
                  <a:txBody>
                    <a:bodyPr/>
                    <a:lstStyle/>
                    <a:p>
                      <a:pPr algn="l">
                        <a:defRPr sz="1200">
                          <a:solidFill>
                            <a:srgbClr val="3D4455"/>
                          </a:solidFill>
                          <a:latin typeface="Calibri"/>
                        </a:defRPr>
                      </a:pPr>
                      <a:r>
                        <a:t>O</a:t>
                      </a:r>
                    </a:p>
                  </a:txBody>
                  <a:tcPr>
                    <a:solidFill>
                      <a:srgbClr val="FFFFFF"/>
                    </a:solidFill>
                  </a:tcPr>
                </a:tc>
                <a:tc>
                  <a:txBody>
                    <a:bodyPr/>
                    <a:lstStyle/>
                    <a:p>
                      <a:pPr algn="l">
                        <a:defRPr sz="1200">
                          <a:solidFill>
                            <a:srgbClr val="3D4455"/>
                          </a:solidFill>
                          <a:latin typeface="Calibri"/>
                        </a:defRPr>
                      </a:pPr>
                      <a:r>
                        <a:t>Oxygen / Overdose</a:t>
                      </a:r>
                    </a:p>
                  </a:txBody>
                  <a:tcPr>
                    <a:solidFill>
                      <a:srgbClr val="FFFFFF"/>
                    </a:solidFill>
                  </a:tcPr>
                </a:tc>
                <a:tc>
                  <a:txBody>
                    <a:bodyPr/>
                    <a:lstStyle/>
                    <a:p>
                      <a:pPr algn="l">
                        <a:defRPr sz="1200">
                          <a:solidFill>
                            <a:srgbClr val="3D4455"/>
                          </a:solidFill>
                          <a:latin typeface="Calibri"/>
                        </a:defRPr>
                      </a:pPr>
                      <a:r>
                        <a:t>Hypoxia, carbon monoxide, toxic ingestion</a:t>
                      </a:r>
                    </a:p>
                  </a:txBody>
                  <a:tcPr>
                    <a:solidFill>
                      <a:srgbClr val="FFFFFF"/>
                    </a:solidFill>
                  </a:tcPr>
                </a:tc>
              </a:tr>
              <a:tr h="457200">
                <a:tc>
                  <a:txBody>
                    <a:bodyPr/>
                    <a:lstStyle/>
                    <a:p>
                      <a:pPr algn="l">
                        <a:defRPr sz="1200">
                          <a:solidFill>
                            <a:srgbClr val="3D4455"/>
                          </a:solidFill>
                          <a:latin typeface="Calibri"/>
                        </a:defRPr>
                      </a:pPr>
                      <a:r>
                        <a:t>U</a:t>
                      </a:r>
                    </a:p>
                  </a:txBody>
                  <a:tcPr>
                    <a:solidFill>
                      <a:srgbClr val="F5F6FA"/>
                    </a:solidFill>
                  </a:tcPr>
                </a:tc>
                <a:tc>
                  <a:txBody>
                    <a:bodyPr/>
                    <a:lstStyle/>
                    <a:p>
                      <a:pPr algn="l">
                        <a:defRPr sz="1200">
                          <a:solidFill>
                            <a:srgbClr val="3D4455"/>
                          </a:solidFill>
                          <a:latin typeface="Calibri"/>
                        </a:defRPr>
                      </a:pPr>
                      <a:r>
                        <a:t>Uremia</a:t>
                      </a:r>
                    </a:p>
                  </a:txBody>
                  <a:tcPr>
                    <a:solidFill>
                      <a:srgbClr val="F5F6FA"/>
                    </a:solidFill>
                  </a:tcPr>
                </a:tc>
                <a:tc>
                  <a:txBody>
                    <a:bodyPr/>
                    <a:lstStyle/>
                    <a:p>
                      <a:pPr algn="l">
                        <a:defRPr sz="1200">
                          <a:solidFill>
                            <a:srgbClr val="3D4455"/>
                          </a:solidFill>
                          <a:latin typeface="Calibri"/>
                        </a:defRPr>
                      </a:pPr>
                      <a:r>
                        <a:t>HUS, renal failure, uremic encephalopathy</a:t>
                      </a:r>
                    </a:p>
                  </a:txBody>
                  <a:tcPr>
                    <a:solidFill>
                      <a:srgbClr val="F5F6FA"/>
                    </a:solidFill>
                  </a:tcPr>
                </a:tc>
              </a:tr>
              <a:tr h="457200">
                <a:tc>
                  <a:txBody>
                    <a:bodyPr/>
                    <a:lstStyle/>
                    <a:p>
                      <a:pPr algn="l">
                        <a:defRPr sz="1200">
                          <a:solidFill>
                            <a:srgbClr val="3D4455"/>
                          </a:solidFill>
                          <a:latin typeface="Calibri"/>
                        </a:defRPr>
                      </a:pPr>
                      <a:r>
                        <a:t>T</a:t>
                      </a:r>
                    </a:p>
                  </a:txBody>
                  <a:tcPr>
                    <a:solidFill>
                      <a:srgbClr val="FFFFFF"/>
                    </a:solidFill>
                  </a:tcPr>
                </a:tc>
                <a:tc>
                  <a:txBody>
                    <a:bodyPr/>
                    <a:lstStyle/>
                    <a:p>
                      <a:pPr algn="l">
                        <a:defRPr sz="1200">
                          <a:solidFill>
                            <a:srgbClr val="3D4455"/>
                          </a:solidFill>
                          <a:latin typeface="Calibri"/>
                        </a:defRPr>
                      </a:pPr>
                      <a:r>
                        <a:t>Trauma / Temperature</a:t>
                      </a:r>
                    </a:p>
                  </a:txBody>
                  <a:tcPr>
                    <a:solidFill>
                      <a:srgbClr val="FFFFFF"/>
                    </a:solidFill>
                  </a:tcPr>
                </a:tc>
                <a:tc>
                  <a:txBody>
                    <a:bodyPr/>
                    <a:lstStyle/>
                    <a:p>
                      <a:pPr algn="l">
                        <a:defRPr sz="1200">
                          <a:solidFill>
                            <a:srgbClr val="3D4455"/>
                          </a:solidFill>
                          <a:latin typeface="Calibri"/>
                        </a:defRPr>
                      </a:pPr>
                      <a:r>
                        <a:t>Head injury, NAT, hyperthermia, hypothermia</a:t>
                      </a:r>
                    </a:p>
                  </a:txBody>
                  <a:tcPr>
                    <a:solidFill>
                      <a:srgbClr val="FFFFFF"/>
                    </a:solidFill>
                  </a:tcPr>
                </a:tc>
              </a:tr>
              <a:tr h="457200">
                <a:tc>
                  <a:txBody>
                    <a:bodyPr/>
                    <a:lstStyle/>
                    <a:p>
                      <a:pPr algn="l">
                        <a:defRPr sz="1200">
                          <a:solidFill>
                            <a:srgbClr val="3D4455"/>
                          </a:solidFill>
                          <a:latin typeface="Calibri"/>
                        </a:defRPr>
                      </a:pPr>
                      <a:r>
                        <a:t>I</a:t>
                      </a:r>
                    </a:p>
                  </a:txBody>
                  <a:tcPr>
                    <a:solidFill>
                      <a:srgbClr val="F5F6FA"/>
                    </a:solidFill>
                  </a:tcPr>
                </a:tc>
                <a:tc>
                  <a:txBody>
                    <a:bodyPr/>
                    <a:lstStyle/>
                    <a:p>
                      <a:pPr algn="l">
                        <a:defRPr sz="1200">
                          <a:solidFill>
                            <a:srgbClr val="3D4455"/>
                          </a:solidFill>
                          <a:latin typeface="Calibri"/>
                        </a:defRPr>
                      </a:pPr>
                      <a:r>
                        <a:t>Infection</a:t>
                      </a:r>
                    </a:p>
                  </a:txBody>
                  <a:tcPr>
                    <a:solidFill>
                      <a:srgbClr val="F5F6FA"/>
                    </a:solidFill>
                  </a:tcPr>
                </a:tc>
                <a:tc>
                  <a:txBody>
                    <a:bodyPr/>
                    <a:lstStyle/>
                    <a:p>
                      <a:pPr algn="l">
                        <a:defRPr sz="1200">
                          <a:solidFill>
                            <a:srgbClr val="3D4455"/>
                          </a:solidFill>
                          <a:latin typeface="Calibri"/>
                        </a:defRPr>
                      </a:pPr>
                      <a:r>
                        <a:t>Meningitis, encephalitis, sepsis, brain abscess</a:t>
                      </a:r>
                    </a:p>
                  </a:txBody>
                  <a:tcPr>
                    <a:solidFill>
                      <a:srgbClr val="F5F6FA"/>
                    </a:solidFill>
                  </a:tcPr>
                </a:tc>
              </a:tr>
              <a:tr h="457200">
                <a:tc>
                  <a:txBody>
                    <a:bodyPr/>
                    <a:lstStyle/>
                    <a:p>
                      <a:pPr algn="l">
                        <a:defRPr sz="1200">
                          <a:solidFill>
                            <a:srgbClr val="3D4455"/>
                          </a:solidFill>
                          <a:latin typeface="Calibri"/>
                        </a:defRPr>
                      </a:pPr>
                      <a:r>
                        <a:t>P</a:t>
                      </a:r>
                    </a:p>
                  </a:txBody>
                  <a:tcPr>
                    <a:solidFill>
                      <a:srgbClr val="FFFFFF"/>
                    </a:solidFill>
                  </a:tcPr>
                </a:tc>
                <a:tc>
                  <a:txBody>
                    <a:bodyPr/>
                    <a:lstStyle/>
                    <a:p>
                      <a:pPr algn="l">
                        <a:defRPr sz="1200">
                          <a:solidFill>
                            <a:srgbClr val="3D4455"/>
                          </a:solidFill>
                          <a:latin typeface="Calibri"/>
                        </a:defRPr>
                      </a:pPr>
                      <a:r>
                        <a:t>Psychiatric / Poisoning</a:t>
                      </a:r>
                    </a:p>
                  </a:txBody>
                  <a:tcPr>
                    <a:solidFill>
                      <a:srgbClr val="FFFFFF"/>
                    </a:solidFill>
                  </a:tcPr>
                </a:tc>
                <a:tc>
                  <a:txBody>
                    <a:bodyPr/>
                    <a:lstStyle/>
                    <a:p>
                      <a:pPr algn="l">
                        <a:defRPr sz="1200">
                          <a:solidFill>
                            <a:srgbClr val="3D4455"/>
                          </a:solidFill>
                          <a:latin typeface="Calibri"/>
                        </a:defRPr>
                      </a:pPr>
                      <a:r>
                        <a:t>Conversion disorder (diagnosis of exclusion), ingestion</a:t>
                      </a:r>
                    </a:p>
                  </a:txBody>
                  <a:tcPr>
                    <a:solidFill>
                      <a:srgbClr val="FFFFFF"/>
                    </a:solidFill>
                  </a:tcPr>
                </a:tc>
              </a:tr>
              <a:tr h="457200">
                <a:tc>
                  <a:txBody>
                    <a:bodyPr/>
                    <a:lstStyle/>
                    <a:p>
                      <a:pPr algn="l">
                        <a:defRPr sz="1200">
                          <a:solidFill>
                            <a:srgbClr val="3D4455"/>
                          </a:solidFill>
                          <a:latin typeface="Calibri"/>
                        </a:defRPr>
                      </a:pPr>
                      <a:r>
                        <a:t>S</a:t>
                      </a:r>
                    </a:p>
                  </a:txBody>
                  <a:tcPr>
                    <a:solidFill>
                      <a:srgbClr val="F5F6FA"/>
                    </a:solidFill>
                  </a:tcPr>
                </a:tc>
                <a:tc>
                  <a:txBody>
                    <a:bodyPr/>
                    <a:lstStyle/>
                    <a:p>
                      <a:pPr algn="l">
                        <a:defRPr sz="1200">
                          <a:solidFill>
                            <a:srgbClr val="3D4455"/>
                          </a:solidFill>
                          <a:latin typeface="Calibri"/>
                        </a:defRPr>
                      </a:pPr>
                      <a:r>
                        <a:t>Seizure / Stroke / Shunt / Space-occupying lesion</a:t>
                      </a:r>
                    </a:p>
                  </a:txBody>
                  <a:tcPr>
                    <a:solidFill>
                      <a:srgbClr val="F5F6FA"/>
                    </a:solidFill>
                  </a:tcPr>
                </a:tc>
                <a:tc>
                  <a:txBody>
                    <a:bodyPr/>
                    <a:lstStyle/>
                    <a:p>
                      <a:pPr algn="l">
                        <a:defRPr sz="1200">
                          <a:solidFill>
                            <a:srgbClr val="3D4455"/>
                          </a:solidFill>
                          <a:latin typeface="Calibri"/>
                        </a:defRPr>
                      </a:pPr>
                      <a:r>
                        <a:t>Post-ictal, stroke (sickle cell), VP shunt malfunction, brain tumor</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First 10 Minutes: Rapid Assessment of AMS</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ABCs: secure airway if GCS ≤8, check breathing, check perfusion</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Point-of-care glucose: treat hypoglycemia immediately (D10W 5 mL/kg IV)</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Vital signs + SpO2: fever? hypotension? bradycardia? hypertension?</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Rapid neuro exam: pupils, GCS/AVPU, fontanelle (if open), focal deficits, posturing</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Brief history from parents: timeline, preceding events, medications in the home, trauma</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Consider empiric antibiotics if sepsis/meningitis suspected (do not delay for LP)</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Consider naloxone if opioid ingestion suspected (0.1 mg/kg IV, max 2 mg)</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AMS by Age: Common Causes</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INFANTS (0-12 months)</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Non-accidental trauma (NAT) — #1 concern</a:t>
            </a:r>
          </a:p>
          <a:p>
            <a:pPr>
              <a:spcAft>
                <a:spcPts val="500"/>
              </a:spcAft>
              <a:defRPr sz="1400">
                <a:solidFill>
                  <a:srgbClr val="3D4455"/>
                </a:solidFill>
                <a:latin typeface="Calibri"/>
              </a:defRPr>
            </a:pPr>
            <a:r>
              <a:t>Meningitis / sepsis</a:t>
            </a:r>
          </a:p>
          <a:p>
            <a:pPr>
              <a:spcAft>
                <a:spcPts val="500"/>
              </a:spcAft>
              <a:defRPr sz="1400">
                <a:solidFill>
                  <a:srgbClr val="3D4455"/>
                </a:solidFill>
                <a:latin typeface="Calibri"/>
              </a:defRPr>
            </a:pPr>
            <a:r>
              <a:t>Inborn errors of metabolism</a:t>
            </a:r>
          </a:p>
          <a:p>
            <a:pPr>
              <a:spcAft>
                <a:spcPts val="500"/>
              </a:spcAft>
              <a:defRPr sz="1400">
                <a:solidFill>
                  <a:srgbClr val="3D4455"/>
                </a:solidFill>
                <a:latin typeface="Calibri"/>
              </a:defRPr>
            </a:pPr>
            <a:r>
              <a:t>Intussusception (lethargy as presenting sign)</a:t>
            </a:r>
          </a:p>
          <a:p>
            <a:pPr>
              <a:spcAft>
                <a:spcPts val="500"/>
              </a:spcAft>
              <a:defRPr sz="1400">
                <a:solidFill>
                  <a:srgbClr val="3D4455"/>
                </a:solidFill>
                <a:latin typeface="Calibri"/>
              </a:defRPr>
            </a:pPr>
            <a:r>
              <a:t>Hypoglycemia</a:t>
            </a:r>
          </a:p>
          <a:p>
            <a:pPr>
              <a:spcAft>
                <a:spcPts val="500"/>
              </a:spcAft>
              <a:defRPr sz="1400">
                <a:solidFill>
                  <a:srgbClr val="3D4455"/>
                </a:solidFill>
                <a:latin typeface="Calibri"/>
              </a:defRPr>
            </a:pPr>
            <a:r>
              <a:t>Electrolyte derangement</a:t>
            </a:r>
          </a:p>
          <a:p>
            <a:pPr>
              <a:spcAft>
                <a:spcPts val="500"/>
              </a:spcAft>
              <a:defRPr sz="1400">
                <a:solidFill>
                  <a:srgbClr val="3D4455"/>
                </a:solidFill>
                <a:latin typeface="Calibri"/>
              </a:defRPr>
            </a:pPr>
            <a:r>
              <a:t>Seizure (may be subtle)</a:t>
            </a:r>
          </a:p>
          <a:p>
            <a:pPr>
              <a:spcAft>
                <a:spcPts val="500"/>
              </a:spcAft>
              <a:defRPr sz="1400">
                <a:solidFill>
                  <a:srgbClr val="3D4455"/>
                </a:solidFill>
                <a:latin typeface="Calibri"/>
              </a:defRPr>
            </a:pPr>
            <a:r>
              <a:t>Congenital heart disease (low cardiac output)</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TODDLERS / CHILDREN</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Toxic ingestion (most common in 1-5 year olds)</a:t>
            </a:r>
          </a:p>
          <a:p>
            <a:pPr>
              <a:spcAft>
                <a:spcPts val="500"/>
              </a:spcAft>
              <a:defRPr sz="1400">
                <a:solidFill>
                  <a:srgbClr val="3D4455"/>
                </a:solidFill>
                <a:latin typeface="Calibri"/>
              </a:defRPr>
            </a:pPr>
            <a:r>
              <a:t>Post-ictal state</a:t>
            </a:r>
          </a:p>
          <a:p>
            <a:pPr>
              <a:spcAft>
                <a:spcPts val="500"/>
              </a:spcAft>
              <a:defRPr sz="1400">
                <a:solidFill>
                  <a:srgbClr val="3D4455"/>
                </a:solidFill>
                <a:latin typeface="Calibri"/>
              </a:defRPr>
            </a:pPr>
            <a:r>
              <a:t>Meningitis / encephalitis</a:t>
            </a:r>
          </a:p>
          <a:p>
            <a:pPr>
              <a:spcAft>
                <a:spcPts val="500"/>
              </a:spcAft>
              <a:defRPr sz="1400">
                <a:solidFill>
                  <a:srgbClr val="3D4455"/>
                </a:solidFill>
                <a:latin typeface="Calibri"/>
              </a:defRPr>
            </a:pPr>
            <a:r>
              <a:t>DKA (new-onset diabetes)</a:t>
            </a:r>
          </a:p>
          <a:p>
            <a:pPr>
              <a:spcAft>
                <a:spcPts val="500"/>
              </a:spcAft>
              <a:defRPr sz="1400">
                <a:solidFill>
                  <a:srgbClr val="3D4455"/>
                </a:solidFill>
                <a:latin typeface="Calibri"/>
              </a:defRPr>
            </a:pPr>
            <a:r>
              <a:t>Trauma (accidental or NAT)</a:t>
            </a:r>
          </a:p>
          <a:p>
            <a:pPr>
              <a:spcAft>
                <a:spcPts val="500"/>
              </a:spcAft>
              <a:defRPr sz="1400">
                <a:solidFill>
                  <a:srgbClr val="3D4455"/>
                </a:solidFill>
                <a:latin typeface="Calibri"/>
              </a:defRPr>
            </a:pPr>
            <a:r>
              <a:t>Intracranial mass / hydrocephalus</a:t>
            </a:r>
          </a:p>
          <a:p>
            <a:pPr>
              <a:spcAft>
                <a:spcPts val="500"/>
              </a:spcAft>
              <a:defRPr sz="1400">
                <a:solidFill>
                  <a:srgbClr val="3D4455"/>
                </a:solidFill>
                <a:latin typeface="Calibri"/>
              </a:defRPr>
            </a:pPr>
            <a:r>
              <a:t>VP shunt malfunction (if present)</a:t>
            </a:r>
          </a:p>
          <a:p>
            <a:pPr>
              <a:spcAft>
                <a:spcPts val="500"/>
              </a:spcAft>
              <a:defRPr sz="1400">
                <a:solidFill>
                  <a:srgbClr val="3D4455"/>
                </a:solidFill>
                <a:latin typeface="Calibri"/>
              </a:defRPr>
            </a:pPr>
            <a:r>
              <a:t>Stroke (sickle cell, cardiac disease)</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Focused History: Critical Questions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Timeline: sudden vs. gradual onset? (sudden = vascular, seizure, trauma; gradual = metabolic, infectious)</a:t>
            </a:r>
          </a:p>
          <a:p>
            <a:pPr>
              <a:spcBef>
                <a:spcPts val="400"/>
              </a:spcBef>
              <a:spcAft>
                <a:spcPts val="600"/>
              </a:spcAft>
              <a:defRPr sz="1600">
                <a:solidFill>
                  <a:srgbClr val="3D4455"/>
                </a:solidFill>
                <a:latin typeface="Calibri"/>
              </a:defRPr>
            </a:pPr>
            <a:r>
              <a:t>Preceding symptoms: fever? headache? vomiting? seizure witnessed?</a:t>
            </a:r>
          </a:p>
          <a:p>
            <a:pPr>
              <a:spcBef>
                <a:spcPts val="400"/>
              </a:spcBef>
              <a:spcAft>
                <a:spcPts val="600"/>
              </a:spcAft>
              <a:defRPr sz="1600">
                <a:solidFill>
                  <a:srgbClr val="3D4455"/>
                </a:solidFill>
                <a:latin typeface="Calibri"/>
              </a:defRPr>
            </a:pPr>
            <a:r>
              <a:t>Medications and substances: what is in the home? Access to grandparents' meds? Recent medication changes?</a:t>
            </a:r>
          </a:p>
          <a:p>
            <a:pPr>
              <a:spcBef>
                <a:spcPts val="400"/>
              </a:spcBef>
              <a:spcAft>
                <a:spcPts val="600"/>
              </a:spcAft>
              <a:defRPr sz="1600">
                <a:solidFill>
                  <a:srgbClr val="3D4455"/>
                </a:solidFill>
                <a:latin typeface="Calibri"/>
              </a:defRPr>
            </a:pPr>
            <a:r>
              <a:t>Trauma: any fall, injury, or mechanism? (ask specifically about NAT if infant/toddler)</a:t>
            </a:r>
          </a:p>
          <a:p>
            <a:pPr>
              <a:spcBef>
                <a:spcPts val="400"/>
              </a:spcBef>
              <a:spcAft>
                <a:spcPts val="600"/>
              </a:spcAft>
              <a:defRPr sz="1600">
                <a:solidFill>
                  <a:srgbClr val="3D4455"/>
                </a:solidFill>
                <a:latin typeface="Calibri"/>
              </a:defRPr>
            </a:pPr>
            <a:r>
              <a:t>Medical history: seizure disorder? VP shunt? diabetes? sickle cell? cardiac disease?</a:t>
            </a:r>
          </a:p>
          <a:p>
            <a:pPr>
              <a:spcBef>
                <a:spcPts val="400"/>
              </a:spcBef>
              <a:spcAft>
                <a:spcPts val="600"/>
              </a:spcAft>
              <a:defRPr sz="1600">
                <a:solidFill>
                  <a:srgbClr val="3D4455"/>
                </a:solidFill>
                <a:latin typeface="Calibri"/>
              </a:defRPr>
            </a:pPr>
            <a:r>
              <a:t>Recent illness: URI? gastroenteritis? (consider post-infectious encephalitis, ADEM)</a:t>
            </a:r>
          </a:p>
          <a:p>
            <a:pPr>
              <a:spcBef>
                <a:spcPts val="400"/>
              </a:spcBef>
              <a:spcAft>
                <a:spcPts val="600"/>
              </a:spcAft>
              <a:defRPr sz="1600">
                <a:solidFill>
                  <a:srgbClr val="3D4455"/>
                </a:solidFill>
                <a:latin typeface="Calibri"/>
              </a:defRPr>
            </a:pPr>
            <a:r>
              <a:t>Family history: metabolic disease? seizures? consanguinity?</a:t>
            </a:r>
          </a:p>
          <a:p>
            <a:pPr lvl="1">
              <a:spcBef>
                <a:spcPts val="400"/>
              </a:spcBef>
              <a:spcAft>
                <a:spcPts val="600"/>
              </a:spcAft>
              <a:defRPr sz="1400">
                <a:solidFill>
                  <a:srgbClr val="8A92A3"/>
                </a:solidFill>
                <a:latin typeface="Calibri"/>
              </a:defRPr>
            </a:pPr>
            <a:r>
              <a:t>If the history doesn't match the presentation, think NAT or unreported ingestion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Key Exam Findings and What They Suggest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Bulging fontanelle → increased ICP: meningitis, NAT, hydrocephalus</a:t>
            </a:r>
          </a:p>
          <a:p>
            <a:pPr>
              <a:spcBef>
                <a:spcPts val="400"/>
              </a:spcBef>
              <a:spcAft>
                <a:spcPts val="600"/>
              </a:spcAft>
              <a:defRPr sz="1600">
                <a:solidFill>
                  <a:srgbClr val="3D4455"/>
                </a:solidFill>
                <a:latin typeface="Calibri"/>
              </a:defRPr>
            </a:pPr>
            <a:r>
              <a:t>Retinal hemorrhages → NAT (abusive head trauma) — highly specific</a:t>
            </a:r>
          </a:p>
          <a:p>
            <a:pPr>
              <a:spcBef>
                <a:spcPts val="400"/>
              </a:spcBef>
              <a:spcAft>
                <a:spcPts val="600"/>
              </a:spcAft>
              <a:defRPr sz="1600">
                <a:solidFill>
                  <a:srgbClr val="3D4455"/>
                </a:solidFill>
                <a:latin typeface="Calibri"/>
              </a:defRPr>
            </a:pPr>
            <a:r>
              <a:t>Unilateral dilated pupil → uncal herniation: mass, hemorrhage, herniation</a:t>
            </a:r>
          </a:p>
          <a:p>
            <a:pPr>
              <a:spcBef>
                <a:spcPts val="400"/>
              </a:spcBef>
              <a:spcAft>
                <a:spcPts val="600"/>
              </a:spcAft>
              <a:defRPr sz="1600">
                <a:solidFill>
                  <a:srgbClr val="3D4455"/>
                </a:solidFill>
                <a:latin typeface="Calibri"/>
              </a:defRPr>
            </a:pPr>
            <a:r>
              <a:t>Bilateral pinpoint pupils → opioid ingestion</a:t>
            </a:r>
          </a:p>
          <a:p>
            <a:pPr>
              <a:spcBef>
                <a:spcPts val="400"/>
              </a:spcBef>
              <a:spcAft>
                <a:spcPts val="600"/>
              </a:spcAft>
              <a:defRPr sz="1600">
                <a:solidFill>
                  <a:srgbClr val="3D4455"/>
                </a:solidFill>
                <a:latin typeface="Calibri"/>
              </a:defRPr>
            </a:pPr>
            <a:r>
              <a:t>Bilateral dilated pupils → anticholinergic toxidrome</a:t>
            </a:r>
          </a:p>
          <a:p>
            <a:pPr>
              <a:spcBef>
                <a:spcPts val="400"/>
              </a:spcBef>
              <a:spcAft>
                <a:spcPts val="600"/>
              </a:spcAft>
              <a:defRPr sz="1600">
                <a:solidFill>
                  <a:srgbClr val="3D4455"/>
                </a:solidFill>
                <a:latin typeface="Calibri"/>
              </a:defRPr>
            </a:pPr>
            <a:r>
              <a:t>Fever + AMS → meningitis/encephalitis until proven otherwise</a:t>
            </a:r>
          </a:p>
          <a:p>
            <a:pPr>
              <a:spcBef>
                <a:spcPts val="400"/>
              </a:spcBef>
              <a:spcAft>
                <a:spcPts val="600"/>
              </a:spcAft>
              <a:defRPr sz="1600">
                <a:solidFill>
                  <a:srgbClr val="3D4455"/>
                </a:solidFill>
                <a:latin typeface="Calibri"/>
              </a:defRPr>
            </a:pPr>
            <a:r>
              <a:t>Hypertension + bradycardia → Cushing response (increased ICP)</a:t>
            </a:r>
          </a:p>
          <a:p>
            <a:pPr>
              <a:spcBef>
                <a:spcPts val="400"/>
              </a:spcBef>
              <a:spcAft>
                <a:spcPts val="600"/>
              </a:spcAft>
              <a:defRPr sz="1600">
                <a:solidFill>
                  <a:srgbClr val="3D4455"/>
                </a:solidFill>
                <a:latin typeface="Calibri"/>
              </a:defRPr>
            </a:pPr>
            <a:r>
              <a:t>Fruity breath + Kussmaul respirations → DKA</a:t>
            </a:r>
          </a:p>
          <a:p>
            <a:pPr>
              <a:spcBef>
                <a:spcPts val="400"/>
              </a:spcBef>
              <a:spcAft>
                <a:spcPts val="600"/>
              </a:spcAft>
              <a:defRPr sz="1600">
                <a:solidFill>
                  <a:srgbClr val="3D4455"/>
                </a:solidFill>
                <a:latin typeface="Calibri"/>
              </a:defRPr>
            </a:pPr>
            <a:r>
              <a:t>Track marks, medication patches, unusual odor → toxic ingestion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Initial Workup for AMS</a:t>
            </a:r>
          </a:p>
        </p:txBody>
      </p:sp>
      <p:graphicFrame>
        <p:nvGraphicFramePr>
          <p:cNvPr id="5" name="Table 4"/>
          <p:cNvGraphicFramePr>
            <a:graphicFrameLocks noGrp="1"/>
          </p:cNvGraphicFramePr>
          <p:nvPr/>
        </p:nvGraphicFramePr>
        <p:xfrm>
          <a:off x="822960" y="1280160"/>
          <a:ext cx="10515600" cy="45720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Test</a:t>
                      </a:r>
                    </a:p>
                  </a:txBody>
                  <a:tcPr>
                    <a:solidFill>
                      <a:srgbClr val="007B83"/>
                    </a:solidFill>
                  </a:tcPr>
                </a:tc>
                <a:tc>
                  <a:txBody>
                    <a:bodyPr/>
                    <a:lstStyle/>
                    <a:p>
                      <a:pPr algn="ctr">
                        <a:defRPr sz="1300" b="1">
                          <a:solidFill>
                            <a:srgbClr val="FFFFFF"/>
                          </a:solidFill>
                          <a:latin typeface="Calibri"/>
                        </a:defRPr>
                      </a:pPr>
                      <a:r>
                        <a:t>When to Order</a:t>
                      </a:r>
                    </a:p>
                  </a:txBody>
                  <a:tcPr>
                    <a:solidFill>
                      <a:srgbClr val="007B83"/>
                    </a:solidFill>
                  </a:tcPr>
                </a:tc>
                <a:tc>
                  <a:txBody>
                    <a:bodyPr/>
                    <a:lstStyle/>
                    <a:p>
                      <a:pPr algn="ctr">
                        <a:defRPr sz="1300" b="1">
                          <a:solidFill>
                            <a:srgbClr val="FFFFFF"/>
                          </a:solidFill>
                          <a:latin typeface="Calibri"/>
                        </a:defRPr>
                      </a:pPr>
                      <a:r>
                        <a:t>What It Rules In/Out</a:t>
                      </a:r>
                    </a:p>
                  </a:txBody>
                  <a:tcPr>
                    <a:solidFill>
                      <a:srgbClr val="007B83"/>
                    </a:solidFill>
                  </a:tcPr>
                </a:tc>
              </a:tr>
              <a:tr h="457200">
                <a:tc>
                  <a:txBody>
                    <a:bodyPr/>
                    <a:lstStyle/>
                    <a:p>
                      <a:pPr algn="l">
                        <a:defRPr sz="1200">
                          <a:solidFill>
                            <a:srgbClr val="3D4455"/>
                          </a:solidFill>
                          <a:latin typeface="Calibri"/>
                        </a:defRPr>
                      </a:pPr>
                      <a:r>
                        <a:t>Point-of-care glucose</a:t>
                      </a:r>
                    </a:p>
                  </a:txBody>
                  <a:tcPr>
                    <a:solidFill>
                      <a:srgbClr val="F5F6FA"/>
                    </a:solidFill>
                  </a:tcPr>
                </a:tc>
                <a:tc>
                  <a:txBody>
                    <a:bodyPr/>
                    <a:lstStyle/>
                    <a:p>
                      <a:pPr algn="l">
                        <a:defRPr sz="1200">
                          <a:solidFill>
                            <a:srgbClr val="3D4455"/>
                          </a:solidFill>
                          <a:latin typeface="Calibri"/>
                        </a:defRPr>
                      </a:pPr>
                      <a:r>
                        <a:t>ALWAYS — first test</a:t>
                      </a:r>
                    </a:p>
                  </a:txBody>
                  <a:tcPr>
                    <a:solidFill>
                      <a:srgbClr val="F5F6FA"/>
                    </a:solidFill>
                  </a:tcPr>
                </a:tc>
                <a:tc>
                  <a:txBody>
                    <a:bodyPr/>
                    <a:lstStyle/>
                    <a:p>
                      <a:pPr algn="l">
                        <a:defRPr sz="1200">
                          <a:solidFill>
                            <a:srgbClr val="3D4455"/>
                          </a:solidFill>
                          <a:latin typeface="Calibri"/>
                        </a:defRPr>
                      </a:pPr>
                      <a:r>
                        <a:t>Hypoglycemia (most common treatable cause)</a:t>
                      </a:r>
                    </a:p>
                  </a:txBody>
                  <a:tcPr>
                    <a:solidFill>
                      <a:srgbClr val="F5F6FA"/>
                    </a:solidFill>
                  </a:tcPr>
                </a:tc>
              </a:tr>
              <a:tr h="457200">
                <a:tc>
                  <a:txBody>
                    <a:bodyPr/>
                    <a:lstStyle/>
                    <a:p>
                      <a:pPr algn="l">
                        <a:defRPr sz="1200">
                          <a:solidFill>
                            <a:srgbClr val="3D4455"/>
                          </a:solidFill>
                          <a:latin typeface="Calibri"/>
                        </a:defRPr>
                      </a:pPr>
                      <a:r>
                        <a:t>BMP (electrolytes)</a:t>
                      </a:r>
                    </a:p>
                  </a:txBody>
                  <a:tcPr>
                    <a:solidFill>
                      <a:srgbClr val="FFFFFF"/>
                    </a:solidFill>
                  </a:tcPr>
                </a:tc>
                <a:tc>
                  <a:txBody>
                    <a:bodyPr/>
                    <a:lstStyle/>
                    <a:p>
                      <a:pPr algn="l">
                        <a:defRPr sz="1200">
                          <a:solidFill>
                            <a:srgbClr val="3D4455"/>
                          </a:solidFill>
                          <a:latin typeface="Calibri"/>
                        </a:defRPr>
                      </a:pPr>
                      <a:r>
                        <a:t>Always</a:t>
                      </a:r>
                    </a:p>
                  </a:txBody>
                  <a:tcPr>
                    <a:solidFill>
                      <a:srgbClr val="FFFFFF"/>
                    </a:solidFill>
                  </a:tcPr>
                </a:tc>
                <a:tc>
                  <a:txBody>
                    <a:bodyPr/>
                    <a:lstStyle/>
                    <a:p>
                      <a:pPr algn="l">
                        <a:defRPr sz="1200">
                          <a:solidFill>
                            <a:srgbClr val="3D4455"/>
                          </a:solidFill>
                          <a:latin typeface="Calibri"/>
                        </a:defRPr>
                      </a:pPr>
                      <a:r>
                        <a:t>Na, K, Ca, glucose, BUN/Cr, anion gap</a:t>
                      </a:r>
                    </a:p>
                  </a:txBody>
                  <a:tcPr>
                    <a:solidFill>
                      <a:srgbClr val="FFFFFF"/>
                    </a:solidFill>
                  </a:tcPr>
                </a:tc>
              </a:tr>
              <a:tr h="457200">
                <a:tc>
                  <a:txBody>
                    <a:bodyPr/>
                    <a:lstStyle/>
                    <a:p>
                      <a:pPr algn="l">
                        <a:defRPr sz="1200">
                          <a:solidFill>
                            <a:srgbClr val="3D4455"/>
                          </a:solidFill>
                          <a:latin typeface="Calibri"/>
                        </a:defRPr>
                      </a:pPr>
                      <a:r>
                        <a:t>VBG/ABG</a:t>
                      </a:r>
                    </a:p>
                  </a:txBody>
                  <a:tcPr>
                    <a:solidFill>
                      <a:srgbClr val="F5F6FA"/>
                    </a:solidFill>
                  </a:tcPr>
                </a:tc>
                <a:tc>
                  <a:txBody>
                    <a:bodyPr/>
                    <a:lstStyle/>
                    <a:p>
                      <a:pPr algn="l">
                        <a:defRPr sz="1200">
                          <a:solidFill>
                            <a:srgbClr val="3D4455"/>
                          </a:solidFill>
                          <a:latin typeface="Calibri"/>
                        </a:defRPr>
                      </a:pPr>
                      <a:r>
                        <a:t>Ill-appearing or respiratory distress</a:t>
                      </a:r>
                    </a:p>
                  </a:txBody>
                  <a:tcPr>
                    <a:solidFill>
                      <a:srgbClr val="F5F6FA"/>
                    </a:solidFill>
                  </a:tcPr>
                </a:tc>
                <a:tc>
                  <a:txBody>
                    <a:bodyPr/>
                    <a:lstStyle/>
                    <a:p>
                      <a:pPr algn="l">
                        <a:defRPr sz="1200">
                          <a:solidFill>
                            <a:srgbClr val="3D4455"/>
                          </a:solidFill>
                          <a:latin typeface="Calibri"/>
                        </a:defRPr>
                      </a:pPr>
                      <a:r>
                        <a:t>Acidosis (DKA, sepsis, metabolic), CO2 level</a:t>
                      </a:r>
                    </a:p>
                  </a:txBody>
                  <a:tcPr>
                    <a:solidFill>
                      <a:srgbClr val="F5F6FA"/>
                    </a:solidFill>
                  </a:tcPr>
                </a:tc>
              </a:tr>
              <a:tr h="457200">
                <a:tc>
                  <a:txBody>
                    <a:bodyPr/>
                    <a:lstStyle/>
                    <a:p>
                      <a:pPr algn="l">
                        <a:defRPr sz="1200">
                          <a:solidFill>
                            <a:srgbClr val="3D4455"/>
                          </a:solidFill>
                          <a:latin typeface="Calibri"/>
                        </a:defRPr>
                      </a:pPr>
                      <a:r>
                        <a:t>CBC</a:t>
                      </a:r>
                    </a:p>
                  </a:txBody>
                  <a:tcPr>
                    <a:solidFill>
                      <a:srgbClr val="FFFFFF"/>
                    </a:solidFill>
                  </a:tcPr>
                </a:tc>
                <a:tc>
                  <a:txBody>
                    <a:bodyPr/>
                    <a:lstStyle/>
                    <a:p>
                      <a:pPr algn="l">
                        <a:defRPr sz="1200">
                          <a:solidFill>
                            <a:srgbClr val="3D4455"/>
                          </a:solidFill>
                          <a:latin typeface="Calibri"/>
                        </a:defRPr>
                      </a:pPr>
                      <a:r>
                        <a:t>Fever or infectious concern</a:t>
                      </a:r>
                    </a:p>
                  </a:txBody>
                  <a:tcPr>
                    <a:solidFill>
                      <a:srgbClr val="FFFFFF"/>
                    </a:solidFill>
                  </a:tcPr>
                </a:tc>
                <a:tc>
                  <a:txBody>
                    <a:bodyPr/>
                    <a:lstStyle/>
                    <a:p>
                      <a:pPr algn="l">
                        <a:defRPr sz="1200">
                          <a:solidFill>
                            <a:srgbClr val="3D4455"/>
                          </a:solidFill>
                          <a:latin typeface="Calibri"/>
                        </a:defRPr>
                      </a:pPr>
                      <a:r>
                        <a:t>WBC, anemia, thrombocytopenia (HUS, sepsis)</a:t>
                      </a:r>
                    </a:p>
                  </a:txBody>
                  <a:tcPr>
                    <a:solidFill>
                      <a:srgbClr val="FFFFFF"/>
                    </a:solidFill>
                  </a:tcPr>
                </a:tc>
              </a:tr>
              <a:tr h="457200">
                <a:tc>
                  <a:txBody>
                    <a:bodyPr/>
                    <a:lstStyle/>
                    <a:p>
                      <a:pPr algn="l">
                        <a:defRPr sz="1200">
                          <a:solidFill>
                            <a:srgbClr val="3D4455"/>
                          </a:solidFill>
                          <a:latin typeface="Calibri"/>
                        </a:defRPr>
                      </a:pPr>
                      <a:r>
                        <a:t>Blood culture</a:t>
                      </a:r>
                    </a:p>
                  </a:txBody>
                  <a:tcPr>
                    <a:solidFill>
                      <a:srgbClr val="F5F6FA"/>
                    </a:solidFill>
                  </a:tcPr>
                </a:tc>
                <a:tc>
                  <a:txBody>
                    <a:bodyPr/>
                    <a:lstStyle/>
                    <a:p>
                      <a:pPr algn="l">
                        <a:defRPr sz="1200">
                          <a:solidFill>
                            <a:srgbClr val="3D4455"/>
                          </a:solidFill>
                          <a:latin typeface="Calibri"/>
                        </a:defRPr>
                      </a:pPr>
                      <a:r>
                        <a:t>Fever or sepsis concern</a:t>
                      </a:r>
                    </a:p>
                  </a:txBody>
                  <a:tcPr>
                    <a:solidFill>
                      <a:srgbClr val="F5F6FA"/>
                    </a:solidFill>
                  </a:tcPr>
                </a:tc>
                <a:tc>
                  <a:txBody>
                    <a:bodyPr/>
                    <a:lstStyle/>
                    <a:p>
                      <a:pPr algn="l">
                        <a:defRPr sz="1200">
                          <a:solidFill>
                            <a:srgbClr val="3D4455"/>
                          </a:solidFill>
                          <a:latin typeface="Calibri"/>
                        </a:defRPr>
                      </a:pPr>
                      <a:r>
                        <a:t>Bacteremia</a:t>
                      </a:r>
                    </a:p>
                  </a:txBody>
                  <a:tcPr>
                    <a:solidFill>
                      <a:srgbClr val="F5F6FA"/>
                    </a:solidFill>
                  </a:tcPr>
                </a:tc>
              </a:tr>
              <a:tr h="457200">
                <a:tc>
                  <a:txBody>
                    <a:bodyPr/>
                    <a:lstStyle/>
                    <a:p>
                      <a:pPr algn="l">
                        <a:defRPr sz="1200">
                          <a:solidFill>
                            <a:srgbClr val="3D4455"/>
                          </a:solidFill>
                          <a:latin typeface="Calibri"/>
                        </a:defRPr>
                      </a:pPr>
                      <a:r>
                        <a:t>UA + urine tox screen</a:t>
                      </a:r>
                    </a:p>
                  </a:txBody>
                  <a:tcPr>
                    <a:solidFill>
                      <a:srgbClr val="FFFFFF"/>
                    </a:solidFill>
                  </a:tcPr>
                </a:tc>
                <a:tc>
                  <a:txBody>
                    <a:bodyPr/>
                    <a:lstStyle/>
                    <a:p>
                      <a:pPr algn="l">
                        <a:defRPr sz="1200">
                          <a:solidFill>
                            <a:srgbClr val="3D4455"/>
                          </a:solidFill>
                          <a:latin typeface="Calibri"/>
                        </a:defRPr>
                      </a:pPr>
                      <a:r>
                        <a:t>Ingestion suspected</a:t>
                      </a:r>
                    </a:p>
                  </a:txBody>
                  <a:tcPr>
                    <a:solidFill>
                      <a:srgbClr val="FFFFFF"/>
                    </a:solidFill>
                  </a:tcPr>
                </a:tc>
                <a:tc>
                  <a:txBody>
                    <a:bodyPr/>
                    <a:lstStyle/>
                    <a:p>
                      <a:pPr algn="l">
                        <a:defRPr sz="1200">
                          <a:solidFill>
                            <a:srgbClr val="3D4455"/>
                          </a:solidFill>
                          <a:latin typeface="Calibri"/>
                        </a:defRPr>
                      </a:pPr>
                      <a:r>
                        <a:t>Drug screen (limited sensitivity), UTI</a:t>
                      </a:r>
                    </a:p>
                  </a:txBody>
                  <a:tcPr>
                    <a:solidFill>
                      <a:srgbClr val="FFFFFF"/>
                    </a:solidFill>
                  </a:tcPr>
                </a:tc>
              </a:tr>
              <a:tr h="457200">
                <a:tc>
                  <a:txBody>
                    <a:bodyPr/>
                    <a:lstStyle/>
                    <a:p>
                      <a:pPr algn="l">
                        <a:defRPr sz="1200">
                          <a:solidFill>
                            <a:srgbClr val="3D4455"/>
                          </a:solidFill>
                          <a:latin typeface="Calibri"/>
                        </a:defRPr>
                      </a:pPr>
                      <a:r>
                        <a:t>Ammonia + lactate</a:t>
                      </a:r>
                    </a:p>
                  </a:txBody>
                  <a:tcPr>
                    <a:solidFill>
                      <a:srgbClr val="F5F6FA"/>
                    </a:solidFill>
                  </a:tcPr>
                </a:tc>
                <a:tc>
                  <a:txBody>
                    <a:bodyPr/>
                    <a:lstStyle/>
                    <a:p>
                      <a:pPr algn="l">
                        <a:defRPr sz="1200">
                          <a:solidFill>
                            <a:srgbClr val="3D4455"/>
                          </a:solidFill>
                          <a:latin typeface="Calibri"/>
                        </a:defRPr>
                      </a:pPr>
                      <a:r>
                        <a:t>Infant or suspected metabolic disorder</a:t>
                      </a:r>
                    </a:p>
                  </a:txBody>
                  <a:tcPr>
                    <a:solidFill>
                      <a:srgbClr val="F5F6FA"/>
                    </a:solidFill>
                  </a:tcPr>
                </a:tc>
                <a:tc>
                  <a:txBody>
                    <a:bodyPr/>
                    <a:lstStyle/>
                    <a:p>
                      <a:pPr algn="l">
                        <a:defRPr sz="1200">
                          <a:solidFill>
                            <a:srgbClr val="3D4455"/>
                          </a:solidFill>
                          <a:latin typeface="Calibri"/>
                        </a:defRPr>
                      </a:pPr>
                      <a:r>
                        <a:t>Inborn errors, mitochondrial disease</a:t>
                      </a:r>
                    </a:p>
                  </a:txBody>
                  <a:tcPr>
                    <a:solidFill>
                      <a:srgbClr val="F5F6FA"/>
                    </a:solidFill>
                  </a:tcPr>
                </a:tc>
              </a:tr>
              <a:tr h="457200">
                <a:tc>
                  <a:txBody>
                    <a:bodyPr/>
                    <a:lstStyle/>
                    <a:p>
                      <a:pPr algn="l">
                        <a:defRPr sz="1200">
                          <a:solidFill>
                            <a:srgbClr val="3D4455"/>
                          </a:solidFill>
                          <a:latin typeface="Calibri"/>
                        </a:defRPr>
                      </a:pPr>
                      <a:r>
                        <a:t>CT head (non-contrast)</a:t>
                      </a:r>
                    </a:p>
                  </a:txBody>
                  <a:tcPr>
                    <a:solidFill>
                      <a:srgbClr val="FFFFFF"/>
                    </a:solidFill>
                  </a:tcPr>
                </a:tc>
                <a:tc>
                  <a:txBody>
                    <a:bodyPr/>
                    <a:lstStyle/>
                    <a:p>
                      <a:pPr algn="l">
                        <a:defRPr sz="1200">
                          <a:solidFill>
                            <a:srgbClr val="3D4455"/>
                          </a:solidFill>
                          <a:latin typeface="Calibri"/>
                        </a:defRPr>
                      </a:pPr>
                      <a:r>
                        <a:t>Trauma, focal deficit, papilledema, GCS ≤12</a:t>
                      </a:r>
                    </a:p>
                  </a:txBody>
                  <a:tcPr>
                    <a:solidFill>
                      <a:srgbClr val="FFFFFF"/>
                    </a:solidFill>
                  </a:tcPr>
                </a:tc>
                <a:tc>
                  <a:txBody>
                    <a:bodyPr/>
                    <a:lstStyle/>
                    <a:p>
                      <a:pPr algn="l">
                        <a:defRPr sz="1200">
                          <a:solidFill>
                            <a:srgbClr val="3D4455"/>
                          </a:solidFill>
                          <a:latin typeface="Calibri"/>
                        </a:defRPr>
                      </a:pPr>
                      <a:r>
                        <a:t>ICH, mass, hydrocephalus, NAT</a:t>
                      </a:r>
                    </a:p>
                  </a:txBody>
                  <a:tcPr>
                    <a:solidFill>
                      <a:srgbClr val="FFFFFF"/>
                    </a:solidFill>
                  </a:tcPr>
                </a:tc>
              </a:tr>
              <a:tr h="457200">
                <a:tc>
                  <a:txBody>
                    <a:bodyPr/>
                    <a:lstStyle/>
                    <a:p>
                      <a:pPr algn="l">
                        <a:defRPr sz="1200">
                          <a:solidFill>
                            <a:srgbClr val="3D4455"/>
                          </a:solidFill>
                          <a:latin typeface="Calibri"/>
                        </a:defRPr>
                      </a:pPr>
                      <a:r>
                        <a:t>LP</a:t>
                      </a:r>
                    </a:p>
                  </a:txBody>
                  <a:tcPr>
                    <a:solidFill>
                      <a:srgbClr val="F5F6FA"/>
                    </a:solidFill>
                  </a:tcPr>
                </a:tc>
                <a:tc>
                  <a:txBody>
                    <a:bodyPr/>
                    <a:lstStyle/>
                    <a:p>
                      <a:pPr algn="l">
                        <a:defRPr sz="1200">
                          <a:solidFill>
                            <a:srgbClr val="3D4455"/>
                          </a:solidFill>
                          <a:latin typeface="Calibri"/>
                        </a:defRPr>
                      </a:pPr>
                      <a:r>
                        <a:t>After CT (if safe), if meningitis/encephalitis suspected</a:t>
                      </a:r>
                    </a:p>
                  </a:txBody>
                  <a:tcPr>
                    <a:solidFill>
                      <a:srgbClr val="F5F6FA"/>
                    </a:solidFill>
                  </a:tcPr>
                </a:tc>
                <a:tc>
                  <a:txBody>
                    <a:bodyPr/>
                    <a:lstStyle/>
                    <a:p>
                      <a:pPr algn="l">
                        <a:defRPr sz="1200">
                          <a:solidFill>
                            <a:srgbClr val="3D4455"/>
                          </a:solidFill>
                          <a:latin typeface="Calibri"/>
                        </a:defRPr>
                      </a:pPr>
                      <a:r>
                        <a:t>CSF pleocytosis, gram stain, culture, HSV PCR</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9-Month-Old Found "Sleepy" by Mother</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9-month-old previously healthy girl is brought by her mother who says the baby has been "too sleepy" since waking from her nap 2 hours ago. She is not feeding well and is not interacting normally. No fever, no vomiting, no trauma per mother. The boyfriend was babysitting while mother was at work. On exam: lethargic, intermittently moaning, anterior fontanelle is full and tense, GCS 10 (E2V3M5). Pupils equal and reactive.</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is your top concern? (Non-accidental trauma — abusive head trauma)</a:t>
            </a:r>
          </a:p>
          <a:p>
            <a:pPr>
              <a:spcAft>
                <a:spcPts val="600"/>
              </a:spcAft>
              <a:defRPr sz="1400" b="1">
                <a:solidFill>
                  <a:srgbClr val="007B83"/>
                </a:solidFill>
                <a:latin typeface="Calibri"/>
              </a:defRPr>
            </a:pPr>
            <a:r>
              <a:t>▸  Why? (Unexplained AMS in infant + bulging fontanelle + caregiver was boyfriend + no history of trauma)</a:t>
            </a:r>
          </a:p>
          <a:p>
            <a:pPr>
              <a:spcAft>
                <a:spcPts val="600"/>
              </a:spcAft>
              <a:defRPr sz="1400" b="1">
                <a:solidFill>
                  <a:srgbClr val="007B83"/>
                </a:solidFill>
                <a:latin typeface="Calibri"/>
              </a:defRPr>
            </a:pPr>
            <a:r>
              <a:t>▸  Immediate workup? (CT head STAT, skeletal survey, ophthalmology for dilated fundoscopic exam)</a:t>
            </a:r>
          </a:p>
          <a:p>
            <a:pPr>
              <a:spcAft>
                <a:spcPts val="600"/>
              </a:spcAft>
              <a:defRPr sz="1400" b="1">
                <a:solidFill>
                  <a:srgbClr val="007B83"/>
                </a:solidFill>
                <a:latin typeface="Calibri"/>
              </a:defRPr>
            </a:pPr>
            <a:r>
              <a:t>▸  CT shows bilateral subdural hematomas — next steps? (Neurosurgery, child protection team, admit to PICU)</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AMS Pitfalls in PEM</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Forgetting to check glucose — the simplest and most treatable cause of AMS</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Attributing altered mental status to a "post-ictal state" without considering WHY the seizure happened</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Not considering NAT in infants with unexplained AMS — ask direct questions, examine carefully</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Delaying antibiotics in febrile AMS while waiting for LP results — treat first, diagnose second</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Forgetting toxic ingestion in toddlers — "pill in the pocket" can be fatal (calcium channel blockers, opioids, sulfonylureas)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Not checking ammonia in neonates/young infants with AMS — inborn errors of metabolism present acutely</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Assuming "viral illness" in a lethargic infant — lethargy in infants is ALWAYS a red flag</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Check point-of-care glucose within 60 seconds of recognizing AMS — hypoglycemia is the #1 treatable cause</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Use AEIOU-TIPS to systematically work through the differential and avoid anchoring</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Unexplained AMS in an infant = non-accidental trauma until proven otherwise</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Febrile + altered = start empiric meningitis coverage BEFORE LP (ceftriaxone + vancomycin ± acyclovir)</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Toxic ingestion is the most common cause of acute AMS in toddlers — search the house, check a tox screen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Avner JR. Altered states of consciousness. Pediatr Rev. 2006;27(9):331-338.</a:t>
            </a:r>
          </a:p>
          <a:p>
            <a:pPr>
              <a:spcAft>
                <a:spcPts val="400"/>
              </a:spcAft>
              <a:defRPr sz="1100">
                <a:solidFill>
                  <a:srgbClr val="3D4455"/>
                </a:solidFill>
                <a:latin typeface="Calibri"/>
              </a:defRPr>
            </a:pPr>
            <a:r>
              <a:t>2. Mistry RD, et al. Clinical outcomes of emergency department patients with altered mental status. Acad Emerg Med. 2016;23(11):1326-1335.</a:t>
            </a:r>
          </a:p>
          <a:p>
            <a:pPr>
              <a:spcAft>
                <a:spcPts val="400"/>
              </a:spcAft>
              <a:defRPr sz="1100">
                <a:solidFill>
                  <a:srgbClr val="3D4455"/>
                </a:solidFill>
                <a:latin typeface="Calibri"/>
              </a:defRPr>
            </a:pPr>
            <a:r>
              <a:t>3. Kuppermann N, et al. Identification of children at very low risk of clinically-important brain injuries after head trauma: a prospective cohort study. Lancet. 2009;374(9696):1160-1170.</a:t>
            </a:r>
          </a:p>
          <a:p>
            <a:pPr>
              <a:spcAft>
                <a:spcPts val="400"/>
              </a:spcAft>
              <a:defRPr sz="1100">
                <a:solidFill>
                  <a:srgbClr val="3D4455"/>
                </a:solidFill>
                <a:latin typeface="Calibri"/>
              </a:defRPr>
            </a:pPr>
            <a:r>
              <a:t>4. Christian CW, et al. Abusive head trauma in infants and children. Pediatrics. 2009;123(5):1409-1411.</a:t>
            </a:r>
          </a:p>
          <a:p>
            <a:pPr>
              <a:spcAft>
                <a:spcPts val="400"/>
              </a:spcAft>
              <a:defRPr sz="1100">
                <a:solidFill>
                  <a:srgbClr val="3D4455"/>
                </a:solidFill>
                <a:latin typeface="Calibri"/>
              </a:defRPr>
            </a:pPr>
            <a:r>
              <a:t>5. Nigrovic LE, et al. The Yale Observation Scale score and the risk of serious bacterial illness in febrile infants. Pediatrics. 2017;140(1):e20170695.</a:t>
            </a:r>
          </a:p>
          <a:p>
            <a:pPr>
              <a:spcAft>
                <a:spcPts val="400"/>
              </a:spcAft>
              <a:defRPr sz="1100">
                <a:solidFill>
                  <a:srgbClr val="3D4455"/>
                </a:solidFill>
                <a:latin typeface="Calibri"/>
              </a:defRPr>
            </a:pPr>
            <a:r>
              <a:t>6. Barsan WG. Altered mental status and coma. In: Tintinalli JE, ed. Emergency Medicine. 9th ed. McGraw-Hill; 2020.</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Altered Mental Status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