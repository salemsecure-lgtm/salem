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designed as the capstone review. Each slide distills a major PEM topic into its most testable, most critical teaching point. Use it for pre-board review, for morning conference rapid-fire review, or for self-testing. The full clinical detail is in the individual topic decks.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should be memorized. Each row represents a diagnosis where delayed recognition or treatment leads to death or permanent disability. The "Critical Action" column is the one thing you must do immediately. Every PEM fellow should be able to execute these actions without hesitation.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board favorites. They come up repeatedly in multiple-choice questions. Knowing these doses cold allows you to answer questions quickly and confidently. Notice the pattern: for each major emergency, there is ONE critical drug at ONE critical dose that you must know.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"board traps" appear frequently in exam questions. The question stem will present a scenario that looks reassuring, and the correct answer requires you to recognize that the apparent good news is actually a trap. Each of these traps has a high-yield teaching point that can change your management.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"never do" items are the most commonly tested negative knowledge items on boards. Each represents an action that, if taken, causes harm. They are designed to test whether you know the contraindications and pitfalls, not just the treatments. If you see these scenarios on the exam, the correct answer is always to NOT do the listed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trials and guidelines drive current PEM practice and are frequently referenced in board questions. Knowing the study name, population, and key finding is sufficient for boards. The PECARN studies (head CT, FLUID, febrile infant) are the most PEM-specific and most commonly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8 vignettes represent the 8 most classic PEM board scenarios. Each can be answered in under 10 seconds if you know the pattern. Practice reading the vignette and immediately jumping to the diagnosis and the critical action. This is what board prep is about: pattern recognition and immediate correct response.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is about the mindset. PEM board excellence and clinical excellence are the same thing: rapid pattern recognition, decisive action, and a deep understanding of the "why" behind every guideline. Use this deck library not just to memorize facts, but to build the clinical reasoning framework that makes you an excellent PEM physician.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10 pitfalls represent the 10 most commonly missed questions on PEM boards. Review them the night before your exam. If you can avoid all 10 of these errors, you are well-prepared. Each one has been covered in depth in the individual topic decks.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30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PEM Board Review: High-Yield Pitfalls, Patterns, and Must-Not-Miss Diagnoses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The Ultimate High-Yield Review for PEM Board Preparation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Review the most commonly tested PEM board topics and their classic presentations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Identify board-style "red flags" and recognition patterns across all major topic areas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Reinforce critical decision points that are frequently tested in PEM board exams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Review key clinical pearls, landmark trials, and evidence-based guidelines</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Build confidence with rapid-fire clinical vignettes and pattern recognition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Board Review Strategy: How This Deck Works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This deck consolidates the highest-yield pearls from all 29 PEM topic decks</a:t>
            </a:r>
          </a:p>
          <a:p>
            <a:pPr>
              <a:spcBef>
                <a:spcPts val="400"/>
              </a:spcBef>
              <a:spcAft>
                <a:spcPts val="600"/>
              </a:spcAft>
              <a:defRPr sz="1600">
                <a:solidFill>
                  <a:srgbClr val="3D4455"/>
                </a:solidFill>
                <a:latin typeface="Calibri"/>
              </a:defRPr>
            </a:pPr>
            <a:r>
              <a:t>Organized by: recognition patterns, critical actions, board traps, and key numbers</a:t>
            </a:r>
          </a:p>
          <a:p>
            <a:pPr>
              <a:spcBef>
                <a:spcPts val="400"/>
              </a:spcBef>
              <a:spcAft>
                <a:spcPts val="600"/>
              </a:spcAft>
              <a:defRPr sz="1600">
                <a:solidFill>
                  <a:srgbClr val="3D4455"/>
                </a:solidFill>
                <a:latin typeface="Calibri"/>
              </a:defRPr>
            </a:pPr>
            <a:r>
              <a:t>Use this for final board preparation, rapid review before exams, and teaching</a:t>
            </a:r>
          </a:p>
          <a:p>
            <a:pPr>
              <a:spcBef>
                <a:spcPts val="400"/>
              </a:spcBef>
              <a:spcAft>
                <a:spcPts val="600"/>
              </a:spcAft>
              <a:defRPr sz="1600">
                <a:solidFill>
                  <a:srgbClr val="3D4455"/>
                </a:solidFill>
                <a:latin typeface="Calibri"/>
              </a:defRPr>
            </a:pPr>
            <a:r>
              <a:t>Each slide = a high-yield board concept distilled to its essential teaching point</a:t>
            </a:r>
          </a:p>
          <a:p>
            <a:pPr lvl="1">
              <a:spcBef>
                <a:spcPts val="400"/>
              </a:spcBef>
              <a:spcAft>
                <a:spcPts val="600"/>
              </a:spcAft>
              <a:defRPr sz="1400">
                <a:solidFill>
                  <a:srgbClr val="8A92A3"/>
                </a:solidFill>
                <a:latin typeface="Calibri"/>
              </a:defRPr>
            </a:pPr>
            <a:r>
              <a:t>This is NOT a substitute for the full topic decks — it is a rapid-fire review</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Must-Not-Miss</a:t>
            </a:r>
            <a:br/>
            <a:r>
              <a:t>Diagnoses</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Patterns that save lives when recognized early</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Must-Not-Miss List: Diagnoses That Kill If Delayed</a:t>
            </a:r>
          </a:p>
        </p:txBody>
      </p:sp>
      <p:graphicFrame>
        <p:nvGraphicFramePr>
          <p:cNvPr id="5" name="Table 4"/>
          <p:cNvGraphicFramePr>
            <a:graphicFrameLocks noGrp="1"/>
          </p:cNvGraphicFramePr>
          <p:nvPr/>
        </p:nvGraphicFramePr>
        <p:xfrm>
          <a:off x="822960" y="1280160"/>
          <a:ext cx="10515600" cy="41148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Diagnosis</a:t>
                      </a:r>
                    </a:p>
                  </a:txBody>
                  <a:tcPr>
                    <a:solidFill>
                      <a:srgbClr val="007B83"/>
                    </a:solidFill>
                  </a:tcPr>
                </a:tc>
                <a:tc>
                  <a:txBody>
                    <a:bodyPr/>
                    <a:lstStyle/>
                    <a:p>
                      <a:pPr algn="ctr">
                        <a:defRPr sz="1300" b="1">
                          <a:solidFill>
                            <a:srgbClr val="FFFFFF"/>
                          </a:solidFill>
                          <a:latin typeface="Calibri"/>
                        </a:defRPr>
                      </a:pPr>
                      <a:r>
                        <a:t>Classic Clue</a:t>
                      </a:r>
                    </a:p>
                  </a:txBody>
                  <a:tcPr>
                    <a:solidFill>
                      <a:srgbClr val="007B83"/>
                    </a:solidFill>
                  </a:tcPr>
                </a:tc>
                <a:tc>
                  <a:txBody>
                    <a:bodyPr/>
                    <a:lstStyle/>
                    <a:p>
                      <a:pPr algn="ctr">
                        <a:defRPr sz="1300" b="1">
                          <a:solidFill>
                            <a:srgbClr val="FFFFFF"/>
                          </a:solidFill>
                          <a:latin typeface="Calibri"/>
                        </a:defRPr>
                      </a:pPr>
                      <a:r>
                        <a:t>Critical Action</a:t>
                      </a:r>
                    </a:p>
                  </a:txBody>
                  <a:tcPr>
                    <a:solidFill>
                      <a:srgbClr val="007B83"/>
                    </a:solidFill>
                  </a:tcPr>
                </a:tc>
              </a:tr>
              <a:tr h="457200">
                <a:tc>
                  <a:txBody>
                    <a:bodyPr/>
                    <a:lstStyle/>
                    <a:p>
                      <a:pPr algn="l">
                        <a:defRPr sz="1200">
                          <a:solidFill>
                            <a:srgbClr val="3D4455"/>
                          </a:solidFill>
                          <a:latin typeface="Calibri"/>
                        </a:defRPr>
                      </a:pPr>
                      <a:r>
                        <a:t>Meningitis</a:t>
                      </a:r>
                    </a:p>
                  </a:txBody>
                  <a:tcPr>
                    <a:solidFill>
                      <a:srgbClr val="F5F6FA"/>
                    </a:solidFill>
                  </a:tcPr>
                </a:tc>
                <a:tc>
                  <a:txBody>
                    <a:bodyPr/>
                    <a:lstStyle/>
                    <a:p>
                      <a:pPr algn="l">
                        <a:defRPr sz="1200">
                          <a:solidFill>
                            <a:srgbClr val="3D4455"/>
                          </a:solidFill>
                          <a:latin typeface="Calibri"/>
                        </a:defRPr>
                      </a:pPr>
                      <a:r>
                        <a:t>Fever + AMS + bulging fontanelle</a:t>
                      </a:r>
                    </a:p>
                  </a:txBody>
                  <a:tcPr>
                    <a:solidFill>
                      <a:srgbClr val="F5F6FA"/>
                    </a:solidFill>
                  </a:tcPr>
                </a:tc>
                <a:tc>
                  <a:txBody>
                    <a:bodyPr/>
                    <a:lstStyle/>
                    <a:p>
                      <a:pPr algn="l">
                        <a:defRPr sz="1200">
                          <a:solidFill>
                            <a:srgbClr val="3D4455"/>
                          </a:solidFill>
                          <a:latin typeface="Calibri"/>
                        </a:defRPr>
                      </a:pPr>
                      <a:r>
                        <a:t>Antibiotics before LP — do not delay</a:t>
                      </a:r>
                    </a:p>
                  </a:txBody>
                  <a:tcPr>
                    <a:solidFill>
                      <a:srgbClr val="F5F6FA"/>
                    </a:solidFill>
                  </a:tcPr>
                </a:tc>
              </a:tr>
              <a:tr h="457200">
                <a:tc>
                  <a:txBody>
                    <a:bodyPr/>
                    <a:lstStyle/>
                    <a:p>
                      <a:pPr algn="l">
                        <a:defRPr sz="1200">
                          <a:solidFill>
                            <a:srgbClr val="3D4455"/>
                          </a:solidFill>
                          <a:latin typeface="Calibri"/>
                        </a:defRPr>
                      </a:pPr>
                      <a:r>
                        <a:t>HSV encephalitis</a:t>
                      </a:r>
                    </a:p>
                  </a:txBody>
                  <a:tcPr>
                    <a:solidFill>
                      <a:srgbClr val="FFFFFF"/>
                    </a:solidFill>
                  </a:tcPr>
                </a:tc>
                <a:tc>
                  <a:txBody>
                    <a:bodyPr/>
                    <a:lstStyle/>
                    <a:p>
                      <a:pPr algn="l">
                        <a:defRPr sz="1200">
                          <a:solidFill>
                            <a:srgbClr val="3D4455"/>
                          </a:solidFill>
                          <a:latin typeface="Calibri"/>
                        </a:defRPr>
                      </a:pPr>
                      <a:r>
                        <a:t>Neonate + seizures + vesicles</a:t>
                      </a:r>
                    </a:p>
                  </a:txBody>
                  <a:tcPr>
                    <a:solidFill>
                      <a:srgbClr val="FFFFFF"/>
                    </a:solidFill>
                  </a:tcPr>
                </a:tc>
                <a:tc>
                  <a:txBody>
                    <a:bodyPr/>
                    <a:lstStyle/>
                    <a:p>
                      <a:pPr algn="l">
                        <a:defRPr sz="1200">
                          <a:solidFill>
                            <a:srgbClr val="3D4455"/>
                          </a:solidFill>
                          <a:latin typeface="Calibri"/>
                        </a:defRPr>
                      </a:pPr>
                      <a:r>
                        <a:t>Acyclovir 20 mg/kg IV q8h immediately</a:t>
                      </a:r>
                    </a:p>
                  </a:txBody>
                  <a:tcPr>
                    <a:solidFill>
                      <a:srgbClr val="FFFFFF"/>
                    </a:solidFill>
                  </a:tcPr>
                </a:tc>
              </a:tr>
              <a:tr h="457200">
                <a:tc>
                  <a:txBody>
                    <a:bodyPr/>
                    <a:lstStyle/>
                    <a:p>
                      <a:pPr algn="l">
                        <a:defRPr sz="1200">
                          <a:solidFill>
                            <a:srgbClr val="3D4455"/>
                          </a:solidFill>
                          <a:latin typeface="Calibri"/>
                        </a:defRPr>
                      </a:pPr>
                      <a:r>
                        <a:t>Ductal-dependent CHD</a:t>
                      </a:r>
                    </a:p>
                  </a:txBody>
                  <a:tcPr>
                    <a:solidFill>
                      <a:srgbClr val="F5F6FA"/>
                    </a:solidFill>
                  </a:tcPr>
                </a:tc>
                <a:tc>
                  <a:txBody>
                    <a:bodyPr/>
                    <a:lstStyle/>
                    <a:p>
                      <a:pPr algn="l">
                        <a:defRPr sz="1200">
                          <a:solidFill>
                            <a:srgbClr val="3D4455"/>
                          </a:solidFill>
                          <a:latin typeface="Calibri"/>
                        </a:defRPr>
                      </a:pPr>
                      <a:r>
                        <a:t>Cyanosis unresponsive to O2, day 2-14</a:t>
                      </a:r>
                    </a:p>
                  </a:txBody>
                  <a:tcPr>
                    <a:solidFill>
                      <a:srgbClr val="F5F6FA"/>
                    </a:solidFill>
                  </a:tcPr>
                </a:tc>
                <a:tc>
                  <a:txBody>
                    <a:bodyPr/>
                    <a:lstStyle/>
                    <a:p>
                      <a:pPr algn="l">
                        <a:defRPr sz="1200">
                          <a:solidFill>
                            <a:srgbClr val="3D4455"/>
                          </a:solidFill>
                          <a:latin typeface="Calibri"/>
                        </a:defRPr>
                      </a:pPr>
                      <a:r>
                        <a:t>PGE1 0.05 mcg/kg/min — do not wait for echo</a:t>
                      </a:r>
                    </a:p>
                  </a:txBody>
                  <a:tcPr>
                    <a:solidFill>
                      <a:srgbClr val="F5F6FA"/>
                    </a:solidFill>
                  </a:tcPr>
                </a:tc>
              </a:tr>
              <a:tr h="457200">
                <a:tc>
                  <a:txBody>
                    <a:bodyPr/>
                    <a:lstStyle/>
                    <a:p>
                      <a:pPr algn="l">
                        <a:defRPr sz="1200">
                          <a:solidFill>
                            <a:srgbClr val="3D4455"/>
                          </a:solidFill>
                          <a:latin typeface="Calibri"/>
                        </a:defRPr>
                      </a:pPr>
                      <a:r>
                        <a:t>Malrotation with volvulus</a:t>
                      </a:r>
                    </a:p>
                  </a:txBody>
                  <a:tcPr>
                    <a:solidFill>
                      <a:srgbClr val="FFFFFF"/>
                    </a:solidFill>
                  </a:tcPr>
                </a:tc>
                <a:tc>
                  <a:txBody>
                    <a:bodyPr/>
                    <a:lstStyle/>
                    <a:p>
                      <a:pPr algn="l">
                        <a:defRPr sz="1200">
                          <a:solidFill>
                            <a:srgbClr val="3D4455"/>
                          </a:solidFill>
                          <a:latin typeface="Calibri"/>
                        </a:defRPr>
                      </a:pPr>
                      <a:r>
                        <a:t>Bilious vomiting in neonate</a:t>
                      </a:r>
                    </a:p>
                  </a:txBody>
                  <a:tcPr>
                    <a:solidFill>
                      <a:srgbClr val="FFFFFF"/>
                    </a:solidFill>
                  </a:tcPr>
                </a:tc>
                <a:tc>
                  <a:txBody>
                    <a:bodyPr/>
                    <a:lstStyle/>
                    <a:p>
                      <a:pPr algn="l">
                        <a:defRPr sz="1200">
                          <a:solidFill>
                            <a:srgbClr val="3D4455"/>
                          </a:solidFill>
                          <a:latin typeface="Calibri"/>
                        </a:defRPr>
                      </a:pPr>
                      <a:r>
                        <a:t>Call surgery before imaging</a:t>
                      </a:r>
                    </a:p>
                  </a:txBody>
                  <a:tcPr>
                    <a:solidFill>
                      <a:srgbClr val="FFFFFF"/>
                    </a:solidFill>
                  </a:tcPr>
                </a:tc>
              </a:tr>
              <a:tr h="457200">
                <a:tc>
                  <a:txBody>
                    <a:bodyPr/>
                    <a:lstStyle/>
                    <a:p>
                      <a:pPr algn="l">
                        <a:defRPr sz="1200">
                          <a:solidFill>
                            <a:srgbClr val="3D4455"/>
                          </a:solidFill>
                          <a:latin typeface="Calibri"/>
                        </a:defRPr>
                      </a:pPr>
                      <a:r>
                        <a:t>Testicular torsion</a:t>
                      </a:r>
                    </a:p>
                  </a:txBody>
                  <a:tcPr>
                    <a:solidFill>
                      <a:srgbClr val="F5F6FA"/>
                    </a:solidFill>
                  </a:tcPr>
                </a:tc>
                <a:tc>
                  <a:txBody>
                    <a:bodyPr/>
                    <a:lstStyle/>
                    <a:p>
                      <a:pPr algn="l">
                        <a:defRPr sz="1200">
                          <a:solidFill>
                            <a:srgbClr val="3D4455"/>
                          </a:solidFill>
                          <a:latin typeface="Calibri"/>
                        </a:defRPr>
                      </a:pPr>
                      <a:r>
                        <a:t>Acute scrotal pain + high-riding testis</a:t>
                      </a:r>
                    </a:p>
                  </a:txBody>
                  <a:tcPr>
                    <a:solidFill>
                      <a:srgbClr val="F5F6FA"/>
                    </a:solidFill>
                  </a:tcPr>
                </a:tc>
                <a:tc>
                  <a:txBody>
                    <a:bodyPr/>
                    <a:lstStyle/>
                    <a:p>
                      <a:pPr algn="l">
                        <a:defRPr sz="1200">
                          <a:solidFill>
                            <a:srgbClr val="3D4455"/>
                          </a:solidFill>
                          <a:latin typeface="Calibri"/>
                        </a:defRPr>
                      </a:pPr>
                      <a:r>
                        <a:t>OR within 6 hours for salvage</a:t>
                      </a:r>
                    </a:p>
                  </a:txBody>
                  <a:tcPr>
                    <a:solidFill>
                      <a:srgbClr val="F5F6FA"/>
                    </a:solidFill>
                  </a:tcPr>
                </a:tc>
              </a:tr>
              <a:tr h="457200">
                <a:tc>
                  <a:txBody>
                    <a:bodyPr/>
                    <a:lstStyle/>
                    <a:p>
                      <a:pPr algn="l">
                        <a:defRPr sz="1200">
                          <a:solidFill>
                            <a:srgbClr val="3D4455"/>
                          </a:solidFill>
                          <a:latin typeface="Calibri"/>
                        </a:defRPr>
                      </a:pPr>
                      <a:r>
                        <a:t>Abusive head trauma</a:t>
                      </a:r>
                    </a:p>
                  </a:txBody>
                  <a:tcPr>
                    <a:solidFill>
                      <a:srgbClr val="FFFFFF"/>
                    </a:solidFill>
                  </a:tcPr>
                </a:tc>
                <a:tc>
                  <a:txBody>
                    <a:bodyPr/>
                    <a:lstStyle/>
                    <a:p>
                      <a:pPr algn="l">
                        <a:defRPr sz="1200">
                          <a:solidFill>
                            <a:srgbClr val="3D4455"/>
                          </a:solidFill>
                          <a:latin typeface="Calibri"/>
                        </a:defRPr>
                      </a:pPr>
                      <a:r>
                        <a:t>Unexplained AMS in infant</a:t>
                      </a:r>
                    </a:p>
                  </a:txBody>
                  <a:tcPr>
                    <a:solidFill>
                      <a:srgbClr val="FFFFFF"/>
                    </a:solidFill>
                  </a:tcPr>
                </a:tc>
                <a:tc>
                  <a:txBody>
                    <a:bodyPr/>
                    <a:lstStyle/>
                    <a:p>
                      <a:pPr algn="l">
                        <a:defRPr sz="1200">
                          <a:solidFill>
                            <a:srgbClr val="3D4455"/>
                          </a:solidFill>
                          <a:latin typeface="Calibri"/>
                        </a:defRPr>
                      </a:pPr>
                      <a:r>
                        <a:t>CT head + skeletal survey + ophthalmology</a:t>
                      </a:r>
                    </a:p>
                  </a:txBody>
                  <a:tcPr>
                    <a:solidFill>
                      <a:srgbClr val="FFFFFF"/>
                    </a:solidFill>
                  </a:tcPr>
                </a:tc>
              </a:tr>
              <a:tr h="457200">
                <a:tc>
                  <a:txBody>
                    <a:bodyPr/>
                    <a:lstStyle/>
                    <a:p>
                      <a:pPr algn="l">
                        <a:defRPr sz="1200">
                          <a:solidFill>
                            <a:srgbClr val="3D4455"/>
                          </a:solidFill>
                          <a:latin typeface="Calibri"/>
                        </a:defRPr>
                      </a:pPr>
                      <a:r>
                        <a:t>Anaphylaxis</a:t>
                      </a:r>
                    </a:p>
                  </a:txBody>
                  <a:tcPr>
                    <a:solidFill>
                      <a:srgbClr val="F5F6FA"/>
                    </a:solidFill>
                  </a:tcPr>
                </a:tc>
                <a:tc>
                  <a:txBody>
                    <a:bodyPr/>
                    <a:lstStyle/>
                    <a:p>
                      <a:pPr algn="l">
                        <a:defRPr sz="1200">
                          <a:solidFill>
                            <a:srgbClr val="3D4455"/>
                          </a:solidFill>
                          <a:latin typeface="Calibri"/>
                        </a:defRPr>
                      </a:pPr>
                      <a:r>
                        <a:t>Multi-organ after allergen exposure</a:t>
                      </a:r>
                    </a:p>
                  </a:txBody>
                  <a:tcPr>
                    <a:solidFill>
                      <a:srgbClr val="F5F6FA"/>
                    </a:solidFill>
                  </a:tcPr>
                </a:tc>
                <a:tc>
                  <a:txBody>
                    <a:bodyPr/>
                    <a:lstStyle/>
                    <a:p>
                      <a:pPr algn="l">
                        <a:defRPr sz="1200">
                          <a:solidFill>
                            <a:srgbClr val="3D4455"/>
                          </a:solidFill>
                          <a:latin typeface="Calibri"/>
                        </a:defRPr>
                      </a:pPr>
                      <a:r>
                        <a:t>IM epinephrine 0.01 mg/kg FIRST</a:t>
                      </a:r>
                    </a:p>
                  </a:txBody>
                  <a:tcPr>
                    <a:solidFill>
                      <a:srgbClr val="F5F6FA"/>
                    </a:solidFill>
                  </a:tcPr>
                </a:tc>
              </a:tr>
              <a:tr h="457200">
                <a:tc>
                  <a:txBody>
                    <a:bodyPr/>
                    <a:lstStyle/>
                    <a:p>
                      <a:pPr algn="l">
                        <a:defRPr sz="1200">
                          <a:solidFill>
                            <a:srgbClr val="3D4455"/>
                          </a:solidFill>
                          <a:latin typeface="Calibri"/>
                        </a:defRPr>
                      </a:pPr>
                      <a:r>
                        <a:t>Status epilepticus</a:t>
                      </a:r>
                    </a:p>
                  </a:txBody>
                  <a:tcPr>
                    <a:solidFill>
                      <a:srgbClr val="FFFFFF"/>
                    </a:solidFill>
                  </a:tcPr>
                </a:tc>
                <a:tc>
                  <a:txBody>
                    <a:bodyPr/>
                    <a:lstStyle/>
                    <a:p>
                      <a:pPr algn="l">
                        <a:defRPr sz="1200">
                          <a:solidFill>
                            <a:srgbClr val="3D4455"/>
                          </a:solidFill>
                          <a:latin typeface="Calibri"/>
                        </a:defRPr>
                      </a:pPr>
                      <a:r>
                        <a:t>Seizure &gt;5 minutes</a:t>
                      </a:r>
                    </a:p>
                  </a:txBody>
                  <a:tcPr>
                    <a:solidFill>
                      <a:srgbClr val="FFFFFF"/>
                    </a:solidFill>
                  </a:tcPr>
                </a:tc>
                <a:tc>
                  <a:txBody>
                    <a:bodyPr/>
                    <a:lstStyle/>
                    <a:p>
                      <a:pPr algn="l">
                        <a:defRPr sz="1200">
                          <a:solidFill>
                            <a:srgbClr val="3D4455"/>
                          </a:solidFill>
                          <a:latin typeface="Calibri"/>
                        </a:defRPr>
                      </a:pPr>
                      <a:r>
                        <a:t>IM midazolam 0.2 mg/kg immediately</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Key Numbers Every PEM Fellow Must Know</a:t>
            </a:r>
          </a:p>
        </p:txBody>
      </p:sp>
      <p:graphicFrame>
        <p:nvGraphicFramePr>
          <p:cNvPr id="5" name="Table 4"/>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Topic</a:t>
                      </a:r>
                    </a:p>
                  </a:txBody>
                  <a:tcPr>
                    <a:solidFill>
                      <a:srgbClr val="007B83"/>
                    </a:solidFill>
                  </a:tcPr>
                </a:tc>
                <a:tc>
                  <a:txBody>
                    <a:bodyPr/>
                    <a:lstStyle/>
                    <a:p>
                      <a:pPr algn="ctr">
                        <a:defRPr sz="1300" b="1">
                          <a:solidFill>
                            <a:srgbClr val="FFFFFF"/>
                          </a:solidFill>
                          <a:latin typeface="Calibri"/>
                        </a:defRPr>
                      </a:pPr>
                      <a:r>
                        <a:t>Key Number</a:t>
                      </a:r>
                    </a:p>
                  </a:txBody>
                  <a:tcPr>
                    <a:solidFill>
                      <a:srgbClr val="007B83"/>
                    </a:solidFill>
                  </a:tcPr>
                </a:tc>
                <a:tc>
                  <a:txBody>
                    <a:bodyPr/>
                    <a:lstStyle/>
                    <a:p>
                      <a:pPr algn="ctr">
                        <a:defRPr sz="1300" b="1">
                          <a:solidFill>
                            <a:srgbClr val="FFFFFF"/>
                          </a:solidFill>
                          <a:latin typeface="Calibri"/>
                        </a:defRPr>
                      </a:pPr>
                      <a:r>
                        <a:t>Significance</a:t>
                      </a:r>
                    </a:p>
                  </a:txBody>
                  <a:tcPr>
                    <a:solidFill>
                      <a:srgbClr val="007B83"/>
                    </a:solidFill>
                  </a:tcPr>
                </a:tc>
              </a:tr>
              <a:tr h="457200">
                <a:tc>
                  <a:txBody>
                    <a:bodyPr/>
                    <a:lstStyle/>
                    <a:p>
                      <a:pPr algn="l">
                        <a:defRPr sz="1200">
                          <a:solidFill>
                            <a:srgbClr val="3D4455"/>
                          </a:solidFill>
                          <a:latin typeface="Calibri"/>
                        </a:defRPr>
                      </a:pPr>
                      <a:r>
                        <a:t>Epinephrine IM</a:t>
                      </a:r>
                    </a:p>
                  </a:txBody>
                  <a:tcPr>
                    <a:solidFill>
                      <a:srgbClr val="F5F6FA"/>
                    </a:solidFill>
                  </a:tcPr>
                </a:tc>
                <a:tc>
                  <a:txBody>
                    <a:bodyPr/>
                    <a:lstStyle/>
                    <a:p>
                      <a:pPr algn="l">
                        <a:defRPr sz="1200">
                          <a:solidFill>
                            <a:srgbClr val="3D4455"/>
                          </a:solidFill>
                          <a:latin typeface="Calibri"/>
                        </a:defRPr>
                      </a:pPr>
                      <a:r>
                        <a:t>0.01 mg/kg (max 0.3 child)</a:t>
                      </a:r>
                    </a:p>
                  </a:txBody>
                  <a:tcPr>
                    <a:solidFill>
                      <a:srgbClr val="F5F6FA"/>
                    </a:solidFill>
                  </a:tcPr>
                </a:tc>
                <a:tc>
                  <a:txBody>
                    <a:bodyPr/>
                    <a:lstStyle/>
                    <a:p>
                      <a:pPr algn="l">
                        <a:defRPr sz="1200">
                          <a:solidFill>
                            <a:srgbClr val="3D4455"/>
                          </a:solidFill>
                          <a:latin typeface="Calibri"/>
                        </a:defRPr>
                      </a:pPr>
                      <a:r>
                        <a:t>Anaphylaxis first-line dose</a:t>
                      </a:r>
                    </a:p>
                  </a:txBody>
                  <a:tcPr>
                    <a:solidFill>
                      <a:srgbClr val="F5F6FA"/>
                    </a:solidFill>
                  </a:tcPr>
                </a:tc>
              </a:tr>
              <a:tr h="457200">
                <a:tc>
                  <a:txBody>
                    <a:bodyPr/>
                    <a:lstStyle/>
                    <a:p>
                      <a:pPr algn="l">
                        <a:defRPr sz="1200">
                          <a:solidFill>
                            <a:srgbClr val="3D4455"/>
                          </a:solidFill>
                          <a:latin typeface="Calibri"/>
                        </a:defRPr>
                      </a:pPr>
                      <a:r>
                        <a:t>Status epilepticus</a:t>
                      </a:r>
                    </a:p>
                  </a:txBody>
                  <a:tcPr>
                    <a:solidFill>
                      <a:srgbClr val="FFFFFF"/>
                    </a:solidFill>
                  </a:tcPr>
                </a:tc>
                <a:tc>
                  <a:txBody>
                    <a:bodyPr/>
                    <a:lstStyle/>
                    <a:p>
                      <a:pPr algn="l">
                        <a:defRPr sz="1200">
                          <a:solidFill>
                            <a:srgbClr val="3D4455"/>
                          </a:solidFill>
                          <a:latin typeface="Calibri"/>
                        </a:defRPr>
                      </a:pPr>
                      <a:r>
                        <a:t>5 minutes</a:t>
                      </a:r>
                    </a:p>
                  </a:txBody>
                  <a:tcPr>
                    <a:solidFill>
                      <a:srgbClr val="FFFFFF"/>
                    </a:solidFill>
                  </a:tcPr>
                </a:tc>
                <a:tc>
                  <a:txBody>
                    <a:bodyPr/>
                    <a:lstStyle/>
                    <a:p>
                      <a:pPr algn="l">
                        <a:defRPr sz="1200">
                          <a:solidFill>
                            <a:srgbClr val="3D4455"/>
                          </a:solidFill>
                          <a:latin typeface="Calibri"/>
                        </a:defRPr>
                      </a:pPr>
                      <a:r>
                        <a:t>Definition threshold — start benzos</a:t>
                      </a:r>
                    </a:p>
                  </a:txBody>
                  <a:tcPr>
                    <a:solidFill>
                      <a:srgbClr val="FFFFFF"/>
                    </a:solidFill>
                  </a:tcPr>
                </a:tc>
              </a:tr>
              <a:tr h="457200">
                <a:tc>
                  <a:txBody>
                    <a:bodyPr/>
                    <a:lstStyle/>
                    <a:p>
                      <a:pPr algn="l">
                        <a:defRPr sz="1200">
                          <a:solidFill>
                            <a:srgbClr val="3D4455"/>
                          </a:solidFill>
                          <a:latin typeface="Calibri"/>
                        </a:defRPr>
                      </a:pPr>
                      <a:r>
                        <a:t>Midazolam IM dose</a:t>
                      </a:r>
                    </a:p>
                  </a:txBody>
                  <a:tcPr>
                    <a:solidFill>
                      <a:srgbClr val="F5F6FA"/>
                    </a:solidFill>
                  </a:tcPr>
                </a:tc>
                <a:tc>
                  <a:txBody>
                    <a:bodyPr/>
                    <a:lstStyle/>
                    <a:p>
                      <a:pPr algn="l">
                        <a:defRPr sz="1200">
                          <a:solidFill>
                            <a:srgbClr val="3D4455"/>
                          </a:solidFill>
                          <a:latin typeface="Calibri"/>
                        </a:defRPr>
                      </a:pPr>
                      <a:r>
                        <a:t>0.2 mg/kg (max 10 mg)</a:t>
                      </a:r>
                    </a:p>
                  </a:txBody>
                  <a:tcPr>
                    <a:solidFill>
                      <a:srgbClr val="F5F6FA"/>
                    </a:solidFill>
                  </a:tcPr>
                </a:tc>
                <a:tc>
                  <a:txBody>
                    <a:bodyPr/>
                    <a:lstStyle/>
                    <a:p>
                      <a:pPr algn="l">
                        <a:defRPr sz="1200">
                          <a:solidFill>
                            <a:srgbClr val="3D4455"/>
                          </a:solidFill>
                          <a:latin typeface="Calibri"/>
                        </a:defRPr>
                      </a:pPr>
                      <a:r>
                        <a:t>First-line for seizures without IV</a:t>
                      </a:r>
                    </a:p>
                  </a:txBody>
                  <a:tcPr>
                    <a:solidFill>
                      <a:srgbClr val="F5F6FA"/>
                    </a:solidFill>
                  </a:tcPr>
                </a:tc>
              </a:tr>
              <a:tr h="457200">
                <a:tc>
                  <a:txBody>
                    <a:bodyPr/>
                    <a:lstStyle/>
                    <a:p>
                      <a:pPr algn="l">
                        <a:defRPr sz="1200">
                          <a:solidFill>
                            <a:srgbClr val="3D4455"/>
                          </a:solidFill>
                          <a:latin typeface="Calibri"/>
                        </a:defRPr>
                      </a:pPr>
                      <a:r>
                        <a:t>Dexamethasone for croup</a:t>
                      </a:r>
                    </a:p>
                  </a:txBody>
                  <a:tcPr>
                    <a:solidFill>
                      <a:srgbClr val="FFFFFF"/>
                    </a:solidFill>
                  </a:tcPr>
                </a:tc>
                <a:tc>
                  <a:txBody>
                    <a:bodyPr/>
                    <a:lstStyle/>
                    <a:p>
                      <a:pPr algn="l">
                        <a:defRPr sz="1200">
                          <a:solidFill>
                            <a:srgbClr val="3D4455"/>
                          </a:solidFill>
                          <a:latin typeface="Calibri"/>
                        </a:defRPr>
                      </a:pPr>
                      <a:r>
                        <a:t>0.6 mg/kg (max 16 mg)</a:t>
                      </a:r>
                    </a:p>
                  </a:txBody>
                  <a:tcPr>
                    <a:solidFill>
                      <a:srgbClr val="FFFFFF"/>
                    </a:solidFill>
                  </a:tcPr>
                </a:tc>
                <a:tc>
                  <a:txBody>
                    <a:bodyPr/>
                    <a:lstStyle/>
                    <a:p>
                      <a:pPr algn="l">
                        <a:defRPr sz="1200">
                          <a:solidFill>
                            <a:srgbClr val="3D4455"/>
                          </a:solidFill>
                          <a:latin typeface="Calibri"/>
                        </a:defRPr>
                      </a:pPr>
                      <a:r>
                        <a:t>Single dose; all severity levels</a:t>
                      </a:r>
                    </a:p>
                  </a:txBody>
                  <a:tcPr>
                    <a:solidFill>
                      <a:srgbClr val="FFFFFF"/>
                    </a:solidFill>
                  </a:tcPr>
                </a:tc>
              </a:tr>
              <a:tr h="457200">
                <a:tc>
                  <a:txBody>
                    <a:bodyPr/>
                    <a:lstStyle/>
                    <a:p>
                      <a:pPr algn="l">
                        <a:defRPr sz="1200">
                          <a:solidFill>
                            <a:srgbClr val="3D4455"/>
                          </a:solidFill>
                          <a:latin typeface="Calibri"/>
                        </a:defRPr>
                      </a:pPr>
                      <a:r>
                        <a:t>Magnesium for asthma</a:t>
                      </a:r>
                    </a:p>
                  </a:txBody>
                  <a:tcPr>
                    <a:solidFill>
                      <a:srgbClr val="F5F6FA"/>
                    </a:solidFill>
                  </a:tcPr>
                </a:tc>
                <a:tc>
                  <a:txBody>
                    <a:bodyPr/>
                    <a:lstStyle/>
                    <a:p>
                      <a:pPr algn="l">
                        <a:defRPr sz="1200">
                          <a:solidFill>
                            <a:srgbClr val="3D4455"/>
                          </a:solidFill>
                          <a:latin typeface="Calibri"/>
                        </a:defRPr>
                      </a:pPr>
                      <a:r>
                        <a:t>50 mg/kg (max 2g)</a:t>
                      </a:r>
                    </a:p>
                  </a:txBody>
                  <a:tcPr>
                    <a:solidFill>
                      <a:srgbClr val="F5F6FA"/>
                    </a:solidFill>
                  </a:tcPr>
                </a:tc>
                <a:tc>
                  <a:txBody>
                    <a:bodyPr/>
                    <a:lstStyle/>
                    <a:p>
                      <a:pPr algn="l">
                        <a:defRPr sz="1200">
                          <a:solidFill>
                            <a:srgbClr val="3D4455"/>
                          </a:solidFill>
                          <a:latin typeface="Calibri"/>
                        </a:defRPr>
                      </a:pPr>
                      <a:r>
                        <a:t>IV over 20 min for severe asthma</a:t>
                      </a:r>
                    </a:p>
                  </a:txBody>
                  <a:tcPr>
                    <a:solidFill>
                      <a:srgbClr val="F5F6FA"/>
                    </a:solidFill>
                  </a:tcPr>
                </a:tc>
              </a:tr>
              <a:tr h="457200">
                <a:tc>
                  <a:txBody>
                    <a:bodyPr/>
                    <a:lstStyle/>
                    <a:p>
                      <a:pPr algn="l">
                        <a:defRPr sz="1200">
                          <a:solidFill>
                            <a:srgbClr val="3D4455"/>
                          </a:solidFill>
                          <a:latin typeface="Calibri"/>
                        </a:defRPr>
                      </a:pPr>
                      <a:r>
                        <a:t>DKA insulin</a:t>
                      </a:r>
                    </a:p>
                  </a:txBody>
                  <a:tcPr>
                    <a:solidFill>
                      <a:srgbClr val="FFFFFF"/>
                    </a:solidFill>
                  </a:tcPr>
                </a:tc>
                <a:tc>
                  <a:txBody>
                    <a:bodyPr/>
                    <a:lstStyle/>
                    <a:p>
                      <a:pPr algn="l">
                        <a:defRPr sz="1200">
                          <a:solidFill>
                            <a:srgbClr val="3D4455"/>
                          </a:solidFill>
                          <a:latin typeface="Calibri"/>
                        </a:defRPr>
                      </a:pPr>
                      <a:r>
                        <a:t>0.05-0.1 units/kg/hr</a:t>
                      </a:r>
                    </a:p>
                  </a:txBody>
                  <a:tcPr>
                    <a:solidFill>
                      <a:srgbClr val="FFFFFF"/>
                    </a:solidFill>
                  </a:tcPr>
                </a:tc>
                <a:tc>
                  <a:txBody>
                    <a:bodyPr/>
                    <a:lstStyle/>
                    <a:p>
                      <a:pPr algn="l">
                        <a:defRPr sz="1200">
                          <a:solidFill>
                            <a:srgbClr val="3D4455"/>
                          </a:solidFill>
                          <a:latin typeface="Calibri"/>
                        </a:defRPr>
                      </a:pPr>
                      <a:r>
                        <a:t>NO bolus — cerebral edema risk</a:t>
                      </a:r>
                    </a:p>
                  </a:txBody>
                  <a:tcPr>
                    <a:solidFill>
                      <a:srgbClr val="FFFFFF"/>
                    </a:solidFill>
                  </a:tcPr>
                </a:tc>
              </a:tr>
              <a:tr h="457200">
                <a:tc>
                  <a:txBody>
                    <a:bodyPr/>
                    <a:lstStyle/>
                    <a:p>
                      <a:pPr algn="l">
                        <a:defRPr sz="1200">
                          <a:solidFill>
                            <a:srgbClr val="3D4455"/>
                          </a:solidFill>
                          <a:latin typeface="Calibri"/>
                        </a:defRPr>
                      </a:pPr>
                      <a:r>
                        <a:t>Hypertonic saline (3%)</a:t>
                      </a:r>
                    </a:p>
                  </a:txBody>
                  <a:tcPr>
                    <a:solidFill>
                      <a:srgbClr val="F5F6FA"/>
                    </a:solidFill>
                  </a:tcPr>
                </a:tc>
                <a:tc>
                  <a:txBody>
                    <a:bodyPr/>
                    <a:lstStyle/>
                    <a:p>
                      <a:pPr algn="l">
                        <a:defRPr sz="1200">
                          <a:solidFill>
                            <a:srgbClr val="3D4455"/>
                          </a:solidFill>
                          <a:latin typeface="Calibri"/>
                        </a:defRPr>
                      </a:pPr>
                      <a:r>
                        <a:t>3-5 mL/kg IV</a:t>
                      </a:r>
                    </a:p>
                  </a:txBody>
                  <a:tcPr>
                    <a:solidFill>
                      <a:srgbClr val="F5F6FA"/>
                    </a:solidFill>
                  </a:tcPr>
                </a:tc>
                <a:tc>
                  <a:txBody>
                    <a:bodyPr/>
                    <a:lstStyle/>
                    <a:p>
                      <a:pPr algn="l">
                        <a:defRPr sz="1200">
                          <a:solidFill>
                            <a:srgbClr val="3D4455"/>
                          </a:solidFill>
                          <a:latin typeface="Calibri"/>
                        </a:defRPr>
                      </a:pPr>
                      <a:r>
                        <a:t>Cerebral edema in DKA, herniation, symptomatic hyponatremia</a:t>
                      </a:r>
                    </a:p>
                  </a:txBody>
                  <a:tcPr>
                    <a:solidFill>
                      <a:srgbClr val="F5F6FA"/>
                    </a:solidFill>
                  </a:tcPr>
                </a:tc>
              </a:tr>
              <a:tr h="457200">
                <a:tc>
                  <a:txBody>
                    <a:bodyPr/>
                    <a:lstStyle/>
                    <a:p>
                      <a:pPr algn="l">
                        <a:defRPr sz="1200">
                          <a:solidFill>
                            <a:srgbClr val="3D4455"/>
                          </a:solidFill>
                          <a:latin typeface="Calibri"/>
                        </a:defRPr>
                      </a:pPr>
                      <a:r>
                        <a:t>PGE1</a:t>
                      </a:r>
                    </a:p>
                  </a:txBody>
                  <a:tcPr>
                    <a:solidFill>
                      <a:srgbClr val="FFFFFF"/>
                    </a:solidFill>
                  </a:tcPr>
                </a:tc>
                <a:tc>
                  <a:txBody>
                    <a:bodyPr/>
                    <a:lstStyle/>
                    <a:p>
                      <a:pPr algn="l">
                        <a:defRPr sz="1200">
                          <a:solidFill>
                            <a:srgbClr val="3D4455"/>
                          </a:solidFill>
                          <a:latin typeface="Calibri"/>
                        </a:defRPr>
                      </a:pPr>
                      <a:r>
                        <a:t>0.05-0.1 mcg/kg/min</a:t>
                      </a:r>
                    </a:p>
                  </a:txBody>
                  <a:tcPr>
                    <a:solidFill>
                      <a:srgbClr val="FFFFFF"/>
                    </a:solidFill>
                  </a:tcPr>
                </a:tc>
                <a:tc>
                  <a:txBody>
                    <a:bodyPr/>
                    <a:lstStyle/>
                    <a:p>
                      <a:pPr algn="l">
                        <a:defRPr sz="1200">
                          <a:solidFill>
                            <a:srgbClr val="3D4455"/>
                          </a:solidFill>
                          <a:latin typeface="Calibri"/>
                        </a:defRPr>
                      </a:pPr>
                      <a:r>
                        <a:t>Ductal-dependent cardiac disease</a:t>
                      </a:r>
                    </a:p>
                  </a:txBody>
                  <a:tcPr>
                    <a:solidFill>
                      <a:srgbClr val="FFFFFF"/>
                    </a:solidFill>
                  </a:tcPr>
                </a:tc>
              </a:tr>
              <a:tr h="457200">
                <a:tc>
                  <a:txBody>
                    <a:bodyPr/>
                    <a:lstStyle/>
                    <a:p>
                      <a:pPr algn="l">
                        <a:defRPr sz="1200">
                          <a:solidFill>
                            <a:srgbClr val="3D4455"/>
                          </a:solidFill>
                          <a:latin typeface="Calibri"/>
                        </a:defRPr>
                      </a:pPr>
                      <a:r>
                        <a:t>NAC loading dose</a:t>
                      </a:r>
                    </a:p>
                  </a:txBody>
                  <a:tcPr>
                    <a:solidFill>
                      <a:srgbClr val="F5F6FA"/>
                    </a:solidFill>
                  </a:tcPr>
                </a:tc>
                <a:tc>
                  <a:txBody>
                    <a:bodyPr/>
                    <a:lstStyle/>
                    <a:p>
                      <a:pPr algn="l">
                        <a:defRPr sz="1200">
                          <a:solidFill>
                            <a:srgbClr val="3D4455"/>
                          </a:solidFill>
                          <a:latin typeface="Calibri"/>
                        </a:defRPr>
                      </a:pPr>
                      <a:r>
                        <a:t>150 mg/kg IV over 1h</a:t>
                      </a:r>
                    </a:p>
                  </a:txBody>
                  <a:tcPr>
                    <a:solidFill>
                      <a:srgbClr val="F5F6FA"/>
                    </a:solidFill>
                  </a:tcPr>
                </a:tc>
                <a:tc>
                  <a:txBody>
                    <a:bodyPr/>
                    <a:lstStyle/>
                    <a:p>
                      <a:pPr algn="l">
                        <a:defRPr sz="1200">
                          <a:solidFill>
                            <a:srgbClr val="3D4455"/>
                          </a:solidFill>
                          <a:latin typeface="Calibri"/>
                        </a:defRPr>
                      </a:pPr>
                      <a:r>
                        <a:t>Acetaminophen overdose</a:t>
                      </a:r>
                    </a:p>
                  </a:txBody>
                  <a:tcPr>
                    <a:solidFill>
                      <a:srgbClr val="F5F6FA"/>
                    </a:solidFill>
                  </a:tcPr>
                </a:tc>
              </a:tr>
              <a:tr h="457200">
                <a:tc>
                  <a:txBody>
                    <a:bodyPr/>
                    <a:lstStyle/>
                    <a:p>
                      <a:pPr algn="l">
                        <a:defRPr sz="1200">
                          <a:solidFill>
                            <a:srgbClr val="3D4455"/>
                          </a:solidFill>
                          <a:latin typeface="Calibri"/>
                        </a:defRPr>
                      </a:pPr>
                      <a:r>
                        <a:t>Ketamine IV sedation</a:t>
                      </a:r>
                    </a:p>
                  </a:txBody>
                  <a:tcPr>
                    <a:solidFill>
                      <a:srgbClr val="FFFFFF"/>
                    </a:solidFill>
                  </a:tcPr>
                </a:tc>
                <a:tc>
                  <a:txBody>
                    <a:bodyPr/>
                    <a:lstStyle/>
                    <a:p>
                      <a:pPr algn="l">
                        <a:defRPr sz="1200">
                          <a:solidFill>
                            <a:srgbClr val="3D4455"/>
                          </a:solidFill>
                          <a:latin typeface="Calibri"/>
                        </a:defRPr>
                      </a:pPr>
                      <a:r>
                        <a:t>1-2 mg/kg</a:t>
                      </a:r>
                    </a:p>
                  </a:txBody>
                  <a:tcPr>
                    <a:solidFill>
                      <a:srgbClr val="FFFFFF"/>
                    </a:solidFill>
                  </a:tcPr>
                </a:tc>
                <a:tc>
                  <a:txBody>
                    <a:bodyPr/>
                    <a:lstStyle/>
                    <a:p>
                      <a:pPr algn="l">
                        <a:defRPr sz="1200">
                          <a:solidFill>
                            <a:srgbClr val="3D4455"/>
                          </a:solidFill>
                          <a:latin typeface="Calibri"/>
                        </a:defRPr>
                      </a:pPr>
                      <a:r>
                        <a:t>PEM workhorse sedation agent</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Board Trap #1: Things That Are NOT What They Seem</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Apparent seizure during syncope → NOT epilepsy — it is hypoxic convulsive activity from cardiac arrest</a:t>
            </a:r>
          </a:p>
          <a:p>
            <a:pPr>
              <a:spcBef>
                <a:spcPts val="400"/>
              </a:spcBef>
              <a:spcAft>
                <a:spcPts val="600"/>
              </a:spcAft>
              <a:defRPr sz="1600">
                <a:solidFill>
                  <a:srgbClr val="3D4455"/>
                </a:solidFill>
                <a:latin typeface="Calibri"/>
              </a:defRPr>
            </a:pPr>
            <a:r>
              <a:t>Quiet chest in asthma → NOT improvement — it means NO air movement (worse)</a:t>
            </a:r>
          </a:p>
          <a:p>
            <a:pPr>
              <a:spcBef>
                <a:spcPts val="400"/>
              </a:spcBef>
              <a:spcAft>
                <a:spcPts val="600"/>
              </a:spcAft>
              <a:defRPr sz="1600">
                <a:solidFill>
                  <a:srgbClr val="3D4455"/>
                </a:solidFill>
                <a:latin typeface="Calibri"/>
              </a:defRPr>
            </a:pPr>
            <a:r>
              <a:t>Normal glucose after sulfonylurea ingestion → NOT safe — hypoglycemia can be delayed 8+ hours</a:t>
            </a:r>
          </a:p>
          <a:p>
            <a:pPr>
              <a:spcBef>
                <a:spcPts val="400"/>
              </a:spcBef>
              <a:spcAft>
                <a:spcPts val="600"/>
              </a:spcAft>
              <a:defRPr sz="1600">
                <a:solidFill>
                  <a:srgbClr val="3D4455"/>
                </a:solidFill>
                <a:latin typeface="Calibri"/>
              </a:defRPr>
            </a:pPr>
            <a:r>
              <a:t>Well-appearing febrile neonate → NOT low risk — neonates can have occult SBI despite appearing well</a:t>
            </a:r>
          </a:p>
          <a:p>
            <a:pPr>
              <a:spcBef>
                <a:spcPts val="400"/>
              </a:spcBef>
              <a:spcAft>
                <a:spcPts val="600"/>
              </a:spcAft>
              <a:defRPr sz="1600">
                <a:solidFill>
                  <a:srgbClr val="3D4455"/>
                </a:solidFill>
                <a:latin typeface="Calibri"/>
              </a:defRPr>
            </a:pPr>
            <a:r>
              <a:t>Negative FAST in pediatric trauma → NOT ruling out injury — sensitivity is only 50-75%</a:t>
            </a:r>
          </a:p>
          <a:p>
            <a:pPr>
              <a:spcBef>
                <a:spcPts val="400"/>
              </a:spcBef>
              <a:spcAft>
                <a:spcPts val="600"/>
              </a:spcAft>
              <a:defRPr sz="1600">
                <a:solidFill>
                  <a:srgbClr val="3D4455"/>
                </a:solidFill>
                <a:latin typeface="Calibri"/>
              </a:defRPr>
            </a:pPr>
            <a:r>
              <a:t>Resolved wheezing after epinephrine → NOT cured croup — observe 2+ hours for rebound</a:t>
            </a:r>
          </a:p>
          <a:p>
            <a:pPr>
              <a:spcBef>
                <a:spcPts val="400"/>
              </a:spcBef>
              <a:spcAft>
                <a:spcPts val="600"/>
              </a:spcAft>
              <a:defRPr sz="1600">
                <a:solidFill>
                  <a:srgbClr val="3D4455"/>
                </a:solidFill>
                <a:latin typeface="Calibri"/>
              </a:defRPr>
            </a:pPr>
            <a:r>
              <a:t>Normal CXR → NOT ruling out pneumonia — clinical diagnosis in well-appearing children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Board Trap #2: Things You Should NEVER Do</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NEVER give insulin bolus in DKA → increases cerebral edema risk</a:t>
            </a:r>
          </a:p>
          <a:p>
            <a:pPr>
              <a:spcBef>
                <a:spcPts val="400"/>
              </a:spcBef>
              <a:spcAft>
                <a:spcPts val="600"/>
              </a:spcAft>
              <a:defRPr sz="1600">
                <a:solidFill>
                  <a:srgbClr val="3D4455"/>
                </a:solidFill>
                <a:latin typeface="Calibri"/>
              </a:defRPr>
            </a:pPr>
            <a:r>
              <a:t>NEVER give IV bicarbonate in pediatric DKA → increases cerebral edema risk</a:t>
            </a:r>
          </a:p>
          <a:p>
            <a:pPr>
              <a:spcBef>
                <a:spcPts val="400"/>
              </a:spcBef>
              <a:spcAft>
                <a:spcPts val="600"/>
              </a:spcAft>
              <a:defRPr sz="1600">
                <a:solidFill>
                  <a:srgbClr val="3D4455"/>
                </a:solidFill>
                <a:latin typeface="Calibri"/>
              </a:defRPr>
            </a:pPr>
            <a:r>
              <a:t>NEVER examine the throat in suspected epiglottitis → can precipitate complete obstruction</a:t>
            </a:r>
          </a:p>
          <a:p>
            <a:pPr>
              <a:spcBef>
                <a:spcPts val="400"/>
              </a:spcBef>
              <a:spcAft>
                <a:spcPts val="600"/>
              </a:spcAft>
              <a:defRPr sz="1600">
                <a:solidFill>
                  <a:srgbClr val="3D4455"/>
                </a:solidFill>
                <a:latin typeface="Calibri"/>
              </a:defRPr>
            </a:pPr>
            <a:r>
              <a:t>NEVER give codeine in children → FDA boxed warning for ultra-rapid metabolizer deaths</a:t>
            </a:r>
          </a:p>
          <a:p>
            <a:pPr>
              <a:spcBef>
                <a:spcPts val="400"/>
              </a:spcBef>
              <a:spcAft>
                <a:spcPts val="600"/>
              </a:spcAft>
              <a:defRPr sz="1600">
                <a:solidFill>
                  <a:srgbClr val="3D4455"/>
                </a:solidFill>
                <a:latin typeface="Calibri"/>
              </a:defRPr>
            </a:pPr>
            <a:r>
              <a:t>NEVER give flumazenil with TCA co-ingestion → removes benzo protection against seizures</a:t>
            </a:r>
          </a:p>
          <a:p>
            <a:pPr>
              <a:spcBef>
                <a:spcPts val="400"/>
              </a:spcBef>
              <a:spcAft>
                <a:spcPts val="600"/>
              </a:spcAft>
              <a:defRPr sz="1600">
                <a:solidFill>
                  <a:srgbClr val="3D4455"/>
                </a:solidFill>
                <a:latin typeface="Calibri"/>
              </a:defRPr>
            </a:pPr>
            <a:r>
              <a:t>NEVER give adenosine for wide complex tachycardia → can degenerate to VF</a:t>
            </a:r>
          </a:p>
          <a:p>
            <a:pPr>
              <a:spcBef>
                <a:spcPts val="400"/>
              </a:spcBef>
              <a:spcAft>
                <a:spcPts val="600"/>
              </a:spcAft>
              <a:defRPr sz="1600">
                <a:solidFill>
                  <a:srgbClr val="3D4455"/>
                </a:solidFill>
                <a:latin typeface="Calibri"/>
              </a:defRPr>
            </a:pPr>
            <a:r>
              <a:t>NEVER discharge febrile neonate ≤28 days without full sepsis workup and admission</a:t>
            </a:r>
          </a:p>
          <a:p>
            <a:pPr>
              <a:spcBef>
                <a:spcPts val="400"/>
              </a:spcBef>
              <a:spcAft>
                <a:spcPts val="600"/>
              </a:spcAft>
              <a:defRPr sz="1600">
                <a:solidFill>
                  <a:srgbClr val="3D4455"/>
                </a:solidFill>
                <a:latin typeface="Calibri"/>
              </a:defRPr>
            </a:pPr>
            <a:r>
              <a:t>NEVER skip epinephrine and only give antihistamines in anaphylaxis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Landmark Trials and Guidelines to Know</a:t>
            </a:r>
          </a:p>
        </p:txBody>
      </p:sp>
      <p:graphicFrame>
        <p:nvGraphicFramePr>
          <p:cNvPr id="5" name="Table 4"/>
          <p:cNvGraphicFramePr>
            <a:graphicFrameLocks noGrp="1"/>
          </p:cNvGraphicFramePr>
          <p:nvPr/>
        </p:nvGraphicFramePr>
        <p:xfrm>
          <a:off x="822960" y="1280160"/>
          <a:ext cx="10515600" cy="36576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Study/Guideline</a:t>
                      </a:r>
                    </a:p>
                  </a:txBody>
                  <a:tcPr>
                    <a:solidFill>
                      <a:srgbClr val="007B83"/>
                    </a:solidFill>
                  </a:tcPr>
                </a:tc>
                <a:tc>
                  <a:txBody>
                    <a:bodyPr/>
                    <a:lstStyle/>
                    <a:p>
                      <a:pPr algn="ctr">
                        <a:defRPr sz="1300" b="1">
                          <a:solidFill>
                            <a:srgbClr val="FFFFFF"/>
                          </a:solidFill>
                          <a:latin typeface="Calibri"/>
                        </a:defRPr>
                      </a:pPr>
                      <a:r>
                        <a:t>Topic</a:t>
                      </a:r>
                    </a:p>
                  </a:txBody>
                  <a:tcPr>
                    <a:solidFill>
                      <a:srgbClr val="007B83"/>
                    </a:solidFill>
                  </a:tcPr>
                </a:tc>
                <a:tc>
                  <a:txBody>
                    <a:bodyPr/>
                    <a:lstStyle/>
                    <a:p>
                      <a:pPr algn="ctr">
                        <a:defRPr sz="1300" b="1">
                          <a:solidFill>
                            <a:srgbClr val="FFFFFF"/>
                          </a:solidFill>
                          <a:latin typeface="Calibri"/>
                        </a:defRPr>
                      </a:pPr>
                      <a:r>
                        <a:t>Key Finding</a:t>
                      </a:r>
                    </a:p>
                  </a:txBody>
                  <a:tcPr>
                    <a:solidFill>
                      <a:srgbClr val="007B83"/>
                    </a:solidFill>
                  </a:tcPr>
                </a:tc>
              </a:tr>
              <a:tr h="457200">
                <a:tc>
                  <a:txBody>
                    <a:bodyPr/>
                    <a:lstStyle/>
                    <a:p>
                      <a:pPr algn="l">
                        <a:defRPr sz="1200">
                          <a:solidFill>
                            <a:srgbClr val="3D4455"/>
                          </a:solidFill>
                          <a:latin typeface="Calibri"/>
                        </a:defRPr>
                      </a:pPr>
                      <a:r>
                        <a:t>PECARN Head CT Rule (Kuppermann 2009)</a:t>
                      </a:r>
                    </a:p>
                  </a:txBody>
                  <a:tcPr>
                    <a:solidFill>
                      <a:srgbClr val="F5F6FA"/>
                    </a:solidFill>
                  </a:tcPr>
                </a:tc>
                <a:tc>
                  <a:txBody>
                    <a:bodyPr/>
                    <a:lstStyle/>
                    <a:p>
                      <a:pPr algn="l">
                        <a:defRPr sz="1200">
                          <a:solidFill>
                            <a:srgbClr val="3D4455"/>
                          </a:solidFill>
                          <a:latin typeface="Calibri"/>
                        </a:defRPr>
                      </a:pPr>
                      <a:r>
                        <a:t>Pediatric head trauma</a:t>
                      </a:r>
                    </a:p>
                  </a:txBody>
                  <a:tcPr>
                    <a:solidFill>
                      <a:srgbClr val="F5F6FA"/>
                    </a:solidFill>
                  </a:tcPr>
                </a:tc>
                <a:tc>
                  <a:txBody>
                    <a:bodyPr/>
                    <a:lstStyle/>
                    <a:p>
                      <a:pPr algn="l">
                        <a:defRPr sz="1200">
                          <a:solidFill>
                            <a:srgbClr val="3D4455"/>
                          </a:solidFill>
                          <a:latin typeface="Calibri"/>
                        </a:defRPr>
                      </a:pPr>
                      <a:r>
                        <a:t>Identifies children at very low risk for ciTBI — safely reduces CT use</a:t>
                      </a:r>
                    </a:p>
                  </a:txBody>
                  <a:tcPr>
                    <a:solidFill>
                      <a:srgbClr val="F5F6FA"/>
                    </a:solidFill>
                  </a:tcPr>
                </a:tc>
              </a:tr>
              <a:tr h="457200">
                <a:tc>
                  <a:txBody>
                    <a:bodyPr/>
                    <a:lstStyle/>
                    <a:p>
                      <a:pPr algn="l">
                        <a:defRPr sz="1200">
                          <a:solidFill>
                            <a:srgbClr val="3D4455"/>
                          </a:solidFill>
                          <a:latin typeface="Calibri"/>
                        </a:defRPr>
                      </a:pPr>
                      <a:r>
                        <a:t>RAMPART Trial (Silbergleit 2012)</a:t>
                      </a:r>
                    </a:p>
                  </a:txBody>
                  <a:tcPr>
                    <a:solidFill>
                      <a:srgbClr val="FFFFFF"/>
                    </a:solidFill>
                  </a:tcPr>
                </a:tc>
                <a:tc>
                  <a:txBody>
                    <a:bodyPr/>
                    <a:lstStyle/>
                    <a:p>
                      <a:pPr algn="l">
                        <a:defRPr sz="1200">
                          <a:solidFill>
                            <a:srgbClr val="3D4455"/>
                          </a:solidFill>
                          <a:latin typeface="Calibri"/>
                        </a:defRPr>
                      </a:pPr>
                      <a:r>
                        <a:t>Status epilepticus</a:t>
                      </a:r>
                    </a:p>
                  </a:txBody>
                  <a:tcPr>
                    <a:solidFill>
                      <a:srgbClr val="FFFFFF"/>
                    </a:solidFill>
                  </a:tcPr>
                </a:tc>
                <a:tc>
                  <a:txBody>
                    <a:bodyPr/>
                    <a:lstStyle/>
                    <a:p>
                      <a:pPr algn="l">
                        <a:defRPr sz="1200">
                          <a:solidFill>
                            <a:srgbClr val="3D4455"/>
                          </a:solidFill>
                          <a:latin typeface="Calibri"/>
                        </a:defRPr>
                      </a:pPr>
                      <a:r>
                        <a:t>IM midazolam ≥ IV lorazepam for prehospital seizures</a:t>
                      </a:r>
                    </a:p>
                  </a:txBody>
                  <a:tcPr>
                    <a:solidFill>
                      <a:srgbClr val="FFFFFF"/>
                    </a:solidFill>
                  </a:tcPr>
                </a:tc>
              </a:tr>
              <a:tr h="457200">
                <a:tc>
                  <a:txBody>
                    <a:bodyPr/>
                    <a:lstStyle/>
                    <a:p>
                      <a:pPr algn="l">
                        <a:defRPr sz="1200">
                          <a:solidFill>
                            <a:srgbClr val="3D4455"/>
                          </a:solidFill>
                          <a:latin typeface="Calibri"/>
                        </a:defRPr>
                      </a:pPr>
                      <a:r>
                        <a:t>ESETT Trial (Kapur 2019)</a:t>
                      </a:r>
                    </a:p>
                  </a:txBody>
                  <a:tcPr>
                    <a:solidFill>
                      <a:srgbClr val="F5F6FA"/>
                    </a:solidFill>
                  </a:tcPr>
                </a:tc>
                <a:tc>
                  <a:txBody>
                    <a:bodyPr/>
                    <a:lstStyle/>
                    <a:p>
                      <a:pPr algn="l">
                        <a:defRPr sz="1200">
                          <a:solidFill>
                            <a:srgbClr val="3D4455"/>
                          </a:solidFill>
                          <a:latin typeface="Calibri"/>
                        </a:defRPr>
                      </a:pPr>
                      <a:r>
                        <a:t>Second-line anticonvulsants</a:t>
                      </a:r>
                    </a:p>
                  </a:txBody>
                  <a:tcPr>
                    <a:solidFill>
                      <a:srgbClr val="F5F6FA"/>
                    </a:solidFill>
                  </a:tcPr>
                </a:tc>
                <a:tc>
                  <a:txBody>
                    <a:bodyPr/>
                    <a:lstStyle/>
                    <a:p>
                      <a:pPr algn="l">
                        <a:defRPr sz="1200">
                          <a:solidFill>
                            <a:srgbClr val="3D4455"/>
                          </a:solidFill>
                          <a:latin typeface="Calibri"/>
                        </a:defRPr>
                      </a:pPr>
                      <a:r>
                        <a:t>Levetiracetam = fosphenytoin = valproate for benzodiazepine-refractory SE</a:t>
                      </a:r>
                    </a:p>
                  </a:txBody>
                  <a:tcPr>
                    <a:solidFill>
                      <a:srgbClr val="F5F6FA"/>
                    </a:solidFill>
                  </a:tcPr>
                </a:tc>
              </a:tr>
              <a:tr h="457200">
                <a:tc>
                  <a:txBody>
                    <a:bodyPr/>
                    <a:lstStyle/>
                    <a:p>
                      <a:pPr algn="l">
                        <a:defRPr sz="1200">
                          <a:solidFill>
                            <a:srgbClr val="3D4455"/>
                          </a:solidFill>
                          <a:latin typeface="Calibri"/>
                        </a:defRPr>
                      </a:pPr>
                      <a:r>
                        <a:t>PECARN FLUID Trial (Kuppermann 2018)</a:t>
                      </a:r>
                    </a:p>
                  </a:txBody>
                  <a:tcPr>
                    <a:solidFill>
                      <a:srgbClr val="FFFFFF"/>
                    </a:solidFill>
                  </a:tcPr>
                </a:tc>
                <a:tc>
                  <a:txBody>
                    <a:bodyPr/>
                    <a:lstStyle/>
                    <a:p>
                      <a:pPr algn="l">
                        <a:defRPr sz="1200">
                          <a:solidFill>
                            <a:srgbClr val="3D4455"/>
                          </a:solidFill>
                          <a:latin typeface="Calibri"/>
                        </a:defRPr>
                      </a:pPr>
                      <a:r>
                        <a:t>DKA fluids</a:t>
                      </a:r>
                    </a:p>
                  </a:txBody>
                  <a:tcPr>
                    <a:solidFill>
                      <a:srgbClr val="FFFFFF"/>
                    </a:solidFill>
                  </a:tcPr>
                </a:tc>
                <a:tc>
                  <a:txBody>
                    <a:bodyPr/>
                    <a:lstStyle/>
                    <a:p>
                      <a:pPr algn="l">
                        <a:defRPr sz="1200">
                          <a:solidFill>
                            <a:srgbClr val="3D4455"/>
                          </a:solidFill>
                          <a:latin typeface="Calibri"/>
                        </a:defRPr>
                      </a:pPr>
                      <a:r>
                        <a:t>Fluid rate and type do NOT affect neurologic outcomes in DKA</a:t>
                      </a:r>
                    </a:p>
                  </a:txBody>
                  <a:tcPr>
                    <a:solidFill>
                      <a:srgbClr val="FFFFFF"/>
                    </a:solidFill>
                  </a:tcPr>
                </a:tc>
              </a:tr>
              <a:tr h="457200">
                <a:tc>
                  <a:txBody>
                    <a:bodyPr/>
                    <a:lstStyle/>
                    <a:p>
                      <a:pPr algn="l">
                        <a:defRPr sz="1200">
                          <a:solidFill>
                            <a:srgbClr val="3D4455"/>
                          </a:solidFill>
                          <a:latin typeface="Calibri"/>
                        </a:defRPr>
                      </a:pPr>
                      <a:r>
                        <a:t>PECARN Febrile Infant (Kuppermann 2019)</a:t>
                      </a:r>
                    </a:p>
                  </a:txBody>
                  <a:tcPr>
                    <a:solidFill>
                      <a:srgbClr val="F5F6FA"/>
                    </a:solidFill>
                  </a:tcPr>
                </a:tc>
                <a:tc>
                  <a:txBody>
                    <a:bodyPr/>
                    <a:lstStyle/>
                    <a:p>
                      <a:pPr algn="l">
                        <a:defRPr sz="1200">
                          <a:solidFill>
                            <a:srgbClr val="3D4455"/>
                          </a:solidFill>
                          <a:latin typeface="Calibri"/>
                        </a:defRPr>
                      </a:pPr>
                      <a:r>
                        <a:t>Febrile infant risk stratification</a:t>
                      </a:r>
                    </a:p>
                  </a:txBody>
                  <a:tcPr>
                    <a:solidFill>
                      <a:srgbClr val="F5F6FA"/>
                    </a:solidFill>
                  </a:tcPr>
                </a:tc>
                <a:tc>
                  <a:txBody>
                    <a:bodyPr/>
                    <a:lstStyle/>
                    <a:p>
                      <a:pPr algn="l">
                        <a:defRPr sz="1200">
                          <a:solidFill>
                            <a:srgbClr val="3D4455"/>
                          </a:solidFill>
                          <a:latin typeface="Calibri"/>
                        </a:defRPr>
                      </a:pPr>
                      <a:r>
                        <a:t>UA + ANC + procalcitonin identifies low-risk 29-60 day olds</a:t>
                      </a:r>
                    </a:p>
                  </a:txBody>
                  <a:tcPr>
                    <a:solidFill>
                      <a:srgbClr val="F5F6FA"/>
                    </a:solidFill>
                  </a:tcPr>
                </a:tc>
              </a:tr>
              <a:tr h="457200">
                <a:tc>
                  <a:txBody>
                    <a:bodyPr/>
                    <a:lstStyle/>
                    <a:p>
                      <a:pPr algn="l">
                        <a:defRPr sz="1200">
                          <a:solidFill>
                            <a:srgbClr val="3D4455"/>
                          </a:solidFill>
                          <a:latin typeface="Calibri"/>
                        </a:defRPr>
                      </a:pPr>
                      <a:r>
                        <a:t>AAP Maintenance Fluids (2018)</a:t>
                      </a:r>
                    </a:p>
                  </a:txBody>
                  <a:tcPr>
                    <a:solidFill>
                      <a:srgbClr val="FFFFFF"/>
                    </a:solidFill>
                  </a:tcPr>
                </a:tc>
                <a:tc>
                  <a:txBody>
                    <a:bodyPr/>
                    <a:lstStyle/>
                    <a:p>
                      <a:pPr algn="l">
                        <a:defRPr sz="1200">
                          <a:solidFill>
                            <a:srgbClr val="3D4455"/>
                          </a:solidFill>
                          <a:latin typeface="Calibri"/>
                        </a:defRPr>
                      </a:pPr>
                      <a:r>
                        <a:t>IV fluid selection</a:t>
                      </a:r>
                    </a:p>
                  </a:txBody>
                  <a:tcPr>
                    <a:solidFill>
                      <a:srgbClr val="FFFFFF"/>
                    </a:solidFill>
                  </a:tcPr>
                </a:tc>
                <a:tc>
                  <a:txBody>
                    <a:bodyPr/>
                    <a:lstStyle/>
                    <a:p>
                      <a:pPr algn="l">
                        <a:defRPr sz="1200">
                          <a:solidFill>
                            <a:srgbClr val="3D4455"/>
                          </a:solidFill>
                          <a:latin typeface="Calibri"/>
                        </a:defRPr>
                      </a:pPr>
                      <a:r>
                        <a:t>Isotonic (D5NS) for maintenance — hypotonic fluids cause iatrogenic hyponatremia</a:t>
                      </a:r>
                    </a:p>
                  </a:txBody>
                  <a:tcPr>
                    <a:solidFill>
                      <a:srgbClr val="FFFFFF"/>
                    </a:solidFill>
                  </a:tcPr>
                </a:tc>
              </a:tr>
              <a:tr h="457200">
                <a:tc>
                  <a:txBody>
                    <a:bodyPr/>
                    <a:lstStyle/>
                    <a:p>
                      <a:pPr algn="l">
                        <a:defRPr sz="1200">
                          <a:solidFill>
                            <a:srgbClr val="3D4455"/>
                          </a:solidFill>
                          <a:latin typeface="Calibri"/>
                        </a:defRPr>
                      </a:pPr>
                      <a:r>
                        <a:t>CRASH-2</a:t>
                      </a:r>
                    </a:p>
                  </a:txBody>
                  <a:tcPr>
                    <a:solidFill>
                      <a:srgbClr val="F5F6FA"/>
                    </a:solidFill>
                  </a:tcPr>
                </a:tc>
                <a:tc>
                  <a:txBody>
                    <a:bodyPr/>
                    <a:lstStyle/>
                    <a:p>
                      <a:pPr algn="l">
                        <a:defRPr sz="1200">
                          <a:solidFill>
                            <a:srgbClr val="3D4455"/>
                          </a:solidFill>
                          <a:latin typeface="Calibri"/>
                        </a:defRPr>
                      </a:pPr>
                      <a:r>
                        <a:t>TXA in trauma</a:t>
                      </a:r>
                    </a:p>
                  </a:txBody>
                  <a:tcPr>
                    <a:solidFill>
                      <a:srgbClr val="F5F6FA"/>
                    </a:solidFill>
                  </a:tcPr>
                </a:tc>
                <a:tc>
                  <a:txBody>
                    <a:bodyPr/>
                    <a:lstStyle/>
                    <a:p>
                      <a:pPr algn="l">
                        <a:defRPr sz="1200">
                          <a:solidFill>
                            <a:srgbClr val="3D4455"/>
                          </a:solidFill>
                          <a:latin typeface="Calibri"/>
                        </a:defRPr>
                      </a:pPr>
                      <a:r>
                        <a:t>TXA within 3h reduces mortality in hemorrhagic trauma</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Rapid-Fire: Classic Board Vignettes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2-month-old + rectal temp 38.5°C + well-appearing → full sepsis workup; may defer LP if PECARN low-risk</a:t>
            </a:r>
          </a:p>
          <a:p>
            <a:pPr>
              <a:spcBef>
                <a:spcPts val="400"/>
              </a:spcBef>
              <a:spcAft>
                <a:spcPts val="600"/>
              </a:spcAft>
              <a:defRPr sz="1600">
                <a:solidFill>
                  <a:srgbClr val="3D4455"/>
                </a:solidFill>
                <a:latin typeface="Calibri"/>
              </a:defRPr>
            </a:pPr>
            <a:r>
              <a:t>18-month-old + barky cough + stridor at rest → dexamethasone 0.6 mg/kg + nebulized epinephrine</a:t>
            </a:r>
          </a:p>
          <a:p>
            <a:pPr>
              <a:spcBef>
                <a:spcPts val="400"/>
              </a:spcBef>
              <a:spcAft>
                <a:spcPts val="600"/>
              </a:spcAft>
              <a:defRPr sz="1600">
                <a:solidFill>
                  <a:srgbClr val="3D4455"/>
                </a:solidFill>
                <a:latin typeface="Calibri"/>
              </a:defRPr>
            </a:pPr>
            <a:r>
              <a:t>3-year-old + intermittent abdominal pain + lethargy + "currant jelly" stool → intussusception → US → air enema</a:t>
            </a:r>
          </a:p>
          <a:p>
            <a:pPr>
              <a:spcBef>
                <a:spcPts val="400"/>
              </a:spcBef>
              <a:spcAft>
                <a:spcPts val="600"/>
              </a:spcAft>
              <a:defRPr sz="1600">
                <a:solidFill>
                  <a:srgbClr val="3D4455"/>
                </a:solidFill>
                <a:latin typeface="Calibri"/>
              </a:defRPr>
            </a:pPr>
            <a:r>
              <a:t>5-year-old + peanut exposure + hives + wheezing + hypotension → epinephrine IM 0.01 mg/kg FIRST</a:t>
            </a:r>
          </a:p>
          <a:p>
            <a:pPr>
              <a:spcBef>
                <a:spcPts val="400"/>
              </a:spcBef>
              <a:spcAft>
                <a:spcPts val="600"/>
              </a:spcAft>
              <a:defRPr sz="1600">
                <a:solidFill>
                  <a:srgbClr val="3D4455"/>
                </a:solidFill>
                <a:latin typeface="Calibri"/>
              </a:defRPr>
            </a:pPr>
            <a:r>
              <a:t>7-year-old + DKA + headache + vomiting 6h into treatment → cerebral edema → 3% NaCl 5 mL/kg STAT</a:t>
            </a:r>
          </a:p>
          <a:p>
            <a:pPr>
              <a:spcBef>
                <a:spcPts val="400"/>
              </a:spcBef>
              <a:spcAft>
                <a:spcPts val="600"/>
              </a:spcAft>
              <a:defRPr sz="1600">
                <a:solidFill>
                  <a:srgbClr val="3D4455"/>
                </a:solidFill>
                <a:latin typeface="Calibri"/>
              </a:defRPr>
            </a:pPr>
            <a:r>
              <a:t>10-day-old + gray + mottled + SpO2 75% + weak femorals → ductal-dependent CHD → PGE1 immediately</a:t>
            </a:r>
          </a:p>
          <a:p>
            <a:pPr>
              <a:spcBef>
                <a:spcPts val="400"/>
              </a:spcBef>
              <a:spcAft>
                <a:spcPts val="600"/>
              </a:spcAft>
              <a:defRPr sz="1600">
                <a:solidFill>
                  <a:srgbClr val="3D4455"/>
                </a:solidFill>
                <a:latin typeface="Calibri"/>
              </a:defRPr>
            </a:pPr>
            <a:r>
              <a:t>14-year-old + collapse during basketball + no prodrome → cardiac syncope → EKG → check for long QT/HCM</a:t>
            </a:r>
          </a:p>
          <a:p>
            <a:pPr>
              <a:spcBef>
                <a:spcPts val="400"/>
              </a:spcBef>
              <a:spcAft>
                <a:spcPts val="600"/>
              </a:spcAft>
              <a:defRPr sz="1600">
                <a:solidFill>
                  <a:srgbClr val="3D4455"/>
                </a:solidFill>
                <a:latin typeface="Calibri"/>
              </a:defRPr>
            </a:pPr>
            <a:r>
              <a:t>4-month-old + unexplained bruise on cheek → NAT until proven otherwise → full workup + CPS report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Final Review: What Separates the Excellent PEM Fellow</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CLINICAL EXCELLENCE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Recognizes sick vs. not sick immediately</a:t>
            </a:r>
          </a:p>
          <a:p>
            <a:pPr>
              <a:spcAft>
                <a:spcPts val="500"/>
              </a:spcAft>
              <a:defRPr sz="1400">
                <a:solidFill>
                  <a:srgbClr val="3D4455"/>
                </a:solidFill>
                <a:latin typeface="Calibri"/>
              </a:defRPr>
            </a:pPr>
            <a:r>
              <a:t>Starts treatment while workup is pending</a:t>
            </a:r>
          </a:p>
          <a:p>
            <a:pPr>
              <a:spcAft>
                <a:spcPts val="500"/>
              </a:spcAft>
              <a:defRPr sz="1400">
                <a:solidFill>
                  <a:srgbClr val="3D4455"/>
                </a:solidFill>
                <a:latin typeface="Calibri"/>
              </a:defRPr>
            </a:pPr>
            <a:r>
              <a:t>Gives analgesia early and reassesses</a:t>
            </a:r>
          </a:p>
          <a:p>
            <a:pPr>
              <a:spcAft>
                <a:spcPts val="500"/>
              </a:spcAft>
              <a:defRPr sz="1400">
                <a:solidFill>
                  <a:srgbClr val="3D4455"/>
                </a:solidFill>
                <a:latin typeface="Calibri"/>
              </a:defRPr>
            </a:pPr>
            <a:r>
              <a:t>Communicates clearly with families and team</a:t>
            </a:r>
          </a:p>
          <a:p>
            <a:pPr>
              <a:spcAft>
                <a:spcPts val="500"/>
              </a:spcAft>
              <a:defRPr sz="1400">
                <a:solidFill>
                  <a:srgbClr val="3D4455"/>
                </a:solidFill>
                <a:latin typeface="Calibri"/>
              </a:defRPr>
            </a:pPr>
            <a:r>
              <a:t>Knows when to call for help and does so early</a:t>
            </a:r>
          </a:p>
          <a:p>
            <a:pPr>
              <a:spcAft>
                <a:spcPts val="500"/>
              </a:spcAft>
              <a:defRPr sz="1400">
                <a:solidFill>
                  <a:srgbClr val="3D4455"/>
                </a:solidFill>
                <a:latin typeface="Calibri"/>
              </a:defRPr>
            </a:pPr>
            <a:r>
              <a:t>Documents thoroughly and objectively</a:t>
            </a:r>
          </a:p>
          <a:p>
            <a:pPr>
              <a:spcAft>
                <a:spcPts val="500"/>
              </a:spcAft>
              <a:defRPr sz="1400">
                <a:solidFill>
                  <a:srgbClr val="3D4455"/>
                </a:solidFill>
                <a:latin typeface="Calibri"/>
              </a:defRPr>
            </a:pPr>
            <a:r>
              <a:t>Maintains a broad differential until focused</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BOARD EXCELLENCE</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Knows the classic presentations and the atypical ones</a:t>
            </a:r>
          </a:p>
          <a:p>
            <a:pPr>
              <a:spcAft>
                <a:spcPts val="500"/>
              </a:spcAft>
              <a:defRPr sz="1400">
                <a:solidFill>
                  <a:srgbClr val="3D4455"/>
                </a:solidFill>
                <a:latin typeface="Calibri"/>
              </a:defRPr>
            </a:pPr>
            <a:r>
              <a:t>Identifies "board traps" and does not fall for them</a:t>
            </a:r>
          </a:p>
          <a:p>
            <a:pPr>
              <a:spcAft>
                <a:spcPts val="500"/>
              </a:spcAft>
              <a:defRPr sz="1400">
                <a:solidFill>
                  <a:srgbClr val="3D4455"/>
                </a:solidFill>
                <a:latin typeface="Calibri"/>
              </a:defRPr>
            </a:pPr>
            <a:r>
              <a:t>Knows key numbers and doses without looking them up</a:t>
            </a:r>
          </a:p>
          <a:p>
            <a:pPr>
              <a:spcAft>
                <a:spcPts val="500"/>
              </a:spcAft>
              <a:defRPr sz="1400">
                <a:solidFill>
                  <a:srgbClr val="3D4455"/>
                </a:solidFill>
                <a:latin typeface="Calibri"/>
              </a:defRPr>
            </a:pPr>
            <a:r>
              <a:t>Understands the evidence behind the guidelines</a:t>
            </a:r>
          </a:p>
          <a:p>
            <a:pPr>
              <a:spcAft>
                <a:spcPts val="500"/>
              </a:spcAft>
              <a:defRPr sz="1400">
                <a:solidFill>
                  <a:srgbClr val="3D4455"/>
                </a:solidFill>
                <a:latin typeface="Calibri"/>
              </a:defRPr>
            </a:pPr>
            <a:r>
              <a:t>Can apply prediction rules (PECARN, BMS, PAS) correctly</a:t>
            </a:r>
          </a:p>
          <a:p>
            <a:pPr>
              <a:spcAft>
                <a:spcPts val="500"/>
              </a:spcAft>
              <a:defRPr sz="1400">
                <a:solidFill>
                  <a:srgbClr val="3D4455"/>
                </a:solidFill>
                <a:latin typeface="Calibri"/>
              </a:defRPr>
            </a:pPr>
            <a:r>
              <a:t>Recognizes "what to do FIRST" in every scenario</a:t>
            </a:r>
          </a:p>
          <a:p>
            <a:pPr>
              <a:spcAft>
                <a:spcPts val="500"/>
              </a:spcAft>
              <a:defRPr sz="1400">
                <a:solidFill>
                  <a:srgbClr val="3D4455"/>
                </a:solidFill>
                <a:latin typeface="Calibri"/>
              </a:defRPr>
            </a:pPr>
            <a:r>
              <a:t>Thinks in algorithms, not just lists of facts</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Top 10 PEM Board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1. Delayed epinephrine in anaphylaxis (giving antihistamines first)</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2. Delayed antibiotics in suspected meningitis (waiting for LP)</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3. Insulin bolus in DKA (increases cerebral edema risk)</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4. CT-ing every child with head trauma (use PECARN)</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5. Missing NAT in infants with unexplained injuries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6. Calling exercise-associated syncope "vasovagal"</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7. Not giving dexamethasone for mild croup</a:t>
            </a:r>
          </a:p>
        </p:txBody>
      </p:sp>
      <p:sp>
        <p:nvSpPr>
          <p:cNvPr id="19" name="Rounded Rectangle 18"/>
          <p:cNvSpPr/>
          <p:nvPr/>
        </p:nvSpPr>
        <p:spPr>
          <a:xfrm>
            <a:off x="457200" y="6272783"/>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20" name="TextBox 19"/>
          <p:cNvSpPr txBox="1"/>
          <p:nvPr/>
        </p:nvSpPr>
        <p:spPr>
          <a:xfrm>
            <a:off x="1097280" y="6272783"/>
            <a:ext cx="10515600" cy="548640"/>
          </a:xfrm>
          <a:prstGeom prst="rect">
            <a:avLst/>
          </a:prstGeom>
          <a:noFill/>
        </p:spPr>
        <p:txBody>
          <a:bodyPr wrap="square">
            <a:spAutoFit/>
          </a:bodyPr>
          <a:lstStyle/>
          <a:p>
            <a:pPr>
              <a:defRPr sz="1500">
                <a:solidFill>
                  <a:srgbClr val="3D4455"/>
                </a:solidFill>
                <a:latin typeface="Calibri"/>
              </a:defRPr>
            </a:pPr>
            <a:r>
              <a:t>8. Discharging after sulfonylurea ingestion with normal glucose</a:t>
            </a:r>
          </a:p>
        </p:txBody>
      </p:sp>
      <p:sp>
        <p:nvSpPr>
          <p:cNvPr id="21" name="Rounded Rectangle 20"/>
          <p:cNvSpPr/>
          <p:nvPr/>
        </p:nvSpPr>
        <p:spPr>
          <a:xfrm>
            <a:off x="457200" y="698601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22" name="TextBox 21"/>
          <p:cNvSpPr txBox="1"/>
          <p:nvPr/>
        </p:nvSpPr>
        <p:spPr>
          <a:xfrm>
            <a:off x="1097280" y="6986016"/>
            <a:ext cx="10515600" cy="548640"/>
          </a:xfrm>
          <a:prstGeom prst="rect">
            <a:avLst/>
          </a:prstGeom>
          <a:noFill/>
        </p:spPr>
        <p:txBody>
          <a:bodyPr wrap="square">
            <a:spAutoFit/>
          </a:bodyPr>
          <a:lstStyle/>
          <a:p>
            <a:pPr>
              <a:defRPr sz="1500">
                <a:solidFill>
                  <a:srgbClr val="3D4455"/>
                </a:solidFill>
                <a:latin typeface="Calibri"/>
              </a:defRPr>
            </a:pPr>
            <a:r>
              <a:t>9. Using hypotonic maintenance fluids</a:t>
            </a:r>
          </a:p>
        </p:txBody>
      </p:sp>
      <p:sp>
        <p:nvSpPr>
          <p:cNvPr id="23" name="Rounded Rectangle 22"/>
          <p:cNvSpPr/>
          <p:nvPr/>
        </p:nvSpPr>
        <p:spPr>
          <a:xfrm>
            <a:off x="457200" y="7699248"/>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24" name="TextBox 23"/>
          <p:cNvSpPr txBox="1"/>
          <p:nvPr/>
        </p:nvSpPr>
        <p:spPr>
          <a:xfrm>
            <a:off x="1097280" y="7699248"/>
            <a:ext cx="10515600" cy="548640"/>
          </a:xfrm>
          <a:prstGeom prst="rect">
            <a:avLst/>
          </a:prstGeom>
          <a:noFill/>
        </p:spPr>
        <p:txBody>
          <a:bodyPr wrap="square">
            <a:spAutoFit/>
          </a:bodyPr>
          <a:lstStyle/>
          <a:p>
            <a:pPr>
              <a:defRPr sz="1500">
                <a:solidFill>
                  <a:srgbClr val="3D4455"/>
                </a:solidFill>
                <a:latin typeface="Calibri"/>
              </a:defRPr>
            </a:pPr>
            <a:r>
              <a:t>10. Delaying PGE1 for suspected ductal-dependent CHD</a:t>
            </a:r>
          </a:p>
        </p:txBody>
      </p:sp>
      <p:sp>
        <p:nvSpPr>
          <p:cNvPr id="25" name="Rectangle 2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27" name="TextBox 2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Know the "must-not-miss" diagnoses and their critical actions — meningitis, HSV, ductal-dependent CHD, volvulus, torsion, NAT</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Know the key numbers: epinephrine 0.01 mg/kg, midazolam 0.2 mg/kg, dexamethasone 0.6 mg/kg, PGE1 0.05 mcg/kg/min</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Know the board traps: things that look reassuring but are dangerous (quiet chest, normal glucose after sulfonylurea)</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Know what NEVER to do: insulin bolus in DKA, examine throat in epiglottitis, codeine in children</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Think in patterns and algorithms — the best PEM physicians recognize, act, then investigate</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Kuppermann N, et al. PECARN head CT rule. Lancet. 2009;374:1160-1170.</a:t>
            </a:r>
          </a:p>
          <a:p>
            <a:pPr>
              <a:spcAft>
                <a:spcPts val="400"/>
              </a:spcAft>
              <a:defRPr sz="1100">
                <a:solidFill>
                  <a:srgbClr val="3D4455"/>
                </a:solidFill>
                <a:latin typeface="Calibri"/>
              </a:defRPr>
            </a:pPr>
            <a:r>
              <a:t>2. Silbergleit R, et al. RAMPART trial. N Engl J Med. 2012;366:591-600.</a:t>
            </a:r>
          </a:p>
          <a:p>
            <a:pPr>
              <a:spcAft>
                <a:spcPts val="400"/>
              </a:spcAft>
              <a:defRPr sz="1100">
                <a:solidFill>
                  <a:srgbClr val="3D4455"/>
                </a:solidFill>
                <a:latin typeface="Calibri"/>
              </a:defRPr>
            </a:pPr>
            <a:r>
              <a:t>3. Kapur J, et al. ESETT trial. N Engl J Med. 2019;381:2103-2113.</a:t>
            </a:r>
          </a:p>
          <a:p>
            <a:pPr>
              <a:spcAft>
                <a:spcPts val="400"/>
              </a:spcAft>
              <a:defRPr sz="1100">
                <a:solidFill>
                  <a:srgbClr val="3D4455"/>
                </a:solidFill>
                <a:latin typeface="Calibri"/>
              </a:defRPr>
            </a:pPr>
            <a:r>
              <a:t>4. Kuppermann N, et al. PECARN FLUID trial. N Engl J Med. 2018;378:2275-2287.</a:t>
            </a:r>
          </a:p>
          <a:p>
            <a:pPr>
              <a:spcAft>
                <a:spcPts val="400"/>
              </a:spcAft>
              <a:defRPr sz="1100">
                <a:solidFill>
                  <a:srgbClr val="3D4455"/>
                </a:solidFill>
                <a:latin typeface="Calibri"/>
              </a:defRPr>
            </a:pPr>
            <a:r>
              <a:t>5. Kuppermann N, et al. PECARN febrile infant rule. JAMA Pediatr. 2019;173:342-351.</a:t>
            </a:r>
          </a:p>
          <a:p>
            <a:pPr>
              <a:spcAft>
                <a:spcPts val="400"/>
              </a:spcAft>
              <a:defRPr sz="1100">
                <a:solidFill>
                  <a:srgbClr val="3D4455"/>
                </a:solidFill>
                <a:latin typeface="Calibri"/>
              </a:defRPr>
            </a:pPr>
            <a:r>
              <a:t>6. Shaker MS, et al. Anaphylaxis practice parameter update. JACI. 2020;145:1082-1123.</a:t>
            </a:r>
          </a:p>
          <a:p>
            <a:pPr>
              <a:spcAft>
                <a:spcPts val="400"/>
              </a:spcAft>
              <a:defRPr sz="1100">
                <a:solidFill>
                  <a:srgbClr val="3D4455"/>
                </a:solidFill>
                <a:latin typeface="Calibri"/>
              </a:defRPr>
            </a:pPr>
            <a:r>
              <a:t>7. AAP. Maintenance intravenous fluids in children. Pediatrics. 2018;142:e20183083.</a:t>
            </a:r>
          </a:p>
          <a:p>
            <a:pPr>
              <a:spcAft>
                <a:spcPts val="400"/>
              </a:spcAft>
              <a:defRPr sz="1100">
                <a:solidFill>
                  <a:srgbClr val="3D4455"/>
                </a:solidFill>
                <a:latin typeface="Calibri"/>
              </a:defRPr>
            </a:pPr>
            <a:r>
              <a:t>8. Wolfsdorf JI, et al. ISPAD DKA guidelines. Pediatr Diabetes. 2018;19(Suppl 27):155-177.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Board Review</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