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one of the most tested and most important PEM topics. The approach to the febrile infant has evolved significantly with prediction rules (PECARN, Rochester, Step-by-Step). But the foundational principle remains: young infants with fever can have occult serious infections that are not apparent on exam. Risk stratification helps, but clinical judgment is paramount.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0-28 day old always gets a full workup and admission — there is no controversy here. The decision points are in the 29-60 day range, where prediction rules help. The 61-90 day old well-appearing infant with a normal UA and normal inflammatory markers is at very low risk and may not need LP or admission. But this requires reliable follow-up within 24 hours.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PECARN rule for 29-60 day old well-appearing febrile infants uses three biomarkers sequentially: UA, ANC, and procalcitonin. If ALL three are negative, the risk of SBI is &lt;1% and the risk of bacterial meningitis is ~0.1%. These infants may be managed without LP and potentially without admission. Key: procalcitonin is essential — CRP alone is not sufficient for this rule.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LP question generates the most anxiety. The key message: LP is critical in the youngest infants and when clinical suspicion is high. But it should NEVER delay antibiotics in an ill-appearing child. If LP fails (common in neonates), treat empirically and consider traumatic LP interpretation or repeat LP in 24-48 hours if clinically improving.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HSV is the diagnosis that haunts every PEM physician. It is rare but devastating if missed. The threshold for starting acyclovir should be LOW. Many experts recommend acyclovir for any ill-appearing neonate ≤21 days, even without specific HSV risk factors. The CSF HSV PCR takes 24-48 hours — do not wait for results to start treatment. Also send surface cultures (mouth, eyes, rectum) and serum HSV PCR.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nuance: ampicillin is added for Listeria coverage. Listeria is rare but can cause devastating meningitis in neonates, and cephalosporins do NOT cover Listeria. Some experts continue ampicillin through 60 days. The decision to use ceftriaxone IM for outpatient management of low-risk 29-60 day olds requires reliable 24-hour follow-up and negative preliminary cultures.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Outpatient management of low-risk febrile infants 29-60 days is increasingly supported by evidence but requires: 1) strict adherence to prediction rule criteria, 2) IM ceftriaxone given before discharge, 3) reliable follow-up within 24 hours, 4) clear return precautions. This is an institutional and attending-level decision — know your local practice.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bread-and-butter febrile neonate case. Despite looking well, this infant needs a full workup and admission. The well appearance does NOT rule out SBI in this age group. The HSV question is nuanced: at 21 days of life, the infant is within the peak HSV window. Many experts would add acyclovir pending workup results. Send HSV PCR on CSF and surface cultures.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HSV pitfall is the most devastating. The CRP vs. procalcitonin point is important: the PECARN rule specifically validated procalcitonin, not CRP. If your lab does not offer procalcitonin, you cannot apply the PECARN rule as designed, and a more conservative approach (LP + admission) is warranted.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834640"/>
            <a:ext cx="2560320" cy="54864"/>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280160"/>
            <a:ext cx="146304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560"/>
              </a:lnSpc>
              <a:spcBef>
                <a:spcPts val="0"/>
              </a:spcBef>
              <a:spcAft>
                <a:spcPts val="0"/>
              </a:spcAft>
              <a:defRPr sz="1300" b="1" i="0">
                <a:solidFill>
                  <a:srgbClr val="FFFFFF"/>
                </a:solidFill>
                <a:latin typeface="Calibri"/>
              </a:defRPr>
            </a:pPr>
            <a:r>
              <a:t>DECK 19 / 30</a:t>
            </a:r>
          </a:p>
        </p:txBody>
      </p:sp>
      <p:sp>
        <p:nvSpPr>
          <p:cNvPr id="5" name="TextBox 4"/>
          <p:cNvSpPr txBox="1"/>
          <p:nvPr/>
        </p:nvSpPr>
        <p:spPr>
          <a:xfrm>
            <a:off x="731520" y="1965960"/>
            <a:ext cx="9144000" cy="457200"/>
          </a:xfrm>
          <a:prstGeom prst="rect">
            <a:avLst/>
          </a:prstGeom>
          <a:noFill/>
        </p:spPr>
        <p:txBody>
          <a:bodyPr wrap="none">
            <a:spAutoFit/>
          </a:bodyPr>
          <a:lstStyle/>
          <a:p>
            <a:pPr algn="l">
              <a:defRPr sz="1100" b="1">
                <a:solidFill>
                  <a:srgbClr val="00A3AD"/>
                </a:solidFill>
                <a:latin typeface="Calibri"/>
              </a:defRPr>
            </a:pPr>
            <a:r>
              <a:t>PEDIATRIC EMERGENCY MEDICINE  ·  FELLOW TEACHING LIBRARY</a:t>
            </a:r>
          </a:p>
        </p:txBody>
      </p:sp>
      <p:sp>
        <p:nvSpPr>
          <p:cNvPr id="6" name="TextBox 5"/>
          <p:cNvSpPr txBox="1"/>
          <p:nvPr/>
        </p:nvSpPr>
        <p:spPr>
          <a:xfrm>
            <a:off x="731520" y="3200400"/>
            <a:ext cx="10058400" cy="1828800"/>
          </a:xfrm>
          <a:prstGeom prst="rect">
            <a:avLst/>
          </a:prstGeom>
          <a:noFill/>
        </p:spPr>
        <p:txBody>
          <a:bodyPr wrap="square">
            <a:spAutoFit/>
          </a:bodyPr>
          <a:lstStyle/>
          <a:p>
            <a:pPr algn="l">
              <a:defRPr sz="3800" b="1">
                <a:solidFill>
                  <a:srgbClr val="FFFFFF"/>
                </a:solidFill>
                <a:latin typeface="Calibri"/>
              </a:defRPr>
            </a:pPr>
            <a:r>
              <a:t>Fever in Neonates and Young Infants</a:t>
            </a:r>
          </a:p>
        </p:txBody>
      </p:sp>
      <p:sp>
        <p:nvSpPr>
          <p:cNvPr id="7" name="TextBox 6"/>
          <p:cNvSpPr txBox="1"/>
          <p:nvPr/>
        </p:nvSpPr>
        <p:spPr>
          <a:xfrm>
            <a:off x="731520" y="4937760"/>
            <a:ext cx="9144000" cy="731520"/>
          </a:xfrm>
          <a:prstGeom prst="rect">
            <a:avLst/>
          </a:prstGeom>
          <a:noFill/>
        </p:spPr>
        <p:txBody>
          <a:bodyPr wrap="square">
            <a:spAutoFit/>
          </a:bodyPr>
          <a:lstStyle/>
          <a:p>
            <a:pPr algn="l">
              <a:defRPr sz="1600">
                <a:solidFill>
                  <a:srgbClr val="8A92A3"/>
                </a:solidFill>
                <a:latin typeface="Calibri"/>
              </a:defRPr>
            </a:pPr>
            <a:r>
              <a:t>Risk Stratification, Evidence-Based Workup, and the REVISE Protocol</a:t>
            </a:r>
          </a:p>
        </p:txBody>
      </p:sp>
      <p:sp>
        <p:nvSpPr>
          <p:cNvPr id="8" name="Rectangle 7"/>
          <p:cNvSpPr/>
          <p:nvPr/>
        </p:nvSpPr>
        <p:spPr>
          <a:xfrm>
            <a:off x="731520" y="6126480"/>
            <a:ext cx="10515600" cy="18288"/>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263640"/>
            <a:ext cx="10058400" cy="365760"/>
          </a:xfrm>
          <a:prstGeom prst="rect">
            <a:avLst/>
          </a:prstGeom>
          <a:noFill/>
        </p:spPr>
        <p:txBody>
          <a:bodyPr wrap="none">
            <a:spAutoFit/>
          </a:bodyPr>
          <a:lstStyle/>
          <a:p>
            <a:pPr>
              <a:defRPr sz="1000">
                <a:solidFill>
                  <a:srgbClr val="8A92A3"/>
                </a:solidFill>
                <a:latin typeface="Calibri"/>
              </a:defRPr>
            </a:pPr>
            <a:r>
              <a:t>PEM Fellow Teaching Library  ·  Fellowship-Grade Education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9144000" cy="640080"/>
          </a:xfrm>
          <a:prstGeom prst="rect">
            <a:avLst/>
          </a:prstGeom>
          <a:noFill/>
        </p:spPr>
        <p:txBody>
          <a:bodyPr wrap="square">
            <a:spAutoFit/>
          </a:bodyPr>
          <a:lstStyle/>
          <a:p>
            <a:pPr algn="l">
              <a:lnSpc>
                <a:spcPts val="3360"/>
              </a:lnSpc>
              <a:spcBef>
                <a:spcPts val="0"/>
              </a:spcBef>
              <a:spcAft>
                <a:spcPts val="0"/>
              </a:spcAft>
              <a:defRPr sz="2800" b="1" i="0">
                <a:solidFill>
                  <a:srgbClr val="FFFFFF"/>
                </a:solidFill>
                <a:latin typeface="Calibri"/>
              </a:defRPr>
            </a:pPr>
            <a:r>
              <a:t>Learning Objectives</a:t>
            </a:r>
          </a:p>
        </p:txBody>
      </p:sp>
      <p:sp>
        <p:nvSpPr>
          <p:cNvPr id="5" name="Oval 4"/>
          <p:cNvSpPr/>
          <p:nvPr/>
        </p:nvSpPr>
        <p:spPr>
          <a:xfrm>
            <a:off x="731520" y="137160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1</a:t>
            </a:r>
          </a:p>
        </p:txBody>
      </p:sp>
      <p:sp>
        <p:nvSpPr>
          <p:cNvPr id="6" name="TextBox 5"/>
          <p:cNvSpPr txBox="1"/>
          <p:nvPr/>
        </p:nvSpPr>
        <p:spPr>
          <a:xfrm>
            <a:off x="1371600" y="1353312"/>
            <a:ext cx="9601200" cy="548640"/>
          </a:xfrm>
          <a:prstGeom prst="rect">
            <a:avLst/>
          </a:prstGeom>
          <a:noFill/>
        </p:spPr>
        <p:txBody>
          <a:bodyPr wrap="square">
            <a:spAutoFit/>
          </a:bodyPr>
          <a:lstStyle/>
          <a:p>
            <a:pPr>
              <a:defRPr sz="1600">
                <a:solidFill>
                  <a:srgbClr val="3D4455"/>
                </a:solidFill>
                <a:latin typeface="Calibri"/>
              </a:defRPr>
            </a:pPr>
            <a:r>
              <a:t>Apply age-based risk stratification for febrile infants: 0-28 days, 29-60 days, 61-90 days</a:t>
            </a:r>
          </a:p>
        </p:txBody>
      </p:sp>
      <p:sp>
        <p:nvSpPr>
          <p:cNvPr id="7" name="Oval 6"/>
          <p:cNvSpPr/>
          <p:nvPr/>
        </p:nvSpPr>
        <p:spPr>
          <a:xfrm>
            <a:off x="731520" y="214884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2</a:t>
            </a:r>
          </a:p>
        </p:txBody>
      </p:sp>
      <p:sp>
        <p:nvSpPr>
          <p:cNvPr id="8" name="TextBox 7"/>
          <p:cNvSpPr txBox="1"/>
          <p:nvPr/>
        </p:nvSpPr>
        <p:spPr>
          <a:xfrm>
            <a:off x="1371600" y="2130552"/>
            <a:ext cx="9601200" cy="548640"/>
          </a:xfrm>
          <a:prstGeom prst="rect">
            <a:avLst/>
          </a:prstGeom>
          <a:noFill/>
        </p:spPr>
        <p:txBody>
          <a:bodyPr wrap="square">
            <a:spAutoFit/>
          </a:bodyPr>
          <a:lstStyle/>
          <a:p>
            <a:pPr>
              <a:defRPr sz="1600">
                <a:solidFill>
                  <a:srgbClr val="3D4455"/>
                </a:solidFill>
                <a:latin typeface="Calibri"/>
              </a:defRPr>
            </a:pPr>
            <a:r>
              <a:t>Execute the appropriate workup for each age group including labs, UA, and LP indications</a:t>
            </a:r>
          </a:p>
        </p:txBody>
      </p:sp>
      <p:sp>
        <p:nvSpPr>
          <p:cNvPr id="9" name="Oval 8"/>
          <p:cNvSpPr/>
          <p:nvPr/>
        </p:nvSpPr>
        <p:spPr>
          <a:xfrm>
            <a:off x="731520" y="292608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3</a:t>
            </a:r>
          </a:p>
        </p:txBody>
      </p:sp>
      <p:sp>
        <p:nvSpPr>
          <p:cNvPr id="10" name="TextBox 9"/>
          <p:cNvSpPr txBox="1"/>
          <p:nvPr/>
        </p:nvSpPr>
        <p:spPr>
          <a:xfrm>
            <a:off x="1371600" y="2907792"/>
            <a:ext cx="9601200" cy="548640"/>
          </a:xfrm>
          <a:prstGeom prst="rect">
            <a:avLst/>
          </a:prstGeom>
          <a:noFill/>
        </p:spPr>
        <p:txBody>
          <a:bodyPr wrap="square">
            <a:spAutoFit/>
          </a:bodyPr>
          <a:lstStyle/>
          <a:p>
            <a:pPr>
              <a:defRPr sz="1600">
                <a:solidFill>
                  <a:srgbClr val="3D4455"/>
                </a:solidFill>
                <a:latin typeface="Calibri"/>
              </a:defRPr>
            </a:pPr>
            <a:r>
              <a:t>Understand the PECARN Febrile Infant prediction rules and Step-by-Step approach</a:t>
            </a:r>
          </a:p>
        </p:txBody>
      </p:sp>
      <p:sp>
        <p:nvSpPr>
          <p:cNvPr id="11" name="Oval 10"/>
          <p:cNvSpPr/>
          <p:nvPr/>
        </p:nvSpPr>
        <p:spPr>
          <a:xfrm>
            <a:off x="731520" y="370332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4</a:t>
            </a:r>
          </a:p>
        </p:txBody>
      </p:sp>
      <p:sp>
        <p:nvSpPr>
          <p:cNvPr id="12" name="TextBox 11"/>
          <p:cNvSpPr txBox="1"/>
          <p:nvPr/>
        </p:nvSpPr>
        <p:spPr>
          <a:xfrm>
            <a:off x="1371600" y="3685032"/>
            <a:ext cx="9601200" cy="548640"/>
          </a:xfrm>
          <a:prstGeom prst="rect">
            <a:avLst/>
          </a:prstGeom>
          <a:noFill/>
        </p:spPr>
        <p:txBody>
          <a:bodyPr wrap="square">
            <a:spAutoFit/>
          </a:bodyPr>
          <a:lstStyle/>
          <a:p>
            <a:pPr>
              <a:defRPr sz="1600">
                <a:solidFill>
                  <a:srgbClr val="3D4455"/>
                </a:solidFill>
                <a:latin typeface="Calibri"/>
              </a:defRPr>
            </a:pPr>
            <a:r>
              <a:t>Select empiric antibiotics based on age and risk level</a:t>
            </a:r>
          </a:p>
        </p:txBody>
      </p:sp>
      <p:sp>
        <p:nvSpPr>
          <p:cNvPr id="13" name="Oval 12"/>
          <p:cNvSpPr/>
          <p:nvPr/>
        </p:nvSpPr>
        <p:spPr>
          <a:xfrm>
            <a:off x="731520" y="448056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5</a:t>
            </a:r>
          </a:p>
        </p:txBody>
      </p:sp>
      <p:sp>
        <p:nvSpPr>
          <p:cNvPr id="14" name="TextBox 13"/>
          <p:cNvSpPr txBox="1"/>
          <p:nvPr/>
        </p:nvSpPr>
        <p:spPr>
          <a:xfrm>
            <a:off x="1371600" y="4462272"/>
            <a:ext cx="9601200" cy="548640"/>
          </a:xfrm>
          <a:prstGeom prst="rect">
            <a:avLst/>
          </a:prstGeom>
          <a:noFill/>
        </p:spPr>
        <p:txBody>
          <a:bodyPr wrap="square">
            <a:spAutoFit/>
          </a:bodyPr>
          <a:lstStyle/>
          <a:p>
            <a:pPr>
              <a:defRPr sz="1600">
                <a:solidFill>
                  <a:srgbClr val="3D4455"/>
                </a:solidFill>
                <a:latin typeface="Calibri"/>
              </a:defRPr>
            </a:pPr>
            <a:r>
              <a:t>Make evidence-based admission vs. discharge decisions for febrile infants</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Febrile Infant</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The Febrile Infant: A PEM Core Topic</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Fever = rectal temperature ≥38.0°C (100.4°F) — rectal is the gold standard</a:t>
            </a:r>
          </a:p>
          <a:p>
            <a:pPr>
              <a:spcBef>
                <a:spcPts val="400"/>
              </a:spcBef>
              <a:spcAft>
                <a:spcPts val="600"/>
              </a:spcAft>
              <a:defRPr sz="1600">
                <a:solidFill>
                  <a:srgbClr val="3D4455"/>
                </a:solidFill>
                <a:latin typeface="Calibri"/>
              </a:defRPr>
            </a:pPr>
            <a:r>
              <a:t>Young febrile infants cannot localize infection and have immature immune systems</a:t>
            </a:r>
          </a:p>
          <a:p>
            <a:pPr>
              <a:spcBef>
                <a:spcPts val="400"/>
              </a:spcBef>
              <a:spcAft>
                <a:spcPts val="600"/>
              </a:spcAft>
              <a:defRPr sz="1600">
                <a:solidFill>
                  <a:srgbClr val="3D4455"/>
                </a:solidFill>
                <a:latin typeface="Calibri"/>
              </a:defRPr>
            </a:pPr>
            <a:r>
              <a:t>Risk of serious bacterial infection (SBI) varies dramatically by age:</a:t>
            </a:r>
          </a:p>
          <a:p>
            <a:pPr lvl="1">
              <a:spcBef>
                <a:spcPts val="400"/>
              </a:spcBef>
              <a:spcAft>
                <a:spcPts val="600"/>
              </a:spcAft>
              <a:defRPr sz="1400">
                <a:solidFill>
                  <a:srgbClr val="8A92A3"/>
                </a:solidFill>
                <a:latin typeface="Calibri"/>
              </a:defRPr>
            </a:pPr>
            <a:r>
              <a:t>0-28 days: ~10-12% risk of SBI — always warrants full sepsis workup</a:t>
            </a:r>
          </a:p>
          <a:p>
            <a:pPr lvl="1">
              <a:spcBef>
                <a:spcPts val="400"/>
              </a:spcBef>
              <a:spcAft>
                <a:spcPts val="600"/>
              </a:spcAft>
              <a:defRPr sz="1400">
                <a:solidFill>
                  <a:srgbClr val="8A92A3"/>
                </a:solidFill>
                <a:latin typeface="Calibri"/>
              </a:defRPr>
            </a:pPr>
            <a:r>
              <a:t>29-60 days: ~5-7% risk of SBI — risk stratification possible</a:t>
            </a:r>
          </a:p>
          <a:p>
            <a:pPr lvl="1">
              <a:spcBef>
                <a:spcPts val="400"/>
              </a:spcBef>
              <a:spcAft>
                <a:spcPts val="600"/>
              </a:spcAft>
              <a:defRPr sz="1400">
                <a:solidFill>
                  <a:srgbClr val="8A92A3"/>
                </a:solidFill>
                <a:latin typeface="Calibri"/>
              </a:defRPr>
            </a:pPr>
            <a:r>
              <a:t>61-90 days: ~2-3% risk of SBI — lower risk, more selective workup</a:t>
            </a:r>
          </a:p>
          <a:p>
            <a:pPr>
              <a:spcBef>
                <a:spcPts val="400"/>
              </a:spcBef>
              <a:spcAft>
                <a:spcPts val="600"/>
              </a:spcAft>
              <a:defRPr sz="1600">
                <a:solidFill>
                  <a:srgbClr val="3D4455"/>
                </a:solidFill>
                <a:latin typeface="Calibri"/>
              </a:defRPr>
            </a:pPr>
            <a:r>
              <a:t>SBI includes: UTI (most common), bacteremia, meningitis</a:t>
            </a:r>
          </a:p>
          <a:p>
            <a:pPr lvl="1">
              <a:spcBef>
                <a:spcPts val="400"/>
              </a:spcBef>
              <a:spcAft>
                <a:spcPts val="600"/>
              </a:spcAft>
              <a:defRPr sz="1400">
                <a:solidFill>
                  <a:srgbClr val="8A92A3"/>
                </a:solidFill>
                <a:latin typeface="Calibri"/>
              </a:defRPr>
            </a:pPr>
            <a:r>
              <a:t>An ill-appearing febrile infant of any age gets a full sepsis workup and empiric antibiotics immediately</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Febrile Infant</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Approach by Age Group</a:t>
            </a:r>
          </a:p>
        </p:txBody>
      </p:sp>
      <p:sp>
        <p:nvSpPr>
          <p:cNvPr id="5" name="Rounded Rectangle 4"/>
          <p:cNvSpPr/>
          <p:nvPr/>
        </p:nvSpPr>
        <p:spPr>
          <a:xfrm>
            <a:off x="2286000" y="1371600"/>
            <a:ext cx="7315200" cy="64008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680"/>
              </a:lnSpc>
              <a:spcBef>
                <a:spcPts val="0"/>
              </a:spcBef>
              <a:spcAft>
                <a:spcPts val="0"/>
              </a:spcAft>
              <a:defRPr sz="1400" b="1" i="0">
                <a:solidFill>
                  <a:srgbClr val="FFFFFF"/>
                </a:solidFill>
                <a:latin typeface="Calibri"/>
              </a:defRPr>
            </a:pPr>
            <a:r>
              <a:t>0-28 DAYS: FULL SEPSIS WORKUP — CBC, blood culture, UA/UCx, LP, ± CXR; empiric ampicillin + gentamicin (+ acyclovir if HSV concern); ADMIT all</a:t>
            </a:r>
          </a:p>
        </p:txBody>
      </p:sp>
      <p:sp>
        <p:nvSpPr>
          <p:cNvPr id="6" name="Down Arrow 5"/>
          <p:cNvSpPr/>
          <p:nvPr/>
        </p:nvSpPr>
        <p:spPr>
          <a:xfrm>
            <a:off x="5760720" y="2011680"/>
            <a:ext cx="365760" cy="210312"/>
          </a:xfrm>
          <a:prstGeom prst="downArrow">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286000" y="2240280"/>
            <a:ext cx="7315200" cy="64008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680"/>
              </a:lnSpc>
              <a:spcBef>
                <a:spcPts val="0"/>
              </a:spcBef>
              <a:spcAft>
                <a:spcPts val="0"/>
              </a:spcAft>
              <a:defRPr sz="1400" b="1" i="0">
                <a:solidFill>
                  <a:srgbClr val="FFFFFF"/>
                </a:solidFill>
                <a:latin typeface="Calibri"/>
              </a:defRPr>
            </a:pPr>
            <a:r>
              <a:t>29-60 DAYS: Risk stratify — well-appearing → labs (CBC, UA, procalcitonin/CRP); if LOW RISK → consider discharge with close follow-up and IM ceftriaxone; if HIGH RISK → LP + admit + antibiotics</a:t>
            </a:r>
          </a:p>
        </p:txBody>
      </p:sp>
      <p:sp>
        <p:nvSpPr>
          <p:cNvPr id="8" name="Down Arrow 7"/>
          <p:cNvSpPr/>
          <p:nvPr/>
        </p:nvSpPr>
        <p:spPr>
          <a:xfrm>
            <a:off x="5760720" y="2880360"/>
            <a:ext cx="365760" cy="210312"/>
          </a:xfrm>
          <a:prstGeom prst="downArrow">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286000" y="3108960"/>
            <a:ext cx="7315200" cy="64008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680"/>
              </a:lnSpc>
              <a:spcBef>
                <a:spcPts val="0"/>
              </a:spcBef>
              <a:spcAft>
                <a:spcPts val="0"/>
              </a:spcAft>
              <a:defRPr sz="1400" b="1" i="0">
                <a:solidFill>
                  <a:srgbClr val="FFFFFF"/>
                </a:solidFill>
                <a:latin typeface="Calibri"/>
              </a:defRPr>
            </a:pPr>
            <a:r>
              <a:t>61-90 DAYS: Lower risk — well-appearing + normal UA + normal inflammatory markers → can consider outpatient management; abnormal → further workup ± admission</a:t>
            </a:r>
          </a:p>
        </p:txBody>
      </p:sp>
      <p:sp>
        <p:nvSpPr>
          <p:cNvPr id="10" name="Rectangle 9"/>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Febrile Infant</a:t>
            </a:r>
          </a:p>
        </p:txBody>
      </p:sp>
      <p:sp>
        <p:nvSpPr>
          <p:cNvPr id="12" name="TextBox 11"/>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PECARN Febrile Infant Rule (29-60 Days)</a:t>
            </a:r>
          </a:p>
        </p:txBody>
      </p:sp>
      <p:graphicFrame>
        <p:nvGraphicFramePr>
          <p:cNvPr id="5" name="Table 4"/>
          <p:cNvGraphicFramePr>
            <a:graphicFrameLocks noGrp="1"/>
          </p:cNvGraphicFramePr>
          <p:nvPr/>
        </p:nvGraphicFramePr>
        <p:xfrm>
          <a:off x="822960" y="1280160"/>
          <a:ext cx="10515600" cy="1828800"/>
        </p:xfrm>
        <a:graphic>
          <a:graphicData uri="http://schemas.openxmlformats.org/drawingml/2006/table">
            <a:tbl>
              <a:tblPr firstRow="1" bandRow="1">
                <a:tableStyleId>{5C22544A-7EE6-4342-B048-85BDC9FD1C3A}</a:tableStyleId>
              </a:tblPr>
              <a:tblGrid>
                <a:gridCol w="2628900"/>
                <a:gridCol w="2628900"/>
                <a:gridCol w="2628900"/>
                <a:gridCol w="2628900"/>
              </a:tblGrid>
              <a:tr h="457200">
                <a:tc>
                  <a:txBody>
                    <a:bodyPr/>
                    <a:lstStyle/>
                    <a:p>
                      <a:pPr algn="ctr">
                        <a:defRPr sz="1300" b="1">
                          <a:solidFill>
                            <a:srgbClr val="FFFFFF"/>
                          </a:solidFill>
                          <a:latin typeface="Calibri"/>
                        </a:defRPr>
                      </a:pPr>
                      <a:r>
                        <a:t>Criterion</a:t>
                      </a:r>
                    </a:p>
                  </a:txBody>
                  <a:tcPr>
                    <a:solidFill>
                      <a:srgbClr val="007B83"/>
                    </a:solidFill>
                  </a:tcPr>
                </a:tc>
                <a:tc>
                  <a:txBody>
                    <a:bodyPr/>
                    <a:lstStyle/>
                    <a:p>
                      <a:pPr algn="ctr">
                        <a:defRPr sz="1300" b="1">
                          <a:solidFill>
                            <a:srgbClr val="FFFFFF"/>
                          </a:solidFill>
                          <a:latin typeface="Calibri"/>
                        </a:defRPr>
                      </a:pPr>
                      <a:r>
                        <a:t>Low Risk If</a:t>
                      </a:r>
                    </a:p>
                  </a:txBody>
                  <a:tcPr>
                    <a:solidFill>
                      <a:srgbClr val="007B83"/>
                    </a:solidFill>
                  </a:tcPr>
                </a:tc>
                <a:tc>
                  <a:txBody>
                    <a:bodyPr/>
                    <a:lstStyle/>
                    <a:p>
                      <a:pPr algn="ctr">
                        <a:defRPr sz="1300" b="1">
                          <a:solidFill>
                            <a:srgbClr val="FFFFFF"/>
                          </a:solidFill>
                          <a:latin typeface="Calibri"/>
                        </a:defRPr>
                      </a:pPr>
                      <a:r>
                        <a:t>Action If Low Risk</a:t>
                      </a:r>
                    </a:p>
                  </a:txBody>
                  <a:tcPr>
                    <a:solidFill>
                      <a:srgbClr val="007B83"/>
                    </a:solidFill>
                  </a:tcPr>
                </a:tc>
                <a:tc>
                  <a:txBody>
                    <a:bodyPr/>
                    <a:lstStyle/>
                    <a:p>
                      <a:pPr algn="ctr">
                        <a:defRPr sz="1300" b="1">
                          <a:solidFill>
                            <a:srgbClr val="FFFFFF"/>
                          </a:solidFill>
                          <a:latin typeface="Calibri"/>
                        </a:defRPr>
                      </a:pPr>
                      <a:r>
                        <a:t>Action If High Risk</a:t>
                      </a:r>
                    </a:p>
                  </a:txBody>
                  <a:tcPr>
                    <a:solidFill>
                      <a:srgbClr val="007B83"/>
                    </a:solidFill>
                  </a:tcPr>
                </a:tc>
              </a:tr>
              <a:tr h="457200">
                <a:tc>
                  <a:txBody>
                    <a:bodyPr/>
                    <a:lstStyle/>
                    <a:p>
                      <a:pPr algn="l">
                        <a:defRPr sz="1200">
                          <a:solidFill>
                            <a:srgbClr val="3D4455"/>
                          </a:solidFill>
                          <a:latin typeface="Calibri"/>
                        </a:defRPr>
                      </a:pPr>
                      <a:r>
                        <a:t>Urinalysis</a:t>
                      </a:r>
                    </a:p>
                  </a:txBody>
                  <a:tcPr>
                    <a:solidFill>
                      <a:srgbClr val="F5F6FA"/>
                    </a:solidFill>
                  </a:tcPr>
                </a:tc>
                <a:tc>
                  <a:txBody>
                    <a:bodyPr/>
                    <a:lstStyle/>
                    <a:p>
                      <a:pPr algn="l">
                        <a:defRPr sz="1200">
                          <a:solidFill>
                            <a:srgbClr val="3D4455"/>
                          </a:solidFill>
                          <a:latin typeface="Calibri"/>
                        </a:defRPr>
                      </a:pPr>
                      <a:r>
                        <a:t>Negative (no pyuria, no leukocyte esterase, no nitrites)</a:t>
                      </a:r>
                    </a:p>
                  </a:txBody>
                  <a:tcPr>
                    <a:solidFill>
                      <a:srgbClr val="F5F6FA"/>
                    </a:solidFill>
                  </a:tcPr>
                </a:tc>
                <a:tc>
                  <a:txBody>
                    <a:bodyPr/>
                    <a:lstStyle/>
                    <a:p>
                      <a:pPr algn="l">
                        <a:defRPr sz="1200">
                          <a:solidFill>
                            <a:srgbClr val="3D4455"/>
                          </a:solidFill>
                          <a:latin typeface="Calibri"/>
                        </a:defRPr>
                      </a:pPr>
                      <a:r>
                        <a:t>Continue assessment</a:t>
                      </a:r>
                    </a:p>
                  </a:txBody>
                  <a:tcPr>
                    <a:solidFill>
                      <a:srgbClr val="F5F6FA"/>
                    </a:solidFill>
                  </a:tcPr>
                </a:tc>
                <a:tc>
                  <a:txBody>
                    <a:bodyPr/>
                    <a:lstStyle/>
                    <a:p>
                      <a:pPr algn="l">
                        <a:defRPr sz="1200">
                          <a:solidFill>
                            <a:srgbClr val="3D4455"/>
                          </a:solidFill>
                          <a:latin typeface="Calibri"/>
                        </a:defRPr>
                      </a:pPr>
                      <a:r>
                        <a:t>Full workup + LP + admit</a:t>
                      </a:r>
                    </a:p>
                  </a:txBody>
                  <a:tcPr>
                    <a:solidFill>
                      <a:srgbClr val="F5F6FA"/>
                    </a:solidFill>
                  </a:tcPr>
                </a:tc>
              </a:tr>
              <a:tr h="457200">
                <a:tc>
                  <a:txBody>
                    <a:bodyPr/>
                    <a:lstStyle/>
                    <a:p>
                      <a:pPr algn="l">
                        <a:defRPr sz="1200">
                          <a:solidFill>
                            <a:srgbClr val="3D4455"/>
                          </a:solidFill>
                          <a:latin typeface="Calibri"/>
                        </a:defRPr>
                      </a:pPr>
                      <a:r>
                        <a:t>ANC</a:t>
                      </a:r>
                    </a:p>
                  </a:txBody>
                  <a:tcPr>
                    <a:solidFill>
                      <a:srgbClr val="FFFFFF"/>
                    </a:solidFill>
                  </a:tcPr>
                </a:tc>
                <a:tc>
                  <a:txBody>
                    <a:bodyPr/>
                    <a:lstStyle/>
                    <a:p>
                      <a:pPr algn="l">
                        <a:defRPr sz="1200">
                          <a:solidFill>
                            <a:srgbClr val="3D4455"/>
                          </a:solidFill>
                          <a:latin typeface="Calibri"/>
                        </a:defRPr>
                      </a:pPr>
                      <a:r>
                        <a:t>&lt;4,090/µL</a:t>
                      </a:r>
                    </a:p>
                  </a:txBody>
                  <a:tcPr>
                    <a:solidFill>
                      <a:srgbClr val="FFFFFF"/>
                    </a:solidFill>
                  </a:tcPr>
                </a:tc>
                <a:tc>
                  <a:txBody>
                    <a:bodyPr/>
                    <a:lstStyle/>
                    <a:p>
                      <a:pPr algn="l">
                        <a:defRPr sz="1200">
                          <a:solidFill>
                            <a:srgbClr val="3D4455"/>
                          </a:solidFill>
                          <a:latin typeface="Calibri"/>
                        </a:defRPr>
                      </a:pPr>
                      <a:r>
                        <a:t>Continue assessment</a:t>
                      </a:r>
                    </a:p>
                  </a:txBody>
                  <a:tcPr>
                    <a:solidFill>
                      <a:srgbClr val="FFFFFF"/>
                    </a:solidFill>
                  </a:tcPr>
                </a:tc>
                <a:tc>
                  <a:txBody>
                    <a:bodyPr/>
                    <a:lstStyle/>
                    <a:p>
                      <a:pPr algn="l">
                        <a:defRPr sz="1200">
                          <a:solidFill>
                            <a:srgbClr val="3D4455"/>
                          </a:solidFill>
                          <a:latin typeface="Calibri"/>
                        </a:defRPr>
                      </a:pPr>
                      <a:r>
                        <a:t>Full workup + LP + admit</a:t>
                      </a:r>
                    </a:p>
                  </a:txBody>
                  <a:tcPr>
                    <a:solidFill>
                      <a:srgbClr val="FFFFFF"/>
                    </a:solidFill>
                  </a:tcPr>
                </a:tc>
              </a:tr>
              <a:tr h="457200">
                <a:tc>
                  <a:txBody>
                    <a:bodyPr/>
                    <a:lstStyle/>
                    <a:p>
                      <a:pPr algn="l">
                        <a:defRPr sz="1200">
                          <a:solidFill>
                            <a:srgbClr val="3D4455"/>
                          </a:solidFill>
                          <a:latin typeface="Calibri"/>
                        </a:defRPr>
                      </a:pPr>
                      <a:r>
                        <a:t>Procalcitonin</a:t>
                      </a:r>
                    </a:p>
                  </a:txBody>
                  <a:tcPr>
                    <a:solidFill>
                      <a:srgbClr val="F5F6FA"/>
                    </a:solidFill>
                  </a:tcPr>
                </a:tc>
                <a:tc>
                  <a:txBody>
                    <a:bodyPr/>
                    <a:lstStyle/>
                    <a:p>
                      <a:pPr algn="l">
                        <a:defRPr sz="1200">
                          <a:solidFill>
                            <a:srgbClr val="3D4455"/>
                          </a:solidFill>
                          <a:latin typeface="Calibri"/>
                        </a:defRPr>
                      </a:pPr>
                      <a:r>
                        <a:t>&lt;0.5 ng/mL</a:t>
                      </a:r>
                    </a:p>
                  </a:txBody>
                  <a:tcPr>
                    <a:solidFill>
                      <a:srgbClr val="F5F6FA"/>
                    </a:solidFill>
                  </a:tcPr>
                </a:tc>
                <a:tc>
                  <a:txBody>
                    <a:bodyPr/>
                    <a:lstStyle/>
                    <a:p>
                      <a:pPr algn="l">
                        <a:defRPr sz="1200">
                          <a:solidFill>
                            <a:srgbClr val="3D4455"/>
                          </a:solidFill>
                          <a:latin typeface="Calibri"/>
                        </a:defRPr>
                      </a:pPr>
                      <a:r>
                        <a:t>LOW RISK — no LP needed</a:t>
                      </a:r>
                    </a:p>
                  </a:txBody>
                  <a:tcPr>
                    <a:solidFill>
                      <a:srgbClr val="F5F6FA"/>
                    </a:solidFill>
                  </a:tcPr>
                </a:tc>
                <a:tc>
                  <a:txBody>
                    <a:bodyPr/>
                    <a:lstStyle/>
                    <a:p>
                      <a:pPr algn="l">
                        <a:defRPr sz="1200">
                          <a:solidFill>
                            <a:srgbClr val="3D4455"/>
                          </a:solidFill>
                          <a:latin typeface="Calibri"/>
                        </a:defRPr>
                      </a:pPr>
                      <a:r>
                        <a:t>Full workup + LP + admit</a:t>
                      </a:r>
                    </a:p>
                  </a:txBody>
                  <a:tcPr>
                    <a:solidFill>
                      <a:srgbClr val="F5F6FA"/>
                    </a:solidFill>
                  </a:tcPr>
                </a:tc>
              </a:tr>
            </a:tbl>
          </a:graphicData>
        </a:graphic>
      </p:graphicFrame>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Febrile Infant</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The Lumbar Puncture Question</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0-28 days: LP is ALWAYS indicated — meningitis risk is highest in this age group</a:t>
            </a:r>
          </a:p>
          <a:p>
            <a:pPr>
              <a:spcBef>
                <a:spcPts val="400"/>
              </a:spcBef>
              <a:spcAft>
                <a:spcPts val="600"/>
              </a:spcAft>
              <a:defRPr sz="1600">
                <a:solidFill>
                  <a:srgbClr val="3D4455"/>
                </a:solidFill>
                <a:latin typeface="Calibri"/>
              </a:defRPr>
            </a:pPr>
            <a:r>
              <a:t>29-60 days: LP indicated if ANY high-risk marker (abnormal UA, elevated ANC, elevated procalcitonin)</a:t>
            </a:r>
          </a:p>
          <a:p>
            <a:pPr>
              <a:spcBef>
                <a:spcPts val="400"/>
              </a:spcBef>
              <a:spcAft>
                <a:spcPts val="600"/>
              </a:spcAft>
              <a:defRPr sz="1600">
                <a:solidFill>
                  <a:srgbClr val="3D4455"/>
                </a:solidFill>
                <a:latin typeface="Calibri"/>
              </a:defRPr>
            </a:pPr>
            <a:r>
              <a:t>29-60 days, low risk by PECARN: LP can be safely deferred with close follow-up</a:t>
            </a:r>
          </a:p>
          <a:p>
            <a:pPr>
              <a:spcBef>
                <a:spcPts val="400"/>
              </a:spcBef>
              <a:spcAft>
                <a:spcPts val="600"/>
              </a:spcAft>
              <a:defRPr sz="1600">
                <a:solidFill>
                  <a:srgbClr val="3D4455"/>
                </a:solidFill>
                <a:latin typeface="Calibri"/>
              </a:defRPr>
            </a:pPr>
            <a:r>
              <a:t>61-90 days: LP indicated if ill-appearing, abnormal labs, or clinical concern</a:t>
            </a:r>
          </a:p>
          <a:p>
            <a:pPr>
              <a:spcBef>
                <a:spcPts val="400"/>
              </a:spcBef>
              <a:spcAft>
                <a:spcPts val="600"/>
              </a:spcAft>
              <a:defRPr sz="1600">
                <a:solidFill>
                  <a:srgbClr val="3D4455"/>
                </a:solidFill>
                <a:latin typeface="Calibri"/>
              </a:defRPr>
            </a:pPr>
            <a:r>
              <a:t>NEVER delay antibiotics for LP — if the child is ill, give antibiotics FIRST</a:t>
            </a:r>
          </a:p>
          <a:p>
            <a:pPr>
              <a:spcBef>
                <a:spcPts val="400"/>
              </a:spcBef>
              <a:spcAft>
                <a:spcPts val="600"/>
              </a:spcAft>
              <a:defRPr sz="1600">
                <a:solidFill>
                  <a:srgbClr val="3D4455"/>
                </a:solidFill>
                <a:latin typeface="Calibri"/>
              </a:defRPr>
            </a:pPr>
            <a:r>
              <a:t>Failed LP does not mean you cannot treat — give empiric antibiotics and consider repeat LP later</a:t>
            </a:r>
          </a:p>
          <a:p>
            <a:pPr lvl="1">
              <a:spcBef>
                <a:spcPts val="400"/>
              </a:spcBef>
              <a:spcAft>
                <a:spcPts val="600"/>
              </a:spcAft>
              <a:defRPr sz="1400">
                <a:solidFill>
                  <a:srgbClr val="8A92A3"/>
                </a:solidFill>
                <a:latin typeface="Calibri"/>
              </a:defRPr>
            </a:pPr>
            <a:r>
              <a:t>The purpose of LP is to rule out meningitis, not to delay treatment</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Febrile Infant</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HSV: The Can't-Miss Neonatal Diagnosis</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HSV meningoencephalitis: mortality up to 30% if untreated; severe neurologic sequelae in survivors</a:t>
            </a:r>
          </a:p>
          <a:p>
            <a:pPr>
              <a:spcBef>
                <a:spcPts val="400"/>
              </a:spcBef>
              <a:spcAft>
                <a:spcPts val="600"/>
              </a:spcAft>
              <a:defRPr sz="1600">
                <a:solidFill>
                  <a:srgbClr val="3D4455"/>
                </a:solidFill>
                <a:latin typeface="Calibri"/>
              </a:defRPr>
            </a:pPr>
            <a:r>
              <a:t>Risk factors: maternal HSV (but 60-80% of neonatal HSV occurs without known maternal history)</a:t>
            </a:r>
          </a:p>
          <a:p>
            <a:pPr>
              <a:spcBef>
                <a:spcPts val="400"/>
              </a:spcBef>
              <a:spcAft>
                <a:spcPts val="600"/>
              </a:spcAft>
              <a:defRPr sz="1600">
                <a:solidFill>
                  <a:srgbClr val="3D4455"/>
                </a:solidFill>
                <a:latin typeface="Calibri"/>
              </a:defRPr>
            </a:pPr>
            <a:r>
              <a:t>Peak presentation: 7-21 days of life (can present up to 42 days)</a:t>
            </a:r>
          </a:p>
          <a:p>
            <a:pPr>
              <a:spcBef>
                <a:spcPts val="400"/>
              </a:spcBef>
              <a:spcAft>
                <a:spcPts val="600"/>
              </a:spcAft>
              <a:defRPr sz="1600">
                <a:solidFill>
                  <a:srgbClr val="3D4455"/>
                </a:solidFill>
                <a:latin typeface="Calibri"/>
              </a:defRPr>
            </a:pPr>
            <a:r>
              <a:t>Three forms: SEM (skin, eye, mouth), CNS, disseminated</a:t>
            </a:r>
          </a:p>
          <a:p>
            <a:pPr>
              <a:spcBef>
                <a:spcPts val="400"/>
              </a:spcBef>
              <a:spcAft>
                <a:spcPts val="600"/>
              </a:spcAft>
              <a:defRPr sz="1600">
                <a:solidFill>
                  <a:srgbClr val="3D4455"/>
                </a:solidFill>
                <a:latin typeface="Calibri"/>
              </a:defRPr>
            </a:pPr>
            <a:r>
              <a:t>Clues: vesicles (present in only 40%), seizures, elevated AST/ALT, CSF pleocytosis, thrombocytopenia, coagulopathy</a:t>
            </a:r>
          </a:p>
          <a:p>
            <a:pPr>
              <a:spcBef>
                <a:spcPts val="400"/>
              </a:spcBef>
              <a:spcAft>
                <a:spcPts val="600"/>
              </a:spcAft>
              <a:defRPr sz="1600">
                <a:solidFill>
                  <a:srgbClr val="3D4455"/>
                </a:solidFill>
                <a:latin typeface="Calibri"/>
              </a:defRPr>
            </a:pPr>
            <a:r>
              <a:t>When to add acyclovir: any neonate ≤21 days with fever, seizures, vesicles, ill-appearing, CSF pleocytosis, elevated LFTs, maternal HSV history</a:t>
            </a:r>
          </a:p>
          <a:p>
            <a:pPr>
              <a:spcBef>
                <a:spcPts val="400"/>
              </a:spcBef>
              <a:spcAft>
                <a:spcPts val="600"/>
              </a:spcAft>
              <a:defRPr sz="1600">
                <a:solidFill>
                  <a:srgbClr val="3D4455"/>
                </a:solidFill>
                <a:latin typeface="Calibri"/>
              </a:defRPr>
            </a:pPr>
            <a:r>
              <a:t>Dose: acyclovir 20 mg/kg IV q8h until HSV PCR results available</a:t>
            </a:r>
          </a:p>
          <a:p>
            <a:pPr lvl="1">
              <a:spcBef>
                <a:spcPts val="400"/>
              </a:spcBef>
              <a:spcAft>
                <a:spcPts val="600"/>
              </a:spcAft>
              <a:defRPr sz="1400">
                <a:solidFill>
                  <a:srgbClr val="8A92A3"/>
                </a:solidFill>
                <a:latin typeface="Calibri"/>
              </a:defRPr>
            </a:pPr>
            <a:r>
              <a:t>If in doubt about HSV, START ACYCLOVIR. The risk of NOT treating far exceeds the risk of treatment.</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Febrile Infant</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Empiric Antibiotic Selection by Age</a:t>
            </a:r>
          </a:p>
        </p:txBody>
      </p:sp>
      <p:graphicFrame>
        <p:nvGraphicFramePr>
          <p:cNvPr id="5" name="Table 4"/>
          <p:cNvGraphicFramePr>
            <a:graphicFrameLocks noGrp="1"/>
          </p:cNvGraphicFramePr>
          <p:nvPr/>
        </p:nvGraphicFramePr>
        <p:xfrm>
          <a:off x="822960" y="1280160"/>
          <a:ext cx="10515600" cy="2286000"/>
        </p:xfrm>
        <a:graphic>
          <a:graphicData uri="http://schemas.openxmlformats.org/drawingml/2006/table">
            <a:tbl>
              <a:tblPr firstRow="1" bandRow="1">
                <a:tableStyleId>{5C22544A-7EE6-4342-B048-85BDC9FD1C3A}</a:tableStyleId>
              </a:tblPr>
              <a:tblGrid>
                <a:gridCol w="2628900"/>
                <a:gridCol w="2628900"/>
                <a:gridCol w="2628900"/>
                <a:gridCol w="2628900"/>
              </a:tblGrid>
              <a:tr h="457200">
                <a:tc>
                  <a:txBody>
                    <a:bodyPr/>
                    <a:lstStyle/>
                    <a:p>
                      <a:pPr algn="ctr">
                        <a:defRPr sz="1300" b="1">
                          <a:solidFill>
                            <a:srgbClr val="FFFFFF"/>
                          </a:solidFill>
                          <a:latin typeface="Calibri"/>
                        </a:defRPr>
                      </a:pPr>
                      <a:r>
                        <a:t>Age</a:t>
                      </a:r>
                    </a:p>
                  </a:txBody>
                  <a:tcPr>
                    <a:solidFill>
                      <a:srgbClr val="007B83"/>
                    </a:solidFill>
                  </a:tcPr>
                </a:tc>
                <a:tc>
                  <a:txBody>
                    <a:bodyPr/>
                    <a:lstStyle/>
                    <a:p>
                      <a:pPr algn="ctr">
                        <a:defRPr sz="1300" b="1">
                          <a:solidFill>
                            <a:srgbClr val="FFFFFF"/>
                          </a:solidFill>
                          <a:latin typeface="Calibri"/>
                        </a:defRPr>
                      </a:pPr>
                      <a:r>
                        <a:t>Antibiotics</a:t>
                      </a:r>
                    </a:p>
                  </a:txBody>
                  <a:tcPr>
                    <a:solidFill>
                      <a:srgbClr val="007B83"/>
                    </a:solidFill>
                  </a:tcPr>
                </a:tc>
                <a:tc>
                  <a:txBody>
                    <a:bodyPr/>
                    <a:lstStyle/>
                    <a:p>
                      <a:pPr algn="ctr">
                        <a:defRPr sz="1300" b="1">
                          <a:solidFill>
                            <a:srgbClr val="FFFFFF"/>
                          </a:solidFill>
                          <a:latin typeface="Calibri"/>
                        </a:defRPr>
                      </a:pPr>
                      <a:r>
                        <a:t>Dosing</a:t>
                      </a:r>
                    </a:p>
                  </a:txBody>
                  <a:tcPr>
                    <a:solidFill>
                      <a:srgbClr val="007B83"/>
                    </a:solidFill>
                  </a:tcPr>
                </a:tc>
                <a:tc>
                  <a:txBody>
                    <a:bodyPr/>
                    <a:lstStyle/>
                    <a:p>
                      <a:pPr algn="ctr">
                        <a:defRPr sz="1300" b="1">
                          <a:solidFill>
                            <a:srgbClr val="FFFFFF"/>
                          </a:solidFill>
                          <a:latin typeface="Calibri"/>
                        </a:defRPr>
                      </a:pPr>
                      <a:r>
                        <a:t>Coverage</a:t>
                      </a:r>
                    </a:p>
                  </a:txBody>
                  <a:tcPr>
                    <a:solidFill>
                      <a:srgbClr val="007B83"/>
                    </a:solidFill>
                  </a:tcPr>
                </a:tc>
              </a:tr>
              <a:tr h="457200">
                <a:tc>
                  <a:txBody>
                    <a:bodyPr/>
                    <a:lstStyle/>
                    <a:p>
                      <a:pPr algn="l">
                        <a:defRPr sz="1200">
                          <a:solidFill>
                            <a:srgbClr val="3D4455"/>
                          </a:solidFill>
                          <a:latin typeface="Calibri"/>
                        </a:defRPr>
                      </a:pPr>
                      <a:r>
                        <a:t>0-28 days</a:t>
                      </a:r>
                    </a:p>
                  </a:txBody>
                  <a:tcPr>
                    <a:solidFill>
                      <a:srgbClr val="F5F6FA"/>
                    </a:solidFill>
                  </a:tcPr>
                </a:tc>
                <a:tc>
                  <a:txBody>
                    <a:bodyPr/>
                    <a:lstStyle/>
                    <a:p>
                      <a:pPr algn="l">
                        <a:defRPr sz="1200">
                          <a:solidFill>
                            <a:srgbClr val="3D4455"/>
                          </a:solidFill>
                          <a:latin typeface="Calibri"/>
                        </a:defRPr>
                      </a:pPr>
                      <a:r>
                        <a:t>Ampicillin + Gentamicin</a:t>
                      </a:r>
                    </a:p>
                  </a:txBody>
                  <a:tcPr>
                    <a:solidFill>
                      <a:srgbClr val="F5F6FA"/>
                    </a:solidFill>
                  </a:tcPr>
                </a:tc>
                <a:tc>
                  <a:txBody>
                    <a:bodyPr/>
                    <a:lstStyle/>
                    <a:p>
                      <a:pPr algn="l">
                        <a:defRPr sz="1200">
                          <a:solidFill>
                            <a:srgbClr val="3D4455"/>
                          </a:solidFill>
                          <a:latin typeface="Calibri"/>
                        </a:defRPr>
                      </a:pPr>
                      <a:r>
                        <a:t>Amp 50 mg/kg q6-8h + Gent 4-5 mg/kg q24h</a:t>
                      </a:r>
                    </a:p>
                  </a:txBody>
                  <a:tcPr>
                    <a:solidFill>
                      <a:srgbClr val="F5F6FA"/>
                    </a:solidFill>
                  </a:tcPr>
                </a:tc>
                <a:tc>
                  <a:txBody>
                    <a:bodyPr/>
                    <a:lstStyle/>
                    <a:p>
                      <a:pPr algn="l">
                        <a:defRPr sz="1200">
                          <a:solidFill>
                            <a:srgbClr val="3D4455"/>
                          </a:solidFill>
                          <a:latin typeface="Calibri"/>
                        </a:defRPr>
                      </a:pPr>
                      <a:r>
                        <a:t>GBS, E. coli, Listeria; add acyclovir 20 mg/kg q8h if HSV concern</a:t>
                      </a:r>
                    </a:p>
                  </a:txBody>
                  <a:tcPr>
                    <a:solidFill>
                      <a:srgbClr val="F5F6FA"/>
                    </a:solidFill>
                  </a:tcPr>
                </a:tc>
              </a:tr>
              <a:tr h="457200">
                <a:tc>
                  <a:txBody>
                    <a:bodyPr/>
                    <a:lstStyle/>
                    <a:p>
                      <a:pPr algn="l">
                        <a:defRPr sz="1200">
                          <a:solidFill>
                            <a:srgbClr val="3D4455"/>
                          </a:solidFill>
                          <a:latin typeface="Calibri"/>
                        </a:defRPr>
                      </a:pPr>
                      <a:r>
                        <a:t>29-60 days</a:t>
                      </a:r>
                    </a:p>
                  </a:txBody>
                  <a:tcPr>
                    <a:solidFill>
                      <a:srgbClr val="FFFFFF"/>
                    </a:solidFill>
                  </a:tcPr>
                </a:tc>
                <a:tc>
                  <a:txBody>
                    <a:bodyPr/>
                    <a:lstStyle/>
                    <a:p>
                      <a:pPr algn="l">
                        <a:defRPr sz="1200">
                          <a:solidFill>
                            <a:srgbClr val="3D4455"/>
                          </a:solidFill>
                          <a:latin typeface="Calibri"/>
                        </a:defRPr>
                      </a:pPr>
                      <a:r>
                        <a:t>Ceftriaxone ± Ampicillin</a:t>
                      </a:r>
                    </a:p>
                  </a:txBody>
                  <a:tcPr>
                    <a:solidFill>
                      <a:srgbClr val="FFFFFF"/>
                    </a:solidFill>
                  </a:tcPr>
                </a:tc>
                <a:tc>
                  <a:txBody>
                    <a:bodyPr/>
                    <a:lstStyle/>
                    <a:p>
                      <a:pPr algn="l">
                        <a:defRPr sz="1200">
                          <a:solidFill>
                            <a:srgbClr val="3D4455"/>
                          </a:solidFill>
                          <a:latin typeface="Calibri"/>
                        </a:defRPr>
                      </a:pPr>
                      <a:r>
                        <a:t>Ceftriaxone 50 mg/kg q24h; Amp 50 mg/kg q6h</a:t>
                      </a:r>
                    </a:p>
                  </a:txBody>
                  <a:tcPr>
                    <a:solidFill>
                      <a:srgbClr val="FFFFFF"/>
                    </a:solidFill>
                  </a:tcPr>
                </a:tc>
                <a:tc>
                  <a:txBody>
                    <a:bodyPr/>
                    <a:lstStyle/>
                    <a:p>
                      <a:pPr algn="l">
                        <a:defRPr sz="1200">
                          <a:solidFill>
                            <a:srgbClr val="3D4455"/>
                          </a:solidFill>
                          <a:latin typeface="Calibri"/>
                        </a:defRPr>
                      </a:pPr>
                      <a:r>
                        <a:t>Add ampicillin if Listeria concern or ≤30-day adjusted age</a:t>
                      </a:r>
                    </a:p>
                  </a:txBody>
                  <a:tcPr>
                    <a:solidFill>
                      <a:srgbClr val="FFFFFF"/>
                    </a:solidFill>
                  </a:tcPr>
                </a:tc>
              </a:tr>
              <a:tr h="457200">
                <a:tc>
                  <a:txBody>
                    <a:bodyPr/>
                    <a:lstStyle/>
                    <a:p>
                      <a:pPr algn="l">
                        <a:defRPr sz="1200">
                          <a:solidFill>
                            <a:srgbClr val="3D4455"/>
                          </a:solidFill>
                          <a:latin typeface="Calibri"/>
                        </a:defRPr>
                      </a:pPr>
                      <a:r>
                        <a:t>61-90 days (admit)</a:t>
                      </a:r>
                    </a:p>
                  </a:txBody>
                  <a:tcPr>
                    <a:solidFill>
                      <a:srgbClr val="F5F6FA"/>
                    </a:solidFill>
                  </a:tcPr>
                </a:tc>
                <a:tc>
                  <a:txBody>
                    <a:bodyPr/>
                    <a:lstStyle/>
                    <a:p>
                      <a:pPr algn="l">
                        <a:defRPr sz="1200">
                          <a:solidFill>
                            <a:srgbClr val="3D4455"/>
                          </a:solidFill>
                          <a:latin typeface="Calibri"/>
                        </a:defRPr>
                      </a:pPr>
                      <a:r>
                        <a:t>Ceftriaxone</a:t>
                      </a:r>
                    </a:p>
                  </a:txBody>
                  <a:tcPr>
                    <a:solidFill>
                      <a:srgbClr val="F5F6FA"/>
                    </a:solidFill>
                  </a:tcPr>
                </a:tc>
                <a:tc>
                  <a:txBody>
                    <a:bodyPr/>
                    <a:lstStyle/>
                    <a:p>
                      <a:pPr algn="l">
                        <a:defRPr sz="1200">
                          <a:solidFill>
                            <a:srgbClr val="3D4455"/>
                          </a:solidFill>
                          <a:latin typeface="Calibri"/>
                        </a:defRPr>
                      </a:pPr>
                      <a:r>
                        <a:t>50 mg/kg IV q24h</a:t>
                      </a:r>
                    </a:p>
                  </a:txBody>
                  <a:tcPr>
                    <a:solidFill>
                      <a:srgbClr val="F5F6FA"/>
                    </a:solidFill>
                  </a:tcPr>
                </a:tc>
                <a:tc>
                  <a:txBody>
                    <a:bodyPr/>
                    <a:lstStyle/>
                    <a:p>
                      <a:pPr algn="l">
                        <a:defRPr sz="1200">
                          <a:solidFill>
                            <a:srgbClr val="3D4455"/>
                          </a:solidFill>
                          <a:latin typeface="Calibri"/>
                        </a:defRPr>
                      </a:pPr>
                      <a:r>
                        <a:t>S. pneumo, E. coli, other GNR, GBS</a:t>
                      </a:r>
                    </a:p>
                  </a:txBody>
                  <a:tcPr>
                    <a:solidFill>
                      <a:srgbClr val="F5F6FA"/>
                    </a:solidFill>
                  </a:tcPr>
                </a:tc>
              </a:tr>
              <a:tr h="457200">
                <a:tc>
                  <a:txBody>
                    <a:bodyPr/>
                    <a:lstStyle/>
                    <a:p>
                      <a:pPr algn="l">
                        <a:defRPr sz="1200">
                          <a:solidFill>
                            <a:srgbClr val="3D4455"/>
                          </a:solidFill>
                          <a:latin typeface="Calibri"/>
                        </a:defRPr>
                      </a:pPr>
                      <a:r>
                        <a:t>61-90 days (outpatient)</a:t>
                      </a:r>
                    </a:p>
                  </a:txBody>
                  <a:tcPr>
                    <a:solidFill>
                      <a:srgbClr val="FFFFFF"/>
                    </a:solidFill>
                  </a:tcPr>
                </a:tc>
                <a:tc>
                  <a:txBody>
                    <a:bodyPr/>
                    <a:lstStyle/>
                    <a:p>
                      <a:pPr algn="l">
                        <a:defRPr sz="1200">
                          <a:solidFill>
                            <a:srgbClr val="3D4455"/>
                          </a:solidFill>
                          <a:latin typeface="Calibri"/>
                        </a:defRPr>
                      </a:pPr>
                      <a:r>
                        <a:t>Ceftriaxone IM</a:t>
                      </a:r>
                    </a:p>
                  </a:txBody>
                  <a:tcPr>
                    <a:solidFill>
                      <a:srgbClr val="FFFFFF"/>
                    </a:solidFill>
                  </a:tcPr>
                </a:tc>
                <a:tc>
                  <a:txBody>
                    <a:bodyPr/>
                    <a:lstStyle/>
                    <a:p>
                      <a:pPr algn="l">
                        <a:defRPr sz="1200">
                          <a:solidFill>
                            <a:srgbClr val="3D4455"/>
                          </a:solidFill>
                          <a:latin typeface="Calibri"/>
                        </a:defRPr>
                      </a:pPr>
                      <a:r>
                        <a:t>50 mg/kg IM × 1 dose</a:t>
                      </a:r>
                    </a:p>
                  </a:txBody>
                  <a:tcPr>
                    <a:solidFill>
                      <a:srgbClr val="FFFFFF"/>
                    </a:solidFill>
                  </a:tcPr>
                </a:tc>
                <a:tc>
                  <a:txBody>
                    <a:bodyPr/>
                    <a:lstStyle/>
                    <a:p>
                      <a:pPr algn="l">
                        <a:defRPr sz="1200">
                          <a:solidFill>
                            <a:srgbClr val="3D4455"/>
                          </a:solidFill>
                          <a:latin typeface="Calibri"/>
                        </a:defRPr>
                      </a:pPr>
                      <a:r>
                        <a:t>Bridge until 24h follow-up and culture results</a:t>
                      </a:r>
                    </a:p>
                  </a:txBody>
                  <a:tcPr>
                    <a:solidFill>
                      <a:srgbClr val="FFFFFF"/>
                    </a:solidFill>
                  </a:tcPr>
                </a:tc>
              </a:tr>
            </a:tbl>
          </a:graphicData>
        </a:graphic>
      </p:graphicFrame>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Febrile Infant</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Admit vs. Discharge: Febrile Infant</a:t>
            </a:r>
          </a:p>
        </p:txBody>
      </p:sp>
      <p:sp>
        <p:nvSpPr>
          <p:cNvPr id="5" name="Rounded Rectangle 4"/>
          <p:cNvSpPr/>
          <p:nvPr/>
        </p:nvSpPr>
        <p:spPr>
          <a:xfrm>
            <a:off x="457200" y="1280160"/>
            <a:ext cx="5303520" cy="54864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MUST ADMIT</a:t>
            </a:r>
          </a:p>
        </p:txBody>
      </p:sp>
      <p:sp>
        <p:nvSpPr>
          <p:cNvPr id="6" name="TextBox 5"/>
          <p:cNvSpPr txBox="1"/>
          <p:nvPr/>
        </p:nvSpPr>
        <p:spPr>
          <a:xfrm>
            <a:off x="640080" y="2011680"/>
            <a:ext cx="4937760" cy="4114800"/>
          </a:xfrm>
          <a:prstGeom prst="rect">
            <a:avLst/>
          </a:prstGeom>
          <a:noFill/>
        </p:spPr>
        <p:txBody>
          <a:bodyPr wrap="square">
            <a:spAutoFit/>
          </a:bodyPr>
          <a:lstStyle/>
          <a:p>
            <a:pPr>
              <a:spcAft>
                <a:spcPts val="500"/>
              </a:spcAft>
              <a:defRPr sz="1400">
                <a:solidFill>
                  <a:srgbClr val="3D4455"/>
                </a:solidFill>
                <a:latin typeface="Calibri"/>
              </a:defRPr>
            </a:pPr>
            <a:r>
              <a:t>All febrile neonates 0-28 days</a:t>
            </a:r>
          </a:p>
          <a:p>
            <a:pPr>
              <a:spcAft>
                <a:spcPts val="500"/>
              </a:spcAft>
              <a:defRPr sz="1400">
                <a:solidFill>
                  <a:srgbClr val="3D4455"/>
                </a:solidFill>
                <a:latin typeface="Calibri"/>
              </a:defRPr>
            </a:pPr>
            <a:r>
              <a:t>Ill-appearing infant of any age</a:t>
            </a:r>
          </a:p>
          <a:p>
            <a:pPr>
              <a:spcAft>
                <a:spcPts val="500"/>
              </a:spcAft>
              <a:defRPr sz="1400">
                <a:solidFill>
                  <a:srgbClr val="3D4455"/>
                </a:solidFill>
                <a:latin typeface="Calibri"/>
              </a:defRPr>
            </a:pPr>
            <a:r>
              <a:t>Abnormal inflammatory markers (ANC ≥4,090, PCT ≥0.5)</a:t>
            </a:r>
          </a:p>
          <a:p>
            <a:pPr>
              <a:spcAft>
                <a:spcPts val="500"/>
              </a:spcAft>
              <a:defRPr sz="1400">
                <a:solidFill>
                  <a:srgbClr val="3D4455"/>
                </a:solidFill>
                <a:latin typeface="Calibri"/>
              </a:defRPr>
            </a:pPr>
            <a:r>
              <a:t>Positive urinalysis in &lt;60 days</a:t>
            </a:r>
          </a:p>
          <a:p>
            <a:pPr>
              <a:spcAft>
                <a:spcPts val="500"/>
              </a:spcAft>
              <a:defRPr sz="1400">
                <a:solidFill>
                  <a:srgbClr val="3D4455"/>
                </a:solidFill>
                <a:latin typeface="Calibri"/>
              </a:defRPr>
            </a:pPr>
            <a:r>
              <a:t>CSF pleocytosis or abnormal CSF</a:t>
            </a:r>
          </a:p>
          <a:p>
            <a:pPr>
              <a:spcAft>
                <a:spcPts val="500"/>
              </a:spcAft>
              <a:defRPr sz="1400">
                <a:solidFill>
                  <a:srgbClr val="3D4455"/>
                </a:solidFill>
                <a:latin typeface="Calibri"/>
              </a:defRPr>
            </a:pPr>
            <a:r>
              <a:t>Any concern for HSV, meningitis, or bacteremia</a:t>
            </a:r>
          </a:p>
          <a:p>
            <a:pPr>
              <a:spcAft>
                <a:spcPts val="500"/>
              </a:spcAft>
              <a:defRPr sz="1400">
                <a:solidFill>
                  <a:srgbClr val="3D4455"/>
                </a:solidFill>
                <a:latin typeface="Calibri"/>
              </a:defRPr>
            </a:pPr>
            <a:r>
              <a:t>Unreliable follow-up or social concerns</a:t>
            </a:r>
          </a:p>
          <a:p>
            <a:pPr>
              <a:spcAft>
                <a:spcPts val="500"/>
              </a:spcAft>
              <a:defRPr sz="1400">
                <a:solidFill>
                  <a:srgbClr val="3D4455"/>
                </a:solidFill>
                <a:latin typeface="Calibri"/>
              </a:defRPr>
            </a:pPr>
            <a:r>
              <a:t>Premature infant or immunocompromised</a:t>
            </a:r>
          </a:p>
        </p:txBody>
      </p:sp>
      <p:sp>
        <p:nvSpPr>
          <p:cNvPr id="7" name="Rectangle 6"/>
          <p:cNvSpPr/>
          <p:nvPr/>
        </p:nvSpPr>
        <p:spPr>
          <a:xfrm>
            <a:off x="5989320" y="1280160"/>
            <a:ext cx="27432" cy="4754880"/>
          </a:xfrm>
          <a:prstGeom prst="rect">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309360" y="1280160"/>
            <a:ext cx="5303520" cy="548640"/>
          </a:xfrm>
          <a:prstGeom prst="round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CONSIDER OUTPATIENT (29-60d only)</a:t>
            </a:r>
          </a:p>
        </p:txBody>
      </p:sp>
      <p:sp>
        <p:nvSpPr>
          <p:cNvPr id="9" name="TextBox 8"/>
          <p:cNvSpPr txBox="1"/>
          <p:nvPr/>
        </p:nvSpPr>
        <p:spPr>
          <a:xfrm>
            <a:off x="6492240" y="2011680"/>
            <a:ext cx="4937760" cy="4114800"/>
          </a:xfrm>
          <a:prstGeom prst="rect">
            <a:avLst/>
          </a:prstGeom>
          <a:noFill/>
        </p:spPr>
        <p:txBody>
          <a:bodyPr wrap="square">
            <a:spAutoFit/>
          </a:bodyPr>
          <a:lstStyle/>
          <a:p>
            <a:pPr>
              <a:spcAft>
                <a:spcPts val="500"/>
              </a:spcAft>
              <a:defRPr sz="1400">
                <a:solidFill>
                  <a:srgbClr val="3D4455"/>
                </a:solidFill>
                <a:latin typeface="Calibri"/>
              </a:defRPr>
            </a:pPr>
            <a:r>
              <a:t>Well-appearing by validated assessment</a:t>
            </a:r>
          </a:p>
          <a:p>
            <a:pPr>
              <a:spcAft>
                <a:spcPts val="500"/>
              </a:spcAft>
              <a:defRPr sz="1400">
                <a:solidFill>
                  <a:srgbClr val="3D4455"/>
                </a:solidFill>
                <a:latin typeface="Calibri"/>
              </a:defRPr>
            </a:pPr>
            <a:r>
              <a:t>Normal UA (no pyuria, no LE, no nitrites)</a:t>
            </a:r>
          </a:p>
          <a:p>
            <a:pPr>
              <a:spcAft>
                <a:spcPts val="500"/>
              </a:spcAft>
              <a:defRPr sz="1400">
                <a:solidFill>
                  <a:srgbClr val="3D4455"/>
                </a:solidFill>
                <a:latin typeface="Calibri"/>
              </a:defRPr>
            </a:pPr>
            <a:r>
              <a:t>ANC &lt;4,090/µL</a:t>
            </a:r>
          </a:p>
          <a:p>
            <a:pPr>
              <a:spcAft>
                <a:spcPts val="500"/>
              </a:spcAft>
              <a:defRPr sz="1400">
                <a:solidFill>
                  <a:srgbClr val="3D4455"/>
                </a:solidFill>
                <a:latin typeface="Calibri"/>
              </a:defRPr>
            </a:pPr>
            <a:r>
              <a:t>Procalcitonin &lt;0.5 ng/mL</a:t>
            </a:r>
          </a:p>
          <a:p>
            <a:pPr>
              <a:spcAft>
                <a:spcPts val="500"/>
              </a:spcAft>
              <a:defRPr sz="1400">
                <a:solidFill>
                  <a:srgbClr val="3D4455"/>
                </a:solidFill>
                <a:latin typeface="Calibri"/>
              </a:defRPr>
            </a:pPr>
            <a:r>
              <a:t>No CSF abnormalities (if LP performed)</a:t>
            </a:r>
          </a:p>
          <a:p>
            <a:pPr>
              <a:spcAft>
                <a:spcPts val="500"/>
              </a:spcAft>
              <a:defRPr sz="1400">
                <a:solidFill>
                  <a:srgbClr val="3D4455"/>
                </a:solidFill>
                <a:latin typeface="Calibri"/>
              </a:defRPr>
            </a:pPr>
            <a:r>
              <a:t>Reliable caregiver with phone</a:t>
            </a:r>
          </a:p>
          <a:p>
            <a:pPr>
              <a:spcAft>
                <a:spcPts val="500"/>
              </a:spcAft>
              <a:defRPr sz="1400">
                <a:solidFill>
                  <a:srgbClr val="3D4455"/>
                </a:solidFill>
                <a:latin typeface="Calibri"/>
              </a:defRPr>
            </a:pPr>
            <a:r>
              <a:t>Follow-up available within 24 hours</a:t>
            </a:r>
          </a:p>
          <a:p>
            <a:pPr>
              <a:spcAft>
                <a:spcPts val="500"/>
              </a:spcAft>
              <a:defRPr sz="1400">
                <a:solidFill>
                  <a:srgbClr val="3D4455"/>
                </a:solidFill>
                <a:latin typeface="Calibri"/>
              </a:defRPr>
            </a:pPr>
            <a:r>
              <a:t>IM ceftriaxone given before discharge</a:t>
            </a:r>
          </a:p>
        </p:txBody>
      </p:sp>
      <p:sp>
        <p:nvSpPr>
          <p:cNvPr id="10" name="Rectangle 9"/>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Febrile Infant</a:t>
            </a:r>
          </a:p>
        </p:txBody>
      </p:sp>
      <p:sp>
        <p:nvSpPr>
          <p:cNvPr id="12" name="TextBox 11"/>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71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28600"/>
            <a:ext cx="1645920" cy="457200"/>
          </a:xfrm>
          <a:prstGeom prst="round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CLINICAL CASE</a:t>
            </a:r>
          </a:p>
        </p:txBody>
      </p:sp>
      <p:sp>
        <p:nvSpPr>
          <p:cNvPr id="5" name="TextBox 4"/>
          <p:cNvSpPr txBox="1"/>
          <p:nvPr/>
        </p:nvSpPr>
        <p:spPr>
          <a:xfrm>
            <a:off x="2651760" y="182880"/>
            <a:ext cx="8686800" cy="640080"/>
          </a:xfrm>
          <a:prstGeom prst="rect">
            <a:avLst/>
          </a:prstGeom>
          <a:noFill/>
        </p:spPr>
        <p:txBody>
          <a:bodyPr wrap="square">
            <a:spAutoFit/>
          </a:bodyPr>
          <a:lstStyle/>
          <a:p>
            <a:pPr algn="l">
              <a:lnSpc>
                <a:spcPts val="2879"/>
              </a:lnSpc>
              <a:spcBef>
                <a:spcPts val="0"/>
              </a:spcBef>
              <a:spcAft>
                <a:spcPts val="0"/>
              </a:spcAft>
              <a:defRPr sz="2400" b="1" i="0">
                <a:solidFill>
                  <a:srgbClr val="FFFFFF"/>
                </a:solidFill>
                <a:latin typeface="Calibri"/>
              </a:defRPr>
            </a:pPr>
            <a:r>
              <a:t>21-Day-Old with Fever 38.4°C</a:t>
            </a:r>
          </a:p>
        </p:txBody>
      </p:sp>
      <p:sp>
        <p:nvSpPr>
          <p:cNvPr id="6" name="Rounded Rectangle 5"/>
          <p:cNvSpPr/>
          <p:nvPr/>
        </p:nvSpPr>
        <p:spPr>
          <a:xfrm>
            <a:off x="548640" y="1280160"/>
            <a:ext cx="10972800" cy="2560320"/>
          </a:xfrm>
          <a:prstGeom prst="roundRect">
            <a:avLst/>
          </a:prstGeom>
          <a:solidFill>
            <a:srgbClr val="FFFFFF"/>
          </a:solidFill>
          <a:ln w="1905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sz="1500">
                <a:solidFill>
                  <a:srgbClr val="3D4455"/>
                </a:solidFill>
                <a:latin typeface="Calibri"/>
              </a:defRPr>
            </a:pPr>
            <a:r>
              <a:t>A 21-day-old full-term male is brought in for a rectal temperature of 38.4°C at home. He is breastfeeding well. Mother had an uncomplicated vaginal delivery, was GBS negative, no maternal HSV history. The infant appears well: alert, active, good color, normal tone. No rash or vesicles.</a:t>
            </a:r>
          </a:p>
        </p:txBody>
      </p:sp>
      <p:sp>
        <p:nvSpPr>
          <p:cNvPr id="7" name="TextBox 6"/>
          <p:cNvSpPr txBox="1"/>
          <p:nvPr/>
        </p:nvSpPr>
        <p:spPr>
          <a:xfrm>
            <a:off x="731520" y="4114800"/>
            <a:ext cx="10515600" cy="2011680"/>
          </a:xfrm>
          <a:prstGeom prst="rect">
            <a:avLst/>
          </a:prstGeom>
          <a:noFill/>
        </p:spPr>
        <p:txBody>
          <a:bodyPr wrap="square">
            <a:spAutoFit/>
          </a:bodyPr>
          <a:lstStyle/>
          <a:p>
            <a:pPr>
              <a:spcAft>
                <a:spcPts val="600"/>
              </a:spcAft>
              <a:defRPr sz="1400" b="1">
                <a:solidFill>
                  <a:srgbClr val="007B83"/>
                </a:solidFill>
                <a:latin typeface="Calibri"/>
              </a:defRPr>
            </a:pPr>
            <a:r>
              <a:t>▸  Is this infant low risk? (NO — age ≤28 days = full sepsis workup regardless of appearance)</a:t>
            </a:r>
          </a:p>
          <a:p>
            <a:pPr>
              <a:spcAft>
                <a:spcPts val="600"/>
              </a:spcAft>
              <a:defRPr sz="1400" b="1">
                <a:solidFill>
                  <a:srgbClr val="007B83"/>
                </a:solidFill>
                <a:latin typeface="Calibri"/>
              </a:defRPr>
            </a:pPr>
            <a:r>
              <a:t>▸  Required workup? (CBC, blood culture, UA/UCx, LP with CSF culture/cell count/gram stain/glucose/protein, ± CXR)</a:t>
            </a:r>
          </a:p>
          <a:p>
            <a:pPr>
              <a:spcAft>
                <a:spcPts val="600"/>
              </a:spcAft>
              <a:defRPr sz="1400" b="1">
                <a:solidFill>
                  <a:srgbClr val="007B83"/>
                </a:solidFill>
                <a:latin typeface="Calibri"/>
              </a:defRPr>
            </a:pPr>
            <a:r>
              <a:t>▸  Should you add acyclovir? (Consider: age 21 days = within HSV risk window; if well-appearing and no HSV risk factors, may defer; if ANY concern → add acyclovir)</a:t>
            </a:r>
          </a:p>
          <a:p>
            <a:pPr>
              <a:spcAft>
                <a:spcPts val="600"/>
              </a:spcAft>
              <a:defRPr sz="1400" b="1">
                <a:solidFill>
                  <a:srgbClr val="007B83"/>
                </a:solidFill>
                <a:latin typeface="Calibri"/>
              </a:defRPr>
            </a:pPr>
            <a:r>
              <a:t>▸  Empiric antibiotics? (Ampicillin + Gentamicin; add acyclovir if HSV concern)</a:t>
            </a:r>
          </a:p>
          <a:p>
            <a:pPr>
              <a:spcAft>
                <a:spcPts val="600"/>
              </a:spcAft>
              <a:defRPr sz="1400" b="1">
                <a:solidFill>
                  <a:srgbClr val="007B83"/>
                </a:solidFill>
                <a:latin typeface="Calibri"/>
              </a:defRPr>
            </a:pPr>
            <a:r>
              <a:t>▸  Disposition? (ADMIT — all febrile neonates ≤28 days are admitted)</a:t>
            </a:r>
          </a:p>
        </p:txBody>
      </p:sp>
      <p:sp>
        <p:nvSpPr>
          <p:cNvPr id="8" name="Rectangle 7"/>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Febrile Infant</a:t>
            </a:r>
          </a:p>
        </p:txBody>
      </p:sp>
      <p:sp>
        <p:nvSpPr>
          <p:cNvPr id="10" name="TextBox 9"/>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Febrile Infant Pitfalls</a:t>
            </a:r>
          </a:p>
        </p:txBody>
      </p:sp>
      <p:sp>
        <p:nvSpPr>
          <p:cNvPr id="5" name="Rounded Rectangle 4"/>
          <p:cNvSpPr/>
          <p:nvPr/>
        </p:nvSpPr>
        <p:spPr>
          <a:xfrm>
            <a:off x="457200" y="128016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6" name="TextBox 5"/>
          <p:cNvSpPr txBox="1"/>
          <p:nvPr/>
        </p:nvSpPr>
        <p:spPr>
          <a:xfrm>
            <a:off x="1097280" y="1280160"/>
            <a:ext cx="10515600" cy="548640"/>
          </a:xfrm>
          <a:prstGeom prst="rect">
            <a:avLst/>
          </a:prstGeom>
          <a:noFill/>
        </p:spPr>
        <p:txBody>
          <a:bodyPr wrap="square">
            <a:spAutoFit/>
          </a:bodyPr>
          <a:lstStyle/>
          <a:p>
            <a:pPr>
              <a:defRPr sz="1500">
                <a:solidFill>
                  <a:srgbClr val="3D4455"/>
                </a:solidFill>
                <a:latin typeface="Calibri"/>
              </a:defRPr>
            </a:pPr>
            <a:r>
              <a:t>Relying on appearance alone — well-appearing neonates can have occult bacteremia or meningitis</a:t>
            </a:r>
          </a:p>
        </p:txBody>
      </p:sp>
      <p:sp>
        <p:nvSpPr>
          <p:cNvPr id="7" name="Rounded Rectangle 6"/>
          <p:cNvSpPr/>
          <p:nvPr/>
        </p:nvSpPr>
        <p:spPr>
          <a:xfrm>
            <a:off x="457200" y="1993391"/>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8" name="TextBox 7"/>
          <p:cNvSpPr txBox="1"/>
          <p:nvPr/>
        </p:nvSpPr>
        <p:spPr>
          <a:xfrm>
            <a:off x="1097280" y="1993391"/>
            <a:ext cx="10515600" cy="548640"/>
          </a:xfrm>
          <a:prstGeom prst="rect">
            <a:avLst/>
          </a:prstGeom>
          <a:noFill/>
        </p:spPr>
        <p:txBody>
          <a:bodyPr wrap="square">
            <a:spAutoFit/>
          </a:bodyPr>
          <a:lstStyle/>
          <a:p>
            <a:pPr>
              <a:defRPr sz="1500">
                <a:solidFill>
                  <a:srgbClr val="3D4455"/>
                </a:solidFill>
                <a:latin typeface="Calibri"/>
              </a:defRPr>
            </a:pPr>
            <a:r>
              <a:t>Not doing LP in febrile neonates ≤28 days — LP is ALWAYS indicated in this age group</a:t>
            </a:r>
          </a:p>
        </p:txBody>
      </p:sp>
      <p:sp>
        <p:nvSpPr>
          <p:cNvPr id="9" name="Rounded Rectangle 8"/>
          <p:cNvSpPr/>
          <p:nvPr/>
        </p:nvSpPr>
        <p:spPr>
          <a:xfrm>
            <a:off x="457200" y="2706624"/>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0" name="TextBox 9"/>
          <p:cNvSpPr txBox="1"/>
          <p:nvPr/>
        </p:nvSpPr>
        <p:spPr>
          <a:xfrm>
            <a:off x="1097280" y="2706624"/>
            <a:ext cx="10515600" cy="548640"/>
          </a:xfrm>
          <a:prstGeom prst="rect">
            <a:avLst/>
          </a:prstGeom>
          <a:noFill/>
        </p:spPr>
        <p:txBody>
          <a:bodyPr wrap="square">
            <a:spAutoFit/>
          </a:bodyPr>
          <a:lstStyle/>
          <a:p>
            <a:pPr>
              <a:defRPr sz="1500">
                <a:solidFill>
                  <a:srgbClr val="3D4455"/>
                </a:solidFill>
                <a:latin typeface="Calibri"/>
              </a:defRPr>
            </a:pPr>
            <a:r>
              <a:t>Delaying antibiotics while waiting for LP — if the infant is ill, give antibiotics FIRST</a:t>
            </a:r>
          </a:p>
        </p:txBody>
      </p:sp>
      <p:sp>
        <p:nvSpPr>
          <p:cNvPr id="11" name="Rounded Rectangle 10"/>
          <p:cNvSpPr/>
          <p:nvPr/>
        </p:nvSpPr>
        <p:spPr>
          <a:xfrm>
            <a:off x="457200" y="3419856"/>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2" name="TextBox 11"/>
          <p:cNvSpPr txBox="1"/>
          <p:nvPr/>
        </p:nvSpPr>
        <p:spPr>
          <a:xfrm>
            <a:off x="1097280" y="3419856"/>
            <a:ext cx="10515600" cy="548640"/>
          </a:xfrm>
          <a:prstGeom prst="rect">
            <a:avLst/>
          </a:prstGeom>
          <a:noFill/>
        </p:spPr>
        <p:txBody>
          <a:bodyPr wrap="square">
            <a:spAutoFit/>
          </a:bodyPr>
          <a:lstStyle/>
          <a:p>
            <a:pPr>
              <a:defRPr sz="1500">
                <a:solidFill>
                  <a:srgbClr val="3D4455"/>
                </a:solidFill>
                <a:latin typeface="Calibri"/>
              </a:defRPr>
            </a:pPr>
            <a:r>
              <a:t>Forgetting HSV — add acyclovir for any concerning neonate ≤21 days (vesicles, seizures, elevated LFTs)</a:t>
            </a:r>
          </a:p>
        </p:txBody>
      </p:sp>
      <p:sp>
        <p:nvSpPr>
          <p:cNvPr id="13" name="Rounded Rectangle 12"/>
          <p:cNvSpPr/>
          <p:nvPr/>
        </p:nvSpPr>
        <p:spPr>
          <a:xfrm>
            <a:off x="457200" y="4133087"/>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4" name="TextBox 13"/>
          <p:cNvSpPr txBox="1"/>
          <p:nvPr/>
        </p:nvSpPr>
        <p:spPr>
          <a:xfrm>
            <a:off x="1097280" y="4133087"/>
            <a:ext cx="10515600" cy="548640"/>
          </a:xfrm>
          <a:prstGeom prst="rect">
            <a:avLst/>
          </a:prstGeom>
          <a:noFill/>
        </p:spPr>
        <p:txBody>
          <a:bodyPr wrap="square">
            <a:spAutoFit/>
          </a:bodyPr>
          <a:lstStyle/>
          <a:p>
            <a:pPr>
              <a:defRPr sz="1500">
                <a:solidFill>
                  <a:srgbClr val="3D4455"/>
                </a:solidFill>
                <a:latin typeface="Calibri"/>
              </a:defRPr>
            </a:pPr>
            <a:r>
              <a:t>Using CRP instead of procalcitonin for PECARN rule — procalcitonin is the validated biomarker</a:t>
            </a:r>
          </a:p>
        </p:txBody>
      </p:sp>
      <p:sp>
        <p:nvSpPr>
          <p:cNvPr id="15" name="Rounded Rectangle 14"/>
          <p:cNvSpPr/>
          <p:nvPr/>
        </p:nvSpPr>
        <p:spPr>
          <a:xfrm>
            <a:off x="457200" y="484632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6" name="TextBox 15"/>
          <p:cNvSpPr txBox="1"/>
          <p:nvPr/>
        </p:nvSpPr>
        <p:spPr>
          <a:xfrm>
            <a:off x="1097280" y="4846320"/>
            <a:ext cx="10515600" cy="548640"/>
          </a:xfrm>
          <a:prstGeom prst="rect">
            <a:avLst/>
          </a:prstGeom>
          <a:noFill/>
        </p:spPr>
        <p:txBody>
          <a:bodyPr wrap="square">
            <a:spAutoFit/>
          </a:bodyPr>
          <a:lstStyle/>
          <a:p>
            <a:pPr>
              <a:defRPr sz="1500">
                <a:solidFill>
                  <a:srgbClr val="3D4455"/>
                </a:solidFill>
                <a:latin typeface="Calibri"/>
              </a:defRPr>
            </a:pPr>
            <a:r>
              <a:t>Accepting a "normal UA" by dipstick alone — send formal UA with microscopy and UCx</a:t>
            </a:r>
          </a:p>
        </p:txBody>
      </p:sp>
      <p:sp>
        <p:nvSpPr>
          <p:cNvPr id="17" name="Rounded Rectangle 16"/>
          <p:cNvSpPr/>
          <p:nvPr/>
        </p:nvSpPr>
        <p:spPr>
          <a:xfrm>
            <a:off x="457200" y="5559552"/>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8" name="TextBox 17"/>
          <p:cNvSpPr txBox="1"/>
          <p:nvPr/>
        </p:nvSpPr>
        <p:spPr>
          <a:xfrm>
            <a:off x="1097280" y="5559552"/>
            <a:ext cx="10515600" cy="548640"/>
          </a:xfrm>
          <a:prstGeom prst="rect">
            <a:avLst/>
          </a:prstGeom>
          <a:noFill/>
        </p:spPr>
        <p:txBody>
          <a:bodyPr wrap="square">
            <a:spAutoFit/>
          </a:bodyPr>
          <a:lstStyle/>
          <a:p>
            <a:pPr>
              <a:defRPr sz="1500">
                <a:solidFill>
                  <a:srgbClr val="3D4455"/>
                </a:solidFill>
                <a:latin typeface="Calibri"/>
              </a:defRPr>
            </a:pPr>
            <a:r>
              <a:t>Discharging a 29-60 day old without ensuring 24-hour follow-up and return precautions</a:t>
            </a:r>
          </a:p>
        </p:txBody>
      </p:sp>
      <p:sp>
        <p:nvSpPr>
          <p:cNvPr id="19" name="Rectangle 18"/>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Febrile Infant</a:t>
            </a:r>
          </a:p>
        </p:txBody>
      </p:sp>
      <p:sp>
        <p:nvSpPr>
          <p:cNvPr id="21" name="TextBox 20"/>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10058400" cy="457200"/>
          </a:xfrm>
          <a:prstGeom prst="rect">
            <a:avLst/>
          </a:prstGeom>
          <a:noFill/>
        </p:spPr>
        <p:txBody>
          <a:bodyPr wrap="none">
            <a:spAutoFit/>
          </a:bodyPr>
          <a:lstStyle/>
          <a:p>
            <a:pPr>
              <a:defRPr sz="1400" b="1">
                <a:solidFill>
                  <a:srgbClr val="007B83"/>
                </a:solidFill>
                <a:latin typeface="Calibri"/>
              </a:defRPr>
            </a:pPr>
            <a:r>
              <a:t>TAKE-HOME MESSAGES</a:t>
            </a:r>
          </a:p>
        </p:txBody>
      </p:sp>
      <p:sp>
        <p:nvSpPr>
          <p:cNvPr id="4" name="Rectangle 3"/>
          <p:cNvSpPr/>
          <p:nvPr/>
        </p:nvSpPr>
        <p:spPr>
          <a:xfrm>
            <a:off x="731520" y="1371600"/>
            <a:ext cx="274320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37360"/>
            <a:ext cx="457200" cy="457200"/>
          </a:xfrm>
          <a:prstGeom prst="rect">
            <a:avLst/>
          </a:prstGeom>
          <a:noFill/>
        </p:spPr>
        <p:txBody>
          <a:bodyPr wrap="none">
            <a:spAutoFit/>
          </a:bodyPr>
          <a:lstStyle/>
          <a:p>
            <a:pPr>
              <a:defRPr sz="2200" b="1">
                <a:solidFill>
                  <a:srgbClr val="007B83"/>
                </a:solidFill>
                <a:latin typeface="Calibri"/>
              </a:defRPr>
            </a:pPr>
            <a:r>
              <a:t>1</a:t>
            </a:r>
          </a:p>
        </p:txBody>
      </p:sp>
      <p:sp>
        <p:nvSpPr>
          <p:cNvPr id="6" name="TextBox 5"/>
          <p:cNvSpPr txBox="1"/>
          <p:nvPr/>
        </p:nvSpPr>
        <p:spPr>
          <a:xfrm>
            <a:off x="1371600" y="1737360"/>
            <a:ext cx="10058400" cy="640080"/>
          </a:xfrm>
          <a:prstGeom prst="rect">
            <a:avLst/>
          </a:prstGeom>
          <a:noFill/>
        </p:spPr>
        <p:txBody>
          <a:bodyPr wrap="square">
            <a:spAutoFit/>
          </a:bodyPr>
          <a:lstStyle/>
          <a:p>
            <a:pPr>
              <a:defRPr sz="1700">
                <a:solidFill>
                  <a:srgbClr val="FFFFFF"/>
                </a:solidFill>
                <a:latin typeface="Calibri"/>
              </a:defRPr>
            </a:pPr>
            <a:r>
              <a:t>0-28 days with fever: ALWAYS full sepsis workup + empiric antibiotics + admission — no exceptions</a:t>
            </a:r>
          </a:p>
        </p:txBody>
      </p:sp>
      <p:sp>
        <p:nvSpPr>
          <p:cNvPr id="7" name="TextBox 6"/>
          <p:cNvSpPr txBox="1"/>
          <p:nvPr/>
        </p:nvSpPr>
        <p:spPr>
          <a:xfrm>
            <a:off x="731520" y="2514600"/>
            <a:ext cx="457200" cy="457200"/>
          </a:xfrm>
          <a:prstGeom prst="rect">
            <a:avLst/>
          </a:prstGeom>
          <a:noFill/>
        </p:spPr>
        <p:txBody>
          <a:bodyPr wrap="none">
            <a:spAutoFit/>
          </a:bodyPr>
          <a:lstStyle/>
          <a:p>
            <a:pPr>
              <a:defRPr sz="2200" b="1">
                <a:solidFill>
                  <a:srgbClr val="007B83"/>
                </a:solidFill>
                <a:latin typeface="Calibri"/>
              </a:defRPr>
            </a:pPr>
            <a:r>
              <a:t>2</a:t>
            </a:r>
          </a:p>
        </p:txBody>
      </p:sp>
      <p:sp>
        <p:nvSpPr>
          <p:cNvPr id="8" name="TextBox 7"/>
          <p:cNvSpPr txBox="1"/>
          <p:nvPr/>
        </p:nvSpPr>
        <p:spPr>
          <a:xfrm>
            <a:off x="1371600" y="2514600"/>
            <a:ext cx="10058400" cy="640080"/>
          </a:xfrm>
          <a:prstGeom prst="rect">
            <a:avLst/>
          </a:prstGeom>
          <a:noFill/>
        </p:spPr>
        <p:txBody>
          <a:bodyPr wrap="square">
            <a:spAutoFit/>
          </a:bodyPr>
          <a:lstStyle/>
          <a:p>
            <a:pPr>
              <a:defRPr sz="1700">
                <a:solidFill>
                  <a:srgbClr val="FFFFFF"/>
                </a:solidFill>
                <a:latin typeface="Calibri"/>
              </a:defRPr>
            </a:pPr>
            <a:r>
              <a:t>29-60 days: use PECARN rule (UA, ANC, procalcitonin) to identify low-risk infants who may not need LP</a:t>
            </a:r>
          </a:p>
        </p:txBody>
      </p:sp>
      <p:sp>
        <p:nvSpPr>
          <p:cNvPr id="9" name="TextBox 8"/>
          <p:cNvSpPr txBox="1"/>
          <p:nvPr/>
        </p:nvSpPr>
        <p:spPr>
          <a:xfrm>
            <a:off x="731520" y="3291839"/>
            <a:ext cx="457200" cy="457200"/>
          </a:xfrm>
          <a:prstGeom prst="rect">
            <a:avLst/>
          </a:prstGeom>
          <a:noFill/>
        </p:spPr>
        <p:txBody>
          <a:bodyPr wrap="none">
            <a:spAutoFit/>
          </a:bodyPr>
          <a:lstStyle/>
          <a:p>
            <a:pPr>
              <a:defRPr sz="2200" b="1">
                <a:solidFill>
                  <a:srgbClr val="007B83"/>
                </a:solidFill>
                <a:latin typeface="Calibri"/>
              </a:defRPr>
            </a:pPr>
            <a:r>
              <a:t>3</a:t>
            </a:r>
          </a:p>
        </p:txBody>
      </p:sp>
      <p:sp>
        <p:nvSpPr>
          <p:cNvPr id="10" name="TextBox 9"/>
          <p:cNvSpPr txBox="1"/>
          <p:nvPr/>
        </p:nvSpPr>
        <p:spPr>
          <a:xfrm>
            <a:off x="1371600" y="3291839"/>
            <a:ext cx="10058400" cy="640080"/>
          </a:xfrm>
          <a:prstGeom prst="rect">
            <a:avLst/>
          </a:prstGeom>
          <a:noFill/>
        </p:spPr>
        <p:txBody>
          <a:bodyPr wrap="square">
            <a:spAutoFit/>
          </a:bodyPr>
          <a:lstStyle/>
          <a:p>
            <a:pPr>
              <a:defRPr sz="1700">
                <a:solidFill>
                  <a:srgbClr val="FFFFFF"/>
                </a:solidFill>
                <a:latin typeface="Calibri"/>
              </a:defRPr>
            </a:pPr>
            <a:r>
              <a:t>HSV: acyclovir 20 mg/kg IV q8h for any neonate ≤21 days with fever + seizures, vesicles, or ill appearance</a:t>
            </a:r>
          </a:p>
        </p:txBody>
      </p:sp>
      <p:sp>
        <p:nvSpPr>
          <p:cNvPr id="11" name="TextBox 10"/>
          <p:cNvSpPr txBox="1"/>
          <p:nvPr/>
        </p:nvSpPr>
        <p:spPr>
          <a:xfrm>
            <a:off x="731520" y="4069079"/>
            <a:ext cx="457200" cy="457200"/>
          </a:xfrm>
          <a:prstGeom prst="rect">
            <a:avLst/>
          </a:prstGeom>
          <a:noFill/>
        </p:spPr>
        <p:txBody>
          <a:bodyPr wrap="none">
            <a:spAutoFit/>
          </a:bodyPr>
          <a:lstStyle/>
          <a:p>
            <a:pPr>
              <a:defRPr sz="2200" b="1">
                <a:solidFill>
                  <a:srgbClr val="007B83"/>
                </a:solidFill>
                <a:latin typeface="Calibri"/>
              </a:defRPr>
            </a:pPr>
            <a:r>
              <a:t>4</a:t>
            </a:r>
          </a:p>
        </p:txBody>
      </p:sp>
      <p:sp>
        <p:nvSpPr>
          <p:cNvPr id="12" name="TextBox 11"/>
          <p:cNvSpPr txBox="1"/>
          <p:nvPr/>
        </p:nvSpPr>
        <p:spPr>
          <a:xfrm>
            <a:off x="1371600" y="4069079"/>
            <a:ext cx="10058400" cy="640080"/>
          </a:xfrm>
          <a:prstGeom prst="rect">
            <a:avLst/>
          </a:prstGeom>
          <a:noFill/>
        </p:spPr>
        <p:txBody>
          <a:bodyPr wrap="square">
            <a:spAutoFit/>
          </a:bodyPr>
          <a:lstStyle/>
          <a:p>
            <a:pPr>
              <a:defRPr sz="1700">
                <a:solidFill>
                  <a:srgbClr val="FFFFFF"/>
                </a:solidFill>
                <a:latin typeface="Calibri"/>
              </a:defRPr>
            </a:pPr>
            <a:r>
              <a:t>Never delay antibiotics for LP — treat first if the infant is ill</a:t>
            </a:r>
          </a:p>
        </p:txBody>
      </p:sp>
      <p:sp>
        <p:nvSpPr>
          <p:cNvPr id="13" name="TextBox 12"/>
          <p:cNvSpPr txBox="1"/>
          <p:nvPr/>
        </p:nvSpPr>
        <p:spPr>
          <a:xfrm>
            <a:off x="731520" y="4846320"/>
            <a:ext cx="457200" cy="457200"/>
          </a:xfrm>
          <a:prstGeom prst="rect">
            <a:avLst/>
          </a:prstGeom>
          <a:noFill/>
        </p:spPr>
        <p:txBody>
          <a:bodyPr wrap="none">
            <a:spAutoFit/>
          </a:bodyPr>
          <a:lstStyle/>
          <a:p>
            <a:pPr>
              <a:defRPr sz="2200" b="1">
                <a:solidFill>
                  <a:srgbClr val="007B83"/>
                </a:solidFill>
                <a:latin typeface="Calibri"/>
              </a:defRPr>
            </a:pPr>
            <a:r>
              <a:t>5</a:t>
            </a:r>
          </a:p>
        </p:txBody>
      </p:sp>
      <p:sp>
        <p:nvSpPr>
          <p:cNvPr id="14" name="TextBox 13"/>
          <p:cNvSpPr txBox="1"/>
          <p:nvPr/>
        </p:nvSpPr>
        <p:spPr>
          <a:xfrm>
            <a:off x="1371600" y="4846320"/>
            <a:ext cx="10058400" cy="640080"/>
          </a:xfrm>
          <a:prstGeom prst="rect">
            <a:avLst/>
          </a:prstGeom>
          <a:noFill/>
        </p:spPr>
        <p:txBody>
          <a:bodyPr wrap="square">
            <a:spAutoFit/>
          </a:bodyPr>
          <a:lstStyle/>
          <a:p>
            <a:pPr>
              <a:defRPr sz="1700">
                <a:solidFill>
                  <a:srgbClr val="FFFFFF"/>
                </a:solidFill>
                <a:latin typeface="Calibri"/>
              </a:defRPr>
            </a:pPr>
            <a:r>
              <a:t>Outpatient management of low-risk 29-60 day olds requires IM ceftriaxone + 24-hour follow-up</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Febrile Infant</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References</a:t>
            </a:r>
          </a:p>
        </p:txBody>
      </p:sp>
      <p:sp>
        <p:nvSpPr>
          <p:cNvPr id="5" name="TextBox 4"/>
          <p:cNvSpPr txBox="1"/>
          <p:nvPr/>
        </p:nvSpPr>
        <p:spPr>
          <a:xfrm>
            <a:off x="731520" y="1280160"/>
            <a:ext cx="10515600" cy="4846320"/>
          </a:xfrm>
          <a:prstGeom prst="rect">
            <a:avLst/>
          </a:prstGeom>
          <a:noFill/>
        </p:spPr>
        <p:txBody>
          <a:bodyPr wrap="square">
            <a:spAutoFit/>
          </a:bodyPr>
          <a:lstStyle/>
          <a:p>
            <a:pPr>
              <a:spcAft>
                <a:spcPts val="400"/>
              </a:spcAft>
              <a:defRPr sz="1100">
                <a:solidFill>
                  <a:srgbClr val="3D4455"/>
                </a:solidFill>
                <a:latin typeface="Calibri"/>
              </a:defRPr>
            </a:pPr>
            <a:r>
              <a:t>1. Kuppermann N, et al. A clinical prediction rule to identify febrile infants 60 days and younger at low risk for serious bacterial infections. JAMA Pediatr. 2019;173(4):342-351. (PECARN)</a:t>
            </a:r>
          </a:p>
          <a:p>
            <a:pPr>
              <a:spcAft>
                <a:spcPts val="400"/>
              </a:spcAft>
              <a:defRPr sz="1100">
                <a:solidFill>
                  <a:srgbClr val="3D4455"/>
                </a:solidFill>
                <a:latin typeface="Calibri"/>
              </a:defRPr>
            </a:pPr>
            <a:r>
              <a:t>2. Pantell RH, et al. Evaluation and management of well-appearing febrile infants 8 to 60 days old. Pediatrics. 2021;148(2):e2021052228. (AAP Clinical Practice Guideline)</a:t>
            </a:r>
          </a:p>
          <a:p>
            <a:pPr>
              <a:spcAft>
                <a:spcPts val="400"/>
              </a:spcAft>
              <a:defRPr sz="1100">
                <a:solidFill>
                  <a:srgbClr val="3D4455"/>
                </a:solidFill>
                <a:latin typeface="Calibri"/>
              </a:defRPr>
            </a:pPr>
            <a:r>
              <a:t>3. Gomez B, et al. Validation of the "Step-by-Step" approach in the management of young febrile infants. Pediatrics. 2016;138(2):e20154381.</a:t>
            </a:r>
          </a:p>
          <a:p>
            <a:pPr>
              <a:spcAft>
                <a:spcPts val="400"/>
              </a:spcAft>
              <a:defRPr sz="1100">
                <a:solidFill>
                  <a:srgbClr val="3D4455"/>
                </a:solidFill>
                <a:latin typeface="Calibri"/>
              </a:defRPr>
            </a:pPr>
            <a:r>
              <a:t>4. Kimberlin DW, et al. Guidance on management of asymptomatic neonates born to women with active genital herpes lesions. Pediatrics. 2013;131(2):e572-e579.</a:t>
            </a:r>
          </a:p>
          <a:p>
            <a:pPr>
              <a:spcAft>
                <a:spcPts val="400"/>
              </a:spcAft>
              <a:defRPr sz="1100">
                <a:solidFill>
                  <a:srgbClr val="3D4455"/>
                </a:solidFill>
                <a:latin typeface="Calibri"/>
              </a:defRPr>
            </a:pPr>
            <a:r>
              <a:t>5. Byington CL, et al. Serious bacterial infections in febrile infants 1 to 90 days old with and without viral infections. Pediatrics. 2004;113(6):1662-1666.</a:t>
            </a:r>
          </a:p>
        </p:txBody>
      </p:sp>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Febrile Infant</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2286000"/>
            <a:ext cx="8229600" cy="1371600"/>
          </a:xfrm>
          <a:prstGeom prst="rect">
            <a:avLst/>
          </a:prstGeom>
          <a:noFill/>
        </p:spPr>
        <p:txBody>
          <a:bodyPr wrap="none">
            <a:spAutoFit/>
          </a:bodyPr>
          <a:lstStyle/>
          <a:p>
            <a:pPr algn="ctr">
              <a:defRPr sz="3600" b="1">
                <a:solidFill>
                  <a:srgbClr val="FFFFFF"/>
                </a:solidFill>
                <a:latin typeface="Calibri"/>
              </a:defRPr>
            </a:pPr>
            <a:r>
              <a:t>Questions &amp; Discussion</a:t>
            </a:r>
          </a:p>
        </p:txBody>
      </p:sp>
      <p:sp>
        <p:nvSpPr>
          <p:cNvPr id="4" name="TextBox 3"/>
          <p:cNvSpPr txBox="1"/>
          <p:nvPr/>
        </p:nvSpPr>
        <p:spPr>
          <a:xfrm>
            <a:off x="1828800" y="3840480"/>
            <a:ext cx="8229600" cy="914400"/>
          </a:xfrm>
          <a:prstGeom prst="rect">
            <a:avLst/>
          </a:prstGeom>
          <a:noFill/>
        </p:spPr>
        <p:txBody>
          <a:bodyPr wrap="none">
            <a:spAutoFit/>
          </a:bodyPr>
          <a:lstStyle/>
          <a:p>
            <a:pPr algn="ctr">
              <a:defRPr sz="1600">
                <a:solidFill>
                  <a:srgbClr val="00A3AD"/>
                </a:solidFill>
                <a:latin typeface="Calibri"/>
              </a:defRPr>
            </a:pPr>
            <a:r>
              <a:t>PEM Fellow Teaching Library</a:t>
            </a:r>
          </a:p>
        </p:txBody>
      </p:sp>
      <p:sp>
        <p:nvSpPr>
          <p:cNvPr id="5" name="Rectangle 4"/>
          <p:cNvSpPr/>
          <p:nvPr/>
        </p:nvSpPr>
        <p:spPr>
          <a:xfrm>
            <a:off x="4572000" y="3657600"/>
            <a:ext cx="301752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